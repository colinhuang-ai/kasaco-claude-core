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lớp, hỏi nhanh: ai đã hoàn thiện Thư viện prompt v1 (5 prompt) và checklist bảo mật từ Buổi 1? Giới thiệu buổi này có 2 mảng: tra cứu tài liệu (NotebookLM) và âm thanh cuộc gọi (chép lời, khử ồn, tóm tắt CRM). Cuối buổi giao đề ASM 1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phút. Kể chuyện, hỏi lớp: bạn mất bao lâu để tra một điều kiện đổi trả? Ghi chú CRM của bạn thường dài mấy dòng? Nhắc lại quy tắc Che, Kiểm, Chịu trách nhiệm: buổi này làm với ghi âm và tài liệu nội bộ, loại dữ liệu nhạy cảm nhất ở tổng đài.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này không có giờ nghỉ riêng: hai bài lab (15′ và 25′) là lúc học viên tự làm, giảng viên đi vòng quanh hỗ trợ.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 phút. Demo mở notebooklm.google.com, chỉ chỗ thêm nguồn và chỗ số trích dẫn. Ngoài ra có ghi chú, tóm tắt, câu hỏi gợi ý, Audio Overview, nhưng buổi này chỉ tập trung hỏi đáp có trích dẫn.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lớp: nếu nạp cả chính sách cũ và mới vào cùng notebook thì chuyện gì xảy ra? (AI có thể trích nhầm bản cũ, đây cũng là câu 2 trong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công ty dùng Google Workspace, khuyên học viên hỏi IT về chính sách dùng NotebookLM trong tài khoản công 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Chính sách mẫu và 3 câu hỏi có sẵn trong trang Lab của ebook. Đáp án cần chú ý: câu 3 (son đã mở nắp) KHÔNG được đổi theo mục 3.3. Nếu AI trả lời "được đổi, khách chịu phí gửi về" là đã bỏ sót ngoại lệ: chiếu kết quả này lên để cả lớp thấy vì sao phải bấm trích dẫn. Câu bẫy: quan sát NotebookLM nói "không có thông tin" hay cố suy ra từ mục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30–45 giây suy nghĩ, rồi mời vài bạn trả lời.
ĐÁP ÁN: B. Chatbot không biết chính sách riêng của ShopNhanh; nó tạo câu "nghe hợp lý", con số có thể không liên quan chính sách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30–45 giây suy nghĩ, rồi mời vài bạn trả lời.
ĐÁP ÁN: B. Grounding giảm bịa nhưng không loại bỏ hoàn toàn: AI vẫn có thể gộp điều kiện hoặc bỏ sót ngoại lệ.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30–45 giây suy nghĩ, rồi mời vài bạn trả lời.
ĐÁP ÁN: C. Danh sách khách có dữ liệu cá nhân, tuyệt đối không đưa lên tài khoản AI cá nhân. Áp dụng Che, Kiểm, Chịu trách nhiệm.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33–41 phút. Hỏi lớp: sau mỗi cuộc gọi bạn mất bao lâu để gõ ghi chú? Có bản chép lời rồi thì tóm tắt, phân loại, chấm QA đều dễ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Mẹo chuẩn bị file: MP3/WAV/M4A đều được; file ồn thì khử ồn trước; đặt ngôn ngữ là tiếng Việt thay vì tự nhận diện (nhất là khi có "voucher", "COD"); file dài nên cắt nhỏ.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lớp: "không đồng ý" bị chép thành "đồng ý" thì hậu quả gì? Nhấn mạnh bản chép lời chứa tên, SĐT, địa chỉ, có khi cả số tài khoản, dưới dạng chữ nên còn dễ lan truyền hơn file âm thanh. Không lưu trên máy cá nhân, email cá nhân, nhóm chat ngoài công 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41–47 phút. Tiếng ồn gây 2 vấn đề: trong lúc gọi khách nghe không rõ, sau cuộc gọi bản chép lời sai. Ví dụ ebook: không khử ồn thì chép ra "chị muốn … [không nghe rõ] … cái đơn hôm …"; có khử ồn thì đủ ý "chị muốn đổi địa chỉ giao cái đơn hôm thứ Hai". Mic ảo có thể ảnh hưởng hệ thống ghi âm tổng đài, nên không tự cài.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47–54 phút. Đọc lại ghi chú của Lan và hỏi lớp: đồng nghiệp đọc dòng này có biết đơn nào, đổi size gì, đã hướng dẫn tới đâu, khách có hẹn gì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Kịch bản hư cấu (chị Hoa, nồi chiên nắp nứt) có trong ebook. Không ghi âm được thì dùng luôn kịch bản làm bản chép lời. Nhắc: KHÔNG nhờ AI che hộ, và rà cả tên gọi tắt "chị Hoa" ở cuối cuộc gọi. Khi kiểm: follow-up phải có 2 cam kết "gọi lại trước 17h chiều mai" và "giao trong 2–3 ngày". Nếu AI bỏ sót, dùng prompt hỏi tiếp trong ebook để liệt kê mọi lời hứa của nhân viên.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30–45 giây suy nghĩ, rồi mời vài bạn trả lời.
ĐÁP ÁN: C. Krisp và NVIDIA Broadcast tạo mic ảo lọc ồn realtime. Adobe Podcast xử lý file đã ghi âm, TurboScribe để chép lời. Hỏi IT trước khi cài lên máy công 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30–45 giây suy nghĩ, rồi mời vài bạn trả lời.
ĐÁP ÁN: B. Nhờ chatbot che hộ nghĩa là đã gửi dữ liệu thật cho nó. Luôn che trước, dán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30–45 giây suy nghĩ, rồi mời vài bạn trả lời.
ĐÁP ÁN: B. Cam kết bịa trong CRM có thể khiến đồng nghiệp hứa sai với khách ở cuộc gọi sau. Người dán vào CRM là người chịu trách nhiệm.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82–92 phút. Mỗi prompt trình bày theo khung: tên và nhóm tình huống; khi nào dùng/không dùng; prompt; ví dụ đầu ra chạy thật; lưu ý kiểm tra. Không đính kèm file ghi âm. Phát hiện dữ liệu khách thật: tiêu chí Che dữ liệu 0 điểm và phải nộp lại. ASM 1 là nền móng cho ASM 2 (Bộ công cụ AI ca trực).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đầy đủ có thêm mức "Đạt" (ví dụ tiêu chí 1: đủ số lượng, đa số prompt có 4–5 thành phần, 15–22 điểm), xem trang ASM 1 của ebook. Dành 3–4 phút giải đáp thắc mắc. Học viên không đăng ký chứng nhận vẫn được nộp để mentor góp 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92–105 phút. Cho học viên dán prompt đầy đủ từ ebook vào cuộc trò chuyện mới. Nhắc: chỉ dùng đoạn chép lời hư cấu do AI tạo, không dán cuộc gọi thật. Vòng 2 hay mắc: quên che tên gọi tắt ("chị Hoa"), bỏ sót giờ hẹn gọi lại. Vòng 3: biết nói "em kiểm tra lại và gọi lại anh/chị" thay vì khẳng định điều tài liệu không nói. Sau đó chuyển sang Quiz 5 phút trong 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110–113 phút. Quay lại câu chuyện của Lan: câu hỏi flash sale giờ chỉ mất vài giây và dẫn đúng mục 2.2; ghi chú một dòng trở thành ghi chú ca sau xử lý tiếp được. Nhắc đáp án Quiz ở mục Giải pháp.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113–120 phút. Gợi ý phản tư: câu hỏi chính sách nào muốn đưa vào notebook ngay tuần này? AI đã mắc lỗi gì mà nếu không kiểm bạn đã dán nhầm vào CRM? Bước nào tốn thời gian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slideLayout" Target="../slideLayouts/slideLayout1.xml"/><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B45"/>
        </a:solidFill>
      </p:bgPr>
    </p:bg>
    <p:spTree>
      <p:nvGrpSpPr>
        <p:cNvPr id="1" name=""/>
        <p:cNvGrpSpPr/>
        <p:nvPr/>
      </p:nvGrpSpPr>
      <p:grpSpPr>
        <a:xfrm>
          <a:off x="0" y="0"/>
          <a:ext cx="0" cy="0"/>
          <a:chOff x="0" y="0"/>
          <a:chExt cx="0" cy="0"/>
        </a:xfrm>
      </p:grpSpPr>
      <p:sp>
        <p:nvSpPr>
          <p:cNvPr id="2" name="Shape 0"/>
          <p:cNvSpPr/>
          <p:nvPr/>
        </p:nvSpPr>
        <p:spPr>
          <a:xfrm>
            <a:off x="5760720" y="-822960"/>
            <a:ext cx="4572000" cy="4572000"/>
          </a:xfrm>
          <a:prstGeom prst="ellipse">
            <a:avLst/>
          </a:prstGeom>
          <a:solidFill>
            <a:srgbClr val="0E7C7B">
              <a:alpha val="45000"/>
            </a:srgbClr>
          </a:solidFill>
          <a:ln w="12700">
            <a:solidFill>
              <a:srgbClr val="0E7C7B">
                <a:alpha val="0"/>
              </a:srgbClr>
            </a:solidFill>
            <a:prstDash val="solid"/>
          </a:ln>
        </p:spPr>
      </p:sp>
      <p:sp>
        <p:nvSpPr>
          <p:cNvPr id="3" name="Shape 1"/>
          <p:cNvSpPr/>
          <p:nvPr/>
        </p:nvSpPr>
        <p:spPr>
          <a:xfrm>
            <a:off x="5989320" y="3429000"/>
            <a:ext cx="640080" cy="640080"/>
          </a:xfrm>
          <a:prstGeom prst="ellipse">
            <a:avLst/>
          </a:prstGeom>
          <a:solidFill>
            <a:srgbClr val="F2994A"/>
          </a:solidFill>
          <a:ln w="12700">
            <a:solidFill>
              <a:srgbClr val="F2994A"/>
            </a:solidFill>
            <a:prstDash val="solid"/>
          </a:ln>
        </p:spPr>
      </p:sp>
      <p:sp>
        <p:nvSpPr>
          <p:cNvPr id="4" name="Shape 2"/>
          <p:cNvSpPr/>
          <p:nvPr/>
        </p:nvSpPr>
        <p:spPr>
          <a:xfrm>
            <a:off x="6720840" y="1188720"/>
            <a:ext cx="1737360" cy="1737360"/>
          </a:xfrm>
          <a:prstGeom prst="ellipse">
            <a:avLst/>
          </a:prstGeom>
          <a:solidFill>
            <a:srgbClr val="FFFFFF"/>
          </a:solidFill>
          <a:ln w="12700">
            <a:solidFill>
              <a:srgbClr val="FFFFFF"/>
            </a:solidFill>
            <a:prstDash val="solid"/>
          </a:ln>
        </p:spPr>
      </p:sp>
      <p:pic>
        <p:nvPicPr>
          <p:cNvPr id="5" name="Image 0" descr="preencoded.png">    </p:cNvPr>
          <p:cNvPicPr>
            <a:picLocks noChangeAspect="1"/>
          </p:cNvPicPr>
          <p:nvPr/>
        </p:nvPicPr>
        <p:blipFill>
          <a:blip r:embed="rId1"/>
          <a:stretch>
            <a:fillRect/>
          </a:stretch>
        </p:blipFill>
        <p:spPr>
          <a:xfrm>
            <a:off x="7172554" y="1640434"/>
            <a:ext cx="833933" cy="833933"/>
          </a:xfrm>
          <a:prstGeom prst="rect">
            <a:avLst/>
          </a:prstGeom>
        </p:spPr>
      </p:pic>
      <p:sp>
        <p:nvSpPr>
          <p:cNvPr id="6" name="Text 3"/>
          <p:cNvSpPr txBox="1"/>
          <p:nvPr/>
        </p:nvSpPr>
        <p:spPr>
          <a:xfrm>
            <a:off x="548640" y="914400"/>
            <a:ext cx="5486400" cy="320040"/>
          </a:xfrm>
          <a:prstGeom prst="rect">
            <a:avLst/>
          </a:prstGeom>
          <a:noFill/>
          <a:ln/>
        </p:spPr>
        <p:txBody>
          <a:bodyPr wrap="square" lIns="0" tIns="0" rIns="0" bIns="0" rtlCol="0" anchor="t"/>
          <a:lstStyle/>
          <a:p>
            <a:pPr indent="0" marL="0">
              <a:buNone/>
            </a:pPr>
            <a:r>
              <a:rPr lang="en-US" sz="1300" b="1" spc="300" kern="0" dirty="0">
                <a:solidFill>
                  <a:srgbClr val="F2994A"/>
                </a:solidFill>
                <a:latin typeface="Calibri" pitchFamily="34" charset="0"/>
                <a:ea typeface="Calibri" pitchFamily="34" charset="-122"/>
                <a:cs typeface="Calibri" pitchFamily="34" charset="-120"/>
              </a:rPr>
              <a:t>BUỔI 2 / 5  ·  120 PHÚT</a:t>
            </a:r>
            <a:endParaRPr lang="en-US" sz="1300" dirty="0"/>
          </a:p>
        </p:txBody>
      </p:sp>
      <p:sp>
        <p:nvSpPr>
          <p:cNvPr id="7" name="Text 4"/>
          <p:cNvSpPr txBox="1"/>
          <p:nvPr/>
        </p:nvSpPr>
        <p:spPr>
          <a:xfrm>
            <a:off x="548640" y="1325880"/>
            <a:ext cx="5760720" cy="146304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Cambria" pitchFamily="34" charset="0"/>
                <a:ea typeface="Cambria" pitchFamily="34" charset="-122"/>
                <a:cs typeface="Cambria" pitchFamily="34" charset="-120"/>
              </a:rPr>
              <a:t>Tra cứu tài liệu &amp; Âm thanh cuộc gọi</a:t>
            </a:r>
            <a:endParaRPr lang="en-US" sz="3600" dirty="0"/>
          </a:p>
        </p:txBody>
      </p:sp>
      <p:sp>
        <p:nvSpPr>
          <p:cNvPr id="8" name="Text 5"/>
          <p:cNvSpPr txBox="1"/>
          <p:nvPr/>
        </p:nvSpPr>
        <p:spPr>
          <a:xfrm>
            <a:off x="548640" y="2880360"/>
            <a:ext cx="5669280" cy="822960"/>
          </a:xfrm>
          <a:prstGeom prst="rect">
            <a:avLst/>
          </a:prstGeom>
          <a:noFill/>
          <a:ln/>
        </p:spPr>
        <p:txBody>
          <a:bodyPr wrap="square" lIns="0" tIns="0" rIns="0" bIns="0" rtlCol="0" anchor="t"/>
          <a:lstStyle/>
          <a:p>
            <a:pPr indent="0" marL="0">
              <a:buNone/>
            </a:pPr>
            <a:r>
              <a:rPr lang="en-US" sz="1500" dirty="0">
                <a:solidFill>
                  <a:srgbClr val="BFE3DD"/>
                </a:solidFill>
                <a:latin typeface="Calibri" pitchFamily="34" charset="0"/>
                <a:ea typeface="Calibri" pitchFamily="34" charset="-122"/>
                <a:cs typeface="Calibri" pitchFamily="34" charset="-120"/>
              </a:rPr>
              <a:t>Dựng trợ lý tra cứu chính sách có trích dẫn bằng NotebookLM, và biến ghi âm cuộc gọi thành ghi chú CRM đầy đủ. Nộp ASM 1.</a:t>
            </a:r>
            <a:endParaRPr lang="en-US" sz="1500" dirty="0"/>
          </a:p>
        </p:txBody>
      </p:sp>
      <p:sp>
        <p:nvSpPr>
          <p:cNvPr id="9" name="Text 6"/>
          <p:cNvSpPr txBox="1"/>
          <p:nvPr/>
        </p:nvSpPr>
        <p:spPr>
          <a:xfrm>
            <a:off x="548640" y="4434840"/>
            <a:ext cx="6400800" cy="274320"/>
          </a:xfrm>
          <a:prstGeom prst="rect">
            <a:avLst/>
          </a:prstGeom>
          <a:noFill/>
          <a:ln/>
        </p:spPr>
        <p:txBody>
          <a:bodyPr wrap="square" lIns="0" tIns="0" rIns="0" bIns="0" rtlCol="0" anchor="t"/>
          <a:lstStyle/>
          <a:p>
            <a:pPr indent="0" marL="0">
              <a:buNone/>
            </a:pPr>
            <a:r>
              <a:rPr lang="en-US" sz="1000" dirty="0">
                <a:solidFill>
                  <a:srgbClr val="BFE3DD"/>
                </a:solidFill>
                <a:latin typeface="Calibri" pitchFamily="34" charset="0"/>
                <a:ea typeface="Calibri" pitchFamily="34" charset="-122"/>
                <a:cs typeface="Calibri" pitchFamily="34" charset="-120"/>
              </a:rPr>
              <a:t>Ứng dụng GenAI cho nhân viên support Call Center  ·  Chuyển thể AIE102x.1.0_VN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CÂU CHUYỆN MỞ ĐẦU</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Hai phút im lặng của Lan</a:t>
            </a:r>
            <a:endParaRPr lang="en-US" sz="2500" dirty="0"/>
          </a:p>
        </p:txBody>
      </p:sp>
      <p:sp>
        <p:nvSpPr>
          <p:cNvPr id="4" name="Text 2"/>
          <p:cNvSpPr txBox="1"/>
          <p:nvPr/>
        </p:nvSpPr>
        <p:spPr>
          <a:xfrm>
            <a:off x="457200" y="1371600"/>
            <a:ext cx="4846320" cy="3200400"/>
          </a:xfrm>
          <a:prstGeom prst="rect">
            <a:avLst/>
          </a:prstGeom>
          <a:noFill/>
          <a:ln/>
        </p:spPr>
        <p:txBody>
          <a:bodyPr wrap="square" lIns="0" tIns="0" rIns="0" bIns="0" rtlCol="0" anchor="t"/>
          <a:lstStyle/>
          <a:p>
            <a:pPr indent="0" marL="0">
              <a:lnSpc>
                <a:spcPct val="108000"/>
              </a:lnSpc>
              <a:buNone/>
            </a:pPr>
            <a:r>
              <a:rPr lang="en-US" sz="1500" dirty="0">
                <a:solidFill>
                  <a:srgbClr val="1F2A30"/>
                </a:solidFill>
                <a:latin typeface="Calibri" pitchFamily="34" charset="0"/>
                <a:ea typeface="Calibri" pitchFamily="34" charset="-122"/>
                <a:cs typeface="Calibri" pitchFamily="34" charset="-120"/>
              </a:rPr>
              <a:t>10h15 thứ Ba, khách hỏi: "Hàng </a:t>
            </a:r>
            <a:pPr indent="0" marL="0">
              <a:lnSpc>
                <a:spcPct val="108000"/>
              </a:lnSpc>
              <a:buNone/>
            </a:pPr>
            <a:r>
              <a:rPr lang="en-US" sz="1500" b="1" dirty="0">
                <a:solidFill>
                  <a:srgbClr val="1F2A30"/>
                </a:solidFill>
                <a:latin typeface="Calibri" pitchFamily="34" charset="0"/>
                <a:ea typeface="Calibri" pitchFamily="34" charset="-122"/>
                <a:cs typeface="Calibri" pitchFamily="34" charset="-120"/>
              </a:rPr>
              <a:t>flash sale</a:t>
            </a:r>
            <a:pPr indent="0" marL="0">
              <a:lnSpc>
                <a:spcPct val="108000"/>
              </a:lnSpc>
              <a:buNone/>
            </a:pPr>
            <a:r>
              <a:rPr lang="en-US" sz="1500" dirty="0">
                <a:solidFill>
                  <a:srgbClr val="1F2A30"/>
                </a:solidFill>
                <a:latin typeface="Calibri" pitchFamily="34" charset="0"/>
                <a:ea typeface="Calibri" pitchFamily="34" charset="-122"/>
                <a:cs typeface="Calibri" pitchFamily="34" charset="-120"/>
              </a:rPr>
              <a:t> có được đổi size không em?". Chính sách dài </a:t>
            </a:r>
            <a:pPr indent="0" marL="0">
              <a:lnSpc>
                <a:spcPct val="108000"/>
              </a:lnSpc>
              <a:buNone/>
            </a:pPr>
            <a:r>
              <a:rPr lang="en-US" sz="1500" b="1" dirty="0">
                <a:solidFill>
                  <a:srgbClr val="1F2A30"/>
                </a:solidFill>
                <a:latin typeface="Calibri" pitchFamily="34" charset="0"/>
                <a:ea typeface="Calibri" pitchFamily="34" charset="-122"/>
                <a:cs typeface="Calibri" pitchFamily="34" charset="-120"/>
              </a:rPr>
              <a:t>14 trang</a:t>
            </a:r>
            <a:pPr indent="0" marL="0">
              <a:lnSpc>
                <a:spcPct val="108000"/>
              </a:lnSpc>
              <a:buNone/>
            </a:pPr>
            <a:r>
              <a:rPr lang="en-US" sz="1500" dirty="0">
                <a:solidFill>
                  <a:srgbClr val="1F2A30"/>
                </a:solidFill>
                <a:latin typeface="Calibri" pitchFamily="34" charset="0"/>
                <a:ea typeface="Calibri" pitchFamily="34" charset="-122"/>
                <a:cs typeface="Calibri" pitchFamily="34" charset="-120"/>
              </a:rPr>
              <a:t>, vừa cập nhật. Lan mở PDF, cuộn, tìm: </a:t>
            </a:r>
            <a:pPr indent="0" marL="0">
              <a:lnSpc>
                <a:spcPct val="108000"/>
              </a:lnSpc>
              <a:buNone/>
            </a:pPr>
            <a:r>
              <a:rPr lang="en-US" sz="1500" b="1" dirty="0">
                <a:solidFill>
                  <a:srgbClr val="1F2A30"/>
                </a:solidFill>
                <a:latin typeface="Calibri" pitchFamily="34" charset="0"/>
                <a:ea typeface="Calibri" pitchFamily="34" charset="-122"/>
                <a:cs typeface="Calibri" pitchFamily="34" charset="-120"/>
              </a:rPr>
              <a:t>hai phút im lặng</a:t>
            </a:r>
            <a:pPr indent="0" marL="0">
              <a:lnSpc>
                <a:spcPct val="108000"/>
              </a:lnSpc>
              <a:spcAft>
                <a:spcPts val="800"/>
              </a:spcAft>
              <a:buNone/>
            </a:pPr>
            <a:r>
              <a:rPr lang="en-US" sz="1500" dirty="0">
                <a:solidFill>
                  <a:srgbClr val="1F2A30"/>
                </a:solidFill>
                <a:latin typeface="Calibri" pitchFamily="34" charset="0"/>
                <a:ea typeface="Calibri" pitchFamily="34" charset="-122"/>
                <a:cs typeface="Calibri" pitchFamily="34" charset="-120"/>
              </a:rPr>
              <a:t>.</a:t>
            </a:r>
            <a:endParaRPr lang="en-US" sz="1500" dirty="0"/>
          </a:p>
          <a:p>
            <a:pPr indent="0" marL="0">
              <a:lnSpc>
                <a:spcPct val="108000"/>
              </a:lnSpc>
              <a:spcAft>
                <a:spcPts val="800"/>
              </a:spcAft>
              <a:buNone/>
            </a:pPr>
            <a:r>
              <a:rPr lang="en-US" sz="1500" dirty="0">
                <a:solidFill>
                  <a:srgbClr val="1F2A30"/>
                </a:solidFill>
                <a:latin typeface="Calibri" pitchFamily="34" charset="0"/>
                <a:ea typeface="Calibri" pitchFamily="34" charset="-122"/>
                <a:cs typeface="Calibri" pitchFamily="34" charset="-120"/>
              </a:rPr>
              <a:t>Cuộc gọi dài 9 phút, ghi chú CRM chỉ còn một dòng: "KH hỏi đổi size, đã hướng dẫn". Ca sau phải hỏi lại khách từ đầu.</a:t>
            </a:r>
            <a:endParaRPr lang="en-US" sz="1500" dirty="0"/>
          </a:p>
          <a:p>
            <a:pPr indent="0" marL="0">
              <a:lnSpc>
                <a:spcPct val="108000"/>
              </a:lnSpc>
              <a:buNone/>
            </a:pPr>
            <a:r>
              <a:rPr lang="en-US" sz="1500" dirty="0">
                <a:solidFill>
                  <a:srgbClr val="1F2A30"/>
                </a:solidFill>
                <a:latin typeface="Calibri" pitchFamily="34" charset="0"/>
                <a:ea typeface="Calibri" pitchFamily="34" charset="-122"/>
                <a:cs typeface="Calibri" pitchFamily="34" charset="-120"/>
              </a:rPr>
              <a:t>Lan từng hỏi ChatGPT: câu trả lời "</a:t>
            </a:r>
            <a:pPr indent="0" marL="0">
              <a:lnSpc>
                <a:spcPct val="108000"/>
              </a:lnSpc>
              <a:buNone/>
            </a:pPr>
            <a:r>
              <a:rPr lang="en-US" sz="1500" b="1" dirty="0">
                <a:solidFill>
                  <a:srgbClr val="1F2A30"/>
                </a:solidFill>
                <a:latin typeface="Calibri" pitchFamily="34" charset="0"/>
                <a:ea typeface="Calibri" pitchFamily="34" charset="-122"/>
                <a:cs typeface="Calibri" pitchFamily="34" charset="-120"/>
              </a:rPr>
              <a:t>30 ngày</a:t>
            </a:r>
            <a:pPr indent="0" marL="0">
              <a:lnSpc>
                <a:spcPct val="108000"/>
              </a:lnSpc>
              <a:buNone/>
            </a:pPr>
            <a:r>
              <a:rPr lang="en-US" sz="1500" dirty="0">
                <a:solidFill>
                  <a:srgbClr val="1F2A30"/>
                </a:solidFill>
                <a:latin typeface="Calibri" pitchFamily="34" charset="0"/>
                <a:ea typeface="Calibri" pitchFamily="34" charset="-122"/>
                <a:cs typeface="Calibri" pitchFamily="34" charset="-120"/>
              </a:rPr>
              <a:t>" nghe trơn tru nhưng là bịa. Chính sách thật: </a:t>
            </a:r>
            <a:pPr indent="0" marL="0">
              <a:lnSpc>
                <a:spcPct val="108000"/>
              </a:lnSpc>
              <a:buNone/>
            </a:pPr>
            <a:r>
              <a:rPr lang="en-US" sz="1500" b="1" dirty="0">
                <a:solidFill>
                  <a:srgbClr val="1F2A30"/>
                </a:solidFill>
                <a:latin typeface="Calibri" pitchFamily="34" charset="0"/>
                <a:ea typeface="Calibri" pitchFamily="34" charset="-122"/>
                <a:cs typeface="Calibri" pitchFamily="34" charset="-120"/>
              </a:rPr>
              <a:t>7 ngày</a:t>
            </a:r>
            <a:pPr indent="0" marL="0">
              <a:lnSpc>
                <a:spcPct val="108000"/>
              </a:lnSpc>
              <a:spcAft>
                <a:spcPts val="800"/>
              </a:spcAft>
              <a:buNone/>
            </a:pPr>
            <a:r>
              <a:rPr lang="en-US" sz="1500" dirty="0">
                <a:solidFill>
                  <a:srgbClr val="1F2A30"/>
                </a:solidFill>
                <a:latin typeface="Calibri" pitchFamily="34" charset="0"/>
                <a:ea typeface="Calibri" pitchFamily="34" charset="-122"/>
                <a:cs typeface="Calibri" pitchFamily="34" charset="-120"/>
              </a:rPr>
              <a:t> với hàng flash sale.</a:t>
            </a:r>
            <a:endParaRPr lang="en-US" sz="1500" dirty="0"/>
          </a:p>
        </p:txBody>
      </p:sp>
      <p:sp>
        <p:nvSpPr>
          <p:cNvPr id="5" name="Shape 3"/>
          <p:cNvSpPr/>
          <p:nvPr/>
        </p:nvSpPr>
        <p:spPr>
          <a:xfrm>
            <a:off x="5623560" y="1371600"/>
            <a:ext cx="3063240" cy="3154680"/>
          </a:xfrm>
          <a:prstGeom prst="roundRect">
            <a:avLst>
              <a:gd name="adj" fmla="val 3582"/>
            </a:avLst>
          </a:prstGeom>
          <a:solidFill>
            <a:srgbClr val="E8F3F1"/>
          </a:solidFill>
          <a:ln w="12700">
            <a:solidFill>
              <a:srgbClr val="E8F3F1"/>
            </a:solidFill>
            <a:prstDash val="solid"/>
          </a:ln>
        </p:spPr>
      </p:sp>
      <p:sp>
        <p:nvSpPr>
          <p:cNvPr id="6" name="Shape 4"/>
          <p:cNvSpPr/>
          <p:nvPr/>
        </p:nvSpPr>
        <p:spPr>
          <a:xfrm>
            <a:off x="5897880" y="1627632"/>
            <a:ext cx="566928" cy="566928"/>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6045281" y="1775033"/>
            <a:ext cx="272125" cy="272125"/>
          </a:xfrm>
          <a:prstGeom prst="rect">
            <a:avLst/>
          </a:prstGeom>
        </p:spPr>
      </p:pic>
      <p:sp>
        <p:nvSpPr>
          <p:cNvPr id="8" name="Text 5"/>
          <p:cNvSpPr txBox="1"/>
          <p:nvPr/>
        </p:nvSpPr>
        <p:spPr>
          <a:xfrm>
            <a:off x="5897880" y="2331720"/>
            <a:ext cx="2560320" cy="2011680"/>
          </a:xfrm>
          <a:prstGeom prst="rect">
            <a:avLst/>
          </a:prstGeom>
          <a:noFill/>
          <a:ln/>
        </p:spPr>
        <p:txBody>
          <a:bodyPr wrap="square" lIns="0" tIns="0" rIns="0" bIns="0" rtlCol="0" anchor="t"/>
          <a:lstStyle/>
          <a:p>
            <a:pPr indent="0" marL="0">
              <a:buNone/>
            </a:pPr>
            <a:r>
              <a:rPr lang="en-US" sz="1500" i="1" dirty="0">
                <a:solidFill>
                  <a:srgbClr val="0B3B45"/>
                </a:solidFill>
                <a:latin typeface="Cambria" pitchFamily="34" charset="0"/>
                <a:ea typeface="Cambria" pitchFamily="34" charset="-122"/>
                <a:cs typeface="Cambria" pitchFamily="34" charset="-120"/>
              </a:rPr>
              <a:t>"Làm sao tra đúng, có dẫn nguồn, trong vài giây, và ghi chú CRM đầy đủ mà không phải gõ lại từ trí nhớ?"</a:t>
            </a:r>
            <a:endParaRPr lang="en-US" sz="1500" dirty="0"/>
          </a:p>
        </p:txBody>
      </p:sp>
      <p:sp>
        <p:nvSpPr>
          <p:cNvPr id="9" name="Text 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10" name="Text 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MỤC TIÊU BUỔI HỌC</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Sau buổi này, bạn có thể</a:t>
            </a:r>
            <a:endParaRPr lang="en-US" sz="2500" dirty="0"/>
          </a:p>
        </p:txBody>
      </p:sp>
      <p:sp>
        <p:nvSpPr>
          <p:cNvPr id="4" name="Shape 2"/>
          <p:cNvSpPr/>
          <p:nvPr/>
        </p:nvSpPr>
        <p:spPr>
          <a:xfrm>
            <a:off x="457200" y="1485900"/>
            <a:ext cx="420624" cy="420624"/>
          </a:xfrm>
          <a:prstGeom prst="ellipse">
            <a:avLst/>
          </a:prstGeom>
          <a:solidFill>
            <a:srgbClr val="0E7C7B"/>
          </a:solidFill>
          <a:ln w="12700">
            <a:solidFill>
              <a:srgbClr val="0E7C7B"/>
            </a:solidFill>
            <a:prstDash val="solid"/>
          </a:ln>
        </p:spPr>
      </p:sp>
      <p:pic>
        <p:nvPicPr>
          <p:cNvPr id="5" name="Image 0" descr="preencoded.png">    </p:cNvPr>
          <p:cNvPicPr>
            <a:picLocks noChangeAspect="1"/>
          </p:cNvPicPr>
          <p:nvPr/>
        </p:nvPicPr>
        <p:blipFill>
          <a:blip r:embed="rId1"/>
          <a:stretch>
            <a:fillRect/>
          </a:stretch>
        </p:blipFill>
        <p:spPr>
          <a:xfrm>
            <a:off x="566562" y="1595262"/>
            <a:ext cx="201900" cy="201900"/>
          </a:xfrm>
          <a:prstGeom prst="rect">
            <a:avLst/>
          </a:prstGeom>
        </p:spPr>
      </p:pic>
      <p:sp>
        <p:nvSpPr>
          <p:cNvPr id="6" name="Text 3"/>
          <p:cNvSpPr txBox="1"/>
          <p:nvPr/>
        </p:nvSpPr>
        <p:spPr>
          <a:xfrm>
            <a:off x="1051560" y="1371600"/>
            <a:ext cx="7589520" cy="649224"/>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Dựng </a:t>
            </a:r>
            <a:pPr indent="0" marL="0">
              <a:buNone/>
            </a:pPr>
            <a:r>
              <a:rPr lang="en-US" sz="1450" b="1" dirty="0">
                <a:solidFill>
                  <a:srgbClr val="1F2A30"/>
                </a:solidFill>
                <a:latin typeface="Calibri" pitchFamily="34" charset="0"/>
                <a:ea typeface="Calibri" pitchFamily="34" charset="-122"/>
                <a:cs typeface="Calibri" pitchFamily="34" charset="-120"/>
              </a:rPr>
              <a:t>trợ lý tra cứu NotebookLM</a:t>
            </a:r>
            <a:pPr indent="0" marL="0">
              <a:buNone/>
            </a:pPr>
            <a:r>
              <a:rPr lang="en-US" sz="1450" dirty="0">
                <a:solidFill>
                  <a:srgbClr val="1F2A30"/>
                </a:solidFill>
                <a:latin typeface="Calibri" pitchFamily="34" charset="0"/>
                <a:ea typeface="Calibri" pitchFamily="34" charset="-122"/>
                <a:cs typeface="Calibri" pitchFamily="34" charset="-120"/>
              </a:rPr>
              <a:t> từ FAQ và chính sách, biết kiểm tra trích dẫn nguồn.</a:t>
            </a:r>
            <a:endParaRPr lang="en-US" sz="1450" dirty="0"/>
          </a:p>
        </p:txBody>
      </p:sp>
      <p:sp>
        <p:nvSpPr>
          <p:cNvPr id="7" name="Shape 4"/>
          <p:cNvSpPr/>
          <p:nvPr/>
        </p:nvSpPr>
        <p:spPr>
          <a:xfrm>
            <a:off x="457200" y="2135124"/>
            <a:ext cx="420624" cy="420624"/>
          </a:xfrm>
          <a:prstGeom prst="ellipse">
            <a:avLst/>
          </a:prstGeom>
          <a:solidFill>
            <a:srgbClr val="0E7C7B"/>
          </a:solidFill>
          <a:ln w="12700">
            <a:solidFill>
              <a:srgbClr val="0E7C7B"/>
            </a:solidFill>
            <a:prstDash val="solid"/>
          </a:ln>
        </p:spPr>
      </p:sp>
      <p:pic>
        <p:nvPicPr>
          <p:cNvPr id="8" name="Image 1" descr="preencoded.png">    </p:cNvPr>
          <p:cNvPicPr>
            <a:picLocks noChangeAspect="1"/>
          </p:cNvPicPr>
          <p:nvPr/>
        </p:nvPicPr>
        <p:blipFill>
          <a:blip r:embed="rId2"/>
          <a:stretch>
            <a:fillRect/>
          </a:stretch>
        </p:blipFill>
        <p:spPr>
          <a:xfrm>
            <a:off x="566562" y="2244486"/>
            <a:ext cx="201900" cy="201900"/>
          </a:xfrm>
          <a:prstGeom prst="rect">
            <a:avLst/>
          </a:prstGeom>
        </p:spPr>
      </p:pic>
      <p:sp>
        <p:nvSpPr>
          <p:cNvPr id="9" name="Text 5"/>
          <p:cNvSpPr txBox="1"/>
          <p:nvPr/>
        </p:nvSpPr>
        <p:spPr>
          <a:xfrm>
            <a:off x="1051560" y="2020824"/>
            <a:ext cx="7589520" cy="649224"/>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Giải thích vì sao trợ lý "có tài liệu" </a:t>
            </a:r>
            <a:pPr indent="0" marL="0">
              <a:buNone/>
            </a:pPr>
            <a:r>
              <a:rPr lang="en-US" sz="1450" b="1" dirty="0">
                <a:solidFill>
                  <a:srgbClr val="1F2A30"/>
                </a:solidFill>
                <a:latin typeface="Calibri" pitchFamily="34" charset="0"/>
                <a:ea typeface="Calibri" pitchFamily="34" charset="-122"/>
                <a:cs typeface="Calibri" pitchFamily="34" charset="-120"/>
              </a:rPr>
              <a:t>ít bịa hơn</a:t>
            </a:r>
            <a:pPr indent="0" marL="0">
              <a:buNone/>
            </a:pPr>
            <a:r>
              <a:rPr lang="en-US" sz="1450" dirty="0">
                <a:solidFill>
                  <a:srgbClr val="1F2A30"/>
                </a:solidFill>
                <a:latin typeface="Calibri" pitchFamily="34" charset="0"/>
                <a:ea typeface="Calibri" pitchFamily="34" charset="-122"/>
                <a:cs typeface="Calibri" pitchFamily="34" charset="-120"/>
              </a:rPr>
              <a:t> chatbot không có tài liệu, và giới hạn của nó.</a:t>
            </a:r>
            <a:endParaRPr lang="en-US" sz="1450" dirty="0"/>
          </a:p>
        </p:txBody>
      </p:sp>
      <p:sp>
        <p:nvSpPr>
          <p:cNvPr id="10" name="Shape 6"/>
          <p:cNvSpPr/>
          <p:nvPr/>
        </p:nvSpPr>
        <p:spPr>
          <a:xfrm>
            <a:off x="457200" y="2784348"/>
            <a:ext cx="420624" cy="420624"/>
          </a:xfrm>
          <a:prstGeom prst="ellipse">
            <a:avLst/>
          </a:prstGeom>
          <a:solidFill>
            <a:srgbClr val="0E7C7B"/>
          </a:solidFill>
          <a:ln w="12700">
            <a:solidFill>
              <a:srgbClr val="0E7C7B"/>
            </a:solidFill>
            <a:prstDash val="solid"/>
          </a:ln>
        </p:spPr>
      </p:sp>
      <p:pic>
        <p:nvPicPr>
          <p:cNvPr id="11" name="Image 2" descr="preencoded.png">    </p:cNvPr>
          <p:cNvPicPr>
            <a:picLocks noChangeAspect="1"/>
          </p:cNvPicPr>
          <p:nvPr/>
        </p:nvPicPr>
        <p:blipFill>
          <a:blip r:embed="rId3"/>
          <a:stretch>
            <a:fillRect/>
          </a:stretch>
        </p:blipFill>
        <p:spPr>
          <a:xfrm>
            <a:off x="566562" y="2893710"/>
            <a:ext cx="201900" cy="201900"/>
          </a:xfrm>
          <a:prstGeom prst="rect">
            <a:avLst/>
          </a:prstGeom>
        </p:spPr>
      </p:pic>
      <p:sp>
        <p:nvSpPr>
          <p:cNvPr id="12" name="Text 7"/>
          <p:cNvSpPr txBox="1"/>
          <p:nvPr/>
        </p:nvSpPr>
        <p:spPr>
          <a:xfrm>
            <a:off x="1051560" y="2670048"/>
            <a:ext cx="7589520" cy="649224"/>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Chép lời bằng </a:t>
            </a:r>
            <a:pPr indent="0" marL="0">
              <a:buNone/>
            </a:pPr>
            <a:r>
              <a:rPr lang="en-US" sz="1450" b="1" dirty="0">
                <a:solidFill>
                  <a:srgbClr val="1F2A30"/>
                </a:solidFill>
                <a:latin typeface="Calibri" pitchFamily="34" charset="0"/>
                <a:ea typeface="Calibri" pitchFamily="34" charset="-122"/>
                <a:cs typeface="Calibri" pitchFamily="34" charset="-120"/>
              </a:rPr>
              <a:t>TurboScribe, Whisper, Gemini</a:t>
            </a:r>
            <a:pPr indent="0" marL="0">
              <a:buNone/>
            </a:pPr>
            <a:r>
              <a:rPr lang="en-US" sz="1450" dirty="0">
                <a:solidFill>
                  <a:srgbClr val="1F2A30"/>
                </a:solidFill>
                <a:latin typeface="Calibri" pitchFamily="34" charset="0"/>
                <a:ea typeface="Calibri" pitchFamily="34" charset="-122"/>
                <a:cs typeface="Calibri" pitchFamily="34" charset="-120"/>
              </a:rPr>
              <a:t>; khử ồn bằng </a:t>
            </a:r>
            <a:pPr indent="0" marL="0">
              <a:buNone/>
            </a:pPr>
            <a:r>
              <a:rPr lang="en-US" sz="1450" b="1" dirty="0">
                <a:solidFill>
                  <a:srgbClr val="1F2A30"/>
                </a:solidFill>
                <a:latin typeface="Calibri" pitchFamily="34" charset="0"/>
                <a:ea typeface="Calibri" pitchFamily="34" charset="-122"/>
                <a:cs typeface="Calibri" pitchFamily="34" charset="-120"/>
              </a:rPr>
              <a:t>Adobe Podcast, Krisp, NVIDIA Broadcast</a:t>
            </a:r>
            <a:pPr indent="0" marL="0">
              <a:buNone/>
            </a:pPr>
            <a:r>
              <a:rPr lang="en-US" sz="1450" dirty="0">
                <a:solidFill>
                  <a:srgbClr val="1F2A30"/>
                </a:solidFill>
                <a:latin typeface="Calibri" pitchFamily="34" charset="0"/>
                <a:ea typeface="Calibri" pitchFamily="34" charset="-122"/>
                <a:cs typeface="Calibri" pitchFamily="34" charset="-120"/>
              </a:rPr>
              <a:t>.</a:t>
            </a:r>
            <a:endParaRPr lang="en-US" sz="1450" dirty="0"/>
          </a:p>
        </p:txBody>
      </p:sp>
      <p:sp>
        <p:nvSpPr>
          <p:cNvPr id="13" name="Shape 8"/>
          <p:cNvSpPr/>
          <p:nvPr/>
        </p:nvSpPr>
        <p:spPr>
          <a:xfrm>
            <a:off x="457200" y="3433572"/>
            <a:ext cx="420624" cy="420624"/>
          </a:xfrm>
          <a:prstGeom prst="ellipse">
            <a:avLst/>
          </a:prstGeom>
          <a:solidFill>
            <a:srgbClr val="0E7C7B"/>
          </a:solidFill>
          <a:ln w="12700">
            <a:solidFill>
              <a:srgbClr val="0E7C7B"/>
            </a:solidFill>
            <a:prstDash val="solid"/>
          </a:ln>
        </p:spPr>
      </p:sp>
      <p:pic>
        <p:nvPicPr>
          <p:cNvPr id="14" name="Image 3" descr="preencoded.png">    </p:cNvPr>
          <p:cNvPicPr>
            <a:picLocks noChangeAspect="1"/>
          </p:cNvPicPr>
          <p:nvPr/>
        </p:nvPicPr>
        <p:blipFill>
          <a:blip r:embed="rId4"/>
          <a:stretch>
            <a:fillRect/>
          </a:stretch>
        </p:blipFill>
        <p:spPr>
          <a:xfrm>
            <a:off x="566562" y="3542934"/>
            <a:ext cx="201900" cy="201900"/>
          </a:xfrm>
          <a:prstGeom prst="rect">
            <a:avLst/>
          </a:prstGeom>
        </p:spPr>
      </p:pic>
      <p:sp>
        <p:nvSpPr>
          <p:cNvPr id="15" name="Text 9"/>
          <p:cNvSpPr txBox="1"/>
          <p:nvPr/>
        </p:nvSpPr>
        <p:spPr>
          <a:xfrm>
            <a:off x="1051560" y="3319272"/>
            <a:ext cx="7589520" cy="649224"/>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Tóm tắt cuộc gọi theo mẫu </a:t>
            </a:r>
            <a:pPr indent="0" marL="0">
              <a:buNone/>
            </a:pPr>
            <a:r>
              <a:rPr lang="en-US" sz="1450" b="1" dirty="0">
                <a:solidFill>
                  <a:srgbClr val="1F2A30"/>
                </a:solidFill>
                <a:latin typeface="Calibri" pitchFamily="34" charset="0"/>
                <a:ea typeface="Calibri" pitchFamily="34" charset="-122"/>
                <a:cs typeface="Calibri" pitchFamily="34" charset="-120"/>
              </a:rPr>
              <a:t>4 mục</a:t>
            </a:r>
            <a:pPr indent="0" marL="0">
              <a:buNone/>
            </a:pPr>
            <a:r>
              <a:rPr lang="en-US" sz="1450" dirty="0">
                <a:solidFill>
                  <a:srgbClr val="1F2A30"/>
                </a:solidFill>
                <a:latin typeface="Calibri" pitchFamily="34" charset="0"/>
                <a:ea typeface="Calibri" pitchFamily="34" charset="-122"/>
                <a:cs typeface="Calibri" pitchFamily="34" charset="-120"/>
              </a:rPr>
              <a:t> để dán CRM, </a:t>
            </a:r>
            <a:pPr indent="0" marL="0">
              <a:buNone/>
            </a:pPr>
            <a:r>
              <a:rPr lang="en-US" sz="1450" b="1" dirty="0">
                <a:solidFill>
                  <a:srgbClr val="1F2A30"/>
                </a:solidFill>
                <a:latin typeface="Calibri" pitchFamily="34" charset="0"/>
                <a:ea typeface="Calibri" pitchFamily="34" charset="-122"/>
                <a:cs typeface="Calibri" pitchFamily="34" charset="-120"/>
              </a:rPr>
              <a:t>đã che dữ liệu cá nhân</a:t>
            </a:r>
            <a:pPr indent="0" marL="0">
              <a:buNone/>
            </a:pPr>
            <a:r>
              <a:rPr lang="en-US" sz="1450" dirty="0">
                <a:solidFill>
                  <a:srgbClr val="1F2A30"/>
                </a:solidFill>
                <a:latin typeface="Calibri" pitchFamily="34" charset="0"/>
                <a:ea typeface="Calibri" pitchFamily="34" charset="-122"/>
                <a:cs typeface="Calibri" pitchFamily="34" charset="-120"/>
              </a:rPr>
              <a:t>.</a:t>
            </a:r>
            <a:endParaRPr lang="en-US" sz="1450" dirty="0"/>
          </a:p>
        </p:txBody>
      </p:sp>
      <p:sp>
        <p:nvSpPr>
          <p:cNvPr id="16" name="Shape 10"/>
          <p:cNvSpPr/>
          <p:nvPr/>
        </p:nvSpPr>
        <p:spPr>
          <a:xfrm>
            <a:off x="457200" y="4082796"/>
            <a:ext cx="420624" cy="420624"/>
          </a:xfrm>
          <a:prstGeom prst="ellipse">
            <a:avLst/>
          </a:prstGeom>
          <a:solidFill>
            <a:srgbClr val="0E7C7B"/>
          </a:solidFill>
          <a:ln w="12700">
            <a:solidFill>
              <a:srgbClr val="0E7C7B"/>
            </a:solidFill>
            <a:prstDash val="solid"/>
          </a:ln>
        </p:spPr>
      </p:sp>
      <p:pic>
        <p:nvPicPr>
          <p:cNvPr id="17" name="Image 4" descr="preencoded.png">    </p:cNvPr>
          <p:cNvPicPr>
            <a:picLocks noChangeAspect="1"/>
          </p:cNvPicPr>
          <p:nvPr/>
        </p:nvPicPr>
        <p:blipFill>
          <a:blip r:embed="rId5"/>
          <a:stretch>
            <a:fillRect/>
          </a:stretch>
        </p:blipFill>
        <p:spPr>
          <a:xfrm>
            <a:off x="566562" y="4192158"/>
            <a:ext cx="201900" cy="201900"/>
          </a:xfrm>
          <a:prstGeom prst="rect">
            <a:avLst/>
          </a:prstGeom>
        </p:spPr>
      </p:pic>
      <p:sp>
        <p:nvSpPr>
          <p:cNvPr id="18" name="Text 11"/>
          <p:cNvSpPr txBox="1"/>
          <p:nvPr/>
        </p:nvSpPr>
        <p:spPr>
          <a:xfrm>
            <a:off x="1051560" y="3968496"/>
            <a:ext cx="7589520" cy="649224"/>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Hoàn thành và nộp </a:t>
            </a:r>
            <a:pPr indent="0" marL="0">
              <a:buNone/>
            </a:pPr>
            <a:r>
              <a:rPr lang="en-US" sz="1450" b="1" dirty="0">
                <a:solidFill>
                  <a:srgbClr val="1F2A30"/>
                </a:solidFill>
                <a:latin typeface="Calibri" pitchFamily="34" charset="0"/>
                <a:ea typeface="Calibri" pitchFamily="34" charset="-122"/>
                <a:cs typeface="Calibri" pitchFamily="34" charset="-120"/>
              </a:rPr>
              <a:t>ASM 1 (30%)</a:t>
            </a:r>
            <a:pPr indent="0" marL="0">
              <a:buNone/>
            </a:pPr>
            <a:r>
              <a:rPr lang="en-US" sz="1450" dirty="0">
                <a:solidFill>
                  <a:srgbClr val="1F2A30"/>
                </a:solidFill>
                <a:latin typeface="Calibri" pitchFamily="34" charset="0"/>
                <a:ea typeface="Calibri" pitchFamily="34" charset="-122"/>
                <a:cs typeface="Calibri" pitchFamily="34" charset="-120"/>
              </a:rPr>
              <a:t>.</a:t>
            </a:r>
            <a:endParaRPr lang="en-US" sz="1450" dirty="0"/>
          </a:p>
        </p:txBody>
      </p:sp>
      <p:sp>
        <p:nvSpPr>
          <p:cNvPr id="19" name="Text 12"/>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20" name="Text 13"/>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PHÂN BỔ 120 PHÚT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Lịch trình buổi học</a:t>
            </a:r>
            <a:endParaRPr lang="en-US" sz="2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4023360" cy="914400"/>
        </p:xfrm>
        <a:graphic>
          <a:graphicData uri="http://schemas.openxmlformats.org/drawingml/2006/table">
            <a:tbl>
              <a:tblPr/>
              <a:tblGrid>
                <a:gridCol w="960120"/>
                <a:gridCol w="306324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Thời gian</a:t>
                      </a:r>
                      <a:endParaRPr lang="en-US" sz="1200" dirty="0">
                        <a:latin typeface="Calibri" charset="0"/>
                        <a:ea typeface="Calibri" charset="0"/>
                        <a:cs typeface="Calibri" charset="0"/>
                      </a:endParaRPr>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Hoạt động</a:t>
                      </a:r>
                      <a:endParaRPr lang="en-US" sz="1200" dirty="0">
                        <a:latin typeface="Calibri" charset="0"/>
                        <a:ea typeface="Calibri" charset="0"/>
                        <a:cs typeface="Calibri" charset="0"/>
                      </a:endParaRPr>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0–5′</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Mở đầu: câu chuyện của Lan, nhắc quy tắc bảo mật</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5–15′</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NotebookLM: trợ lý tra cứu có trích dẫn</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15–30′</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b="1" dirty="0">
                          <a:solidFill>
                            <a:srgbClr val="1F2A30"/>
                          </a:solidFill>
                          <a:latin typeface="Calibri" pitchFamily="34" charset="0"/>
                          <a:ea typeface="Calibri" pitchFamily="34" charset="-122"/>
                          <a:cs typeface="Calibri" pitchFamily="34" charset="-120"/>
                        </a:rPr>
                        <a:t>Lab:</a:t>
                      </a:r>
                      <a:pPr indent="0" marL="0">
                        <a:buNone/>
                      </a:pPr>
                      <a:r>
                        <a:rPr lang="en-US" sz="1200" dirty="0">
                          <a:solidFill>
                            <a:srgbClr val="1F2A30"/>
                          </a:solidFill>
                          <a:latin typeface="Calibri" pitchFamily="34" charset="0"/>
                          <a:ea typeface="Calibri" pitchFamily="34" charset="-122"/>
                          <a:cs typeface="Calibri" pitchFamily="34" charset="-120"/>
                        </a:rPr>
                        <a:t> dựng trợ lý tra cứu FAQ</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30–33′</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Kiểm tra nhanh #1</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33–41′</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Speech-to-text: ghi âm thành văn bản</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41–47′</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Khử ồn file và mic realtime</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47–54′</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Mẫu tóm tắt cuộc gọi chuẩn CRM</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663440" y="1371600"/>
          <a:ext cx="4023360" cy="914400"/>
        </p:xfrm>
        <a:graphic>
          <a:graphicData uri="http://schemas.openxmlformats.org/drawingml/2006/table">
            <a:tbl>
              <a:tblPr/>
              <a:tblGrid>
                <a:gridCol w="960120"/>
                <a:gridCol w="306324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Thời gian</a:t>
                      </a:r>
                      <a:endParaRPr lang="en-US" sz="1200" dirty="0">
                        <a:latin typeface="Calibri" charset="0"/>
                        <a:ea typeface="Calibri" charset="0"/>
                        <a:cs typeface="Calibri" charset="0"/>
                      </a:endParaRPr>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Hoạt động</a:t>
                      </a:r>
                      <a:endParaRPr lang="en-US" sz="1200" dirty="0">
                        <a:latin typeface="Calibri" charset="0"/>
                        <a:ea typeface="Calibri" charset="0"/>
                        <a:cs typeface="Calibri" charset="0"/>
                      </a:endParaRPr>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54–79′</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b="1" dirty="0">
                          <a:solidFill>
                            <a:srgbClr val="1F2A30"/>
                          </a:solidFill>
                          <a:latin typeface="Calibri" pitchFamily="34" charset="0"/>
                          <a:ea typeface="Calibri" pitchFamily="34" charset="-122"/>
                          <a:cs typeface="Calibri" pitchFamily="34" charset="-120"/>
                        </a:rPr>
                        <a:t>Lab:</a:t>
                      </a:r>
                      <a:pPr indent="0" marL="0">
                        <a:buNone/>
                      </a:pPr>
                      <a:r>
                        <a:rPr lang="en-US" sz="1200" dirty="0">
                          <a:solidFill>
                            <a:srgbClr val="1F2A30"/>
                          </a:solidFill>
                          <a:latin typeface="Calibri" pitchFamily="34" charset="0"/>
                          <a:ea typeface="Calibri" pitchFamily="34" charset="-122"/>
                          <a:cs typeface="Calibri" pitchFamily="34" charset="-120"/>
                        </a:rPr>
                        <a:t> ghi âm → văn bản → CRM</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79–82′</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Kiểm tra nhanh #2</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82–92′</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Giới thiệu đề </a:t>
                      </a:r>
                      <a:pPr indent="0" marL="0">
                        <a:buNone/>
                      </a:pPr>
                      <a:r>
                        <a:rPr lang="en-US" sz="1200" b="1" dirty="0">
                          <a:solidFill>
                            <a:srgbClr val="1F2A30"/>
                          </a:solidFill>
                          <a:latin typeface="Calibri" pitchFamily="34" charset="0"/>
                          <a:ea typeface="Calibri" pitchFamily="34" charset="-122"/>
                          <a:cs typeface="Calibri" pitchFamily="34" charset="-120"/>
                        </a:rPr>
                        <a:t>ASM 1</a:t>
                      </a:r>
                      <a:pPr indent="0" marL="0">
                        <a:buNone/>
                      </a:pPr>
                      <a:r>
                        <a:rPr lang="en-US" sz="1200" dirty="0">
                          <a:solidFill>
                            <a:srgbClr val="1F2A30"/>
                          </a:solidFill>
                          <a:latin typeface="Calibri" pitchFamily="34" charset="0"/>
                          <a:ea typeface="Calibri" pitchFamily="34" charset="-122"/>
                          <a:cs typeface="Calibri" pitchFamily="34" charset="-120"/>
                        </a:rPr>
                        <a:t>, rubric chấm</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92–105′</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Role play với thầy giáo AI</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105–110′</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Quiz buổi</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110–113′</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Tổng kết</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113–120′</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Chia sẻ &amp; feedback</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bl>
          </a:graphicData>
        </a:graphic>
      </p:graphicFrame>
      <p:sp>
        <p:nvSpPr>
          <p:cNvPr id="6" name="Text 2"/>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7" name="Text 3"/>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3B45"/>
        </a:solidFill>
      </p:bgPr>
    </p:bg>
    <p:spTree>
      <p:nvGrpSpPr>
        <p:cNvPr id="1" name=""/>
        <p:cNvGrpSpPr/>
        <p:nvPr/>
      </p:nvGrpSpPr>
      <p:grpSpPr>
        <a:xfrm>
          <a:off x="0" y="0"/>
          <a:ext cx="0" cy="0"/>
          <a:chOff x="0" y="0"/>
          <a:chExt cx="0" cy="0"/>
        </a:xfrm>
      </p:grpSpPr>
      <p:sp>
        <p:nvSpPr>
          <p:cNvPr id="2" name="Text 0"/>
          <p:cNvSpPr txBox="1"/>
          <p:nvPr/>
        </p:nvSpPr>
        <p:spPr>
          <a:xfrm>
            <a:off x="548640" y="1097280"/>
            <a:ext cx="2743200" cy="1005840"/>
          </a:xfrm>
          <a:prstGeom prst="rect">
            <a:avLst/>
          </a:prstGeom>
          <a:noFill/>
          <a:ln/>
        </p:spPr>
        <p:txBody>
          <a:bodyPr wrap="square" lIns="0" tIns="0" rIns="0" bIns="0" rtlCol="0" anchor="t"/>
          <a:lstStyle/>
          <a:p>
            <a:pPr indent="0" marL="0">
              <a:buNone/>
            </a:pPr>
            <a:r>
              <a:rPr lang="en-US" sz="6600" b="1" dirty="0">
                <a:solidFill>
                  <a:srgbClr val="F2994A"/>
                </a:solidFill>
                <a:latin typeface="Cambria" pitchFamily="34" charset="0"/>
                <a:ea typeface="Cambria" pitchFamily="34" charset="-122"/>
                <a:cs typeface="Cambria" pitchFamily="34" charset="-120"/>
              </a:rPr>
              <a:t>01</a:t>
            </a:r>
            <a:endParaRPr lang="en-US" sz="6600" dirty="0"/>
          </a:p>
        </p:txBody>
      </p:sp>
      <p:sp>
        <p:nvSpPr>
          <p:cNvPr id="3" name="Text 1"/>
          <p:cNvSpPr txBox="1"/>
          <p:nvPr/>
        </p:nvSpPr>
        <p:spPr>
          <a:xfrm>
            <a:off x="548640" y="2148840"/>
            <a:ext cx="7315200" cy="320040"/>
          </a:xfrm>
          <a:prstGeom prst="rect">
            <a:avLst/>
          </a:prstGeom>
          <a:noFill/>
          <a:ln/>
        </p:spPr>
        <p:txBody>
          <a:bodyPr wrap="square" lIns="0" tIns="0" rIns="0" bIns="0" rtlCol="0" anchor="t"/>
          <a:lstStyle/>
          <a:p>
            <a:pPr indent="0" marL="0">
              <a:buNone/>
            </a:pPr>
            <a:r>
              <a:rPr lang="en-US" sz="1200" b="1" spc="300" kern="0" dirty="0">
                <a:solidFill>
                  <a:srgbClr val="BFE3DD"/>
                </a:solidFill>
                <a:latin typeface="Calibri" pitchFamily="34" charset="0"/>
                <a:ea typeface="Calibri" pitchFamily="34" charset="-122"/>
                <a:cs typeface="Calibri" pitchFamily="34" charset="-120"/>
              </a:rPr>
              <a:t>PHẦN 1 · TRA CỨU TÀI LIỆU</a:t>
            </a:r>
            <a:endParaRPr lang="en-US" sz="1200" dirty="0"/>
          </a:p>
        </p:txBody>
      </p:sp>
      <p:sp>
        <p:nvSpPr>
          <p:cNvPr id="4" name="Text 2"/>
          <p:cNvSpPr txBox="1"/>
          <p:nvPr/>
        </p:nvSpPr>
        <p:spPr>
          <a:xfrm>
            <a:off x="548640" y="2468880"/>
            <a:ext cx="6583680" cy="105156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NotebookLM: trợ lý tra cứu nội bộ</a:t>
            </a:r>
            <a:endParaRPr lang="en-US" sz="2600" dirty="0"/>
          </a:p>
        </p:txBody>
      </p:sp>
      <p:sp>
        <p:nvSpPr>
          <p:cNvPr id="5" name="Text 3"/>
          <p:cNvSpPr txBox="1"/>
          <p:nvPr/>
        </p:nvSpPr>
        <p:spPr>
          <a:xfrm>
            <a:off x="548640" y="3611880"/>
            <a:ext cx="6400800" cy="731520"/>
          </a:xfrm>
          <a:prstGeom prst="rect">
            <a:avLst/>
          </a:prstGeom>
          <a:noFill/>
          <a:ln/>
        </p:spPr>
        <p:txBody>
          <a:bodyPr wrap="square" lIns="0" tIns="0" rIns="0" bIns="0" rtlCol="0" anchor="t"/>
          <a:lstStyle/>
          <a:p>
            <a:pPr indent="0" marL="0">
              <a:buNone/>
            </a:pPr>
            <a:r>
              <a:rPr lang="en-US" sz="1500" dirty="0">
                <a:solidFill>
                  <a:srgbClr val="BFE3DD"/>
                </a:solidFill>
                <a:latin typeface="Calibri" pitchFamily="34" charset="0"/>
                <a:ea typeface="Calibri" pitchFamily="34" charset="-122"/>
                <a:cs typeface="Calibri" pitchFamily="34" charset="-120"/>
              </a:rPr>
              <a:t>Hỏi đáp trên chính tài liệu FAQ và chính sách của bộ phận, có trích dẫn nguồn.</a:t>
            </a:r>
            <a:endParaRPr lang="en-US" sz="1500" dirty="0"/>
          </a:p>
        </p:txBody>
      </p:sp>
      <p:sp>
        <p:nvSpPr>
          <p:cNvPr id="6" name="Shape 4"/>
          <p:cNvSpPr/>
          <p:nvPr/>
        </p:nvSpPr>
        <p:spPr>
          <a:xfrm>
            <a:off x="7315200" y="1234440"/>
            <a:ext cx="1188720" cy="1188720"/>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7624267" y="1543507"/>
            <a:ext cx="570586" cy="57058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NOTEBOOKLM LÀ GÌ</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Một "sổ tay" AI chỉ đọc tài liệu bạn nạp</a:t>
            </a:r>
            <a:endParaRPr lang="en-US" sz="2500" dirty="0"/>
          </a:p>
        </p:txBody>
      </p:sp>
      <p:sp>
        <p:nvSpPr>
          <p:cNvPr id="4" name="Shape 2"/>
          <p:cNvSpPr/>
          <p:nvPr/>
        </p:nvSpPr>
        <p:spPr>
          <a:xfrm>
            <a:off x="457200" y="1371600"/>
            <a:ext cx="4000500" cy="1485900"/>
          </a:xfrm>
          <a:prstGeom prst="roundRect">
            <a:avLst>
              <a:gd name="adj" fmla="val 6154"/>
            </a:avLst>
          </a:prstGeom>
          <a:solidFill>
            <a:srgbClr val="E8F3F1"/>
          </a:solidFill>
          <a:ln w="12700">
            <a:solidFill>
              <a:srgbClr val="E8F3F1"/>
            </a:solidFill>
            <a:prstDash val="solid"/>
          </a:ln>
        </p:spPr>
      </p:sp>
      <p:sp>
        <p:nvSpPr>
          <p:cNvPr id="5" name="Shape 3"/>
          <p:cNvSpPr/>
          <p:nvPr/>
        </p:nvSpPr>
        <p:spPr>
          <a:xfrm>
            <a:off x="640080" y="1554480"/>
            <a:ext cx="457200" cy="457200"/>
          </a:xfrm>
          <a:prstGeom prst="ellipse">
            <a:avLst/>
          </a:prstGeom>
          <a:solidFill>
            <a:srgbClr val="0E7C7B"/>
          </a:solidFill>
          <a:ln w="12700">
            <a:solidFill>
              <a:srgbClr val="0E7C7B"/>
            </a:solidFill>
            <a:prstDash val="solid"/>
          </a:ln>
        </p:spPr>
      </p:sp>
      <p:pic>
        <p:nvPicPr>
          <p:cNvPr id="6" name="Image 0" descr="preencoded.png">    </p:cNvPr>
          <p:cNvPicPr>
            <a:picLocks noChangeAspect="1"/>
          </p:cNvPicPr>
          <p:nvPr/>
        </p:nvPicPr>
        <p:blipFill>
          <a:blip r:embed="rId1"/>
          <a:stretch>
            <a:fillRect/>
          </a:stretch>
        </p:blipFill>
        <p:spPr>
          <a:xfrm>
            <a:off x="758952" y="1673352"/>
            <a:ext cx="219456" cy="219456"/>
          </a:xfrm>
          <a:prstGeom prst="rect">
            <a:avLst/>
          </a:prstGeom>
        </p:spPr>
      </p:pic>
      <p:sp>
        <p:nvSpPr>
          <p:cNvPr id="7" name="Text 4"/>
          <p:cNvSpPr txBox="1"/>
          <p:nvPr/>
        </p:nvSpPr>
        <p:spPr>
          <a:xfrm>
            <a:off x="1234440" y="15270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Dựa trên nguồn bạn nạp</a:t>
            </a:r>
            <a:endParaRPr lang="en-US" sz="1400" dirty="0"/>
          </a:p>
        </p:txBody>
      </p:sp>
      <p:sp>
        <p:nvSpPr>
          <p:cNvPr id="8" name="Text 5"/>
          <p:cNvSpPr txBox="1"/>
          <p:nvPr/>
        </p:nvSpPr>
        <p:spPr>
          <a:xfrm>
            <a:off x="1234440" y="19202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Trả lời từ </a:t>
            </a:r>
            <a:pPr indent="0" marL="0">
              <a:buNone/>
            </a:pPr>
            <a:r>
              <a:rPr lang="en-US" sz="1300" b="1" dirty="0">
                <a:solidFill>
                  <a:srgbClr val="1F2A30"/>
                </a:solidFill>
                <a:latin typeface="Calibri" pitchFamily="34" charset="0"/>
                <a:ea typeface="Calibri" pitchFamily="34" charset="-122"/>
                <a:cs typeface="Calibri" pitchFamily="34" charset="-120"/>
              </a:rPr>
              <a:t>tài liệu trong notebook</a:t>
            </a:r>
            <a:pPr indent="0" marL="0">
              <a:buNone/>
            </a:pPr>
            <a:r>
              <a:rPr lang="en-US" sz="1300" dirty="0">
                <a:solidFill>
                  <a:srgbClr val="1F2A30"/>
                </a:solidFill>
                <a:latin typeface="Calibri" pitchFamily="34" charset="0"/>
                <a:ea typeface="Calibri" pitchFamily="34" charset="-122"/>
                <a:cs typeface="Calibri" pitchFamily="34" charset="-120"/>
              </a:rPr>
              <a:t>, không phải kiến thức chung trên internet.</a:t>
            </a:r>
            <a:endParaRPr lang="en-US" sz="1300" dirty="0"/>
          </a:p>
        </p:txBody>
      </p:sp>
      <p:sp>
        <p:nvSpPr>
          <p:cNvPr id="9" name="Shape 6"/>
          <p:cNvSpPr/>
          <p:nvPr/>
        </p:nvSpPr>
        <p:spPr>
          <a:xfrm>
            <a:off x="4686300" y="1371600"/>
            <a:ext cx="4000500" cy="1485900"/>
          </a:xfrm>
          <a:prstGeom prst="roundRect">
            <a:avLst>
              <a:gd name="adj" fmla="val 6154"/>
            </a:avLst>
          </a:prstGeom>
          <a:solidFill>
            <a:srgbClr val="E8F3F1"/>
          </a:solidFill>
          <a:ln w="12700">
            <a:solidFill>
              <a:srgbClr val="E8F3F1"/>
            </a:solidFill>
            <a:prstDash val="solid"/>
          </a:ln>
        </p:spPr>
      </p:sp>
      <p:sp>
        <p:nvSpPr>
          <p:cNvPr id="10" name="Shape 7"/>
          <p:cNvSpPr/>
          <p:nvPr/>
        </p:nvSpPr>
        <p:spPr>
          <a:xfrm>
            <a:off x="4869180" y="1554480"/>
            <a:ext cx="457200" cy="457200"/>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4988052" y="1673352"/>
            <a:ext cx="219456" cy="219456"/>
          </a:xfrm>
          <a:prstGeom prst="rect">
            <a:avLst/>
          </a:prstGeom>
        </p:spPr>
      </p:pic>
      <p:sp>
        <p:nvSpPr>
          <p:cNvPr id="12" name="Text 8"/>
          <p:cNvSpPr txBox="1"/>
          <p:nvPr/>
        </p:nvSpPr>
        <p:spPr>
          <a:xfrm>
            <a:off x="5463540" y="15270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Có trích dẫn</a:t>
            </a:r>
            <a:endParaRPr lang="en-US" sz="1400" dirty="0"/>
          </a:p>
        </p:txBody>
      </p:sp>
      <p:sp>
        <p:nvSpPr>
          <p:cNvPr id="13" name="Text 9"/>
          <p:cNvSpPr txBox="1"/>
          <p:nvPr/>
        </p:nvSpPr>
        <p:spPr>
          <a:xfrm>
            <a:off x="5463540" y="19202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Mỗi ý kèm số nhỏ [1], [2]; bấm vào là thấy </a:t>
            </a:r>
            <a:pPr indent="0" marL="0">
              <a:buNone/>
            </a:pPr>
            <a:r>
              <a:rPr lang="en-US" sz="1300" b="1" dirty="0">
                <a:solidFill>
                  <a:srgbClr val="1F2A30"/>
                </a:solidFill>
                <a:latin typeface="Calibri" pitchFamily="34" charset="0"/>
                <a:ea typeface="Calibri" pitchFamily="34" charset="-122"/>
                <a:cs typeface="Calibri" pitchFamily="34" charset="-120"/>
              </a:rPr>
              <a:t>đúng đoạn văn gốc</a:t>
            </a:r>
            <a:pPr indent="0" marL="0">
              <a:buNone/>
            </a:pPr>
            <a:r>
              <a:rPr lang="en-US" sz="1300" dirty="0">
                <a:solidFill>
                  <a:srgbClr val="1F2A30"/>
                </a:solidFill>
                <a:latin typeface="Calibri" pitchFamily="34" charset="0"/>
                <a:ea typeface="Calibri" pitchFamily="34" charset="-122"/>
                <a:cs typeface="Calibri" pitchFamily="34" charset="-120"/>
              </a:rPr>
              <a:t>.</a:t>
            </a:r>
            <a:endParaRPr lang="en-US" sz="1300" dirty="0"/>
          </a:p>
        </p:txBody>
      </p:sp>
      <p:sp>
        <p:nvSpPr>
          <p:cNvPr id="14" name="Shape 10"/>
          <p:cNvSpPr/>
          <p:nvPr/>
        </p:nvSpPr>
        <p:spPr>
          <a:xfrm>
            <a:off x="457200" y="3086100"/>
            <a:ext cx="4000500" cy="1485900"/>
          </a:xfrm>
          <a:prstGeom prst="roundRect">
            <a:avLst>
              <a:gd name="adj" fmla="val 6154"/>
            </a:avLst>
          </a:prstGeom>
          <a:solidFill>
            <a:srgbClr val="E8F3F1"/>
          </a:solidFill>
          <a:ln w="12700">
            <a:solidFill>
              <a:srgbClr val="E8F3F1"/>
            </a:solidFill>
            <a:prstDash val="solid"/>
          </a:ln>
        </p:spPr>
      </p:sp>
      <p:sp>
        <p:nvSpPr>
          <p:cNvPr id="15" name="Shape 11"/>
          <p:cNvSpPr/>
          <p:nvPr/>
        </p:nvSpPr>
        <p:spPr>
          <a:xfrm>
            <a:off x="640080" y="3268980"/>
            <a:ext cx="457200" cy="457200"/>
          </a:xfrm>
          <a:prstGeom prst="ellipse">
            <a:avLst/>
          </a:prstGeom>
          <a:solidFill>
            <a:srgbClr val="0E7C7B"/>
          </a:solidFill>
          <a:ln w="12700">
            <a:solidFill>
              <a:srgbClr val="0E7C7B"/>
            </a:solidFill>
            <a:prstDash val="solid"/>
          </a:ln>
        </p:spPr>
      </p:sp>
      <p:pic>
        <p:nvPicPr>
          <p:cNvPr id="16" name="Image 2" descr="preencoded.png">    </p:cNvPr>
          <p:cNvPicPr>
            <a:picLocks noChangeAspect="1"/>
          </p:cNvPicPr>
          <p:nvPr/>
        </p:nvPicPr>
        <p:blipFill>
          <a:blip r:embed="rId3"/>
          <a:stretch>
            <a:fillRect/>
          </a:stretch>
        </p:blipFill>
        <p:spPr>
          <a:xfrm>
            <a:off x="758952" y="3387852"/>
            <a:ext cx="219456" cy="219456"/>
          </a:xfrm>
          <a:prstGeom prst="rect">
            <a:avLst/>
          </a:prstGeom>
        </p:spPr>
      </p:pic>
      <p:sp>
        <p:nvSpPr>
          <p:cNvPr id="17" name="Text 12"/>
          <p:cNvSpPr txBox="1"/>
          <p:nvPr/>
        </p:nvSpPr>
        <p:spPr>
          <a:xfrm>
            <a:off x="1234440" y="32415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Nhiều loại nguồn</a:t>
            </a:r>
            <a:endParaRPr lang="en-US" sz="1400" dirty="0"/>
          </a:p>
        </p:txBody>
      </p:sp>
      <p:sp>
        <p:nvSpPr>
          <p:cNvPr id="18" name="Text 13"/>
          <p:cNvSpPr txBox="1"/>
          <p:nvPr/>
        </p:nvSpPr>
        <p:spPr>
          <a:xfrm>
            <a:off x="1234440" y="36347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PDF, Google Docs/Slides, văn bản dán, link web, YouTube, âm thanh. Giới hạn tùy gói.</a:t>
            </a:r>
            <a:endParaRPr lang="en-US" sz="1300" dirty="0"/>
          </a:p>
        </p:txBody>
      </p:sp>
      <p:sp>
        <p:nvSpPr>
          <p:cNvPr id="19" name="Shape 14"/>
          <p:cNvSpPr/>
          <p:nvPr/>
        </p:nvSpPr>
        <p:spPr>
          <a:xfrm>
            <a:off x="4686300" y="3086100"/>
            <a:ext cx="4000500" cy="1485900"/>
          </a:xfrm>
          <a:prstGeom prst="roundRect">
            <a:avLst>
              <a:gd name="adj" fmla="val 6154"/>
            </a:avLst>
          </a:prstGeom>
          <a:solidFill>
            <a:srgbClr val="E8F3F1"/>
          </a:solidFill>
          <a:ln w="12700">
            <a:solidFill>
              <a:srgbClr val="E8F3F1"/>
            </a:solidFill>
            <a:prstDash val="solid"/>
          </a:ln>
        </p:spPr>
      </p:sp>
      <p:sp>
        <p:nvSpPr>
          <p:cNvPr id="20" name="Shape 15"/>
          <p:cNvSpPr/>
          <p:nvPr/>
        </p:nvSpPr>
        <p:spPr>
          <a:xfrm>
            <a:off x="4869180" y="3268980"/>
            <a:ext cx="457200" cy="457200"/>
          </a:xfrm>
          <a:prstGeom prst="ellipse">
            <a:avLst/>
          </a:prstGeom>
          <a:solidFill>
            <a:srgbClr val="F2994A"/>
          </a:solidFill>
          <a:ln w="12700">
            <a:solidFill>
              <a:srgbClr val="F2994A"/>
            </a:solidFill>
            <a:prstDash val="solid"/>
          </a:ln>
        </p:spPr>
      </p:sp>
      <p:pic>
        <p:nvPicPr>
          <p:cNvPr id="21" name="Image 3" descr="preencoded.png">    </p:cNvPr>
          <p:cNvPicPr>
            <a:picLocks noChangeAspect="1"/>
          </p:cNvPicPr>
          <p:nvPr/>
        </p:nvPicPr>
        <p:blipFill>
          <a:blip r:embed="rId4"/>
          <a:stretch>
            <a:fillRect/>
          </a:stretch>
        </p:blipFill>
        <p:spPr>
          <a:xfrm>
            <a:off x="4988052" y="3387852"/>
            <a:ext cx="219456" cy="219456"/>
          </a:xfrm>
          <a:prstGeom prst="rect">
            <a:avLst/>
          </a:prstGeom>
        </p:spPr>
      </p:pic>
      <p:sp>
        <p:nvSpPr>
          <p:cNvPr id="22" name="Text 16"/>
          <p:cNvSpPr txBox="1"/>
          <p:nvPr/>
        </p:nvSpPr>
        <p:spPr>
          <a:xfrm>
            <a:off x="5463540" y="32415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Grounding</a:t>
            </a:r>
            <a:endParaRPr lang="en-US" sz="1400" dirty="0"/>
          </a:p>
        </p:txBody>
      </p:sp>
      <p:sp>
        <p:nvSpPr>
          <p:cNvPr id="23" name="Text 17"/>
          <p:cNvSpPr txBox="1"/>
          <p:nvPr/>
        </p:nvSpPr>
        <p:spPr>
          <a:xfrm>
            <a:off x="5463540" y="36347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Neo câu trả lời vào tài liệu: AI không "thông minh hơn", mà </a:t>
            </a:r>
            <a:pPr indent="0" marL="0">
              <a:buNone/>
            </a:pPr>
            <a:r>
              <a:rPr lang="en-US" sz="1300" b="1" dirty="0">
                <a:solidFill>
                  <a:srgbClr val="1F2A30"/>
                </a:solidFill>
                <a:latin typeface="Calibri" pitchFamily="34" charset="0"/>
                <a:ea typeface="Calibri" pitchFamily="34" charset="-122"/>
                <a:cs typeface="Calibri" pitchFamily="34" charset="-120"/>
              </a:rPr>
              <a:t>có chỗ dựa</a:t>
            </a:r>
            <a:pPr indent="0" marL="0">
              <a:buNone/>
            </a:pPr>
            <a:r>
              <a:rPr lang="en-US" sz="1300" dirty="0">
                <a:solidFill>
                  <a:srgbClr val="1F2A30"/>
                </a:solidFill>
                <a:latin typeface="Calibri" pitchFamily="34" charset="0"/>
                <a:ea typeface="Calibri" pitchFamily="34" charset="-122"/>
                <a:cs typeface="Calibri" pitchFamily="34" charset="-120"/>
              </a:rPr>
              <a:t> và cho bạn </a:t>
            </a:r>
            <a:pPr indent="0" marL="0">
              <a:buNone/>
            </a:pPr>
            <a:r>
              <a:rPr lang="en-US" sz="1300" b="1" dirty="0">
                <a:solidFill>
                  <a:srgbClr val="1F2A30"/>
                </a:solidFill>
                <a:latin typeface="Calibri" pitchFamily="34" charset="0"/>
                <a:ea typeface="Calibri" pitchFamily="34" charset="-122"/>
                <a:cs typeface="Calibri" pitchFamily="34" charset="-120"/>
              </a:rPr>
              <a:t>cách kiểm</a:t>
            </a:r>
            <a:pPr indent="0" marL="0">
              <a:buNone/>
            </a:pPr>
            <a:r>
              <a:rPr lang="en-US" sz="1300" dirty="0">
                <a:solidFill>
                  <a:srgbClr val="1F2A30"/>
                </a:solidFill>
                <a:latin typeface="Calibri" pitchFamily="34" charset="0"/>
                <a:ea typeface="Calibri" pitchFamily="34" charset="-122"/>
                <a:cs typeface="Calibri" pitchFamily="34" charset="-120"/>
              </a:rPr>
              <a:t>.</a:t>
            </a:r>
            <a:endParaRPr lang="en-US" sz="1300" dirty="0"/>
          </a:p>
        </p:txBody>
      </p:sp>
      <p:sp>
        <p:nvSpPr>
          <p:cNvPr id="24"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25"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SO SÁNH</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Chatbot không tài liệu vs NotebookLM có nạp chính sách</a:t>
            </a:r>
            <a:endParaRPr lang="en-US" sz="2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377440"/>
                <a:gridCol w="2926080"/>
                <a:gridCol w="292608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Tiêu chí</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Không có tài liệu</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NotebookLM có tài liệu</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457200">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Nguồn câu trả lời</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Kiến thức chung, có thể lỗi thời</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Đúng tài liệu bạn nạp</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Biết chính sách riêng</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Không</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Có, nếu tài liệu có ghi</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Kiểm chứng</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Khó, không biết lấy từ đâu</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Bấm trích dẫn, xem đoạn gốc</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Khi thiếu thông tin</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Dễ bịa cho đủ câu</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Thường nói không tìm thấy</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Rủi ro chính</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Bịa số liệu, điều kiện</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Tài liệu cũ, tài liệu mâu thuẫn</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bl>
          </a:graphicData>
        </a:graphic>
      </p:graphicFrame>
      <p:sp>
        <p:nvSpPr>
          <p:cNvPr id="5" name="Text 2"/>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6" name="Text 3"/>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CÙNG MỘT CÂU HỎI VỀ HÀNG FLASH SALE</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"30 ngày" hay "7 ngày"?</a:t>
            </a:r>
            <a:endParaRPr lang="en-US" sz="2500" dirty="0"/>
          </a:p>
        </p:txBody>
      </p:sp>
      <p:sp>
        <p:nvSpPr>
          <p:cNvPr id="4" name="Shape 2"/>
          <p:cNvSpPr/>
          <p:nvPr/>
        </p:nvSpPr>
        <p:spPr>
          <a:xfrm>
            <a:off x="457200" y="1371600"/>
            <a:ext cx="3977640" cy="2697480"/>
          </a:xfrm>
          <a:prstGeom prst="roundRect">
            <a:avLst>
              <a:gd name="adj" fmla="val 3390"/>
            </a:avLst>
          </a:prstGeom>
          <a:solidFill>
            <a:srgbClr val="FBEAE8"/>
          </a:solidFill>
          <a:ln w="12700">
            <a:solidFill>
              <a:srgbClr val="FBEAE8"/>
            </a:solidFill>
            <a:prstDash val="solid"/>
          </a:ln>
        </p:spPr>
      </p:sp>
      <p:sp>
        <p:nvSpPr>
          <p:cNvPr id="5" name="Shape 3"/>
          <p:cNvSpPr/>
          <p:nvPr/>
        </p:nvSpPr>
        <p:spPr>
          <a:xfrm>
            <a:off x="658368" y="1554480"/>
            <a:ext cx="420624" cy="420624"/>
          </a:xfrm>
          <a:prstGeom prst="ellipse">
            <a:avLst/>
          </a:prstGeom>
          <a:solidFill>
            <a:srgbClr val="C0392B"/>
          </a:solidFill>
          <a:ln w="12700">
            <a:solidFill>
              <a:srgbClr val="C0392B"/>
            </a:solidFill>
            <a:prstDash val="solid"/>
          </a:ln>
        </p:spPr>
      </p:sp>
      <p:pic>
        <p:nvPicPr>
          <p:cNvPr id="6" name="Image 0" descr="preencoded.png">    </p:cNvPr>
          <p:cNvPicPr>
            <a:picLocks noChangeAspect="1"/>
          </p:cNvPicPr>
          <p:nvPr/>
        </p:nvPicPr>
        <p:blipFill>
          <a:blip r:embed="rId1"/>
          <a:stretch>
            <a:fillRect/>
          </a:stretch>
        </p:blipFill>
        <p:spPr>
          <a:xfrm>
            <a:off x="767730" y="1663842"/>
            <a:ext cx="201900" cy="201900"/>
          </a:xfrm>
          <a:prstGeom prst="rect">
            <a:avLst/>
          </a:prstGeom>
        </p:spPr>
      </p:pic>
      <p:sp>
        <p:nvSpPr>
          <p:cNvPr id="7" name="Text 4"/>
          <p:cNvSpPr txBox="1"/>
          <p:nvPr/>
        </p:nvSpPr>
        <p:spPr>
          <a:xfrm>
            <a:off x="1188720" y="1554480"/>
            <a:ext cx="3063240" cy="420624"/>
          </a:xfrm>
          <a:prstGeom prst="rect">
            <a:avLst/>
          </a:prstGeom>
          <a:noFill/>
          <a:ln/>
        </p:spPr>
        <p:txBody>
          <a:bodyPr wrap="square" lIns="0" tIns="0" rIns="0" bIns="0" rtlCol="0" anchor="ctr"/>
          <a:lstStyle/>
          <a:p>
            <a:pPr indent="0" marL="0">
              <a:buNone/>
            </a:pPr>
            <a:r>
              <a:rPr lang="en-US" sz="1450" b="1" dirty="0">
                <a:solidFill>
                  <a:srgbClr val="C0392B"/>
                </a:solidFill>
                <a:latin typeface="Calibri" pitchFamily="34" charset="0"/>
                <a:ea typeface="Calibri" pitchFamily="34" charset="-122"/>
                <a:cs typeface="Calibri" pitchFamily="34" charset="-120"/>
              </a:rPr>
              <a:t>Không có tài liệu</a:t>
            </a:r>
            <a:endParaRPr lang="en-US" sz="1450" dirty="0"/>
          </a:p>
        </p:txBody>
      </p:sp>
      <p:sp>
        <p:nvSpPr>
          <p:cNvPr id="8" name="Text 5"/>
          <p:cNvSpPr txBox="1"/>
          <p:nvPr/>
        </p:nvSpPr>
        <p:spPr>
          <a:xfrm>
            <a:off x="685800" y="2103120"/>
            <a:ext cx="3520440" cy="182880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"Hàng flash sale được đổi trong </a:t>
            </a:r>
            <a:pPr indent="0" marL="0">
              <a:buNone/>
            </a:pPr>
            <a:r>
              <a:rPr lang="en-US" sz="1400" b="1" dirty="0">
                <a:solidFill>
                  <a:srgbClr val="1F2A30"/>
                </a:solidFill>
                <a:latin typeface="Calibri" pitchFamily="34" charset="0"/>
                <a:ea typeface="Calibri" pitchFamily="34" charset="-122"/>
                <a:cs typeface="Calibri" pitchFamily="34" charset="-120"/>
              </a:rPr>
              <a:t>30 ngày</a:t>
            </a:r>
            <a:pPr indent="0" marL="0">
              <a:buNone/>
            </a:pPr>
            <a:r>
              <a:rPr lang="en-US" sz="1400" dirty="0">
                <a:solidFill>
                  <a:srgbClr val="1F2A30"/>
                </a:solidFill>
                <a:latin typeface="Calibri" pitchFamily="34" charset="0"/>
                <a:ea typeface="Calibri" pitchFamily="34" charset="-122"/>
                <a:cs typeface="Calibri" pitchFamily="34" charset="-120"/>
              </a:rPr>
              <a:t>, miễn phí vận chuyển."</a:t>
            </a:r>
            <a:endParaRPr lang="en-US" sz="1400" dirty="0"/>
          </a:p>
          <a:p>
            <a:pPr indent="0" marL="0">
              <a:buNone/>
            </a:pPr>
            <a:endParaRPr lang="en-US" sz="1400" dirty="0"/>
          </a:p>
          <a:p>
            <a:pPr indent="0" marL="0">
              <a:buNone/>
            </a:pPr>
            <a:r>
              <a:rPr lang="en-US" sz="1400" dirty="0">
                <a:solidFill>
                  <a:srgbClr val="1F2A30"/>
                </a:solidFill>
                <a:latin typeface="Calibri" pitchFamily="34" charset="0"/>
                <a:ea typeface="Calibri" pitchFamily="34" charset="-122"/>
                <a:cs typeface="Calibri" pitchFamily="34" charset="-120"/>
              </a:rPr>
              <a:t>Nghe hợp lý, nhưng ShopNhanh </a:t>
            </a:r>
            <a:endParaRPr lang="en-US" sz="1400" dirty="0"/>
          </a:p>
          <a:p>
            <a:pPr indent="0" marL="0">
              <a:buNone/>
            </a:pPr>
            <a:r>
              <a:rPr lang="en-US" sz="1400" b="1" dirty="0">
                <a:solidFill>
                  <a:srgbClr val="1F2A30"/>
                </a:solidFill>
                <a:latin typeface="Calibri" pitchFamily="34" charset="0"/>
                <a:ea typeface="Calibri" pitchFamily="34" charset="-122"/>
                <a:cs typeface="Calibri" pitchFamily="34" charset="-120"/>
              </a:rPr>
              <a:t>không có</a:t>
            </a:r>
            <a:pPr indent="0" marL="0">
              <a:buNone/>
            </a:pPr>
            <a:r>
              <a:rPr lang="en-US" sz="1400" dirty="0">
                <a:solidFill>
                  <a:srgbClr val="1F2A30"/>
                </a:solidFill>
                <a:latin typeface="Calibri" pitchFamily="34" charset="0"/>
                <a:ea typeface="Calibri" pitchFamily="34" charset="-122"/>
                <a:cs typeface="Calibri" pitchFamily="34" charset="-120"/>
              </a:rPr>
              <a:t> chính sách này.</a:t>
            </a:r>
            <a:endParaRPr lang="en-US" sz="1400" dirty="0"/>
          </a:p>
        </p:txBody>
      </p:sp>
      <p:sp>
        <p:nvSpPr>
          <p:cNvPr id="9" name="Shape 6"/>
          <p:cNvSpPr/>
          <p:nvPr/>
        </p:nvSpPr>
        <p:spPr>
          <a:xfrm>
            <a:off x="4709160" y="1371600"/>
            <a:ext cx="3977640" cy="2697480"/>
          </a:xfrm>
          <a:prstGeom prst="roundRect">
            <a:avLst>
              <a:gd name="adj" fmla="val 3390"/>
            </a:avLst>
          </a:prstGeom>
          <a:solidFill>
            <a:srgbClr val="E8F3F1"/>
          </a:solidFill>
          <a:ln w="12700">
            <a:solidFill>
              <a:srgbClr val="E8F3F1"/>
            </a:solidFill>
            <a:prstDash val="solid"/>
          </a:ln>
        </p:spPr>
      </p:sp>
      <p:sp>
        <p:nvSpPr>
          <p:cNvPr id="10" name="Shape 7"/>
          <p:cNvSpPr/>
          <p:nvPr/>
        </p:nvSpPr>
        <p:spPr>
          <a:xfrm>
            <a:off x="4910328" y="1554480"/>
            <a:ext cx="420624" cy="420624"/>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5019690" y="1663842"/>
            <a:ext cx="201900" cy="201900"/>
          </a:xfrm>
          <a:prstGeom prst="rect">
            <a:avLst/>
          </a:prstGeom>
        </p:spPr>
      </p:pic>
      <p:sp>
        <p:nvSpPr>
          <p:cNvPr id="12" name="Text 8"/>
          <p:cNvSpPr txBox="1"/>
          <p:nvPr/>
        </p:nvSpPr>
        <p:spPr>
          <a:xfrm>
            <a:off x="5440680" y="1554480"/>
            <a:ext cx="3063240" cy="420624"/>
          </a:xfrm>
          <a:prstGeom prst="rect">
            <a:avLst/>
          </a:prstGeom>
          <a:noFill/>
          <a:ln/>
        </p:spPr>
        <p:txBody>
          <a:bodyPr wrap="square" lIns="0" tIns="0" rIns="0" bIns="0" rtlCol="0" anchor="ctr"/>
          <a:lstStyle/>
          <a:p>
            <a:pPr indent="0" marL="0">
              <a:buNone/>
            </a:pPr>
            <a:r>
              <a:rPr lang="en-US" sz="1450" b="1" dirty="0">
                <a:solidFill>
                  <a:srgbClr val="0E7C7B"/>
                </a:solidFill>
                <a:latin typeface="Calibri" pitchFamily="34" charset="0"/>
                <a:ea typeface="Calibri" pitchFamily="34" charset="-122"/>
                <a:cs typeface="Calibri" pitchFamily="34" charset="-120"/>
              </a:rPr>
              <a:t>Có tài liệu</a:t>
            </a:r>
            <a:endParaRPr lang="en-US" sz="1450" dirty="0"/>
          </a:p>
        </p:txBody>
      </p:sp>
      <p:sp>
        <p:nvSpPr>
          <p:cNvPr id="13" name="Text 9"/>
          <p:cNvSpPr txBox="1"/>
          <p:nvPr/>
        </p:nvSpPr>
        <p:spPr>
          <a:xfrm>
            <a:off x="4937760" y="2103120"/>
            <a:ext cx="3520440" cy="182880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"Hàng flash sale được đổi size hoặc màu trong </a:t>
            </a:r>
            <a:pPr indent="0" marL="0">
              <a:buNone/>
            </a:pPr>
            <a:r>
              <a:rPr lang="en-US" sz="1400" b="1" dirty="0">
                <a:solidFill>
                  <a:srgbClr val="1F2A30"/>
                </a:solidFill>
                <a:latin typeface="Calibri" pitchFamily="34" charset="0"/>
                <a:ea typeface="Calibri" pitchFamily="34" charset="-122"/>
                <a:cs typeface="Calibri" pitchFamily="34" charset="-120"/>
              </a:rPr>
              <a:t>7 ngày</a:t>
            </a:r>
            <a:pPr indent="0" marL="0">
              <a:buNone/>
            </a:pPr>
            <a:r>
              <a:rPr lang="en-US" sz="1400" dirty="0">
                <a:solidFill>
                  <a:srgbClr val="1F2A30"/>
                </a:solidFill>
                <a:latin typeface="Calibri" pitchFamily="34" charset="0"/>
                <a:ea typeface="Calibri" pitchFamily="34" charset="-122"/>
                <a:cs typeface="Calibri" pitchFamily="34" charset="-120"/>
              </a:rPr>
              <a:t> kể từ ngày nhận hàng, không áp dụng hoàn tiền </a:t>
            </a:r>
            <a:pPr indent="0" marL="0">
              <a:buNone/>
            </a:pPr>
            <a:r>
              <a:rPr lang="en-US" sz="1400" b="1" dirty="0">
                <a:solidFill>
                  <a:srgbClr val="1F2A30"/>
                </a:solidFill>
                <a:latin typeface="Calibri" pitchFamily="34" charset="0"/>
                <a:ea typeface="Calibri" pitchFamily="34" charset="-122"/>
                <a:cs typeface="Calibri" pitchFamily="34" charset="-120"/>
              </a:rPr>
              <a:t>[1]</a:t>
            </a:r>
            <a:pPr indent="0" marL="0">
              <a:buNone/>
            </a:pPr>
            <a:r>
              <a:rPr lang="en-US" sz="1400" dirty="0">
                <a:solidFill>
                  <a:srgbClr val="1F2A30"/>
                </a:solidFill>
                <a:latin typeface="Calibri" pitchFamily="34" charset="0"/>
                <a:ea typeface="Calibri" pitchFamily="34" charset="-122"/>
                <a:cs typeface="Calibri" pitchFamily="34" charset="-120"/>
              </a:rPr>
              <a:t>."</a:t>
            </a:r>
            <a:endParaRPr lang="en-US" sz="1400" dirty="0"/>
          </a:p>
          <a:p>
            <a:pPr indent="0" marL="0">
              <a:buNone/>
            </a:pPr>
            <a:endParaRPr lang="en-US" sz="1400" dirty="0"/>
          </a:p>
          <a:p>
            <a:pPr indent="0" marL="0">
              <a:buNone/>
            </a:pPr>
            <a:r>
              <a:rPr lang="en-US" sz="1400" dirty="0">
                <a:solidFill>
                  <a:srgbClr val="1F2A30"/>
                </a:solidFill>
                <a:latin typeface="Calibri" pitchFamily="34" charset="0"/>
                <a:ea typeface="Calibri" pitchFamily="34" charset="-122"/>
                <a:cs typeface="Calibri" pitchFamily="34" charset="-120"/>
              </a:rPr>
              <a:t>Bấm [1]: thấy đúng mục trong file Chính sách đổi trả.</a:t>
            </a:r>
            <a:endParaRPr lang="en-US" sz="1400" dirty="0"/>
          </a:p>
        </p:txBody>
      </p:sp>
      <p:sp>
        <p:nvSpPr>
          <p:cNvPr id="14" name="Shape 10"/>
          <p:cNvSpPr/>
          <p:nvPr/>
        </p:nvSpPr>
        <p:spPr>
          <a:xfrm>
            <a:off x="457200" y="4206240"/>
            <a:ext cx="347472" cy="347472"/>
          </a:xfrm>
          <a:prstGeom prst="ellipse">
            <a:avLst/>
          </a:prstGeom>
          <a:solidFill>
            <a:srgbClr val="F2994A"/>
          </a:solidFill>
          <a:ln w="12700">
            <a:solidFill>
              <a:srgbClr val="F2994A"/>
            </a:solidFill>
            <a:prstDash val="solid"/>
          </a:ln>
        </p:spPr>
      </p:sp>
      <p:pic>
        <p:nvPicPr>
          <p:cNvPr id="15" name="Image 2" descr="preencoded.png">    </p:cNvPr>
          <p:cNvPicPr>
            <a:picLocks noChangeAspect="1"/>
          </p:cNvPicPr>
          <p:nvPr/>
        </p:nvPicPr>
        <p:blipFill>
          <a:blip r:embed="rId3"/>
          <a:stretch>
            <a:fillRect/>
          </a:stretch>
        </p:blipFill>
        <p:spPr>
          <a:xfrm>
            <a:off x="547543" y="4296583"/>
            <a:ext cx="166787" cy="166787"/>
          </a:xfrm>
          <a:prstGeom prst="rect">
            <a:avLst/>
          </a:prstGeom>
        </p:spPr>
      </p:pic>
      <p:sp>
        <p:nvSpPr>
          <p:cNvPr id="16" name="Text 11"/>
          <p:cNvSpPr txBox="1"/>
          <p:nvPr/>
        </p:nvSpPr>
        <p:spPr>
          <a:xfrm>
            <a:off x="914400" y="4160520"/>
            <a:ext cx="7772400" cy="438912"/>
          </a:xfrm>
          <a:prstGeom prst="rect">
            <a:avLst/>
          </a:prstGeom>
          <a:noFill/>
          <a:ln/>
        </p:spPr>
        <p:txBody>
          <a:bodyPr wrap="square" lIns="0" tIns="0" rIns="0" bIns="0" rtlCol="0" anchor="ctr"/>
          <a:lstStyle/>
          <a:p>
            <a:pPr indent="0" marL="0">
              <a:buNone/>
            </a:pPr>
            <a:r>
              <a:rPr lang="en-US" sz="1200" dirty="0">
                <a:solidFill>
                  <a:srgbClr val="1F2A30"/>
                </a:solidFill>
                <a:latin typeface="Calibri" pitchFamily="34" charset="0"/>
                <a:ea typeface="Calibri" pitchFamily="34" charset="-122"/>
                <a:cs typeface="Calibri" pitchFamily="34" charset="-120"/>
              </a:rPr>
              <a:t>Đọc sai một con số chính sách cho khách là </a:t>
            </a:r>
            <a:pPr indent="0" marL="0">
              <a:buNone/>
            </a:pPr>
            <a:r>
              <a:rPr lang="en-US" sz="1200" b="1" dirty="0">
                <a:solidFill>
                  <a:srgbClr val="1F2A30"/>
                </a:solidFill>
                <a:latin typeface="Calibri" pitchFamily="34" charset="0"/>
                <a:ea typeface="Calibri" pitchFamily="34" charset="-122"/>
                <a:cs typeface="Calibri" pitchFamily="34" charset="-120"/>
              </a:rPr>
              <a:t>cam kết sai thay mặt công ty</a:t>
            </a:r>
            <a:pPr indent="0" marL="0">
              <a:buNone/>
            </a:pPr>
            <a:r>
              <a:rPr lang="en-US" sz="1200" dirty="0">
                <a:solidFill>
                  <a:srgbClr val="1F2A30"/>
                </a:solidFill>
                <a:latin typeface="Calibri" pitchFamily="34" charset="0"/>
                <a:ea typeface="Calibri" pitchFamily="34" charset="-122"/>
                <a:cs typeface="Calibri" pitchFamily="34" charset="-120"/>
              </a:rPr>
              <a:t>.</a:t>
            </a:r>
            <a:endParaRPr lang="en-US" sz="1200" dirty="0"/>
          </a:p>
        </p:txBody>
      </p:sp>
      <p:sp>
        <p:nvSpPr>
          <p:cNvPr id="17" name="Text 12"/>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18" name="Text 13"/>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DÙNG Ở TỔNG ĐÀI</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Năm thói quen khi dùng NotebookLM</a:t>
            </a:r>
            <a:endParaRPr lang="en-US" sz="2500" dirty="0"/>
          </a:p>
        </p:txBody>
      </p:sp>
      <p:sp>
        <p:nvSpPr>
          <p:cNvPr id="4" name="Shape 2"/>
          <p:cNvSpPr/>
          <p:nvPr/>
        </p:nvSpPr>
        <p:spPr>
          <a:xfrm>
            <a:off x="1280160" y="1783080"/>
            <a:ext cx="6583680" cy="0"/>
          </a:xfrm>
          <a:prstGeom prst="line">
            <a:avLst/>
          </a:prstGeom>
          <a:noFill/>
          <a:ln w="31750">
            <a:solidFill>
              <a:srgbClr val="D3EAE6"/>
            </a:solidFill>
            <a:prstDash val="solid"/>
          </a:ln>
        </p:spPr>
      </p:sp>
      <p:sp>
        <p:nvSpPr>
          <p:cNvPr id="5" name="Shape 3"/>
          <p:cNvSpPr/>
          <p:nvPr/>
        </p:nvSpPr>
        <p:spPr>
          <a:xfrm>
            <a:off x="978408" y="1481328"/>
            <a:ext cx="603504" cy="603504"/>
          </a:xfrm>
          <a:prstGeom prst="ellipse">
            <a:avLst/>
          </a:prstGeom>
          <a:solidFill>
            <a:srgbClr val="0E7C7B"/>
          </a:solidFill>
          <a:ln w="25400">
            <a:solidFill>
              <a:srgbClr val="FFFFFF"/>
            </a:solidFill>
            <a:prstDash val="solid"/>
          </a:ln>
        </p:spPr>
      </p:sp>
      <p:sp>
        <p:nvSpPr>
          <p:cNvPr id="6" name="Text 4"/>
          <p:cNvSpPr txBox="1"/>
          <p:nvPr/>
        </p:nvSpPr>
        <p:spPr>
          <a:xfrm>
            <a:off x="97840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530352" y="2240280"/>
            <a:ext cx="1499616" cy="502920"/>
          </a:xfrm>
          <a:prstGeom prst="rect">
            <a:avLst/>
          </a:prstGeom>
          <a:noFill/>
          <a:ln/>
        </p:spPr>
        <p:txBody>
          <a:bodyPr wrap="square" lIns="0" tIns="0" rIns="0" bIns="0" rtlCol="0" anchor="ctr"/>
          <a:lstStyle/>
          <a:p>
            <a:pPr algn="ctr" indent="0" marL="0">
              <a:buNone/>
            </a:pPr>
            <a:r>
              <a:rPr lang="en-US" sz="1300" b="1" dirty="0">
                <a:solidFill>
                  <a:srgbClr val="0B3B45"/>
                </a:solidFill>
                <a:latin typeface="Calibri" pitchFamily="34" charset="0"/>
                <a:ea typeface="Calibri" pitchFamily="34" charset="-122"/>
                <a:cs typeface="Calibri" pitchFamily="34" charset="-120"/>
              </a:rPr>
              <a:t>Một mảng một notebook</a:t>
            </a:r>
            <a:endParaRPr lang="en-US" sz="1300" dirty="0"/>
          </a:p>
        </p:txBody>
      </p:sp>
      <p:sp>
        <p:nvSpPr>
          <p:cNvPr id="8" name="Text 6"/>
          <p:cNvSpPr txBox="1"/>
          <p:nvPr/>
        </p:nvSpPr>
        <p:spPr>
          <a:xfrm>
            <a:off x="548640" y="2788920"/>
            <a:ext cx="1463040" cy="1737360"/>
          </a:xfrm>
          <a:prstGeom prst="rect">
            <a:avLst/>
          </a:prstGeom>
          <a:noFill/>
          <a:ln/>
        </p:spPr>
        <p:txBody>
          <a:bodyPr wrap="square" lIns="0" tIns="0" rIns="0" bIns="0" rtlCol="0" anchor="t"/>
          <a:lstStyle/>
          <a:p>
            <a:pPr algn="ctr" indent="0" marL="0">
              <a:buNone/>
            </a:pPr>
            <a:r>
              <a:rPr lang="en-US" sz="1200" dirty="0">
                <a:solidFill>
                  <a:srgbClr val="1F2A30"/>
                </a:solidFill>
                <a:latin typeface="Calibri" pitchFamily="34" charset="0"/>
                <a:ea typeface="Calibri" pitchFamily="34" charset="-122"/>
                <a:cs typeface="Calibri" pitchFamily="34" charset="-120"/>
              </a:rPr>
              <a:t>"Đổi trả &amp; Hoàn tiền", "Vận chuyển"... càng tập trung càng ít lẫn.</a:t>
            </a:r>
            <a:endParaRPr lang="en-US" sz="1200" dirty="0"/>
          </a:p>
        </p:txBody>
      </p:sp>
      <p:sp>
        <p:nvSpPr>
          <p:cNvPr id="9" name="Shape 7"/>
          <p:cNvSpPr/>
          <p:nvPr/>
        </p:nvSpPr>
        <p:spPr>
          <a:xfrm>
            <a:off x="2624328" y="1481328"/>
            <a:ext cx="603504" cy="603504"/>
          </a:xfrm>
          <a:prstGeom prst="ellipse">
            <a:avLst/>
          </a:prstGeom>
          <a:solidFill>
            <a:srgbClr val="0E7C7B"/>
          </a:solidFill>
          <a:ln w="25400">
            <a:solidFill>
              <a:srgbClr val="FFFFFF"/>
            </a:solidFill>
            <a:prstDash val="solid"/>
          </a:ln>
        </p:spPr>
      </p:sp>
      <p:sp>
        <p:nvSpPr>
          <p:cNvPr id="10" name="Text 8"/>
          <p:cNvSpPr txBox="1"/>
          <p:nvPr/>
        </p:nvSpPr>
        <p:spPr>
          <a:xfrm>
            <a:off x="262432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2176272" y="2240280"/>
            <a:ext cx="1499616" cy="502920"/>
          </a:xfrm>
          <a:prstGeom prst="rect">
            <a:avLst/>
          </a:prstGeom>
          <a:noFill/>
          <a:ln/>
        </p:spPr>
        <p:txBody>
          <a:bodyPr wrap="square" lIns="0" tIns="0" rIns="0" bIns="0" rtlCol="0" anchor="ctr"/>
          <a:lstStyle/>
          <a:p>
            <a:pPr algn="ctr" indent="0" marL="0">
              <a:buNone/>
            </a:pPr>
            <a:r>
              <a:rPr lang="en-US" sz="1300" b="1" dirty="0">
                <a:solidFill>
                  <a:srgbClr val="0B3B45"/>
                </a:solidFill>
                <a:latin typeface="Calibri" pitchFamily="34" charset="0"/>
                <a:ea typeface="Calibri" pitchFamily="34" charset="-122"/>
                <a:cs typeface="Calibri" pitchFamily="34" charset="-120"/>
              </a:rPr>
              <a:t>Chỉ bản mới nhất</a:t>
            </a:r>
            <a:endParaRPr lang="en-US" sz="1300" dirty="0"/>
          </a:p>
        </p:txBody>
      </p:sp>
      <p:sp>
        <p:nvSpPr>
          <p:cNvPr id="12" name="Text 10"/>
          <p:cNvSpPr txBox="1"/>
          <p:nvPr/>
        </p:nvSpPr>
        <p:spPr>
          <a:xfrm>
            <a:off x="2194560" y="2788920"/>
            <a:ext cx="1463040" cy="1737360"/>
          </a:xfrm>
          <a:prstGeom prst="rect">
            <a:avLst/>
          </a:prstGeom>
          <a:noFill/>
          <a:ln/>
        </p:spPr>
        <p:txBody>
          <a:bodyPr wrap="square" lIns="0" tIns="0" rIns="0" bIns="0" rtlCol="0" anchor="t"/>
          <a:lstStyle/>
          <a:p>
            <a:pPr algn="ctr" indent="0" marL="0">
              <a:buNone/>
            </a:pPr>
            <a:r>
              <a:rPr lang="en-US" sz="1200" dirty="0">
                <a:solidFill>
                  <a:srgbClr val="1F2A30"/>
                </a:solidFill>
                <a:latin typeface="Calibri" pitchFamily="34" charset="0"/>
                <a:ea typeface="Calibri" pitchFamily="34" charset="-122"/>
                <a:cs typeface="Calibri" pitchFamily="34" charset="-120"/>
              </a:rPr>
              <a:t>Nạp bản chính thức, tên có ngày: </a:t>
            </a:r>
            <a:pPr algn="ctr" indent="0" marL="0">
              <a:buNone/>
            </a:pPr>
            <a:r>
              <a:rPr lang="en-US" sz="1200" b="1" dirty="0">
                <a:solidFill>
                  <a:srgbClr val="1F2A30"/>
                </a:solidFill>
                <a:latin typeface="Calibri" pitchFamily="34" charset="0"/>
                <a:ea typeface="Calibri" pitchFamily="34" charset="-122"/>
                <a:cs typeface="Calibri" pitchFamily="34" charset="-120"/>
              </a:rPr>
              <a:t>ChinhSachDoiTra_2026-09</a:t>
            </a:r>
            <a:pPr algn="ctr" indent="0" marL="0">
              <a:buNone/>
            </a:pPr>
            <a:r>
              <a:rPr lang="en-US" sz="1200" dirty="0">
                <a:solidFill>
                  <a:srgbClr val="1F2A30"/>
                </a:solidFill>
                <a:latin typeface="Calibri" pitchFamily="34" charset="0"/>
                <a:ea typeface="Calibri" pitchFamily="34" charset="-122"/>
                <a:cs typeface="Calibri" pitchFamily="34" charset="-120"/>
              </a:rPr>
              <a:t>.</a:t>
            </a:r>
            <a:endParaRPr lang="en-US" sz="1200" dirty="0"/>
          </a:p>
        </p:txBody>
      </p:sp>
      <p:sp>
        <p:nvSpPr>
          <p:cNvPr id="13" name="Shape 11"/>
          <p:cNvSpPr/>
          <p:nvPr/>
        </p:nvSpPr>
        <p:spPr>
          <a:xfrm>
            <a:off x="4270248" y="1481328"/>
            <a:ext cx="603504" cy="603504"/>
          </a:xfrm>
          <a:prstGeom prst="ellipse">
            <a:avLst/>
          </a:prstGeom>
          <a:solidFill>
            <a:srgbClr val="0E7C7B"/>
          </a:solidFill>
          <a:ln w="25400">
            <a:solidFill>
              <a:srgbClr val="FFFFFF"/>
            </a:solidFill>
            <a:prstDash val="solid"/>
          </a:ln>
        </p:spPr>
      </p:sp>
      <p:sp>
        <p:nvSpPr>
          <p:cNvPr id="14" name="Text 12"/>
          <p:cNvSpPr txBox="1"/>
          <p:nvPr/>
        </p:nvSpPr>
        <p:spPr>
          <a:xfrm>
            <a:off x="427024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txBox="1"/>
          <p:nvPr/>
        </p:nvSpPr>
        <p:spPr>
          <a:xfrm>
            <a:off x="3822192" y="2240280"/>
            <a:ext cx="1499616" cy="502920"/>
          </a:xfrm>
          <a:prstGeom prst="rect">
            <a:avLst/>
          </a:prstGeom>
          <a:noFill/>
          <a:ln/>
        </p:spPr>
        <p:txBody>
          <a:bodyPr wrap="square" lIns="0" tIns="0" rIns="0" bIns="0" rtlCol="0" anchor="ctr"/>
          <a:lstStyle/>
          <a:p>
            <a:pPr algn="ctr" indent="0" marL="0">
              <a:buNone/>
            </a:pPr>
            <a:r>
              <a:rPr lang="en-US" sz="1300" b="1" dirty="0">
                <a:solidFill>
                  <a:srgbClr val="0B3B45"/>
                </a:solidFill>
                <a:latin typeface="Calibri" pitchFamily="34" charset="0"/>
                <a:ea typeface="Calibri" pitchFamily="34" charset="-122"/>
                <a:cs typeface="Calibri" pitchFamily="34" charset="-120"/>
              </a:rPr>
              <a:t>Hỏi như khách</a:t>
            </a:r>
            <a:endParaRPr lang="en-US" sz="1300" dirty="0"/>
          </a:p>
        </p:txBody>
      </p:sp>
      <p:sp>
        <p:nvSpPr>
          <p:cNvPr id="16" name="Text 14"/>
          <p:cNvSpPr txBox="1"/>
          <p:nvPr/>
        </p:nvSpPr>
        <p:spPr>
          <a:xfrm>
            <a:off x="3840480" y="2788920"/>
            <a:ext cx="1463040" cy="1737360"/>
          </a:xfrm>
          <a:prstGeom prst="rect">
            <a:avLst/>
          </a:prstGeom>
          <a:noFill/>
          <a:ln/>
        </p:spPr>
        <p:txBody>
          <a:bodyPr wrap="square" lIns="0" tIns="0" rIns="0" bIns="0" rtlCol="0" anchor="t"/>
          <a:lstStyle/>
          <a:p>
            <a:pPr algn="ctr" indent="0" marL="0">
              <a:buNone/>
            </a:pPr>
            <a:r>
              <a:rPr lang="en-US" sz="1200" dirty="0">
                <a:solidFill>
                  <a:srgbClr val="1F2A30"/>
                </a:solidFill>
                <a:latin typeface="Calibri" pitchFamily="34" charset="0"/>
                <a:ea typeface="Calibri" pitchFamily="34" charset="-122"/>
                <a:cs typeface="Calibri" pitchFamily="34" charset="-120"/>
              </a:rPr>
              <a:t>Yêu cầu </a:t>
            </a:r>
            <a:pPr algn="ctr" indent="0" marL="0">
              <a:buNone/>
            </a:pPr>
            <a:r>
              <a:rPr lang="en-US" sz="1200" b="1" dirty="0">
                <a:solidFill>
                  <a:srgbClr val="1F2A30"/>
                </a:solidFill>
                <a:latin typeface="Calibri" pitchFamily="34" charset="0"/>
                <a:ea typeface="Calibri" pitchFamily="34" charset="-122"/>
                <a:cs typeface="Calibri" pitchFamily="34" charset="-120"/>
              </a:rPr>
              <a:t>chỉ dựa vào nguồn</a:t>
            </a:r>
            <a:pPr algn="ctr" indent="0" marL="0">
              <a:buNone/>
            </a:pPr>
            <a:r>
              <a:rPr lang="en-US" sz="1200" dirty="0">
                <a:solidFill>
                  <a:srgbClr val="1F2A30"/>
                </a:solidFill>
                <a:latin typeface="Calibri" pitchFamily="34" charset="0"/>
                <a:ea typeface="Calibri" pitchFamily="34" charset="-122"/>
                <a:cs typeface="Calibri" pitchFamily="34" charset="-120"/>
              </a:rPr>
              <a:t>, nêu điều kiện, trích dẫn.</a:t>
            </a:r>
            <a:endParaRPr lang="en-US" sz="1200" dirty="0"/>
          </a:p>
        </p:txBody>
      </p:sp>
      <p:sp>
        <p:nvSpPr>
          <p:cNvPr id="17" name="Shape 15"/>
          <p:cNvSpPr/>
          <p:nvPr/>
        </p:nvSpPr>
        <p:spPr>
          <a:xfrm>
            <a:off x="5916168" y="1481328"/>
            <a:ext cx="603504" cy="603504"/>
          </a:xfrm>
          <a:prstGeom prst="ellipse">
            <a:avLst/>
          </a:prstGeom>
          <a:solidFill>
            <a:srgbClr val="0E7C7B"/>
          </a:solidFill>
          <a:ln w="25400">
            <a:solidFill>
              <a:srgbClr val="FFFFFF"/>
            </a:solidFill>
            <a:prstDash val="solid"/>
          </a:ln>
        </p:spPr>
      </p:sp>
      <p:sp>
        <p:nvSpPr>
          <p:cNvPr id="18" name="Text 16"/>
          <p:cNvSpPr txBox="1"/>
          <p:nvPr/>
        </p:nvSpPr>
        <p:spPr>
          <a:xfrm>
            <a:off x="591616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9" name="Text 17"/>
          <p:cNvSpPr txBox="1"/>
          <p:nvPr/>
        </p:nvSpPr>
        <p:spPr>
          <a:xfrm>
            <a:off x="5468112" y="2240280"/>
            <a:ext cx="1499616" cy="502920"/>
          </a:xfrm>
          <a:prstGeom prst="rect">
            <a:avLst/>
          </a:prstGeom>
          <a:noFill/>
          <a:ln/>
        </p:spPr>
        <p:txBody>
          <a:bodyPr wrap="square" lIns="0" tIns="0" rIns="0" bIns="0" rtlCol="0" anchor="ctr"/>
          <a:lstStyle/>
          <a:p>
            <a:pPr algn="ctr" indent="0" marL="0">
              <a:buNone/>
            </a:pPr>
            <a:r>
              <a:rPr lang="en-US" sz="1300" b="1" dirty="0">
                <a:solidFill>
                  <a:srgbClr val="0B3B45"/>
                </a:solidFill>
                <a:latin typeface="Calibri" pitchFamily="34" charset="0"/>
                <a:ea typeface="Calibri" pitchFamily="34" charset="-122"/>
                <a:cs typeface="Calibri" pitchFamily="34" charset="-120"/>
              </a:rPr>
              <a:t>Viết lời cho khách</a:t>
            </a:r>
            <a:endParaRPr lang="en-US" sz="1300" dirty="0"/>
          </a:p>
        </p:txBody>
      </p:sp>
      <p:sp>
        <p:nvSpPr>
          <p:cNvPr id="20" name="Text 18"/>
          <p:cNvSpPr txBox="1"/>
          <p:nvPr/>
        </p:nvSpPr>
        <p:spPr>
          <a:xfrm>
            <a:off x="5486400" y="2788920"/>
            <a:ext cx="1463040" cy="1737360"/>
          </a:xfrm>
          <a:prstGeom prst="rect">
            <a:avLst/>
          </a:prstGeom>
          <a:noFill/>
          <a:ln/>
        </p:spPr>
        <p:txBody>
          <a:bodyPr wrap="square" lIns="0" tIns="0" rIns="0" bIns="0" rtlCol="0" anchor="t"/>
          <a:lstStyle/>
          <a:p>
            <a:pPr algn="ctr" indent="0" marL="0">
              <a:buNone/>
            </a:pPr>
            <a:r>
              <a:rPr lang="en-US" sz="1200" dirty="0">
                <a:solidFill>
                  <a:srgbClr val="1F2A30"/>
                </a:solidFill>
                <a:latin typeface="Calibri" pitchFamily="34" charset="0"/>
                <a:ea typeface="Calibri" pitchFamily="34" charset="-122"/>
                <a:cs typeface="Calibri" pitchFamily="34" charset="-120"/>
              </a:rPr>
              <a:t>Sau khi kiểm nguồn, nhờ viết lời giải thích ngắn, thân thiện.</a:t>
            </a:r>
            <a:endParaRPr lang="en-US" sz="1200" dirty="0"/>
          </a:p>
        </p:txBody>
      </p:sp>
      <p:sp>
        <p:nvSpPr>
          <p:cNvPr id="21" name="Shape 19"/>
          <p:cNvSpPr/>
          <p:nvPr/>
        </p:nvSpPr>
        <p:spPr>
          <a:xfrm>
            <a:off x="7562088" y="1481328"/>
            <a:ext cx="603504" cy="603504"/>
          </a:xfrm>
          <a:prstGeom prst="ellipse">
            <a:avLst/>
          </a:prstGeom>
          <a:solidFill>
            <a:srgbClr val="F2994A"/>
          </a:solidFill>
          <a:ln w="25400">
            <a:solidFill>
              <a:srgbClr val="FFFFFF"/>
            </a:solidFill>
            <a:prstDash val="solid"/>
          </a:ln>
        </p:spPr>
      </p:sp>
      <p:sp>
        <p:nvSpPr>
          <p:cNvPr id="22" name="Text 20"/>
          <p:cNvSpPr txBox="1"/>
          <p:nvPr/>
        </p:nvSpPr>
        <p:spPr>
          <a:xfrm>
            <a:off x="756208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3" name="Text 21"/>
          <p:cNvSpPr txBox="1"/>
          <p:nvPr/>
        </p:nvSpPr>
        <p:spPr>
          <a:xfrm>
            <a:off x="7114032" y="2240280"/>
            <a:ext cx="1499616" cy="502920"/>
          </a:xfrm>
          <a:prstGeom prst="rect">
            <a:avLst/>
          </a:prstGeom>
          <a:noFill/>
          <a:ln/>
        </p:spPr>
        <p:txBody>
          <a:bodyPr wrap="square" lIns="0" tIns="0" rIns="0" bIns="0" rtlCol="0" anchor="ctr"/>
          <a:lstStyle/>
          <a:p>
            <a:pPr algn="ctr" indent="0" marL="0">
              <a:buNone/>
            </a:pPr>
            <a:r>
              <a:rPr lang="en-US" sz="1300" b="1" dirty="0">
                <a:solidFill>
                  <a:srgbClr val="0B3B45"/>
                </a:solidFill>
                <a:latin typeface="Calibri" pitchFamily="34" charset="0"/>
                <a:ea typeface="Calibri" pitchFamily="34" charset="-122"/>
                <a:cs typeface="Calibri" pitchFamily="34" charset="-120"/>
              </a:rPr>
              <a:t>Bấm trích dẫn</a:t>
            </a:r>
            <a:endParaRPr lang="en-US" sz="1300" dirty="0"/>
          </a:p>
        </p:txBody>
      </p:sp>
      <p:sp>
        <p:nvSpPr>
          <p:cNvPr id="24" name="Text 22"/>
          <p:cNvSpPr txBox="1"/>
          <p:nvPr/>
        </p:nvSpPr>
        <p:spPr>
          <a:xfrm>
            <a:off x="7132320" y="2788920"/>
            <a:ext cx="1463040" cy="1737360"/>
          </a:xfrm>
          <a:prstGeom prst="rect">
            <a:avLst/>
          </a:prstGeom>
          <a:noFill/>
          <a:ln/>
        </p:spPr>
        <p:txBody>
          <a:bodyPr wrap="square" lIns="0" tIns="0" rIns="0" bIns="0" rtlCol="0" anchor="t"/>
          <a:lstStyle/>
          <a:p>
            <a:pPr algn="ctr" indent="0" marL="0">
              <a:buNone/>
            </a:pPr>
            <a:r>
              <a:rPr lang="en-US" sz="1200" dirty="0">
                <a:solidFill>
                  <a:srgbClr val="1F2A30"/>
                </a:solidFill>
                <a:latin typeface="Calibri" pitchFamily="34" charset="0"/>
                <a:ea typeface="Calibri" pitchFamily="34" charset="-122"/>
                <a:cs typeface="Calibri" pitchFamily="34" charset="-120"/>
              </a:rPr>
              <a:t>Trước khi nói với khách, nhất là </a:t>
            </a:r>
            <a:pPr algn="ctr" indent="0" marL="0">
              <a:buNone/>
            </a:pPr>
            <a:r>
              <a:rPr lang="en-US" sz="1200" b="1" dirty="0">
                <a:solidFill>
                  <a:srgbClr val="1F2A30"/>
                </a:solidFill>
                <a:latin typeface="Calibri" pitchFamily="34" charset="0"/>
                <a:ea typeface="Calibri" pitchFamily="34" charset="-122"/>
                <a:cs typeface="Calibri" pitchFamily="34" charset="-120"/>
              </a:rPr>
              <a:t>số liệu, ngoại lệ, thời hạn</a:t>
            </a:r>
            <a:pPr algn="ctr" indent="0" marL="0">
              <a:buNone/>
            </a:pPr>
            <a:r>
              <a:rPr lang="en-US" sz="1200" dirty="0">
                <a:solidFill>
                  <a:srgbClr val="1F2A30"/>
                </a:solidFill>
                <a:latin typeface="Calibri" pitchFamily="34" charset="0"/>
                <a:ea typeface="Calibri" pitchFamily="34" charset="-122"/>
                <a:cs typeface="Calibri" pitchFamily="34" charset="-120"/>
              </a:rPr>
              <a:t>.</a:t>
            </a:r>
            <a:endParaRPr lang="en-US" sz="1200" dirty="0"/>
          </a:p>
        </p:txBody>
      </p:sp>
      <p:sp>
        <p:nvSpPr>
          <p:cNvPr id="25" name="Text 23"/>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26" name="Text 24"/>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PROMPT KHUNG TRA CỨU</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Hỏi NotebookLM như khách hỏi</a:t>
            </a:r>
            <a:endParaRPr lang="en-US" sz="2500" dirty="0"/>
          </a:p>
        </p:txBody>
      </p:sp>
      <p:sp>
        <p:nvSpPr>
          <p:cNvPr id="4" name="Shape 2"/>
          <p:cNvSpPr/>
          <p:nvPr/>
        </p:nvSpPr>
        <p:spPr>
          <a:xfrm>
            <a:off x="457200" y="1280160"/>
            <a:ext cx="8229600" cy="2852928"/>
          </a:xfrm>
          <a:prstGeom prst="roundRect">
            <a:avLst>
              <a:gd name="adj" fmla="val 2564"/>
            </a:avLst>
          </a:prstGeom>
          <a:solidFill>
            <a:srgbClr val="17262C"/>
          </a:solidFill>
          <a:ln w="12700">
            <a:solidFill>
              <a:srgbClr val="17262C"/>
            </a:solidFill>
            <a:prstDash val="solid"/>
          </a:ln>
        </p:spPr>
      </p:sp>
      <p:sp>
        <p:nvSpPr>
          <p:cNvPr id="5" name="Text 3"/>
          <p:cNvSpPr txBox="1"/>
          <p:nvPr/>
        </p:nvSpPr>
        <p:spPr>
          <a:xfrm>
            <a:off x="685800" y="1417320"/>
            <a:ext cx="7772400" cy="2578608"/>
          </a:xfrm>
          <a:prstGeom prst="rect">
            <a:avLst/>
          </a:prstGeom>
          <a:noFill/>
          <a:ln/>
        </p:spPr>
        <p:txBody>
          <a:bodyPr wrap="square" lIns="0" tIns="0" rIns="0" bIns="0" rtlCol="0" anchor="t"/>
          <a:lstStyle/>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Khách hỏi: "[CÂU HỎI CỦA KHÁCH]"</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Dựa CHỈ vào các nguồn trong notebook, hãy trả lời:</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1. Kết luận: được / không được / cần thêm thông tin.</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2. Điều kiện áp dụng và các bước khách cần làm.</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3. Trích dẫn mục cụ thể.</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Nếu tài liệu không đề cập, trả lời "tài liệu không có thông tin",</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không suy đoán.</a:t>
            </a:r>
            <a:endParaRPr lang="en-US" sz="1250" dirty="0"/>
          </a:p>
          <a:p>
            <a:pPr indent="0" marL="0">
              <a:lnSpc>
                <a:spcPct val="105000"/>
              </a:lnSpc>
              <a:buNone/>
            </a:pP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 Sau khi đã kiểm nguồn ---</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Dựa trên câu trả lời trên, viết lời giải thích cho khách qua điện thoại,</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giọng thân thiện, tối đa 4 câu, xưng "em" gọi "anh/chị".</a:t>
            </a:r>
            <a:endParaRPr lang="en-US" sz="1250" dirty="0"/>
          </a:p>
        </p:txBody>
      </p:sp>
      <p:sp>
        <p:nvSpPr>
          <p:cNvPr id="6" name="Shape 4"/>
          <p:cNvSpPr/>
          <p:nvPr/>
        </p:nvSpPr>
        <p:spPr>
          <a:xfrm>
            <a:off x="457200" y="4242816"/>
            <a:ext cx="329184" cy="329184"/>
          </a:xfrm>
          <a:prstGeom prst="ellipse">
            <a:avLst/>
          </a:prstGeom>
          <a:solidFill>
            <a:srgbClr val="F2994A"/>
          </a:solidFill>
          <a:ln w="12700">
            <a:solidFill>
              <a:srgbClr val="F2994A"/>
            </a:solidFill>
            <a:prstDash val="solid"/>
          </a:ln>
        </p:spPr>
      </p:sp>
      <p:pic>
        <p:nvPicPr>
          <p:cNvPr id="7" name="Image 0" descr="preencoded.png">    </p:cNvPr>
          <p:cNvPicPr>
            <a:picLocks noChangeAspect="1"/>
          </p:cNvPicPr>
          <p:nvPr/>
        </p:nvPicPr>
        <p:blipFill>
          <a:blip r:embed="rId1"/>
          <a:stretch>
            <a:fillRect/>
          </a:stretch>
        </p:blipFill>
        <p:spPr>
          <a:xfrm>
            <a:off x="542788" y="4328404"/>
            <a:ext cx="158008" cy="158008"/>
          </a:xfrm>
          <a:prstGeom prst="rect">
            <a:avLst/>
          </a:prstGeom>
        </p:spPr>
      </p:pic>
      <p:sp>
        <p:nvSpPr>
          <p:cNvPr id="8" name="Text 5"/>
          <p:cNvSpPr txBox="1"/>
          <p:nvPr/>
        </p:nvSpPr>
        <p:spPr>
          <a:xfrm>
            <a:off x="896112" y="4206240"/>
            <a:ext cx="7772400" cy="411480"/>
          </a:xfrm>
          <a:prstGeom prst="rect">
            <a:avLst/>
          </a:prstGeom>
          <a:noFill/>
          <a:ln/>
        </p:spPr>
        <p:txBody>
          <a:bodyPr wrap="square" lIns="0" tIns="0" rIns="0" bIns="0" rtlCol="0" anchor="ctr"/>
          <a:lstStyle/>
          <a:p>
            <a:pPr indent="0" marL="0">
              <a:buNone/>
            </a:pPr>
            <a:r>
              <a:rPr lang="en-US" sz="1150" dirty="0">
                <a:solidFill>
                  <a:srgbClr val="1F2A30"/>
                </a:solidFill>
                <a:latin typeface="Calibri" pitchFamily="34" charset="0"/>
                <a:ea typeface="Calibri" pitchFamily="34" charset="-122"/>
                <a:cs typeface="Calibri" pitchFamily="34" charset="-120"/>
              </a:rPr>
              <a:t>Lưu prompt khung này vào thư viện: đây là </a:t>
            </a:r>
            <a:pPr indent="0" marL="0">
              <a:buNone/>
            </a:pPr>
            <a:r>
              <a:rPr lang="en-US" sz="1150" b="1" dirty="0">
                <a:solidFill>
                  <a:srgbClr val="1F2A30"/>
                </a:solidFill>
                <a:latin typeface="Calibri" pitchFamily="34" charset="0"/>
                <a:ea typeface="Calibri" pitchFamily="34" charset="-122"/>
                <a:cs typeface="Calibri" pitchFamily="34" charset="-120"/>
              </a:rPr>
              <a:t>prompt tra cứu</a:t>
            </a:r>
            <a:pPr indent="0" marL="0">
              <a:buNone/>
            </a:pPr>
            <a:r>
              <a:rPr lang="en-US" sz="1150" dirty="0">
                <a:solidFill>
                  <a:srgbClr val="1F2A30"/>
                </a:solidFill>
                <a:latin typeface="Calibri" pitchFamily="34" charset="0"/>
                <a:ea typeface="Calibri" pitchFamily="34" charset="-122"/>
                <a:cs typeface="Calibri" pitchFamily="34" charset="-120"/>
              </a:rPr>
              <a:t> bắt buộc trong ASM 1.</a:t>
            </a:r>
            <a:endParaRPr lang="en-US" sz="1150" dirty="0"/>
          </a:p>
        </p:txBody>
      </p:sp>
      <p:sp>
        <p:nvSpPr>
          <p:cNvPr id="9" name="Text 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10" name="Text 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GIỚI HẠN CẦN BIẾT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Có trích dẫn không có nghĩa là tin ngay</a:t>
            </a:r>
            <a:endParaRPr lang="en-US" sz="2500" dirty="0"/>
          </a:p>
        </p:txBody>
      </p:sp>
      <p:sp>
        <p:nvSpPr>
          <p:cNvPr id="4" name="Shape 2"/>
          <p:cNvSpPr/>
          <p:nvPr/>
        </p:nvSpPr>
        <p:spPr>
          <a:xfrm>
            <a:off x="457200" y="1371600"/>
            <a:ext cx="4000500" cy="1485900"/>
          </a:xfrm>
          <a:prstGeom prst="roundRect">
            <a:avLst>
              <a:gd name="adj" fmla="val 6154"/>
            </a:avLst>
          </a:prstGeom>
          <a:solidFill>
            <a:srgbClr val="FBEAE8"/>
          </a:solidFill>
          <a:ln w="12700">
            <a:solidFill>
              <a:srgbClr val="FBEAE8"/>
            </a:solidFill>
            <a:prstDash val="solid"/>
          </a:ln>
        </p:spPr>
      </p:sp>
      <p:sp>
        <p:nvSpPr>
          <p:cNvPr id="5" name="Shape 3"/>
          <p:cNvSpPr/>
          <p:nvPr/>
        </p:nvSpPr>
        <p:spPr>
          <a:xfrm>
            <a:off x="640080" y="1554480"/>
            <a:ext cx="457200" cy="457200"/>
          </a:xfrm>
          <a:prstGeom prst="ellipse">
            <a:avLst/>
          </a:prstGeom>
          <a:solidFill>
            <a:srgbClr val="C0392B"/>
          </a:solidFill>
          <a:ln w="12700">
            <a:solidFill>
              <a:srgbClr val="C0392B"/>
            </a:solidFill>
            <a:prstDash val="solid"/>
          </a:ln>
        </p:spPr>
      </p:sp>
      <p:pic>
        <p:nvPicPr>
          <p:cNvPr id="6" name="Image 0" descr="preencoded.png">    </p:cNvPr>
          <p:cNvPicPr>
            <a:picLocks noChangeAspect="1"/>
          </p:cNvPicPr>
          <p:nvPr/>
        </p:nvPicPr>
        <p:blipFill>
          <a:blip r:embed="rId1"/>
          <a:stretch>
            <a:fillRect/>
          </a:stretch>
        </p:blipFill>
        <p:spPr>
          <a:xfrm>
            <a:off x="758952" y="1673352"/>
            <a:ext cx="219456" cy="219456"/>
          </a:xfrm>
          <a:prstGeom prst="rect">
            <a:avLst/>
          </a:prstGeom>
        </p:spPr>
      </p:pic>
      <p:sp>
        <p:nvSpPr>
          <p:cNvPr id="7" name="Text 4"/>
          <p:cNvSpPr txBox="1"/>
          <p:nvPr/>
        </p:nvSpPr>
        <p:spPr>
          <a:xfrm>
            <a:off x="1234440" y="15270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Giảm bịa, không hết bịa</a:t>
            </a:r>
            <a:endParaRPr lang="en-US" sz="1400" dirty="0"/>
          </a:p>
        </p:txBody>
      </p:sp>
      <p:sp>
        <p:nvSpPr>
          <p:cNvPr id="8" name="Text 5"/>
          <p:cNvSpPr txBox="1"/>
          <p:nvPr/>
        </p:nvSpPr>
        <p:spPr>
          <a:xfrm>
            <a:off x="1234440" y="19202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AI vẫn có thể hiểu sai, </a:t>
            </a:r>
            <a:pPr indent="0" marL="0">
              <a:buNone/>
            </a:pPr>
            <a:r>
              <a:rPr lang="en-US" sz="1300" b="1" dirty="0">
                <a:solidFill>
                  <a:srgbClr val="1F2A30"/>
                </a:solidFill>
                <a:latin typeface="Calibri" pitchFamily="34" charset="0"/>
                <a:ea typeface="Calibri" pitchFamily="34" charset="-122"/>
                <a:cs typeface="Calibri" pitchFamily="34" charset="-120"/>
              </a:rPr>
              <a:t>gộp hai điều kiện</a:t>
            </a:r>
            <a:pPr indent="0" marL="0">
              <a:buNone/>
            </a:pPr>
            <a:r>
              <a:rPr lang="en-US" sz="1300" dirty="0">
                <a:solidFill>
                  <a:srgbClr val="1F2A30"/>
                </a:solidFill>
                <a:latin typeface="Calibri" pitchFamily="34" charset="0"/>
                <a:ea typeface="Calibri" pitchFamily="34" charset="-122"/>
                <a:cs typeface="Calibri" pitchFamily="34" charset="-120"/>
              </a:rPr>
              <a:t>, bỏ sót ngoại lệ. Trích dẫn là để bạn kiểm.</a:t>
            </a:r>
            <a:endParaRPr lang="en-US" sz="1300" dirty="0"/>
          </a:p>
        </p:txBody>
      </p:sp>
      <p:sp>
        <p:nvSpPr>
          <p:cNvPr id="9" name="Shape 6"/>
          <p:cNvSpPr/>
          <p:nvPr/>
        </p:nvSpPr>
        <p:spPr>
          <a:xfrm>
            <a:off x="4686300" y="1371600"/>
            <a:ext cx="4000500" cy="1485900"/>
          </a:xfrm>
          <a:prstGeom prst="roundRect">
            <a:avLst>
              <a:gd name="adj" fmla="val 6154"/>
            </a:avLst>
          </a:prstGeom>
          <a:solidFill>
            <a:srgbClr val="FBEAE8"/>
          </a:solidFill>
          <a:ln w="12700">
            <a:solidFill>
              <a:srgbClr val="FBEAE8"/>
            </a:solidFill>
            <a:prstDash val="solid"/>
          </a:ln>
        </p:spPr>
      </p:sp>
      <p:sp>
        <p:nvSpPr>
          <p:cNvPr id="10" name="Shape 7"/>
          <p:cNvSpPr/>
          <p:nvPr/>
        </p:nvSpPr>
        <p:spPr>
          <a:xfrm>
            <a:off x="4869180" y="1554480"/>
            <a:ext cx="457200" cy="457200"/>
          </a:xfrm>
          <a:prstGeom prst="ellipse">
            <a:avLst/>
          </a:prstGeom>
          <a:solidFill>
            <a:srgbClr val="C0392B"/>
          </a:solidFill>
          <a:ln w="12700">
            <a:solidFill>
              <a:srgbClr val="C0392B"/>
            </a:solidFill>
            <a:prstDash val="solid"/>
          </a:ln>
        </p:spPr>
      </p:sp>
      <p:pic>
        <p:nvPicPr>
          <p:cNvPr id="11" name="Image 1" descr="preencoded.png">    </p:cNvPr>
          <p:cNvPicPr>
            <a:picLocks noChangeAspect="1"/>
          </p:cNvPicPr>
          <p:nvPr/>
        </p:nvPicPr>
        <p:blipFill>
          <a:blip r:embed="rId2"/>
          <a:stretch>
            <a:fillRect/>
          </a:stretch>
        </p:blipFill>
        <p:spPr>
          <a:xfrm>
            <a:off x="4988052" y="1673352"/>
            <a:ext cx="219456" cy="219456"/>
          </a:xfrm>
          <a:prstGeom prst="rect">
            <a:avLst/>
          </a:prstGeom>
        </p:spPr>
      </p:pic>
      <p:sp>
        <p:nvSpPr>
          <p:cNvPr id="12" name="Text 8"/>
          <p:cNvSpPr txBox="1"/>
          <p:nvPr/>
        </p:nvSpPr>
        <p:spPr>
          <a:xfrm>
            <a:off x="5463540" y="15270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Tài liệu sai, trả lời sai</a:t>
            </a:r>
            <a:endParaRPr lang="en-US" sz="1400" dirty="0"/>
          </a:p>
        </p:txBody>
      </p:sp>
      <p:sp>
        <p:nvSpPr>
          <p:cNvPr id="13" name="Text 9"/>
          <p:cNvSpPr txBox="1"/>
          <p:nvPr/>
        </p:nvSpPr>
        <p:spPr>
          <a:xfrm>
            <a:off x="5463540" y="19202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Chất lượng notebook phụ thuộc vào </a:t>
            </a:r>
            <a:pPr indent="0" marL="0">
              <a:buNone/>
            </a:pPr>
            <a:r>
              <a:rPr lang="en-US" sz="1300" b="1" dirty="0">
                <a:solidFill>
                  <a:srgbClr val="1F2A30"/>
                </a:solidFill>
                <a:latin typeface="Calibri" pitchFamily="34" charset="0"/>
                <a:ea typeface="Calibri" pitchFamily="34" charset="-122"/>
                <a:cs typeface="Calibri" pitchFamily="34" charset="-120"/>
              </a:rPr>
              <a:t>người cập nhật tài liệu</a:t>
            </a:r>
            <a:pPr indent="0" marL="0">
              <a:buNone/>
            </a:pPr>
            <a:r>
              <a:rPr lang="en-US" sz="1300" dirty="0">
                <a:solidFill>
                  <a:srgbClr val="1F2A30"/>
                </a:solidFill>
                <a:latin typeface="Calibri" pitchFamily="34" charset="0"/>
                <a:ea typeface="Calibri" pitchFamily="34" charset="-122"/>
                <a:cs typeface="Calibri" pitchFamily="34" charset="-120"/>
              </a:rPr>
              <a:t>.</a:t>
            </a:r>
            <a:endParaRPr lang="en-US" sz="1300" dirty="0"/>
          </a:p>
        </p:txBody>
      </p:sp>
      <p:sp>
        <p:nvSpPr>
          <p:cNvPr id="14" name="Shape 10"/>
          <p:cNvSpPr/>
          <p:nvPr/>
        </p:nvSpPr>
        <p:spPr>
          <a:xfrm>
            <a:off x="457200" y="3086100"/>
            <a:ext cx="4000500" cy="1485900"/>
          </a:xfrm>
          <a:prstGeom prst="roundRect">
            <a:avLst>
              <a:gd name="adj" fmla="val 6154"/>
            </a:avLst>
          </a:prstGeom>
          <a:solidFill>
            <a:srgbClr val="FBEAE8"/>
          </a:solidFill>
          <a:ln w="12700">
            <a:solidFill>
              <a:srgbClr val="FBEAE8"/>
            </a:solidFill>
            <a:prstDash val="solid"/>
          </a:ln>
        </p:spPr>
      </p:sp>
      <p:sp>
        <p:nvSpPr>
          <p:cNvPr id="15" name="Shape 11"/>
          <p:cNvSpPr/>
          <p:nvPr/>
        </p:nvSpPr>
        <p:spPr>
          <a:xfrm>
            <a:off x="640080" y="3268980"/>
            <a:ext cx="457200" cy="457200"/>
          </a:xfrm>
          <a:prstGeom prst="ellipse">
            <a:avLst/>
          </a:prstGeom>
          <a:solidFill>
            <a:srgbClr val="C0392B"/>
          </a:solidFill>
          <a:ln w="12700">
            <a:solidFill>
              <a:srgbClr val="C0392B"/>
            </a:solidFill>
            <a:prstDash val="solid"/>
          </a:ln>
        </p:spPr>
      </p:sp>
      <p:pic>
        <p:nvPicPr>
          <p:cNvPr id="16" name="Image 2" descr="preencoded.png">    </p:cNvPr>
          <p:cNvPicPr>
            <a:picLocks noChangeAspect="1"/>
          </p:cNvPicPr>
          <p:nvPr/>
        </p:nvPicPr>
        <p:blipFill>
          <a:blip r:embed="rId3"/>
          <a:stretch>
            <a:fillRect/>
          </a:stretch>
        </p:blipFill>
        <p:spPr>
          <a:xfrm>
            <a:off x="758952" y="3387852"/>
            <a:ext cx="219456" cy="219456"/>
          </a:xfrm>
          <a:prstGeom prst="rect">
            <a:avLst/>
          </a:prstGeom>
        </p:spPr>
      </p:pic>
      <p:sp>
        <p:nvSpPr>
          <p:cNvPr id="17" name="Text 12"/>
          <p:cNvSpPr txBox="1"/>
          <p:nvPr/>
        </p:nvSpPr>
        <p:spPr>
          <a:xfrm>
            <a:off x="1234440" y="32415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Bảo mật</a:t>
            </a:r>
            <a:endParaRPr lang="en-US" sz="1400" dirty="0"/>
          </a:p>
        </p:txBody>
      </p:sp>
      <p:sp>
        <p:nvSpPr>
          <p:cNvPr id="18" name="Text 13"/>
          <p:cNvSpPr txBox="1"/>
          <p:nvPr/>
        </p:nvSpPr>
        <p:spPr>
          <a:xfrm>
            <a:off x="1234440" y="36347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Tài khoản cá nhân là môi trường ngoài công ty: </a:t>
            </a:r>
            <a:pPr indent="0" marL="0">
              <a:buNone/>
            </a:pPr>
            <a:r>
              <a:rPr lang="en-US" sz="1300" b="1" dirty="0">
                <a:solidFill>
                  <a:srgbClr val="1F2A30"/>
                </a:solidFill>
                <a:latin typeface="Calibri" pitchFamily="34" charset="0"/>
                <a:ea typeface="Calibri" pitchFamily="34" charset="-122"/>
                <a:cs typeface="Calibri" pitchFamily="34" charset="-120"/>
              </a:rPr>
              <a:t>không</a:t>
            </a:r>
            <a:pPr indent="0" marL="0">
              <a:buNone/>
            </a:pPr>
            <a:r>
              <a:rPr lang="en-US" sz="1300" dirty="0">
                <a:solidFill>
                  <a:srgbClr val="1F2A30"/>
                </a:solidFill>
                <a:latin typeface="Calibri" pitchFamily="34" charset="0"/>
                <a:ea typeface="Calibri" pitchFamily="34" charset="-122"/>
                <a:cs typeface="Calibri" pitchFamily="34" charset="-120"/>
              </a:rPr>
              <a:t> nạp danh sách khách, đơn thật, ghi âm thật.</a:t>
            </a:r>
            <a:endParaRPr lang="en-US" sz="1300" dirty="0"/>
          </a:p>
        </p:txBody>
      </p:sp>
      <p:sp>
        <p:nvSpPr>
          <p:cNvPr id="19" name="Shape 14"/>
          <p:cNvSpPr/>
          <p:nvPr/>
        </p:nvSpPr>
        <p:spPr>
          <a:xfrm>
            <a:off x="4686300" y="3086100"/>
            <a:ext cx="4000500" cy="1485900"/>
          </a:xfrm>
          <a:prstGeom prst="roundRect">
            <a:avLst>
              <a:gd name="adj" fmla="val 6154"/>
            </a:avLst>
          </a:prstGeom>
          <a:solidFill>
            <a:srgbClr val="FBEAE8"/>
          </a:solidFill>
          <a:ln w="12700">
            <a:solidFill>
              <a:srgbClr val="FBEAE8"/>
            </a:solidFill>
            <a:prstDash val="solid"/>
          </a:ln>
        </p:spPr>
      </p:sp>
      <p:sp>
        <p:nvSpPr>
          <p:cNvPr id="20" name="Shape 15"/>
          <p:cNvSpPr/>
          <p:nvPr/>
        </p:nvSpPr>
        <p:spPr>
          <a:xfrm>
            <a:off x="4869180" y="3268980"/>
            <a:ext cx="457200" cy="457200"/>
          </a:xfrm>
          <a:prstGeom prst="ellipse">
            <a:avLst/>
          </a:prstGeom>
          <a:solidFill>
            <a:srgbClr val="C0392B"/>
          </a:solidFill>
          <a:ln w="12700">
            <a:solidFill>
              <a:srgbClr val="C0392B"/>
            </a:solidFill>
            <a:prstDash val="solid"/>
          </a:ln>
        </p:spPr>
      </p:sp>
      <p:pic>
        <p:nvPicPr>
          <p:cNvPr id="21" name="Image 3" descr="preencoded.png">    </p:cNvPr>
          <p:cNvPicPr>
            <a:picLocks noChangeAspect="1"/>
          </p:cNvPicPr>
          <p:nvPr/>
        </p:nvPicPr>
        <p:blipFill>
          <a:blip r:embed="rId4"/>
          <a:stretch>
            <a:fillRect/>
          </a:stretch>
        </p:blipFill>
        <p:spPr>
          <a:xfrm>
            <a:off x="4988052" y="3387852"/>
            <a:ext cx="219456" cy="219456"/>
          </a:xfrm>
          <a:prstGeom prst="rect">
            <a:avLst/>
          </a:prstGeom>
        </p:spPr>
      </p:pic>
      <p:sp>
        <p:nvSpPr>
          <p:cNvPr id="22" name="Text 16"/>
          <p:cNvSpPr txBox="1"/>
          <p:nvPr/>
        </p:nvSpPr>
        <p:spPr>
          <a:xfrm>
            <a:off x="5463540" y="32415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Giới hạn gói miễn phí</a:t>
            </a:r>
            <a:endParaRPr lang="en-US" sz="1400" dirty="0"/>
          </a:p>
        </p:txBody>
      </p:sp>
      <p:sp>
        <p:nvSpPr>
          <p:cNvPr id="23" name="Text 17"/>
          <p:cNvSpPr txBox="1"/>
          <p:nvPr/>
        </p:nvSpPr>
        <p:spPr>
          <a:xfrm>
            <a:off x="5463540" y="36347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Số notebook, số nguồn, số câu hỏi mỗi ngày có hạn và có thể thay đổi.</a:t>
            </a:r>
            <a:endParaRPr lang="en-US" sz="1300" dirty="0"/>
          </a:p>
        </p:txBody>
      </p:sp>
      <p:sp>
        <p:nvSpPr>
          <p:cNvPr id="24"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25"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BÀI LAB · 15 PHÚT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Lab · Dựng trợ lý tra cứu FAQ</a:t>
            </a:r>
            <a:endParaRPr lang="en-US" sz="2500" dirty="0"/>
          </a:p>
        </p:txBody>
      </p:sp>
      <p:sp>
        <p:nvSpPr>
          <p:cNvPr id="4" name="Shape 2"/>
          <p:cNvSpPr/>
          <p:nvPr/>
        </p:nvSpPr>
        <p:spPr>
          <a:xfrm>
            <a:off x="457200" y="1371600"/>
            <a:ext cx="2743200" cy="3200400"/>
          </a:xfrm>
          <a:prstGeom prst="roundRect">
            <a:avLst>
              <a:gd name="adj" fmla="val 3333"/>
            </a:avLst>
          </a:prstGeom>
          <a:solidFill>
            <a:srgbClr val="0B3B45"/>
          </a:solidFill>
          <a:ln w="12700">
            <a:solidFill>
              <a:srgbClr val="0B3B45"/>
            </a:solidFill>
            <a:prstDash val="solid"/>
          </a:ln>
        </p:spPr>
      </p:sp>
      <p:sp>
        <p:nvSpPr>
          <p:cNvPr id="5" name="Shape 3"/>
          <p:cNvSpPr/>
          <p:nvPr/>
        </p:nvSpPr>
        <p:spPr>
          <a:xfrm>
            <a:off x="685800" y="1572768"/>
            <a:ext cx="530352" cy="530352"/>
          </a:xfrm>
          <a:prstGeom prst="ellipse">
            <a:avLst/>
          </a:prstGeom>
          <a:solidFill>
            <a:srgbClr val="F2994A"/>
          </a:solidFill>
          <a:ln w="12700">
            <a:solidFill>
              <a:srgbClr val="F2994A"/>
            </a:solidFill>
            <a:prstDash val="solid"/>
          </a:ln>
        </p:spPr>
      </p:sp>
      <p:pic>
        <p:nvPicPr>
          <p:cNvPr id="6" name="Image 0" descr="preencoded.png">    </p:cNvPr>
          <p:cNvPicPr>
            <a:picLocks noChangeAspect="1"/>
          </p:cNvPicPr>
          <p:nvPr/>
        </p:nvPicPr>
        <p:blipFill>
          <a:blip r:embed="rId1"/>
          <a:stretch>
            <a:fillRect/>
          </a:stretch>
        </p:blipFill>
        <p:spPr>
          <a:xfrm>
            <a:off x="823692" y="1710660"/>
            <a:ext cx="254569" cy="254569"/>
          </a:xfrm>
          <a:prstGeom prst="rect">
            <a:avLst/>
          </a:prstGeom>
        </p:spPr>
      </p:pic>
      <p:sp>
        <p:nvSpPr>
          <p:cNvPr id="7" name="Text 4"/>
          <p:cNvSpPr txBox="1"/>
          <p:nvPr/>
        </p:nvSpPr>
        <p:spPr>
          <a:xfrm>
            <a:off x="685800" y="2240280"/>
            <a:ext cx="2286000" cy="274320"/>
          </a:xfrm>
          <a:prstGeom prst="rect">
            <a:avLst/>
          </a:prstGeom>
          <a:noFill/>
          <a:ln/>
        </p:spPr>
        <p:txBody>
          <a:bodyPr wrap="square" lIns="0" tIns="0" rIns="0" bIns="0" rtlCol="0" anchor="t"/>
          <a:lstStyle/>
          <a:p>
            <a:pPr indent="0" marL="0">
              <a:buNone/>
            </a:pPr>
            <a:r>
              <a:rPr lang="en-US" sz="1050" b="1" spc="200" kern="0" dirty="0">
                <a:solidFill>
                  <a:srgbClr val="F2994A"/>
                </a:solidFill>
                <a:latin typeface="Calibri" pitchFamily="34" charset="0"/>
                <a:ea typeface="Calibri" pitchFamily="34" charset="-122"/>
                <a:cs typeface="Calibri" pitchFamily="34" charset="-120"/>
              </a:rPr>
              <a:t>MỤC TIÊU</a:t>
            </a:r>
            <a:endParaRPr lang="en-US" sz="1050" dirty="0"/>
          </a:p>
        </p:txBody>
      </p:sp>
      <p:sp>
        <p:nvSpPr>
          <p:cNvPr id="8" name="Text 5"/>
          <p:cNvSpPr txBox="1"/>
          <p:nvPr/>
        </p:nvSpPr>
        <p:spPr>
          <a:xfrm>
            <a:off x="685800" y="2542032"/>
            <a:ext cx="2331720" cy="123444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Dựng notebook chính sách ShopNhanh, hỏi 3 câu như khách, kiểm trích dẫn, so sánh với chatbot không tài liệu.</a:t>
            </a:r>
            <a:endParaRPr lang="en-US" sz="1350" dirty="0"/>
          </a:p>
        </p:txBody>
      </p:sp>
      <p:sp>
        <p:nvSpPr>
          <p:cNvPr id="9" name="Text 6"/>
          <p:cNvSpPr txBox="1"/>
          <p:nvPr/>
        </p:nvSpPr>
        <p:spPr>
          <a:xfrm>
            <a:off x="685800" y="3749040"/>
            <a:ext cx="2286000" cy="256032"/>
          </a:xfrm>
          <a:prstGeom prst="rect">
            <a:avLst/>
          </a:prstGeom>
          <a:noFill/>
          <a:ln/>
        </p:spPr>
        <p:txBody>
          <a:bodyPr wrap="square" lIns="0" tIns="0" rIns="0" bIns="0" rtlCol="0" anchor="t"/>
          <a:lstStyle/>
          <a:p>
            <a:pPr indent="0" marL="0">
              <a:buNone/>
            </a:pPr>
            <a:r>
              <a:rPr lang="en-US" sz="1050" b="1" spc="200" kern="0" dirty="0">
                <a:solidFill>
                  <a:srgbClr val="F2994A"/>
                </a:solidFill>
                <a:latin typeface="Calibri" pitchFamily="34" charset="0"/>
                <a:ea typeface="Calibri" pitchFamily="34" charset="-122"/>
                <a:cs typeface="Calibri" pitchFamily="34" charset="-120"/>
              </a:rPr>
              <a:t>SẢN PHẨM</a:t>
            </a:r>
            <a:endParaRPr lang="en-US" sz="1050" dirty="0"/>
          </a:p>
        </p:txBody>
      </p:sp>
      <p:sp>
        <p:nvSpPr>
          <p:cNvPr id="10" name="Text 7"/>
          <p:cNvSpPr txBox="1"/>
          <p:nvPr/>
        </p:nvSpPr>
        <p:spPr>
          <a:xfrm>
            <a:off x="685800" y="4005072"/>
            <a:ext cx="2331720" cy="502920"/>
          </a:xfrm>
          <a:prstGeom prst="rect">
            <a:avLst/>
          </a:prstGeom>
          <a:noFill/>
          <a:ln/>
        </p:spPr>
        <p:txBody>
          <a:bodyPr wrap="square" lIns="0" tIns="0" rIns="0" bIns="0" rtlCol="0" anchor="t"/>
          <a:lstStyle/>
          <a:p>
            <a:pPr indent="0" marL="0">
              <a:buNone/>
            </a:pPr>
            <a:r>
              <a:rPr lang="en-US" sz="1150" b="1" dirty="0">
                <a:solidFill>
                  <a:srgbClr val="BFE3DD"/>
                </a:solidFill>
                <a:latin typeface="Calibri" pitchFamily="34" charset="0"/>
                <a:ea typeface="Calibri" pitchFamily="34" charset="-122"/>
                <a:cs typeface="Calibri" pitchFamily="34" charset="-120"/>
              </a:rPr>
              <a:t>Prompt tra cứu</a:t>
            </a:r>
            <a:pPr indent="0" marL="0">
              <a:buNone/>
            </a:pPr>
            <a:r>
              <a:rPr lang="en-US" sz="1150" dirty="0">
                <a:solidFill>
                  <a:srgbClr val="BFE3DD"/>
                </a:solidFill>
                <a:latin typeface="Calibri" pitchFamily="34" charset="0"/>
                <a:ea typeface="Calibri" pitchFamily="34" charset="-122"/>
                <a:cs typeface="Calibri" pitchFamily="34" charset="-120"/>
              </a:rPr>
              <a:t> trong thư viện prompt (cho ASM 1)</a:t>
            </a:r>
            <a:endParaRPr lang="en-US" sz="1150" dirty="0"/>
          </a:p>
        </p:txBody>
      </p:sp>
      <p:sp>
        <p:nvSpPr>
          <p:cNvPr id="11" name="Shape 8"/>
          <p:cNvSpPr/>
          <p:nvPr/>
        </p:nvSpPr>
        <p:spPr>
          <a:xfrm>
            <a:off x="3520440" y="1464564"/>
            <a:ext cx="347472" cy="347472"/>
          </a:xfrm>
          <a:prstGeom prst="ellipse">
            <a:avLst/>
          </a:prstGeom>
          <a:solidFill>
            <a:srgbClr val="0E7C7B"/>
          </a:solidFill>
          <a:ln w="12700">
            <a:solidFill>
              <a:srgbClr val="0E7C7B"/>
            </a:solidFill>
            <a:prstDash val="solid"/>
          </a:ln>
        </p:spPr>
      </p:sp>
      <p:sp>
        <p:nvSpPr>
          <p:cNvPr id="12" name="Text 9"/>
          <p:cNvSpPr txBox="1"/>
          <p:nvPr/>
        </p:nvSpPr>
        <p:spPr>
          <a:xfrm>
            <a:off x="3520440" y="14645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txBox="1"/>
          <p:nvPr/>
        </p:nvSpPr>
        <p:spPr>
          <a:xfrm>
            <a:off x="4023360" y="1371600"/>
            <a:ext cx="4663440" cy="533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Tạo notebook </a:t>
            </a:r>
            <a:pPr indent="0" marL="0">
              <a:buNone/>
            </a:pPr>
            <a:r>
              <a:rPr lang="en-US" sz="1400" b="1" dirty="0">
                <a:solidFill>
                  <a:srgbClr val="1F2A30"/>
                </a:solidFill>
                <a:latin typeface="Calibri" pitchFamily="34" charset="0"/>
                <a:ea typeface="Calibri" pitchFamily="34" charset="-122"/>
                <a:cs typeface="Calibri" pitchFamily="34" charset="-120"/>
              </a:rPr>
              <a:t>ShopNhanh - Đổi trả &amp; Hoàn tiền</a:t>
            </a:r>
            <a:pPr indent="0" marL="0">
              <a:buNone/>
            </a:pPr>
            <a:r>
              <a:rPr lang="en-US" sz="1400" dirty="0">
                <a:solidFill>
                  <a:srgbClr val="1F2A30"/>
                </a:solidFill>
                <a:latin typeface="Calibri" pitchFamily="34" charset="0"/>
                <a:ea typeface="Calibri" pitchFamily="34" charset="-122"/>
                <a:cs typeface="Calibri" pitchFamily="34" charset="-120"/>
              </a:rPr>
              <a:t>.</a:t>
            </a:r>
            <a:endParaRPr lang="en-US" sz="1400" dirty="0"/>
          </a:p>
        </p:txBody>
      </p:sp>
      <p:sp>
        <p:nvSpPr>
          <p:cNvPr id="14" name="Shape 11"/>
          <p:cNvSpPr/>
          <p:nvPr/>
        </p:nvSpPr>
        <p:spPr>
          <a:xfrm>
            <a:off x="3520440" y="1997964"/>
            <a:ext cx="347472" cy="347472"/>
          </a:xfrm>
          <a:prstGeom prst="ellipse">
            <a:avLst/>
          </a:prstGeom>
          <a:solidFill>
            <a:srgbClr val="0E7C7B"/>
          </a:solidFill>
          <a:ln w="12700">
            <a:solidFill>
              <a:srgbClr val="0E7C7B"/>
            </a:solidFill>
            <a:prstDash val="solid"/>
          </a:ln>
        </p:spPr>
      </p:sp>
      <p:sp>
        <p:nvSpPr>
          <p:cNvPr id="15" name="Text 12"/>
          <p:cNvSpPr txBox="1"/>
          <p:nvPr/>
        </p:nvSpPr>
        <p:spPr>
          <a:xfrm>
            <a:off x="3520440" y="19979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txBox="1"/>
          <p:nvPr/>
        </p:nvSpPr>
        <p:spPr>
          <a:xfrm>
            <a:off x="4023360" y="1905000"/>
            <a:ext cx="4663440" cy="533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Dán chính sách mẫu làm nguồn, đọc tóm tắt nguồn tự tạo.</a:t>
            </a:r>
            <a:endParaRPr lang="en-US" sz="1400" dirty="0"/>
          </a:p>
        </p:txBody>
      </p:sp>
      <p:sp>
        <p:nvSpPr>
          <p:cNvPr id="17" name="Shape 14"/>
          <p:cNvSpPr/>
          <p:nvPr/>
        </p:nvSpPr>
        <p:spPr>
          <a:xfrm>
            <a:off x="3520440" y="2531364"/>
            <a:ext cx="347472" cy="347472"/>
          </a:xfrm>
          <a:prstGeom prst="ellipse">
            <a:avLst/>
          </a:prstGeom>
          <a:solidFill>
            <a:srgbClr val="0E7C7B"/>
          </a:solidFill>
          <a:ln w="12700">
            <a:solidFill>
              <a:srgbClr val="0E7C7B"/>
            </a:solidFill>
            <a:prstDash val="solid"/>
          </a:ln>
        </p:spPr>
      </p:sp>
      <p:sp>
        <p:nvSpPr>
          <p:cNvPr id="18" name="Text 15"/>
          <p:cNvSpPr txBox="1"/>
          <p:nvPr/>
        </p:nvSpPr>
        <p:spPr>
          <a:xfrm>
            <a:off x="3520440" y="25313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txBox="1"/>
          <p:nvPr/>
        </p:nvSpPr>
        <p:spPr>
          <a:xfrm>
            <a:off x="4023360" y="2438400"/>
            <a:ext cx="4663440" cy="533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Hỏi </a:t>
            </a:r>
            <a:pPr indent="0" marL="0">
              <a:buNone/>
            </a:pPr>
            <a:r>
              <a:rPr lang="en-US" sz="1400" b="1" dirty="0">
                <a:solidFill>
                  <a:srgbClr val="1F2A30"/>
                </a:solidFill>
                <a:latin typeface="Calibri" pitchFamily="34" charset="0"/>
                <a:ea typeface="Calibri" pitchFamily="34" charset="-122"/>
                <a:cs typeface="Calibri" pitchFamily="34" charset="-120"/>
              </a:rPr>
              <a:t>3 câu</a:t>
            </a:r>
            <a:pPr indent="0" marL="0">
              <a:buNone/>
            </a:pPr>
            <a:r>
              <a:rPr lang="en-US" sz="1400" dirty="0">
                <a:solidFill>
                  <a:srgbClr val="1F2A30"/>
                </a:solidFill>
                <a:latin typeface="Calibri" pitchFamily="34" charset="0"/>
                <a:ea typeface="Calibri" pitchFamily="34" charset="-122"/>
                <a:cs typeface="Calibri" pitchFamily="34" charset="-120"/>
              </a:rPr>
              <a:t> như khách, bấm kiểm </a:t>
            </a:r>
            <a:pPr indent="0" marL="0">
              <a:buNone/>
            </a:pPr>
            <a:r>
              <a:rPr lang="en-US" sz="1400" b="1" dirty="0">
                <a:solidFill>
                  <a:srgbClr val="1F2A30"/>
                </a:solidFill>
                <a:latin typeface="Calibri" pitchFamily="34" charset="0"/>
                <a:ea typeface="Calibri" pitchFamily="34" charset="-122"/>
                <a:cs typeface="Calibri" pitchFamily="34" charset="-120"/>
              </a:rPr>
              <a:t>từng số trích dẫn</a:t>
            </a:r>
            <a:pPr indent="0" marL="0">
              <a:buNone/>
            </a:pPr>
            <a:r>
              <a:rPr lang="en-US" sz="1400" dirty="0">
                <a:solidFill>
                  <a:srgbClr val="1F2A30"/>
                </a:solidFill>
                <a:latin typeface="Calibri" pitchFamily="34" charset="0"/>
                <a:ea typeface="Calibri" pitchFamily="34" charset="-122"/>
                <a:cs typeface="Calibri" pitchFamily="34" charset="-120"/>
              </a:rPr>
              <a:t>.</a:t>
            </a:r>
            <a:endParaRPr lang="en-US" sz="1400" dirty="0"/>
          </a:p>
        </p:txBody>
      </p:sp>
      <p:sp>
        <p:nvSpPr>
          <p:cNvPr id="20" name="Shape 17"/>
          <p:cNvSpPr/>
          <p:nvPr/>
        </p:nvSpPr>
        <p:spPr>
          <a:xfrm>
            <a:off x="3520440" y="3064764"/>
            <a:ext cx="347472" cy="347472"/>
          </a:xfrm>
          <a:prstGeom prst="ellipse">
            <a:avLst/>
          </a:prstGeom>
          <a:solidFill>
            <a:srgbClr val="0E7C7B"/>
          </a:solidFill>
          <a:ln w="12700">
            <a:solidFill>
              <a:srgbClr val="0E7C7B"/>
            </a:solidFill>
            <a:prstDash val="solid"/>
          </a:ln>
        </p:spPr>
      </p:sp>
      <p:sp>
        <p:nvSpPr>
          <p:cNvPr id="21" name="Text 18"/>
          <p:cNvSpPr txBox="1"/>
          <p:nvPr/>
        </p:nvSpPr>
        <p:spPr>
          <a:xfrm>
            <a:off x="3520440" y="30647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txBox="1"/>
          <p:nvPr/>
        </p:nvSpPr>
        <p:spPr>
          <a:xfrm>
            <a:off x="4023360" y="2971800"/>
            <a:ext cx="4663440" cy="533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Hỏi câu </a:t>
            </a:r>
            <a:pPr indent="0" marL="0">
              <a:buNone/>
            </a:pPr>
            <a:r>
              <a:rPr lang="en-US" sz="1400" b="1" dirty="0">
                <a:solidFill>
                  <a:srgbClr val="1F2A30"/>
                </a:solidFill>
                <a:latin typeface="Calibri" pitchFamily="34" charset="0"/>
                <a:ea typeface="Calibri" pitchFamily="34" charset="-122"/>
                <a:cs typeface="Calibri" pitchFamily="34" charset="-120"/>
              </a:rPr>
              <a:t>bẫy</a:t>
            </a:r>
            <a:pPr indent="0" marL="0">
              <a:buNone/>
            </a:pPr>
            <a:r>
              <a:rPr lang="en-US" sz="1400" dirty="0">
                <a:solidFill>
                  <a:srgbClr val="1F2A30"/>
                </a:solidFill>
                <a:latin typeface="Calibri" pitchFamily="34" charset="0"/>
                <a:ea typeface="Calibri" pitchFamily="34" charset="-122"/>
                <a:cs typeface="Calibri" pitchFamily="34" charset="-120"/>
              </a:rPr>
              <a:t>: "Đơn giao sang Singapore đổi trả thế nào?"</a:t>
            </a:r>
            <a:endParaRPr lang="en-US" sz="1400" dirty="0"/>
          </a:p>
        </p:txBody>
      </p:sp>
      <p:sp>
        <p:nvSpPr>
          <p:cNvPr id="23" name="Shape 20"/>
          <p:cNvSpPr/>
          <p:nvPr/>
        </p:nvSpPr>
        <p:spPr>
          <a:xfrm>
            <a:off x="3520440" y="3598164"/>
            <a:ext cx="347472" cy="347472"/>
          </a:xfrm>
          <a:prstGeom prst="ellipse">
            <a:avLst/>
          </a:prstGeom>
          <a:solidFill>
            <a:srgbClr val="0E7C7B"/>
          </a:solidFill>
          <a:ln w="12700">
            <a:solidFill>
              <a:srgbClr val="0E7C7B"/>
            </a:solidFill>
            <a:prstDash val="solid"/>
          </a:ln>
        </p:spPr>
      </p:sp>
      <p:sp>
        <p:nvSpPr>
          <p:cNvPr id="24" name="Text 21"/>
          <p:cNvSpPr txBox="1"/>
          <p:nvPr/>
        </p:nvSpPr>
        <p:spPr>
          <a:xfrm>
            <a:off x="3520440" y="35981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4023360" y="3505200"/>
            <a:ext cx="4663440" cy="533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Hỏi câu 1 với chatbot </a:t>
            </a:r>
            <a:pPr indent="0" marL="0">
              <a:buNone/>
            </a:pPr>
            <a:r>
              <a:rPr lang="en-US" sz="1400" b="1" dirty="0">
                <a:solidFill>
                  <a:srgbClr val="1F2A30"/>
                </a:solidFill>
                <a:latin typeface="Calibri" pitchFamily="34" charset="0"/>
                <a:ea typeface="Calibri" pitchFamily="34" charset="-122"/>
                <a:cs typeface="Calibri" pitchFamily="34" charset="-120"/>
              </a:rPr>
              <a:t>không có tài liệu</a:t>
            </a:r>
            <a:pPr indent="0" marL="0">
              <a:buNone/>
            </a:pPr>
            <a:r>
              <a:rPr lang="en-US" sz="1400" dirty="0">
                <a:solidFill>
                  <a:srgbClr val="1F2A30"/>
                </a:solidFill>
                <a:latin typeface="Calibri" pitchFamily="34" charset="0"/>
                <a:ea typeface="Calibri" pitchFamily="34" charset="-122"/>
                <a:cs typeface="Calibri" pitchFamily="34" charset="-120"/>
              </a:rPr>
              <a:t>, điền bảng so sánh.</a:t>
            </a:r>
            <a:endParaRPr lang="en-US" sz="1400" dirty="0"/>
          </a:p>
        </p:txBody>
      </p:sp>
      <p:sp>
        <p:nvSpPr>
          <p:cNvPr id="26" name="Shape 23"/>
          <p:cNvSpPr/>
          <p:nvPr/>
        </p:nvSpPr>
        <p:spPr>
          <a:xfrm>
            <a:off x="3520440" y="4131564"/>
            <a:ext cx="347472" cy="347472"/>
          </a:xfrm>
          <a:prstGeom prst="ellipse">
            <a:avLst/>
          </a:prstGeom>
          <a:solidFill>
            <a:srgbClr val="0E7C7B"/>
          </a:solidFill>
          <a:ln w="12700">
            <a:solidFill>
              <a:srgbClr val="0E7C7B"/>
            </a:solidFill>
            <a:prstDash val="solid"/>
          </a:ln>
        </p:spPr>
      </p:sp>
      <p:sp>
        <p:nvSpPr>
          <p:cNvPr id="27" name="Text 24"/>
          <p:cNvSpPr txBox="1"/>
          <p:nvPr/>
        </p:nvSpPr>
        <p:spPr>
          <a:xfrm>
            <a:off x="3520440" y="41315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5"/>
          <p:cNvSpPr txBox="1"/>
          <p:nvPr/>
        </p:nvSpPr>
        <p:spPr>
          <a:xfrm>
            <a:off x="4023360" y="4038600"/>
            <a:ext cx="4663440" cy="533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Nhờ viết lời giải thích câu 3 cho khách qua điện thoại.</a:t>
            </a:r>
            <a:endParaRPr lang="en-US" sz="1400" dirty="0"/>
          </a:p>
        </p:txBody>
      </p:sp>
      <p:sp>
        <p:nvSpPr>
          <p:cNvPr id="29" name="Text 2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30" name="Text 2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KIỂM TRA NHANH #1 · CÂU 1</a:t>
            </a:r>
            <a:endParaRPr lang="en-US" sz="1050" dirty="0"/>
          </a:p>
        </p:txBody>
      </p:sp>
      <p:sp>
        <p:nvSpPr>
          <p:cNvPr id="3" name="Text 1"/>
          <p:cNvSpPr txBox="1"/>
          <p:nvPr/>
        </p:nvSpPr>
        <p:spPr>
          <a:xfrm>
            <a:off x="457200" y="594360"/>
            <a:ext cx="8229600" cy="1234440"/>
          </a:xfrm>
          <a:prstGeom prst="rect">
            <a:avLst/>
          </a:prstGeom>
          <a:noFill/>
          <a:ln/>
        </p:spPr>
        <p:txBody>
          <a:bodyPr wrap="square" lIns="0" tIns="0" rIns="0" bIns="0" rtlCol="0" anchor="ctr">
            <a:normAutofit/>
          </a:bodyPr>
          <a:lstStyle/>
          <a:p>
            <a:pPr indent="0" marL="0">
              <a:buNone/>
            </a:pPr>
            <a:r>
              <a:rPr lang="en-US" sz="2100" b="1" dirty="0">
                <a:solidFill>
                  <a:srgbClr val="0B3B45"/>
                </a:solidFill>
                <a:latin typeface="Cambria" pitchFamily="34" charset="0"/>
                <a:ea typeface="Cambria" pitchFamily="34" charset="-122"/>
                <a:cs typeface="Cambria" pitchFamily="34" charset="-120"/>
              </a:rPr>
              <a:t>Lan hỏi ChatGPT (không dán tài liệu) về chính sách đổi trả ShopNhanh, nhận câu trả lời "30 ngày". Vì sao đáng ngờ?</a:t>
            </a:r>
            <a:endParaRPr lang="en-US" sz="2100" dirty="0"/>
          </a:p>
        </p:txBody>
      </p:sp>
      <p:sp>
        <p:nvSpPr>
          <p:cNvPr id="4" name="Shape 2"/>
          <p:cNvSpPr/>
          <p:nvPr/>
        </p:nvSpPr>
        <p:spPr>
          <a:xfrm>
            <a:off x="457200" y="2011680"/>
            <a:ext cx="4023360" cy="1143000"/>
          </a:xfrm>
          <a:prstGeom prst="roundRect">
            <a:avLst>
              <a:gd name="adj" fmla="val 8000"/>
            </a:avLst>
          </a:prstGeom>
          <a:solidFill>
            <a:srgbClr val="E8F3F1"/>
          </a:solidFill>
          <a:ln w="12700">
            <a:solidFill>
              <a:srgbClr val="E8F3F1"/>
            </a:solidFill>
            <a:prstDash val="solid"/>
          </a:ln>
        </p:spPr>
      </p:sp>
      <p:sp>
        <p:nvSpPr>
          <p:cNvPr id="5" name="Shape 3"/>
          <p:cNvSpPr/>
          <p:nvPr/>
        </p:nvSpPr>
        <p:spPr>
          <a:xfrm>
            <a:off x="658368" y="2331720"/>
            <a:ext cx="502920" cy="502920"/>
          </a:xfrm>
          <a:prstGeom prst="ellipse">
            <a:avLst/>
          </a:prstGeom>
          <a:solidFill>
            <a:srgbClr val="0E7C7B"/>
          </a:solidFill>
          <a:ln w="12700">
            <a:solidFill>
              <a:srgbClr val="0E7C7B"/>
            </a:solidFill>
            <a:prstDash val="solid"/>
          </a:ln>
        </p:spPr>
      </p:sp>
      <p:sp>
        <p:nvSpPr>
          <p:cNvPr id="6" name="Text 4"/>
          <p:cNvSpPr txBox="1"/>
          <p:nvPr/>
        </p:nvSpPr>
        <p:spPr>
          <a:xfrm>
            <a:off x="65836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txBox="1"/>
          <p:nvPr/>
        </p:nvSpPr>
        <p:spPr>
          <a:xfrm>
            <a:off x="132588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ChatGPT chỉ trả lời được bằng tiếng Anh</a:t>
            </a:r>
            <a:endParaRPr lang="en-US" sz="1450" dirty="0"/>
          </a:p>
        </p:txBody>
      </p:sp>
      <p:sp>
        <p:nvSpPr>
          <p:cNvPr id="8" name="Shape 6"/>
          <p:cNvSpPr/>
          <p:nvPr/>
        </p:nvSpPr>
        <p:spPr>
          <a:xfrm>
            <a:off x="4663440" y="2011680"/>
            <a:ext cx="4023360" cy="1143000"/>
          </a:xfrm>
          <a:prstGeom prst="roundRect">
            <a:avLst>
              <a:gd name="adj" fmla="val 8000"/>
            </a:avLst>
          </a:prstGeom>
          <a:solidFill>
            <a:srgbClr val="E8F3F1"/>
          </a:solidFill>
          <a:ln w="12700">
            <a:solidFill>
              <a:srgbClr val="E8F3F1"/>
            </a:solidFill>
            <a:prstDash val="solid"/>
          </a:ln>
        </p:spPr>
      </p:sp>
      <p:sp>
        <p:nvSpPr>
          <p:cNvPr id="9" name="Shape 7"/>
          <p:cNvSpPr/>
          <p:nvPr/>
        </p:nvSpPr>
        <p:spPr>
          <a:xfrm>
            <a:off x="4864608" y="2331720"/>
            <a:ext cx="502920" cy="502920"/>
          </a:xfrm>
          <a:prstGeom prst="ellipse">
            <a:avLst/>
          </a:prstGeom>
          <a:solidFill>
            <a:srgbClr val="0E7C7B"/>
          </a:solidFill>
          <a:ln w="12700">
            <a:solidFill>
              <a:srgbClr val="0E7C7B"/>
            </a:solidFill>
            <a:prstDash val="solid"/>
          </a:ln>
        </p:spPr>
      </p:sp>
      <p:sp>
        <p:nvSpPr>
          <p:cNvPr id="10" name="Text 8"/>
          <p:cNvSpPr txBox="1"/>
          <p:nvPr/>
        </p:nvSpPr>
        <p:spPr>
          <a:xfrm>
            <a:off x="486460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1" name="Text 9"/>
          <p:cNvSpPr txBox="1"/>
          <p:nvPr/>
        </p:nvSpPr>
        <p:spPr>
          <a:xfrm>
            <a:off x="553212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Không có tài liệu nội bộ, nó dựa vào kiến thức chung và có thể bịa</a:t>
            </a:r>
            <a:endParaRPr lang="en-US" sz="1450" dirty="0"/>
          </a:p>
        </p:txBody>
      </p:sp>
      <p:sp>
        <p:nvSpPr>
          <p:cNvPr id="12" name="Shape 10"/>
          <p:cNvSpPr/>
          <p:nvPr/>
        </p:nvSpPr>
        <p:spPr>
          <a:xfrm>
            <a:off x="457200" y="3337560"/>
            <a:ext cx="4023360" cy="1143000"/>
          </a:xfrm>
          <a:prstGeom prst="roundRect">
            <a:avLst>
              <a:gd name="adj" fmla="val 8000"/>
            </a:avLst>
          </a:prstGeom>
          <a:solidFill>
            <a:srgbClr val="E8F3F1"/>
          </a:solidFill>
          <a:ln w="12700">
            <a:solidFill>
              <a:srgbClr val="E8F3F1"/>
            </a:solidFill>
            <a:prstDash val="solid"/>
          </a:ln>
        </p:spPr>
      </p:sp>
      <p:sp>
        <p:nvSpPr>
          <p:cNvPr id="13" name="Shape 11"/>
          <p:cNvSpPr/>
          <p:nvPr/>
        </p:nvSpPr>
        <p:spPr>
          <a:xfrm>
            <a:off x="658368" y="3657600"/>
            <a:ext cx="502920" cy="502920"/>
          </a:xfrm>
          <a:prstGeom prst="ellipse">
            <a:avLst/>
          </a:prstGeom>
          <a:solidFill>
            <a:srgbClr val="0E7C7B"/>
          </a:solidFill>
          <a:ln w="12700">
            <a:solidFill>
              <a:srgbClr val="0E7C7B"/>
            </a:solidFill>
            <a:prstDash val="solid"/>
          </a:ln>
        </p:spPr>
      </p:sp>
      <p:sp>
        <p:nvSpPr>
          <p:cNvPr id="14" name="Text 12"/>
          <p:cNvSpPr txBox="1"/>
          <p:nvPr/>
        </p:nvSpPr>
        <p:spPr>
          <a:xfrm>
            <a:off x="65836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5" name="Text 13"/>
          <p:cNvSpPr txBox="1"/>
          <p:nvPr/>
        </p:nvSpPr>
        <p:spPr>
          <a:xfrm>
            <a:off x="132588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ChatGPT luôn trả lời sai về số liệu</a:t>
            </a:r>
            <a:endParaRPr lang="en-US" sz="1450" dirty="0"/>
          </a:p>
        </p:txBody>
      </p:sp>
      <p:sp>
        <p:nvSpPr>
          <p:cNvPr id="16" name="Shape 14"/>
          <p:cNvSpPr/>
          <p:nvPr/>
        </p:nvSpPr>
        <p:spPr>
          <a:xfrm>
            <a:off x="4663440" y="3337560"/>
            <a:ext cx="4023360" cy="1143000"/>
          </a:xfrm>
          <a:prstGeom prst="roundRect">
            <a:avLst>
              <a:gd name="adj" fmla="val 8000"/>
            </a:avLst>
          </a:prstGeom>
          <a:solidFill>
            <a:srgbClr val="E8F3F1"/>
          </a:solidFill>
          <a:ln w="12700">
            <a:solidFill>
              <a:srgbClr val="E8F3F1"/>
            </a:solidFill>
            <a:prstDash val="solid"/>
          </a:ln>
        </p:spPr>
      </p:sp>
      <p:sp>
        <p:nvSpPr>
          <p:cNvPr id="17" name="Shape 15"/>
          <p:cNvSpPr/>
          <p:nvPr/>
        </p:nvSpPr>
        <p:spPr>
          <a:xfrm>
            <a:off x="4864608" y="3657600"/>
            <a:ext cx="502920" cy="502920"/>
          </a:xfrm>
          <a:prstGeom prst="ellipse">
            <a:avLst/>
          </a:prstGeom>
          <a:solidFill>
            <a:srgbClr val="0E7C7B"/>
          </a:solidFill>
          <a:ln w="12700">
            <a:solidFill>
              <a:srgbClr val="0E7C7B"/>
            </a:solidFill>
            <a:prstDash val="solid"/>
          </a:ln>
        </p:spPr>
      </p:sp>
      <p:sp>
        <p:nvSpPr>
          <p:cNvPr id="18" name="Text 16"/>
          <p:cNvSpPr txBox="1"/>
          <p:nvPr/>
        </p:nvSpPr>
        <p:spPr>
          <a:xfrm>
            <a:off x="486460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9" name="Text 17"/>
          <p:cNvSpPr txBox="1"/>
          <p:nvPr/>
        </p:nvSpPr>
        <p:spPr>
          <a:xfrm>
            <a:off x="553212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Vì câu hỏi quá ngắn</a:t>
            </a:r>
            <a:endParaRPr lang="en-US" sz="1450" dirty="0"/>
          </a:p>
        </p:txBody>
      </p:sp>
      <p:sp>
        <p:nvSpPr>
          <p:cNvPr id="20"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21"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KIỂM TRA NHANH #1 · CÂU 2</a:t>
            </a:r>
            <a:endParaRPr lang="en-US" sz="1050" dirty="0"/>
          </a:p>
        </p:txBody>
      </p:sp>
      <p:sp>
        <p:nvSpPr>
          <p:cNvPr id="3" name="Text 1"/>
          <p:cNvSpPr txBox="1"/>
          <p:nvPr/>
        </p:nvSpPr>
        <p:spPr>
          <a:xfrm>
            <a:off x="457200" y="594360"/>
            <a:ext cx="8229600" cy="1234440"/>
          </a:xfrm>
          <a:prstGeom prst="rect">
            <a:avLst/>
          </a:prstGeom>
          <a:noFill/>
          <a:ln/>
        </p:spPr>
        <p:txBody>
          <a:bodyPr wrap="square" lIns="0" tIns="0" rIns="0" bIns="0" rtlCol="0" anchor="ctr">
            <a:normAutofit/>
          </a:bodyPr>
          <a:lstStyle/>
          <a:p>
            <a:pPr indent="0" marL="0">
              <a:buNone/>
            </a:pPr>
            <a:r>
              <a:rPr lang="en-US" sz="2100" b="1" dirty="0">
                <a:solidFill>
                  <a:srgbClr val="0B3B45"/>
                </a:solidFill>
                <a:latin typeface="Cambria" pitchFamily="34" charset="0"/>
                <a:ea typeface="Cambria" pitchFamily="34" charset="-122"/>
                <a:cs typeface="Cambria" pitchFamily="34" charset="-120"/>
              </a:rPr>
              <a:t>NotebookLM trả lời kèm trích dẫn [1], [2]. Việc đúng nhất trước khi nói với khách là gì?</a:t>
            </a:r>
            <a:endParaRPr lang="en-US" sz="2100" dirty="0"/>
          </a:p>
        </p:txBody>
      </p:sp>
      <p:sp>
        <p:nvSpPr>
          <p:cNvPr id="4" name="Shape 2"/>
          <p:cNvSpPr/>
          <p:nvPr/>
        </p:nvSpPr>
        <p:spPr>
          <a:xfrm>
            <a:off x="457200" y="2011680"/>
            <a:ext cx="4023360" cy="1143000"/>
          </a:xfrm>
          <a:prstGeom prst="roundRect">
            <a:avLst>
              <a:gd name="adj" fmla="val 8000"/>
            </a:avLst>
          </a:prstGeom>
          <a:solidFill>
            <a:srgbClr val="E8F3F1"/>
          </a:solidFill>
          <a:ln w="12700">
            <a:solidFill>
              <a:srgbClr val="E8F3F1"/>
            </a:solidFill>
            <a:prstDash val="solid"/>
          </a:ln>
        </p:spPr>
      </p:sp>
      <p:sp>
        <p:nvSpPr>
          <p:cNvPr id="5" name="Shape 3"/>
          <p:cNvSpPr/>
          <p:nvPr/>
        </p:nvSpPr>
        <p:spPr>
          <a:xfrm>
            <a:off x="658368" y="2331720"/>
            <a:ext cx="502920" cy="502920"/>
          </a:xfrm>
          <a:prstGeom prst="ellipse">
            <a:avLst/>
          </a:prstGeom>
          <a:solidFill>
            <a:srgbClr val="0E7C7B"/>
          </a:solidFill>
          <a:ln w="12700">
            <a:solidFill>
              <a:srgbClr val="0E7C7B"/>
            </a:solidFill>
            <a:prstDash val="solid"/>
          </a:ln>
        </p:spPr>
      </p:sp>
      <p:sp>
        <p:nvSpPr>
          <p:cNvPr id="6" name="Text 4"/>
          <p:cNvSpPr txBox="1"/>
          <p:nvPr/>
        </p:nvSpPr>
        <p:spPr>
          <a:xfrm>
            <a:off x="65836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txBox="1"/>
          <p:nvPr/>
        </p:nvSpPr>
        <p:spPr>
          <a:xfrm>
            <a:off x="132588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Tin ngay vì đã có trích dẫn</a:t>
            </a:r>
            <a:endParaRPr lang="en-US" sz="1450" dirty="0"/>
          </a:p>
        </p:txBody>
      </p:sp>
      <p:sp>
        <p:nvSpPr>
          <p:cNvPr id="8" name="Shape 6"/>
          <p:cNvSpPr/>
          <p:nvPr/>
        </p:nvSpPr>
        <p:spPr>
          <a:xfrm>
            <a:off x="4663440" y="2011680"/>
            <a:ext cx="4023360" cy="1143000"/>
          </a:xfrm>
          <a:prstGeom prst="roundRect">
            <a:avLst>
              <a:gd name="adj" fmla="val 8000"/>
            </a:avLst>
          </a:prstGeom>
          <a:solidFill>
            <a:srgbClr val="E8F3F1"/>
          </a:solidFill>
          <a:ln w="12700">
            <a:solidFill>
              <a:srgbClr val="E8F3F1"/>
            </a:solidFill>
            <a:prstDash val="solid"/>
          </a:ln>
        </p:spPr>
      </p:sp>
      <p:sp>
        <p:nvSpPr>
          <p:cNvPr id="9" name="Shape 7"/>
          <p:cNvSpPr/>
          <p:nvPr/>
        </p:nvSpPr>
        <p:spPr>
          <a:xfrm>
            <a:off x="4864608" y="2331720"/>
            <a:ext cx="502920" cy="502920"/>
          </a:xfrm>
          <a:prstGeom prst="ellipse">
            <a:avLst/>
          </a:prstGeom>
          <a:solidFill>
            <a:srgbClr val="0E7C7B"/>
          </a:solidFill>
          <a:ln w="12700">
            <a:solidFill>
              <a:srgbClr val="0E7C7B"/>
            </a:solidFill>
            <a:prstDash val="solid"/>
          </a:ln>
        </p:spPr>
      </p:sp>
      <p:sp>
        <p:nvSpPr>
          <p:cNvPr id="10" name="Text 8"/>
          <p:cNvSpPr txBox="1"/>
          <p:nvPr/>
        </p:nvSpPr>
        <p:spPr>
          <a:xfrm>
            <a:off x="486460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1" name="Text 9"/>
          <p:cNvSpPr txBox="1"/>
          <p:nvPr/>
        </p:nvSpPr>
        <p:spPr>
          <a:xfrm>
            <a:off x="553212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Bấm trích dẫn, đọc đoạn gốc để chắc AI hiểu đúng điều kiện, ngoại lệ</a:t>
            </a:r>
            <a:endParaRPr lang="en-US" sz="1450" dirty="0"/>
          </a:p>
        </p:txBody>
      </p:sp>
      <p:sp>
        <p:nvSpPr>
          <p:cNvPr id="12" name="Shape 10"/>
          <p:cNvSpPr/>
          <p:nvPr/>
        </p:nvSpPr>
        <p:spPr>
          <a:xfrm>
            <a:off x="457200" y="3337560"/>
            <a:ext cx="4023360" cy="1143000"/>
          </a:xfrm>
          <a:prstGeom prst="roundRect">
            <a:avLst>
              <a:gd name="adj" fmla="val 8000"/>
            </a:avLst>
          </a:prstGeom>
          <a:solidFill>
            <a:srgbClr val="E8F3F1"/>
          </a:solidFill>
          <a:ln w="12700">
            <a:solidFill>
              <a:srgbClr val="E8F3F1"/>
            </a:solidFill>
            <a:prstDash val="solid"/>
          </a:ln>
        </p:spPr>
      </p:sp>
      <p:sp>
        <p:nvSpPr>
          <p:cNvPr id="13" name="Shape 11"/>
          <p:cNvSpPr/>
          <p:nvPr/>
        </p:nvSpPr>
        <p:spPr>
          <a:xfrm>
            <a:off x="658368" y="3657600"/>
            <a:ext cx="502920" cy="502920"/>
          </a:xfrm>
          <a:prstGeom prst="ellipse">
            <a:avLst/>
          </a:prstGeom>
          <a:solidFill>
            <a:srgbClr val="0E7C7B"/>
          </a:solidFill>
          <a:ln w="12700">
            <a:solidFill>
              <a:srgbClr val="0E7C7B"/>
            </a:solidFill>
            <a:prstDash val="solid"/>
          </a:ln>
        </p:spPr>
      </p:sp>
      <p:sp>
        <p:nvSpPr>
          <p:cNvPr id="14" name="Text 12"/>
          <p:cNvSpPr txBox="1"/>
          <p:nvPr/>
        </p:nvSpPr>
        <p:spPr>
          <a:xfrm>
            <a:off x="65836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5" name="Text 13"/>
          <p:cNvSpPr txBox="1"/>
          <p:nvPr/>
        </p:nvSpPr>
        <p:spPr>
          <a:xfrm>
            <a:off x="132588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Hỏi lại ChatGPT để đối chiếu</a:t>
            </a:r>
            <a:endParaRPr lang="en-US" sz="1450" dirty="0"/>
          </a:p>
        </p:txBody>
      </p:sp>
      <p:sp>
        <p:nvSpPr>
          <p:cNvPr id="16" name="Shape 14"/>
          <p:cNvSpPr/>
          <p:nvPr/>
        </p:nvSpPr>
        <p:spPr>
          <a:xfrm>
            <a:off x="4663440" y="3337560"/>
            <a:ext cx="4023360" cy="1143000"/>
          </a:xfrm>
          <a:prstGeom prst="roundRect">
            <a:avLst>
              <a:gd name="adj" fmla="val 8000"/>
            </a:avLst>
          </a:prstGeom>
          <a:solidFill>
            <a:srgbClr val="E8F3F1"/>
          </a:solidFill>
          <a:ln w="12700">
            <a:solidFill>
              <a:srgbClr val="E8F3F1"/>
            </a:solidFill>
            <a:prstDash val="solid"/>
          </a:ln>
        </p:spPr>
      </p:sp>
      <p:sp>
        <p:nvSpPr>
          <p:cNvPr id="17" name="Shape 15"/>
          <p:cNvSpPr/>
          <p:nvPr/>
        </p:nvSpPr>
        <p:spPr>
          <a:xfrm>
            <a:off x="4864608" y="3657600"/>
            <a:ext cx="502920" cy="502920"/>
          </a:xfrm>
          <a:prstGeom prst="ellipse">
            <a:avLst/>
          </a:prstGeom>
          <a:solidFill>
            <a:srgbClr val="0E7C7B"/>
          </a:solidFill>
          <a:ln w="12700">
            <a:solidFill>
              <a:srgbClr val="0E7C7B"/>
            </a:solidFill>
            <a:prstDash val="solid"/>
          </a:ln>
        </p:spPr>
      </p:sp>
      <p:sp>
        <p:nvSpPr>
          <p:cNvPr id="18" name="Text 16"/>
          <p:cNvSpPr txBox="1"/>
          <p:nvPr/>
        </p:nvSpPr>
        <p:spPr>
          <a:xfrm>
            <a:off x="486460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9" name="Text 17"/>
          <p:cNvSpPr txBox="1"/>
          <p:nvPr/>
        </p:nvSpPr>
        <p:spPr>
          <a:xfrm>
            <a:off x="553212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Chép nguyên văn câu trả lời gửi khách</a:t>
            </a:r>
            <a:endParaRPr lang="en-US" sz="1450" dirty="0"/>
          </a:p>
        </p:txBody>
      </p:sp>
      <p:sp>
        <p:nvSpPr>
          <p:cNvPr id="20"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21"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KIỂM TRA NHANH #1 · CÂU 3</a:t>
            </a:r>
            <a:endParaRPr lang="en-US" sz="1050" dirty="0"/>
          </a:p>
        </p:txBody>
      </p:sp>
      <p:sp>
        <p:nvSpPr>
          <p:cNvPr id="3" name="Text 1"/>
          <p:cNvSpPr txBox="1"/>
          <p:nvPr/>
        </p:nvSpPr>
        <p:spPr>
          <a:xfrm>
            <a:off x="457200" y="594360"/>
            <a:ext cx="8229600" cy="1234440"/>
          </a:xfrm>
          <a:prstGeom prst="rect">
            <a:avLst/>
          </a:prstGeom>
          <a:noFill/>
          <a:ln/>
        </p:spPr>
        <p:txBody>
          <a:bodyPr wrap="square" lIns="0" tIns="0" rIns="0" bIns="0" rtlCol="0" anchor="ctr">
            <a:normAutofit/>
          </a:bodyPr>
          <a:lstStyle/>
          <a:p>
            <a:pPr indent="0" marL="0">
              <a:buNone/>
            </a:pPr>
            <a:r>
              <a:rPr lang="en-US" sz="2100" b="1" dirty="0">
                <a:solidFill>
                  <a:srgbClr val="0B3B45"/>
                </a:solidFill>
                <a:latin typeface="Cambria" pitchFamily="34" charset="0"/>
                <a:ea typeface="Cambria" pitchFamily="34" charset="-122"/>
                <a:cs typeface="Cambria" pitchFamily="34" charset="-120"/>
              </a:rPr>
              <a:t>Tài liệu nào </a:t>
            </a:r>
            <a:pPr indent="0" marL="0">
              <a:buNone/>
            </a:pPr>
            <a:r>
              <a:rPr lang="en-US" sz="2100" b="1" dirty="0">
                <a:solidFill>
                  <a:srgbClr val="0B3B45"/>
                </a:solidFill>
                <a:latin typeface="Cambria" pitchFamily="34" charset="0"/>
                <a:ea typeface="Cambria" pitchFamily="34" charset="-122"/>
                <a:cs typeface="Cambria" pitchFamily="34" charset="-120"/>
              </a:rPr>
              <a:t>không nên</a:t>
            </a:r>
            <a:pPr indent="0" marL="0">
              <a:buNone/>
            </a:pPr>
            <a:r>
              <a:rPr lang="en-US" sz="2100" b="1" dirty="0">
                <a:solidFill>
                  <a:srgbClr val="0B3B45"/>
                </a:solidFill>
                <a:latin typeface="Cambria" pitchFamily="34" charset="0"/>
                <a:ea typeface="Cambria" pitchFamily="34" charset="-122"/>
                <a:cs typeface="Cambria" pitchFamily="34" charset="-120"/>
              </a:rPr>
              <a:t> nạp vào NotebookLM trên tài khoản Google cá nhân?</a:t>
            </a:r>
            <a:endParaRPr lang="en-US" sz="2100" dirty="0"/>
          </a:p>
        </p:txBody>
      </p:sp>
      <p:sp>
        <p:nvSpPr>
          <p:cNvPr id="4" name="Shape 2"/>
          <p:cNvSpPr/>
          <p:nvPr/>
        </p:nvSpPr>
        <p:spPr>
          <a:xfrm>
            <a:off x="457200" y="2011680"/>
            <a:ext cx="4023360" cy="1143000"/>
          </a:xfrm>
          <a:prstGeom prst="roundRect">
            <a:avLst>
              <a:gd name="adj" fmla="val 8000"/>
            </a:avLst>
          </a:prstGeom>
          <a:solidFill>
            <a:srgbClr val="E8F3F1"/>
          </a:solidFill>
          <a:ln w="12700">
            <a:solidFill>
              <a:srgbClr val="E8F3F1"/>
            </a:solidFill>
            <a:prstDash val="solid"/>
          </a:ln>
        </p:spPr>
      </p:sp>
      <p:sp>
        <p:nvSpPr>
          <p:cNvPr id="5" name="Shape 3"/>
          <p:cNvSpPr/>
          <p:nvPr/>
        </p:nvSpPr>
        <p:spPr>
          <a:xfrm>
            <a:off x="658368" y="2331720"/>
            <a:ext cx="502920" cy="502920"/>
          </a:xfrm>
          <a:prstGeom prst="ellipse">
            <a:avLst/>
          </a:prstGeom>
          <a:solidFill>
            <a:srgbClr val="0E7C7B"/>
          </a:solidFill>
          <a:ln w="12700">
            <a:solidFill>
              <a:srgbClr val="0E7C7B"/>
            </a:solidFill>
            <a:prstDash val="solid"/>
          </a:ln>
        </p:spPr>
      </p:sp>
      <p:sp>
        <p:nvSpPr>
          <p:cNvPr id="6" name="Text 4"/>
          <p:cNvSpPr txBox="1"/>
          <p:nvPr/>
        </p:nvSpPr>
        <p:spPr>
          <a:xfrm>
            <a:off x="65836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txBox="1"/>
          <p:nvPr/>
        </p:nvSpPr>
        <p:spPr>
          <a:xfrm>
            <a:off x="132588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FAQ mẫu đã ẩn danh do tổ chức cung cấp</a:t>
            </a:r>
            <a:endParaRPr lang="en-US" sz="1450" dirty="0"/>
          </a:p>
        </p:txBody>
      </p:sp>
      <p:sp>
        <p:nvSpPr>
          <p:cNvPr id="8" name="Shape 6"/>
          <p:cNvSpPr/>
          <p:nvPr/>
        </p:nvSpPr>
        <p:spPr>
          <a:xfrm>
            <a:off x="4663440" y="2011680"/>
            <a:ext cx="4023360" cy="1143000"/>
          </a:xfrm>
          <a:prstGeom prst="roundRect">
            <a:avLst>
              <a:gd name="adj" fmla="val 8000"/>
            </a:avLst>
          </a:prstGeom>
          <a:solidFill>
            <a:srgbClr val="E8F3F1"/>
          </a:solidFill>
          <a:ln w="12700">
            <a:solidFill>
              <a:srgbClr val="E8F3F1"/>
            </a:solidFill>
            <a:prstDash val="solid"/>
          </a:ln>
        </p:spPr>
      </p:sp>
      <p:sp>
        <p:nvSpPr>
          <p:cNvPr id="9" name="Shape 7"/>
          <p:cNvSpPr/>
          <p:nvPr/>
        </p:nvSpPr>
        <p:spPr>
          <a:xfrm>
            <a:off x="4864608" y="2331720"/>
            <a:ext cx="502920" cy="502920"/>
          </a:xfrm>
          <a:prstGeom prst="ellipse">
            <a:avLst/>
          </a:prstGeom>
          <a:solidFill>
            <a:srgbClr val="0E7C7B"/>
          </a:solidFill>
          <a:ln w="12700">
            <a:solidFill>
              <a:srgbClr val="0E7C7B"/>
            </a:solidFill>
            <a:prstDash val="solid"/>
          </a:ln>
        </p:spPr>
      </p:sp>
      <p:sp>
        <p:nvSpPr>
          <p:cNvPr id="10" name="Text 8"/>
          <p:cNvSpPr txBox="1"/>
          <p:nvPr/>
        </p:nvSpPr>
        <p:spPr>
          <a:xfrm>
            <a:off x="486460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1" name="Text 9"/>
          <p:cNvSpPr txBox="1"/>
          <p:nvPr/>
        </p:nvSpPr>
        <p:spPr>
          <a:xfrm>
            <a:off x="553212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Chính sách đổi trả công khai trên website công ty</a:t>
            </a:r>
            <a:endParaRPr lang="en-US" sz="1450" dirty="0"/>
          </a:p>
        </p:txBody>
      </p:sp>
      <p:sp>
        <p:nvSpPr>
          <p:cNvPr id="12" name="Shape 10"/>
          <p:cNvSpPr/>
          <p:nvPr/>
        </p:nvSpPr>
        <p:spPr>
          <a:xfrm>
            <a:off x="457200" y="3337560"/>
            <a:ext cx="4023360" cy="1143000"/>
          </a:xfrm>
          <a:prstGeom prst="roundRect">
            <a:avLst>
              <a:gd name="adj" fmla="val 8000"/>
            </a:avLst>
          </a:prstGeom>
          <a:solidFill>
            <a:srgbClr val="E8F3F1"/>
          </a:solidFill>
          <a:ln w="12700">
            <a:solidFill>
              <a:srgbClr val="E8F3F1"/>
            </a:solidFill>
            <a:prstDash val="solid"/>
          </a:ln>
        </p:spPr>
      </p:sp>
      <p:sp>
        <p:nvSpPr>
          <p:cNvPr id="13" name="Shape 11"/>
          <p:cNvSpPr/>
          <p:nvPr/>
        </p:nvSpPr>
        <p:spPr>
          <a:xfrm>
            <a:off x="658368" y="3657600"/>
            <a:ext cx="502920" cy="502920"/>
          </a:xfrm>
          <a:prstGeom prst="ellipse">
            <a:avLst/>
          </a:prstGeom>
          <a:solidFill>
            <a:srgbClr val="0E7C7B"/>
          </a:solidFill>
          <a:ln w="12700">
            <a:solidFill>
              <a:srgbClr val="0E7C7B"/>
            </a:solidFill>
            <a:prstDash val="solid"/>
          </a:ln>
        </p:spPr>
      </p:sp>
      <p:sp>
        <p:nvSpPr>
          <p:cNvPr id="14" name="Text 12"/>
          <p:cNvSpPr txBox="1"/>
          <p:nvPr/>
        </p:nvSpPr>
        <p:spPr>
          <a:xfrm>
            <a:off x="65836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5" name="Text 13"/>
          <p:cNvSpPr txBox="1"/>
          <p:nvPr/>
        </p:nvSpPr>
        <p:spPr>
          <a:xfrm>
            <a:off x="132588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File Excel danh sách khách kèm SĐT và lịch sử đơn hàng</a:t>
            </a:r>
            <a:endParaRPr lang="en-US" sz="1450" dirty="0"/>
          </a:p>
        </p:txBody>
      </p:sp>
      <p:sp>
        <p:nvSpPr>
          <p:cNvPr id="16" name="Shape 14"/>
          <p:cNvSpPr/>
          <p:nvPr/>
        </p:nvSpPr>
        <p:spPr>
          <a:xfrm>
            <a:off x="4663440" y="3337560"/>
            <a:ext cx="4023360" cy="1143000"/>
          </a:xfrm>
          <a:prstGeom prst="roundRect">
            <a:avLst>
              <a:gd name="adj" fmla="val 8000"/>
            </a:avLst>
          </a:prstGeom>
          <a:solidFill>
            <a:srgbClr val="E8F3F1"/>
          </a:solidFill>
          <a:ln w="12700">
            <a:solidFill>
              <a:srgbClr val="E8F3F1"/>
            </a:solidFill>
            <a:prstDash val="solid"/>
          </a:ln>
        </p:spPr>
      </p:sp>
      <p:sp>
        <p:nvSpPr>
          <p:cNvPr id="17" name="Shape 15"/>
          <p:cNvSpPr/>
          <p:nvPr/>
        </p:nvSpPr>
        <p:spPr>
          <a:xfrm>
            <a:off x="4864608" y="3657600"/>
            <a:ext cx="502920" cy="502920"/>
          </a:xfrm>
          <a:prstGeom prst="ellipse">
            <a:avLst/>
          </a:prstGeom>
          <a:solidFill>
            <a:srgbClr val="0E7C7B"/>
          </a:solidFill>
          <a:ln w="12700">
            <a:solidFill>
              <a:srgbClr val="0E7C7B"/>
            </a:solidFill>
            <a:prstDash val="solid"/>
          </a:ln>
        </p:spPr>
      </p:sp>
      <p:sp>
        <p:nvSpPr>
          <p:cNvPr id="18" name="Text 16"/>
          <p:cNvSpPr txBox="1"/>
          <p:nvPr/>
        </p:nvSpPr>
        <p:spPr>
          <a:xfrm>
            <a:off x="486460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9" name="Text 17"/>
          <p:cNvSpPr txBox="1"/>
          <p:nvPr/>
        </p:nvSpPr>
        <p:spPr>
          <a:xfrm>
            <a:off x="553212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Hướng dẫn sử dụng sản phẩm công khai</a:t>
            </a:r>
            <a:endParaRPr lang="en-US" sz="1450" dirty="0"/>
          </a:p>
        </p:txBody>
      </p:sp>
      <p:sp>
        <p:nvSpPr>
          <p:cNvPr id="20"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21"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3B45"/>
        </a:solidFill>
      </p:bgPr>
    </p:bg>
    <p:spTree>
      <p:nvGrpSpPr>
        <p:cNvPr id="1" name=""/>
        <p:cNvGrpSpPr/>
        <p:nvPr/>
      </p:nvGrpSpPr>
      <p:grpSpPr>
        <a:xfrm>
          <a:off x="0" y="0"/>
          <a:ext cx="0" cy="0"/>
          <a:chOff x="0" y="0"/>
          <a:chExt cx="0" cy="0"/>
        </a:xfrm>
      </p:grpSpPr>
      <p:sp>
        <p:nvSpPr>
          <p:cNvPr id="2" name="Text 0"/>
          <p:cNvSpPr txBox="1"/>
          <p:nvPr/>
        </p:nvSpPr>
        <p:spPr>
          <a:xfrm>
            <a:off x="548640" y="1097280"/>
            <a:ext cx="2743200" cy="1005840"/>
          </a:xfrm>
          <a:prstGeom prst="rect">
            <a:avLst/>
          </a:prstGeom>
          <a:noFill/>
          <a:ln/>
        </p:spPr>
        <p:txBody>
          <a:bodyPr wrap="square" lIns="0" tIns="0" rIns="0" bIns="0" rtlCol="0" anchor="t"/>
          <a:lstStyle/>
          <a:p>
            <a:pPr indent="0" marL="0">
              <a:buNone/>
            </a:pPr>
            <a:r>
              <a:rPr lang="en-US" sz="6600" b="1" dirty="0">
                <a:solidFill>
                  <a:srgbClr val="F2994A"/>
                </a:solidFill>
                <a:latin typeface="Cambria" pitchFamily="34" charset="0"/>
                <a:ea typeface="Cambria" pitchFamily="34" charset="-122"/>
                <a:cs typeface="Cambria" pitchFamily="34" charset="-120"/>
              </a:rPr>
              <a:t>02</a:t>
            </a:r>
            <a:endParaRPr lang="en-US" sz="6600" dirty="0"/>
          </a:p>
        </p:txBody>
      </p:sp>
      <p:sp>
        <p:nvSpPr>
          <p:cNvPr id="3" name="Text 1"/>
          <p:cNvSpPr txBox="1"/>
          <p:nvPr/>
        </p:nvSpPr>
        <p:spPr>
          <a:xfrm>
            <a:off x="548640" y="2148840"/>
            <a:ext cx="7315200" cy="320040"/>
          </a:xfrm>
          <a:prstGeom prst="rect">
            <a:avLst/>
          </a:prstGeom>
          <a:noFill/>
          <a:ln/>
        </p:spPr>
        <p:txBody>
          <a:bodyPr wrap="square" lIns="0" tIns="0" rIns="0" bIns="0" rtlCol="0" anchor="t"/>
          <a:lstStyle/>
          <a:p>
            <a:pPr indent="0" marL="0">
              <a:buNone/>
            </a:pPr>
            <a:r>
              <a:rPr lang="en-US" sz="1200" b="1" spc="300" kern="0" dirty="0">
                <a:solidFill>
                  <a:srgbClr val="BFE3DD"/>
                </a:solidFill>
                <a:latin typeface="Calibri" pitchFamily="34" charset="0"/>
                <a:ea typeface="Calibri" pitchFamily="34" charset="-122"/>
                <a:cs typeface="Calibri" pitchFamily="34" charset="-120"/>
              </a:rPr>
              <a:t>PHẦN 2 · ÂM THANH CUỘC GỌI</a:t>
            </a:r>
            <a:endParaRPr lang="en-US" sz="1200" dirty="0"/>
          </a:p>
        </p:txBody>
      </p:sp>
      <p:sp>
        <p:nvSpPr>
          <p:cNvPr id="4" name="Text 2"/>
          <p:cNvSpPr txBox="1"/>
          <p:nvPr/>
        </p:nvSpPr>
        <p:spPr>
          <a:xfrm>
            <a:off x="548640" y="2468880"/>
            <a:ext cx="6583680"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Chép lời &amp; khử ồn</a:t>
            </a:r>
            <a:endParaRPr lang="en-US" sz="3200" dirty="0"/>
          </a:p>
        </p:txBody>
      </p:sp>
      <p:sp>
        <p:nvSpPr>
          <p:cNvPr id="5" name="Text 3"/>
          <p:cNvSpPr txBox="1"/>
          <p:nvPr/>
        </p:nvSpPr>
        <p:spPr>
          <a:xfrm>
            <a:off x="548640" y="3291840"/>
            <a:ext cx="6400800" cy="731520"/>
          </a:xfrm>
          <a:prstGeom prst="rect">
            <a:avLst/>
          </a:prstGeom>
          <a:noFill/>
          <a:ln/>
        </p:spPr>
        <p:txBody>
          <a:bodyPr wrap="square" lIns="0" tIns="0" rIns="0" bIns="0" rtlCol="0" anchor="t"/>
          <a:lstStyle/>
          <a:p>
            <a:pPr indent="0" marL="0">
              <a:buNone/>
            </a:pPr>
            <a:r>
              <a:rPr lang="en-US" sz="1500" dirty="0">
                <a:solidFill>
                  <a:srgbClr val="BFE3DD"/>
                </a:solidFill>
                <a:latin typeface="Calibri" pitchFamily="34" charset="0"/>
                <a:ea typeface="Calibri" pitchFamily="34" charset="-122"/>
                <a:cs typeface="Calibri" pitchFamily="34" charset="-120"/>
              </a:rPr>
              <a:t>Bước đầu tiên để AI giúp bạn tóm tắt: AI không thể tóm tắt một cuộc gọi nó "không nghe thấy".</a:t>
            </a:r>
            <a:endParaRPr lang="en-US" sz="1500" dirty="0"/>
          </a:p>
        </p:txBody>
      </p:sp>
      <p:sp>
        <p:nvSpPr>
          <p:cNvPr id="6" name="Shape 4"/>
          <p:cNvSpPr/>
          <p:nvPr/>
        </p:nvSpPr>
        <p:spPr>
          <a:xfrm>
            <a:off x="7315200" y="1234440"/>
            <a:ext cx="1188720" cy="1188720"/>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7624267" y="1543507"/>
            <a:ext cx="570586" cy="57058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AFTER-CALL WORK</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Vì sao ghi chú CRM hay bị thiếu?</a:t>
            </a:r>
            <a:endParaRPr lang="en-US" sz="2500" dirty="0"/>
          </a:p>
        </p:txBody>
      </p:sp>
      <p:sp>
        <p:nvSpPr>
          <p:cNvPr id="4" name="Shape 2"/>
          <p:cNvSpPr/>
          <p:nvPr/>
        </p:nvSpPr>
        <p:spPr>
          <a:xfrm>
            <a:off x="457200" y="1463040"/>
            <a:ext cx="2560320" cy="2377440"/>
          </a:xfrm>
          <a:prstGeom prst="roundRect">
            <a:avLst>
              <a:gd name="adj" fmla="val 3846"/>
            </a:avLst>
          </a:prstGeom>
          <a:solidFill>
            <a:srgbClr val="E8F3F1"/>
          </a:solidFill>
          <a:ln w="12700">
            <a:solidFill>
              <a:srgbClr val="E8F3F1"/>
            </a:solidFill>
            <a:prstDash val="solid"/>
          </a:ln>
        </p:spPr>
      </p:sp>
      <p:sp>
        <p:nvSpPr>
          <p:cNvPr id="5" name="Text 3"/>
          <p:cNvSpPr txBox="1"/>
          <p:nvPr/>
        </p:nvSpPr>
        <p:spPr>
          <a:xfrm>
            <a:off x="594360" y="1645920"/>
            <a:ext cx="2286000" cy="1005840"/>
          </a:xfrm>
          <a:prstGeom prst="rect">
            <a:avLst/>
          </a:prstGeom>
          <a:noFill/>
          <a:ln/>
        </p:spPr>
        <p:txBody>
          <a:bodyPr wrap="square" lIns="0" tIns="0" rIns="0" bIns="0" rtlCol="0" anchor="ctr"/>
          <a:lstStyle/>
          <a:p>
            <a:pPr algn="ctr" indent="0" marL="0">
              <a:buNone/>
            </a:pPr>
            <a:r>
              <a:rPr lang="en-US" sz="4800" b="1" dirty="0">
                <a:solidFill>
                  <a:srgbClr val="F2994A"/>
                </a:solidFill>
                <a:latin typeface="Cambria" pitchFamily="34" charset="0"/>
                <a:ea typeface="Cambria" pitchFamily="34" charset="-122"/>
                <a:cs typeface="Cambria" pitchFamily="34" charset="-120"/>
              </a:rPr>
              <a:t>60–100</a:t>
            </a:r>
            <a:endParaRPr lang="en-US" sz="4800" dirty="0"/>
          </a:p>
        </p:txBody>
      </p:sp>
      <p:sp>
        <p:nvSpPr>
          <p:cNvPr id="6" name="Text 4"/>
          <p:cNvSpPr txBox="1"/>
          <p:nvPr/>
        </p:nvSpPr>
        <p:spPr>
          <a:xfrm>
            <a:off x="640080" y="2697480"/>
            <a:ext cx="2194560" cy="1005840"/>
          </a:xfrm>
          <a:prstGeom prst="rect">
            <a:avLst/>
          </a:prstGeom>
          <a:noFill/>
          <a:ln/>
        </p:spPr>
        <p:txBody>
          <a:bodyPr wrap="square" lIns="0" tIns="0" rIns="0" bIns="0" rtlCol="0" anchor="t"/>
          <a:lstStyle/>
          <a:p>
            <a:pPr algn="ctr" indent="0" marL="0">
              <a:buNone/>
            </a:pPr>
            <a:r>
              <a:rPr lang="en-US" sz="1250" dirty="0">
                <a:solidFill>
                  <a:srgbClr val="1F2A30"/>
                </a:solidFill>
                <a:latin typeface="Calibri" pitchFamily="34" charset="0"/>
                <a:ea typeface="Calibri" pitchFamily="34" charset="-122"/>
                <a:cs typeface="Calibri" pitchFamily="34" charset="-120"/>
              </a:rPr>
              <a:t>cuộc gọi mỗi ca của một nhân viên tổng đài</a:t>
            </a:r>
            <a:endParaRPr lang="en-US" sz="1250" dirty="0"/>
          </a:p>
        </p:txBody>
      </p:sp>
      <p:sp>
        <p:nvSpPr>
          <p:cNvPr id="7" name="Shape 5"/>
          <p:cNvSpPr/>
          <p:nvPr/>
        </p:nvSpPr>
        <p:spPr>
          <a:xfrm>
            <a:off x="3291840" y="1463040"/>
            <a:ext cx="2560320" cy="2377440"/>
          </a:xfrm>
          <a:prstGeom prst="roundRect">
            <a:avLst>
              <a:gd name="adj" fmla="val 3846"/>
            </a:avLst>
          </a:prstGeom>
          <a:solidFill>
            <a:srgbClr val="E8F3F1"/>
          </a:solidFill>
          <a:ln w="12700">
            <a:solidFill>
              <a:srgbClr val="E8F3F1"/>
            </a:solidFill>
            <a:prstDash val="solid"/>
          </a:ln>
        </p:spPr>
      </p:sp>
      <p:sp>
        <p:nvSpPr>
          <p:cNvPr id="8" name="Text 6"/>
          <p:cNvSpPr txBox="1"/>
          <p:nvPr/>
        </p:nvSpPr>
        <p:spPr>
          <a:xfrm>
            <a:off x="3429000" y="1645920"/>
            <a:ext cx="2286000" cy="1005840"/>
          </a:xfrm>
          <a:prstGeom prst="rect">
            <a:avLst/>
          </a:prstGeom>
          <a:noFill/>
          <a:ln/>
        </p:spPr>
        <p:txBody>
          <a:bodyPr wrap="square" lIns="0" tIns="0" rIns="0" bIns="0" rtlCol="0" anchor="ctr"/>
          <a:lstStyle/>
          <a:p>
            <a:pPr algn="ctr" indent="0" marL="0">
              <a:buNone/>
            </a:pPr>
            <a:r>
              <a:rPr lang="en-US" sz="4800" b="1" dirty="0">
                <a:solidFill>
                  <a:srgbClr val="0E7C7B"/>
                </a:solidFill>
                <a:latin typeface="Cambria" pitchFamily="34" charset="0"/>
                <a:ea typeface="Cambria" pitchFamily="34" charset="-122"/>
                <a:cs typeface="Cambria" pitchFamily="34" charset="-120"/>
              </a:rPr>
              <a:t>9 phút</a:t>
            </a:r>
            <a:endParaRPr lang="en-US" sz="4800" dirty="0"/>
          </a:p>
        </p:txBody>
      </p:sp>
      <p:sp>
        <p:nvSpPr>
          <p:cNvPr id="9" name="Text 7"/>
          <p:cNvSpPr txBox="1"/>
          <p:nvPr/>
        </p:nvSpPr>
        <p:spPr>
          <a:xfrm>
            <a:off x="3474720" y="2697480"/>
            <a:ext cx="2194560" cy="1005840"/>
          </a:xfrm>
          <a:prstGeom prst="rect">
            <a:avLst/>
          </a:prstGeom>
          <a:noFill/>
          <a:ln/>
        </p:spPr>
        <p:txBody>
          <a:bodyPr wrap="square" lIns="0" tIns="0" rIns="0" bIns="0" rtlCol="0" anchor="t"/>
          <a:lstStyle/>
          <a:p>
            <a:pPr algn="ctr" indent="0" marL="0">
              <a:buNone/>
            </a:pPr>
            <a:r>
              <a:rPr lang="en-US" sz="1250" dirty="0">
                <a:solidFill>
                  <a:srgbClr val="1F2A30"/>
                </a:solidFill>
                <a:latin typeface="Calibri" pitchFamily="34" charset="0"/>
                <a:ea typeface="Calibri" pitchFamily="34" charset="-122"/>
                <a:cs typeface="Calibri" pitchFamily="34" charset="-120"/>
              </a:rPr>
              <a:t>cuộc gọi của Lan, khách nói nhiều ý</a:t>
            </a:r>
            <a:endParaRPr lang="en-US" sz="1250" dirty="0"/>
          </a:p>
        </p:txBody>
      </p:sp>
      <p:sp>
        <p:nvSpPr>
          <p:cNvPr id="10" name="Shape 8"/>
          <p:cNvSpPr/>
          <p:nvPr/>
        </p:nvSpPr>
        <p:spPr>
          <a:xfrm>
            <a:off x="6126480" y="1463040"/>
            <a:ext cx="2560320" cy="2377440"/>
          </a:xfrm>
          <a:prstGeom prst="roundRect">
            <a:avLst>
              <a:gd name="adj" fmla="val 3846"/>
            </a:avLst>
          </a:prstGeom>
          <a:solidFill>
            <a:srgbClr val="E8F3F1"/>
          </a:solidFill>
          <a:ln w="12700">
            <a:solidFill>
              <a:srgbClr val="E8F3F1"/>
            </a:solidFill>
            <a:prstDash val="solid"/>
          </a:ln>
        </p:spPr>
      </p:sp>
      <p:sp>
        <p:nvSpPr>
          <p:cNvPr id="11" name="Text 9"/>
          <p:cNvSpPr txBox="1"/>
          <p:nvPr/>
        </p:nvSpPr>
        <p:spPr>
          <a:xfrm>
            <a:off x="6263640" y="1645920"/>
            <a:ext cx="2286000" cy="1005840"/>
          </a:xfrm>
          <a:prstGeom prst="rect">
            <a:avLst/>
          </a:prstGeom>
          <a:noFill/>
          <a:ln/>
        </p:spPr>
        <p:txBody>
          <a:bodyPr wrap="square" lIns="0" tIns="0" rIns="0" bIns="0" rtlCol="0" anchor="ctr"/>
          <a:lstStyle/>
          <a:p>
            <a:pPr algn="ctr" indent="0" marL="0">
              <a:buNone/>
            </a:pPr>
            <a:r>
              <a:rPr lang="en-US" sz="4800" b="1" dirty="0">
                <a:solidFill>
                  <a:srgbClr val="0E7C7B"/>
                </a:solidFill>
                <a:latin typeface="Cambria" pitchFamily="34" charset="0"/>
                <a:ea typeface="Cambria" pitchFamily="34" charset="-122"/>
                <a:cs typeface="Cambria" pitchFamily="34" charset="-120"/>
              </a:rPr>
              <a:t>1 dòng</a:t>
            </a:r>
            <a:endParaRPr lang="en-US" sz="4800" dirty="0"/>
          </a:p>
        </p:txBody>
      </p:sp>
      <p:sp>
        <p:nvSpPr>
          <p:cNvPr id="12" name="Text 10"/>
          <p:cNvSpPr txBox="1"/>
          <p:nvPr/>
        </p:nvSpPr>
        <p:spPr>
          <a:xfrm>
            <a:off x="6309360" y="2697480"/>
            <a:ext cx="2194560" cy="1005840"/>
          </a:xfrm>
          <a:prstGeom prst="rect">
            <a:avLst/>
          </a:prstGeom>
          <a:noFill/>
          <a:ln/>
        </p:spPr>
        <p:txBody>
          <a:bodyPr wrap="square" lIns="0" tIns="0" rIns="0" bIns="0" rtlCol="0" anchor="t"/>
          <a:lstStyle/>
          <a:p>
            <a:pPr algn="ctr" indent="0" marL="0">
              <a:buNone/>
            </a:pPr>
            <a:r>
              <a:rPr lang="en-US" sz="1250" dirty="0">
                <a:solidFill>
                  <a:srgbClr val="1F2A30"/>
                </a:solidFill>
                <a:latin typeface="Calibri" pitchFamily="34" charset="0"/>
                <a:ea typeface="Calibri" pitchFamily="34" charset="-122"/>
                <a:cs typeface="Calibri" pitchFamily="34" charset="-120"/>
              </a:rPr>
              <a:t>ghi chú viết từ trí nhớ: "KH hỏi đổi size, đã hướng dẫn"</a:t>
            </a:r>
            <a:endParaRPr lang="en-US" sz="1250" dirty="0"/>
          </a:p>
        </p:txBody>
      </p:sp>
      <p:sp>
        <p:nvSpPr>
          <p:cNvPr id="13" name="Text 11"/>
          <p:cNvSpPr txBox="1"/>
          <p:nvPr/>
        </p:nvSpPr>
        <p:spPr>
          <a:xfrm>
            <a:off x="457200" y="4023360"/>
            <a:ext cx="8229600" cy="548640"/>
          </a:xfrm>
          <a:prstGeom prst="rect">
            <a:avLst/>
          </a:prstGeom>
          <a:noFill/>
          <a:ln/>
        </p:spPr>
        <p:txBody>
          <a:bodyPr wrap="square" lIns="0" tIns="0" rIns="0" bIns="0" rtlCol="0" anchor="t"/>
          <a:lstStyle/>
          <a:p>
            <a:pPr indent="0" marL="0">
              <a:buNone/>
            </a:pPr>
            <a:r>
              <a:rPr lang="en-US" sz="1250" i="1" dirty="0">
                <a:solidFill>
                  <a:srgbClr val="5B6B73"/>
                </a:solidFill>
                <a:latin typeface="Calibri" pitchFamily="34" charset="0"/>
                <a:ea typeface="Calibri" pitchFamily="34" charset="-122"/>
                <a:cs typeface="Calibri" pitchFamily="34" charset="-120"/>
              </a:rPr>
              <a:t>Ghi chú dựa vào trí nhớ dễ quên mã đơn, giờ hẹn gọi lại, lý do thật khách không hài lòng.</a:t>
            </a:r>
            <a:endParaRPr lang="en-US" sz="1250" dirty="0"/>
          </a:p>
        </p:txBody>
      </p:sp>
      <p:sp>
        <p:nvSpPr>
          <p:cNvPr id="14" name="Text 12"/>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15" name="Text 13"/>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SPEECH-TO-TEXT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Ba lựa chọn chép lời phổ biến</a:t>
            </a:r>
            <a:endParaRPr lang="en-US" sz="2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463040"/>
                <a:gridCol w="3474720"/>
                <a:gridCol w="329184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Công cụ</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Điểm mạnh</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Cần lưu ý</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TurboScribe</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Web, dễ dùng, tiếng Việt, nhận diện người nói, xuất TXT/DOCX/PDF/SRT</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File lên máy chủ ngoài; gói miễn phí giới hạn</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Whisper</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Mã nguồn mở, chạy </a:t>
                      </a:r>
                      <a:pPr indent="0" marL="0">
                        <a:buNone/>
                      </a:pPr>
                      <a:r>
                        <a:rPr lang="en-US" sz="1400" b="1" dirty="0">
                          <a:solidFill>
                            <a:srgbClr val="1F2A30"/>
                          </a:solidFill>
                          <a:latin typeface="Calibri" pitchFamily="34" charset="0"/>
                          <a:ea typeface="Calibri" pitchFamily="34" charset="-122"/>
                          <a:cs typeface="Calibri" pitchFamily="34" charset="-120"/>
                        </a:rPr>
                        <a:t>ngay trên máy</a:t>
                      </a:r>
                      <a:pPr indent="0" marL="0">
                        <a:buNone/>
                      </a:pPr>
                      <a:r>
                        <a:rPr lang="en-US" sz="1400" dirty="0">
                          <a:solidFill>
                            <a:srgbClr val="1F2A30"/>
                          </a:solidFill>
                          <a:latin typeface="Calibri" pitchFamily="34" charset="0"/>
                          <a:ea typeface="Calibri" pitchFamily="34" charset="-122"/>
                          <a:cs typeface="Calibri" pitchFamily="34" charset="-120"/>
                        </a:rPr>
                        <a:t>, file không rời máy</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Cần cài đặt, máy yếu chạy chậm, thường cần IT</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Gemini</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Chép lời và tóm tắt trong cùng một chỗ</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Có thể tóm lược thay vì chép đủ nếu prompt không rõ</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bl>
          </a:graphicData>
        </a:graphic>
      </p:graphicFrame>
      <p:sp>
        <p:nvSpPr>
          <p:cNvPr id="5" name="Text 2"/>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i="1" dirty="0">
                <a:solidFill>
                  <a:srgbClr val="5B6B73"/>
                </a:solidFill>
                <a:latin typeface="Calibri" pitchFamily="34" charset="0"/>
                <a:ea typeface="Calibri" pitchFamily="34" charset="-122"/>
                <a:cs typeface="Calibri" pitchFamily="34" charset="-120"/>
              </a:rPr>
              <a:t>Ghi âm thật của công ty: chỉ dùng công cụ </a:t>
            </a:r>
            <a:pPr indent="0" marL="0">
              <a:buNone/>
            </a:pPr>
            <a:r>
              <a:rPr lang="en-US" sz="1250" b="1" i="1" dirty="0">
                <a:solidFill>
                  <a:srgbClr val="5B6B73"/>
                </a:solidFill>
                <a:latin typeface="Calibri" pitchFamily="34" charset="0"/>
                <a:ea typeface="Calibri" pitchFamily="34" charset="-122"/>
                <a:cs typeface="Calibri" pitchFamily="34" charset="-120"/>
              </a:rPr>
              <a:t>được công ty phê duyệt</a:t>
            </a:r>
            <a:pPr indent="0" marL="0">
              <a:buNone/>
            </a:pPr>
            <a:r>
              <a:rPr lang="en-US" sz="1250" i="1" dirty="0">
                <a:solidFill>
                  <a:srgbClr val="5B6B73"/>
                </a:solidFill>
                <a:latin typeface="Calibri" pitchFamily="34" charset="0"/>
                <a:ea typeface="Calibri" pitchFamily="34" charset="-122"/>
                <a:cs typeface="Calibri" pitchFamily="34" charset="-120"/>
              </a:rPr>
              <a:t>, hoặc Whisper chạy nội bộ do IT triển khai.</a:t>
            </a:r>
            <a:endParaRPr lang="en-US" sz="1250" dirty="0"/>
          </a:p>
        </p:txBody>
      </p:sp>
      <p:sp>
        <p:nvSpPr>
          <p:cNvPr id="6" name="Text 3"/>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7" name="Text 4"/>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PROMPT CHÉP LỜI TRONG GEMINI</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Nói rõ: chép nguyên văn, không tóm tắt</a:t>
            </a:r>
            <a:endParaRPr lang="en-US" sz="2500" dirty="0"/>
          </a:p>
        </p:txBody>
      </p:sp>
      <p:sp>
        <p:nvSpPr>
          <p:cNvPr id="4" name="Shape 2"/>
          <p:cNvSpPr/>
          <p:nvPr/>
        </p:nvSpPr>
        <p:spPr>
          <a:xfrm>
            <a:off x="457200" y="1280160"/>
            <a:ext cx="8229600" cy="2852928"/>
          </a:xfrm>
          <a:prstGeom prst="roundRect">
            <a:avLst>
              <a:gd name="adj" fmla="val 2564"/>
            </a:avLst>
          </a:prstGeom>
          <a:solidFill>
            <a:srgbClr val="17262C"/>
          </a:solidFill>
          <a:ln w="12700">
            <a:solidFill>
              <a:srgbClr val="17262C"/>
            </a:solidFill>
            <a:prstDash val="solid"/>
          </a:ln>
        </p:spPr>
      </p:sp>
      <p:sp>
        <p:nvSpPr>
          <p:cNvPr id="5" name="Text 3"/>
          <p:cNvSpPr txBox="1"/>
          <p:nvPr/>
        </p:nvSpPr>
        <p:spPr>
          <a:xfrm>
            <a:off x="685800" y="1417320"/>
            <a:ext cx="7772400" cy="2578608"/>
          </a:xfrm>
          <a:prstGeom prst="rect">
            <a:avLst/>
          </a:prstGeom>
          <a:noFill/>
          <a:ln/>
        </p:spPr>
        <p:txBody>
          <a:bodyPr wrap="square" lIns="0" tIns="0" rIns="0" bIns="0" rtlCol="0" anchor="t"/>
          <a:lstStyle/>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Bạn là nhân viên chép lời cuộc gọi tổng đài.</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Hãy chép lời NGUYÊN VĂN file âm thanh đính kèm bằng tiếng Việt.</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Yêu cầu:</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 Tách theo người nói: "Nhân viên:" và "Khách:".</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 Không tóm tắt, không sửa câu, không thêm nội dung.</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 Chỗ nào nghe không rõ, ghi [không nghe rõ] thay vì đoán.</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 Giữ nguyên các con số, mã đơn, ngày giờ như trong ghi âm.</a:t>
            </a:r>
            <a:endParaRPr lang="en-US" sz="1250" dirty="0"/>
          </a:p>
        </p:txBody>
      </p:sp>
      <p:sp>
        <p:nvSpPr>
          <p:cNvPr id="6" name="Shape 4"/>
          <p:cNvSpPr/>
          <p:nvPr/>
        </p:nvSpPr>
        <p:spPr>
          <a:xfrm>
            <a:off x="457200" y="4242816"/>
            <a:ext cx="329184" cy="329184"/>
          </a:xfrm>
          <a:prstGeom prst="ellipse">
            <a:avLst/>
          </a:prstGeom>
          <a:solidFill>
            <a:srgbClr val="F2994A"/>
          </a:solidFill>
          <a:ln w="12700">
            <a:solidFill>
              <a:srgbClr val="F2994A"/>
            </a:solidFill>
            <a:prstDash val="solid"/>
          </a:ln>
        </p:spPr>
      </p:sp>
      <p:pic>
        <p:nvPicPr>
          <p:cNvPr id="7" name="Image 0" descr="preencoded.png">    </p:cNvPr>
          <p:cNvPicPr>
            <a:picLocks noChangeAspect="1"/>
          </p:cNvPicPr>
          <p:nvPr/>
        </p:nvPicPr>
        <p:blipFill>
          <a:blip r:embed="rId1"/>
          <a:stretch>
            <a:fillRect/>
          </a:stretch>
        </p:blipFill>
        <p:spPr>
          <a:xfrm>
            <a:off x="542788" y="4328404"/>
            <a:ext cx="158008" cy="158008"/>
          </a:xfrm>
          <a:prstGeom prst="rect">
            <a:avLst/>
          </a:prstGeom>
        </p:spPr>
      </p:pic>
      <p:sp>
        <p:nvSpPr>
          <p:cNvPr id="8" name="Text 5"/>
          <p:cNvSpPr txBox="1"/>
          <p:nvPr/>
        </p:nvSpPr>
        <p:spPr>
          <a:xfrm>
            <a:off x="896112" y="4206240"/>
            <a:ext cx="7772400" cy="411480"/>
          </a:xfrm>
          <a:prstGeom prst="rect">
            <a:avLst/>
          </a:prstGeom>
          <a:noFill/>
          <a:ln/>
        </p:spPr>
        <p:txBody>
          <a:bodyPr wrap="square" lIns="0" tIns="0" rIns="0" bIns="0" rtlCol="0" anchor="ctr"/>
          <a:lstStyle/>
          <a:p>
            <a:pPr indent="0" marL="0">
              <a:buNone/>
            </a:pPr>
            <a:r>
              <a:rPr lang="en-US" sz="1150" dirty="0">
                <a:solidFill>
                  <a:srgbClr val="1F2A30"/>
                </a:solidFill>
                <a:latin typeface="Calibri" pitchFamily="34" charset="0"/>
                <a:ea typeface="Calibri" pitchFamily="34" charset="-122"/>
                <a:cs typeface="Calibri" pitchFamily="34" charset="-120"/>
              </a:rPr>
              <a:t>Chỉ nói "chép lời file này", Gemini có thể trả về </a:t>
            </a:r>
            <a:pPr indent="0" marL="0">
              <a:buNone/>
            </a:pPr>
            <a:r>
              <a:rPr lang="en-US" sz="1150" b="1" dirty="0">
                <a:solidFill>
                  <a:srgbClr val="1F2A30"/>
                </a:solidFill>
                <a:latin typeface="Calibri" pitchFamily="34" charset="0"/>
                <a:ea typeface="Calibri" pitchFamily="34" charset="-122"/>
                <a:cs typeface="Calibri" pitchFamily="34" charset="-120"/>
              </a:rPr>
              <a:t>bản tóm tắt</a:t>
            </a:r>
            <a:pPr indent="0" marL="0">
              <a:buNone/>
            </a:pPr>
            <a:r>
              <a:rPr lang="en-US" sz="1150" dirty="0">
                <a:solidFill>
                  <a:srgbClr val="1F2A30"/>
                </a:solidFill>
                <a:latin typeface="Calibri" pitchFamily="34" charset="0"/>
                <a:ea typeface="Calibri" pitchFamily="34" charset="-122"/>
                <a:cs typeface="Calibri" pitchFamily="34" charset="-120"/>
              </a:rPr>
              <a:t>. Đây là </a:t>
            </a:r>
            <a:pPr indent="0" marL="0">
              <a:buNone/>
            </a:pPr>
            <a:r>
              <a:rPr lang="en-US" sz="1150" b="1" dirty="0">
                <a:solidFill>
                  <a:srgbClr val="1F2A30"/>
                </a:solidFill>
                <a:latin typeface="Calibri" pitchFamily="34" charset="0"/>
                <a:ea typeface="Calibri" pitchFamily="34" charset="-122"/>
                <a:cs typeface="Calibri" pitchFamily="34" charset="-120"/>
              </a:rPr>
              <a:t>prompt chép lời</a:t>
            </a:r>
            <a:pPr indent="0" marL="0">
              <a:buNone/>
            </a:pPr>
            <a:r>
              <a:rPr lang="en-US" sz="1150" dirty="0">
                <a:solidFill>
                  <a:srgbClr val="1F2A30"/>
                </a:solidFill>
                <a:latin typeface="Calibri" pitchFamily="34" charset="0"/>
                <a:ea typeface="Calibri" pitchFamily="34" charset="-122"/>
                <a:cs typeface="Calibri" pitchFamily="34" charset="-120"/>
              </a:rPr>
              <a:t> cho ASM 1.</a:t>
            </a:r>
            <a:endParaRPr lang="en-US" sz="1150" dirty="0"/>
          </a:p>
        </p:txBody>
      </p:sp>
      <p:sp>
        <p:nvSpPr>
          <p:cNvPr id="9" name="Text 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10" name="Text 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LỖI CHÉP LỜI HAY GẶP</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Sai vài chữ, đổi cả nghiệp vụ</a:t>
            </a:r>
            <a:endParaRPr lang="en-US" sz="2500" dirty="0"/>
          </a:p>
        </p:txBody>
      </p:sp>
      <p:sp>
        <p:nvSpPr>
          <p:cNvPr id="4" name="Shape 2"/>
          <p:cNvSpPr/>
          <p:nvPr/>
        </p:nvSpPr>
        <p:spPr>
          <a:xfrm>
            <a:off x="457200" y="1371600"/>
            <a:ext cx="3977640" cy="2697480"/>
          </a:xfrm>
          <a:prstGeom prst="roundRect">
            <a:avLst>
              <a:gd name="adj" fmla="val 3390"/>
            </a:avLst>
          </a:prstGeom>
          <a:solidFill>
            <a:srgbClr val="FBEAE8"/>
          </a:solidFill>
          <a:ln w="12700">
            <a:solidFill>
              <a:srgbClr val="FBEAE8"/>
            </a:solidFill>
            <a:prstDash val="solid"/>
          </a:ln>
        </p:spPr>
      </p:sp>
      <p:sp>
        <p:nvSpPr>
          <p:cNvPr id="5" name="Shape 3"/>
          <p:cNvSpPr/>
          <p:nvPr/>
        </p:nvSpPr>
        <p:spPr>
          <a:xfrm>
            <a:off x="658368" y="1554480"/>
            <a:ext cx="420624" cy="420624"/>
          </a:xfrm>
          <a:prstGeom prst="ellipse">
            <a:avLst/>
          </a:prstGeom>
          <a:solidFill>
            <a:srgbClr val="C0392B"/>
          </a:solidFill>
          <a:ln w="12700">
            <a:solidFill>
              <a:srgbClr val="C0392B"/>
            </a:solidFill>
            <a:prstDash val="solid"/>
          </a:ln>
        </p:spPr>
      </p:sp>
      <p:pic>
        <p:nvPicPr>
          <p:cNvPr id="6" name="Image 0" descr="preencoded.png">    </p:cNvPr>
          <p:cNvPicPr>
            <a:picLocks noChangeAspect="1"/>
          </p:cNvPicPr>
          <p:nvPr/>
        </p:nvPicPr>
        <p:blipFill>
          <a:blip r:embed="rId1"/>
          <a:stretch>
            <a:fillRect/>
          </a:stretch>
        </p:blipFill>
        <p:spPr>
          <a:xfrm>
            <a:off x="767730" y="1663842"/>
            <a:ext cx="201900" cy="201900"/>
          </a:xfrm>
          <a:prstGeom prst="rect">
            <a:avLst/>
          </a:prstGeom>
        </p:spPr>
      </p:pic>
      <p:sp>
        <p:nvSpPr>
          <p:cNvPr id="7" name="Text 4"/>
          <p:cNvSpPr txBox="1"/>
          <p:nvPr/>
        </p:nvSpPr>
        <p:spPr>
          <a:xfrm>
            <a:off x="1188720" y="1554480"/>
            <a:ext cx="3063240" cy="420624"/>
          </a:xfrm>
          <a:prstGeom prst="rect">
            <a:avLst/>
          </a:prstGeom>
          <a:noFill/>
          <a:ln/>
        </p:spPr>
        <p:txBody>
          <a:bodyPr wrap="square" lIns="0" tIns="0" rIns="0" bIns="0" rtlCol="0" anchor="ctr"/>
          <a:lstStyle/>
          <a:p>
            <a:pPr indent="0" marL="0">
              <a:buNone/>
            </a:pPr>
            <a:r>
              <a:rPr lang="en-US" sz="1450" b="1" dirty="0">
                <a:solidFill>
                  <a:srgbClr val="C0392B"/>
                </a:solidFill>
                <a:latin typeface="Calibri" pitchFamily="34" charset="0"/>
                <a:ea typeface="Calibri" pitchFamily="34" charset="-122"/>
                <a:cs typeface="Calibri" pitchFamily="34" charset="-120"/>
              </a:rPr>
              <a:t>Bản chép lời</a:t>
            </a:r>
            <a:endParaRPr lang="en-US" sz="1450" dirty="0"/>
          </a:p>
        </p:txBody>
      </p:sp>
      <p:sp>
        <p:nvSpPr>
          <p:cNvPr id="8" name="Text 5"/>
          <p:cNvSpPr txBox="1"/>
          <p:nvPr/>
        </p:nvSpPr>
        <p:spPr>
          <a:xfrm>
            <a:off x="685800" y="2103120"/>
            <a:ext cx="3520440" cy="182880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"Khách muốn </a:t>
            </a:r>
            <a:pPr indent="0" marL="0">
              <a:buNone/>
            </a:pPr>
            <a:r>
              <a:rPr lang="en-US" sz="1400" b="1" dirty="0">
                <a:solidFill>
                  <a:srgbClr val="1F2A30"/>
                </a:solidFill>
                <a:latin typeface="Calibri" pitchFamily="34" charset="0"/>
                <a:ea typeface="Calibri" pitchFamily="34" charset="-122"/>
                <a:cs typeface="Calibri" pitchFamily="34" charset="-120"/>
              </a:rPr>
              <a:t>hủy</a:t>
            </a:r>
            <a:pPr indent="0" marL="0">
              <a:buNone/>
            </a:pPr>
            <a:r>
              <a:rPr lang="en-US" sz="1400" dirty="0">
                <a:solidFill>
                  <a:srgbClr val="1F2A30"/>
                </a:solidFill>
                <a:latin typeface="Calibri" pitchFamily="34" charset="0"/>
                <a:ea typeface="Calibri" pitchFamily="34" charset="-122"/>
                <a:cs typeface="Calibri" pitchFamily="34" charset="-120"/>
              </a:rPr>
              <a:t> đơn vì giao chậm </a:t>
            </a:r>
            <a:pPr indent="0" marL="0">
              <a:buNone/>
            </a:pPr>
            <a:r>
              <a:rPr lang="en-US" sz="1400" b="1" dirty="0">
                <a:solidFill>
                  <a:srgbClr val="1F2A30"/>
                </a:solidFill>
                <a:latin typeface="Calibri" pitchFamily="34" charset="0"/>
                <a:ea typeface="Calibri" pitchFamily="34" charset="-122"/>
                <a:cs typeface="Calibri" pitchFamily="34" charset="-120"/>
              </a:rPr>
              <a:t>3</a:t>
            </a:r>
            <a:pPr indent="0" marL="0">
              <a:buNone/>
            </a:pPr>
            <a:r>
              <a:rPr lang="en-US" sz="1400" dirty="0">
                <a:solidFill>
                  <a:srgbClr val="1F2A30"/>
                </a:solidFill>
                <a:latin typeface="Calibri" pitchFamily="34" charset="0"/>
                <a:ea typeface="Calibri" pitchFamily="34" charset="-122"/>
                <a:cs typeface="Calibri" pitchFamily="34" charset="-120"/>
              </a:rPr>
              <a:t> ngày, mã đơn </a:t>
            </a:r>
            <a:pPr indent="0" marL="0">
              <a:buNone/>
            </a:pPr>
            <a:r>
              <a:rPr lang="en-US" sz="1400" b="1" dirty="0">
                <a:solidFill>
                  <a:srgbClr val="1F2A30"/>
                </a:solidFill>
                <a:latin typeface="Calibri" pitchFamily="34" charset="0"/>
                <a:ea typeface="Calibri" pitchFamily="34" charset="-122"/>
                <a:cs typeface="Calibri" pitchFamily="34" charset="-120"/>
              </a:rPr>
              <a:t>SN 12 34</a:t>
            </a:r>
            <a:pPr indent="0" marL="0">
              <a:buNone/>
            </a:pPr>
            <a:r>
              <a:rPr lang="en-US" sz="1400" dirty="0">
                <a:solidFill>
                  <a:srgbClr val="1F2A30"/>
                </a:solidFill>
                <a:latin typeface="Calibri" pitchFamily="34" charset="0"/>
                <a:ea typeface="Calibri" pitchFamily="34" charset="-122"/>
                <a:cs typeface="Calibri" pitchFamily="34" charset="-120"/>
              </a:rPr>
              <a:t>."</a:t>
            </a:r>
            <a:endParaRPr lang="en-US" sz="1400" dirty="0"/>
          </a:p>
        </p:txBody>
      </p:sp>
      <p:sp>
        <p:nvSpPr>
          <p:cNvPr id="9" name="Shape 6"/>
          <p:cNvSpPr/>
          <p:nvPr/>
        </p:nvSpPr>
        <p:spPr>
          <a:xfrm>
            <a:off x="4709160" y="1371600"/>
            <a:ext cx="3977640" cy="2697480"/>
          </a:xfrm>
          <a:prstGeom prst="roundRect">
            <a:avLst>
              <a:gd name="adj" fmla="val 3390"/>
            </a:avLst>
          </a:prstGeom>
          <a:solidFill>
            <a:srgbClr val="E8F3F1"/>
          </a:solidFill>
          <a:ln w="12700">
            <a:solidFill>
              <a:srgbClr val="E8F3F1"/>
            </a:solidFill>
            <a:prstDash val="solid"/>
          </a:ln>
        </p:spPr>
      </p:sp>
      <p:sp>
        <p:nvSpPr>
          <p:cNvPr id="10" name="Shape 7"/>
          <p:cNvSpPr/>
          <p:nvPr/>
        </p:nvSpPr>
        <p:spPr>
          <a:xfrm>
            <a:off x="4910328" y="1554480"/>
            <a:ext cx="420624" cy="420624"/>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5019690" y="1663842"/>
            <a:ext cx="201900" cy="201900"/>
          </a:xfrm>
          <a:prstGeom prst="rect">
            <a:avLst/>
          </a:prstGeom>
        </p:spPr>
      </p:pic>
      <p:sp>
        <p:nvSpPr>
          <p:cNvPr id="12" name="Text 8"/>
          <p:cNvSpPr txBox="1"/>
          <p:nvPr/>
        </p:nvSpPr>
        <p:spPr>
          <a:xfrm>
            <a:off x="5440680" y="1554480"/>
            <a:ext cx="3063240" cy="420624"/>
          </a:xfrm>
          <a:prstGeom prst="rect">
            <a:avLst/>
          </a:prstGeom>
          <a:noFill/>
          <a:ln/>
        </p:spPr>
        <p:txBody>
          <a:bodyPr wrap="square" lIns="0" tIns="0" rIns="0" bIns="0" rtlCol="0" anchor="ctr"/>
          <a:lstStyle/>
          <a:p>
            <a:pPr indent="0" marL="0">
              <a:buNone/>
            </a:pPr>
            <a:r>
              <a:rPr lang="en-US" sz="1450" b="1" dirty="0">
                <a:solidFill>
                  <a:srgbClr val="0E7C7B"/>
                </a:solidFill>
                <a:latin typeface="Calibri" pitchFamily="34" charset="0"/>
                <a:ea typeface="Calibri" pitchFamily="34" charset="-122"/>
                <a:cs typeface="Calibri" pitchFamily="34" charset="-120"/>
              </a:rPr>
              <a:t>Ghi âm thật</a:t>
            </a:r>
            <a:endParaRPr lang="en-US" sz="1450" dirty="0"/>
          </a:p>
        </p:txBody>
      </p:sp>
      <p:sp>
        <p:nvSpPr>
          <p:cNvPr id="13" name="Text 9"/>
          <p:cNvSpPr txBox="1"/>
          <p:nvPr/>
        </p:nvSpPr>
        <p:spPr>
          <a:xfrm>
            <a:off x="4937760" y="2103120"/>
            <a:ext cx="3520440" cy="182880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"Khách muốn </a:t>
            </a:r>
            <a:pPr indent="0" marL="0">
              <a:buNone/>
            </a:pPr>
            <a:r>
              <a:rPr lang="en-US" sz="1400" b="1" dirty="0">
                <a:solidFill>
                  <a:srgbClr val="1F2A30"/>
                </a:solidFill>
                <a:latin typeface="Calibri" pitchFamily="34" charset="0"/>
                <a:ea typeface="Calibri" pitchFamily="34" charset="-122"/>
                <a:cs typeface="Calibri" pitchFamily="34" charset="-120"/>
              </a:rPr>
              <a:t>đổi</a:t>
            </a:r>
            <a:pPr indent="0" marL="0">
              <a:buNone/>
            </a:pPr>
            <a:r>
              <a:rPr lang="en-US" sz="1400" dirty="0">
                <a:solidFill>
                  <a:srgbClr val="1F2A30"/>
                </a:solidFill>
                <a:latin typeface="Calibri" pitchFamily="34" charset="0"/>
                <a:ea typeface="Calibri" pitchFamily="34" charset="-122"/>
                <a:cs typeface="Calibri" pitchFamily="34" charset="-120"/>
              </a:rPr>
              <a:t> đơn vì giao chậm </a:t>
            </a:r>
            <a:pPr indent="0" marL="0">
              <a:buNone/>
            </a:pPr>
            <a:r>
              <a:rPr lang="en-US" sz="1400" b="1" dirty="0">
                <a:solidFill>
                  <a:srgbClr val="1F2A30"/>
                </a:solidFill>
                <a:latin typeface="Calibri" pitchFamily="34" charset="0"/>
                <a:ea typeface="Calibri" pitchFamily="34" charset="-122"/>
                <a:cs typeface="Calibri" pitchFamily="34" charset="-120"/>
              </a:rPr>
              <a:t>13</a:t>
            </a:r>
            <a:pPr indent="0" marL="0">
              <a:buNone/>
            </a:pPr>
            <a:r>
              <a:rPr lang="en-US" sz="1400" dirty="0">
                <a:solidFill>
                  <a:srgbClr val="1F2A30"/>
                </a:solidFill>
                <a:latin typeface="Calibri" pitchFamily="34" charset="0"/>
                <a:ea typeface="Calibri" pitchFamily="34" charset="-122"/>
                <a:cs typeface="Calibri" pitchFamily="34" charset="-120"/>
              </a:rPr>
              <a:t> ngày, mã đơn </a:t>
            </a:r>
            <a:pPr indent="0" marL="0">
              <a:buNone/>
            </a:pPr>
            <a:r>
              <a:rPr lang="en-US" sz="1400" b="1" dirty="0">
                <a:solidFill>
                  <a:srgbClr val="1F2A30"/>
                </a:solidFill>
                <a:latin typeface="Calibri" pitchFamily="34" charset="0"/>
                <a:ea typeface="Calibri" pitchFamily="34" charset="-122"/>
                <a:cs typeface="Calibri" pitchFamily="34" charset="-120"/>
              </a:rPr>
              <a:t>SN1234</a:t>
            </a:r>
            <a:pPr indent="0" marL="0">
              <a:buNone/>
            </a:pPr>
            <a:r>
              <a:rPr lang="en-US" sz="1400" dirty="0">
                <a:solidFill>
                  <a:srgbClr val="1F2A30"/>
                </a:solidFill>
                <a:latin typeface="Calibri" pitchFamily="34" charset="0"/>
                <a:ea typeface="Calibri" pitchFamily="34" charset="-122"/>
                <a:cs typeface="Calibri" pitchFamily="34" charset="-120"/>
              </a:rPr>
              <a:t>."</a:t>
            </a:r>
            <a:endParaRPr lang="en-US" sz="1400" dirty="0"/>
          </a:p>
        </p:txBody>
      </p:sp>
      <p:sp>
        <p:nvSpPr>
          <p:cNvPr id="14" name="Shape 10"/>
          <p:cNvSpPr/>
          <p:nvPr/>
        </p:nvSpPr>
        <p:spPr>
          <a:xfrm>
            <a:off x="457200" y="4206240"/>
            <a:ext cx="347472" cy="347472"/>
          </a:xfrm>
          <a:prstGeom prst="ellipse">
            <a:avLst/>
          </a:prstGeom>
          <a:solidFill>
            <a:srgbClr val="F2994A"/>
          </a:solidFill>
          <a:ln w="12700">
            <a:solidFill>
              <a:srgbClr val="F2994A"/>
            </a:solidFill>
            <a:prstDash val="solid"/>
          </a:ln>
        </p:spPr>
      </p:sp>
      <p:pic>
        <p:nvPicPr>
          <p:cNvPr id="15" name="Image 2" descr="preencoded.png">    </p:cNvPr>
          <p:cNvPicPr>
            <a:picLocks noChangeAspect="1"/>
          </p:cNvPicPr>
          <p:nvPr/>
        </p:nvPicPr>
        <p:blipFill>
          <a:blip r:embed="rId3"/>
          <a:stretch>
            <a:fillRect/>
          </a:stretch>
        </p:blipFill>
        <p:spPr>
          <a:xfrm>
            <a:off x="547543" y="4296583"/>
            <a:ext cx="166787" cy="166787"/>
          </a:xfrm>
          <a:prstGeom prst="rect">
            <a:avLst/>
          </a:prstGeom>
        </p:spPr>
      </p:pic>
      <p:sp>
        <p:nvSpPr>
          <p:cNvPr id="16" name="Text 11"/>
          <p:cNvSpPr txBox="1"/>
          <p:nvPr/>
        </p:nvSpPr>
        <p:spPr>
          <a:xfrm>
            <a:off x="914400" y="4160520"/>
            <a:ext cx="7772400" cy="438912"/>
          </a:xfrm>
          <a:prstGeom prst="rect">
            <a:avLst/>
          </a:prstGeom>
          <a:noFill/>
          <a:ln/>
        </p:spPr>
        <p:txBody>
          <a:bodyPr wrap="square" lIns="0" tIns="0" rIns="0" bIns="0" rtlCol="0" anchor="ctr"/>
          <a:lstStyle/>
          <a:p>
            <a:pPr indent="0" marL="0">
              <a:buNone/>
            </a:pPr>
            <a:r>
              <a:rPr lang="en-US" sz="1200" dirty="0">
                <a:solidFill>
                  <a:srgbClr val="1F2A30"/>
                </a:solidFill>
                <a:latin typeface="Calibri" pitchFamily="34" charset="0"/>
                <a:ea typeface="Calibri" pitchFamily="34" charset="-122"/>
                <a:cs typeface="Calibri" pitchFamily="34" charset="-120"/>
              </a:rPr>
              <a:t>Nghe lại 5 chỗ: </a:t>
            </a:r>
            <a:pPr indent="0" marL="0">
              <a:buNone/>
            </a:pPr>
            <a:r>
              <a:rPr lang="en-US" sz="1200" b="1" dirty="0">
                <a:solidFill>
                  <a:srgbClr val="1F2A30"/>
                </a:solidFill>
                <a:latin typeface="Calibri" pitchFamily="34" charset="0"/>
                <a:ea typeface="Calibri" pitchFamily="34" charset="-122"/>
                <a:cs typeface="Calibri" pitchFamily="34" charset="-120"/>
              </a:rPr>
              <a:t>con số, động từ nghiệp vụ, tên riêng, phủ định, người nói</a:t>
            </a:r>
            <a:pPr indent="0" marL="0">
              <a:buNone/>
            </a:pPr>
            <a:r>
              <a:rPr lang="en-US" sz="1200" dirty="0">
                <a:solidFill>
                  <a:srgbClr val="1F2A30"/>
                </a:solidFill>
                <a:latin typeface="Calibri" pitchFamily="34" charset="0"/>
                <a:ea typeface="Calibri" pitchFamily="34" charset="-122"/>
                <a:cs typeface="Calibri" pitchFamily="34" charset="-120"/>
              </a:rPr>
              <a:t>. Bản chép lời cũng là dữ liệu cá nhân: </a:t>
            </a:r>
            <a:pPr indent="0" marL="0">
              <a:buNone/>
            </a:pPr>
            <a:r>
              <a:rPr lang="en-US" sz="1200" b="1" dirty="0">
                <a:solidFill>
                  <a:srgbClr val="1F2A30"/>
                </a:solidFill>
                <a:latin typeface="Calibri" pitchFamily="34" charset="0"/>
                <a:ea typeface="Calibri" pitchFamily="34" charset="-122"/>
                <a:cs typeface="Calibri" pitchFamily="34" charset="-120"/>
              </a:rPr>
              <a:t>che trước khi đưa vào AI</a:t>
            </a:r>
            <a:pPr indent="0" marL="0">
              <a:buNone/>
            </a:pPr>
            <a:r>
              <a:rPr lang="en-US" sz="1200" dirty="0">
                <a:solidFill>
                  <a:srgbClr val="1F2A30"/>
                </a:solidFill>
                <a:latin typeface="Calibri" pitchFamily="34" charset="0"/>
                <a:ea typeface="Calibri" pitchFamily="34" charset="-122"/>
                <a:cs typeface="Calibri" pitchFamily="34" charset="-120"/>
              </a:rPr>
              <a:t>.</a:t>
            </a:r>
            <a:endParaRPr lang="en-US" sz="1200" dirty="0"/>
          </a:p>
        </p:txBody>
      </p:sp>
      <p:sp>
        <p:nvSpPr>
          <p:cNvPr id="17" name="Text 12"/>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18" name="Text 13"/>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KHỬ ỒN</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Hai thời điểm, hai nhóm công cụ</a:t>
            </a:r>
            <a:endParaRPr lang="en-US" sz="2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011680"/>
                <a:gridCol w="3108960"/>
                <a:gridCol w="310896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Công cụ</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Khi nào dùng</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Yêu cầu / lưu ý</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Adobe Podcast Enhance</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File</a:t>
                      </a:r>
                      <a:pPr indent="0" marL="0">
                        <a:buNone/>
                      </a:pPr>
                      <a:r>
                        <a:rPr lang="en-US" sz="1400" dirty="0">
                          <a:solidFill>
                            <a:srgbClr val="1F2A30"/>
                          </a:solidFill>
                          <a:latin typeface="Calibri" pitchFamily="34" charset="0"/>
                          <a:ea typeface="Calibri" pitchFamily="34" charset="-122"/>
                          <a:cs typeface="Calibri" pitchFamily="34" charset="-120"/>
                        </a:rPr>
                        <a:t> ghi âm ồn, trước khi chép lời</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Web, tài khoản Adobe; file lên máy chủ Adobe</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Krisp</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Mic realtime</a:t>
                      </a:r>
                      <a:pPr indent="0" marL="0">
                        <a:buNone/>
                      </a:pPr>
                      <a:r>
                        <a:rPr lang="en-US" sz="1400" dirty="0">
                          <a:solidFill>
                            <a:srgbClr val="1F2A30"/>
                          </a:solidFill>
                          <a:latin typeface="Calibri" pitchFamily="34" charset="0"/>
                          <a:ea typeface="Calibri" pitchFamily="34" charset="-122"/>
                          <a:cs typeface="Calibri" pitchFamily="34" charset="-120"/>
                        </a:rPr>
                        <a:t> trong lúc gọi, qua mic ảo</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Windows, macOS; không cần card đồ họa riêng</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NVIDIA Broadcast</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Mic realtime</a:t>
                      </a:r>
                      <a:pPr indent="0" marL="0">
                        <a:buNone/>
                      </a:pPr>
                      <a:r>
                        <a:rPr lang="en-US" sz="1400" dirty="0">
                          <a:solidFill>
                            <a:srgbClr val="1F2A30"/>
                          </a:solidFill>
                          <a:latin typeface="Calibri" pitchFamily="34" charset="0"/>
                          <a:ea typeface="Calibri" pitchFamily="34" charset="-122"/>
                          <a:cs typeface="Calibri" pitchFamily="34" charset="-120"/>
                        </a:rPr>
                        <a:t> trong lúc gọi, qua mic ảo</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Windows, card NVIDIA RTX; miễn phí nếu đủ phần cứng</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Công cụ công ty duyệt</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Ghi âm thật của công ty</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Hoặc khử ồn sẵn có của tai nghe/hệ thống</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i="1" dirty="0">
                <a:solidFill>
                  <a:srgbClr val="5B6B73"/>
                </a:solidFill>
                <a:latin typeface="Calibri" pitchFamily="34" charset="0"/>
                <a:ea typeface="Calibri" pitchFamily="34" charset="-122"/>
                <a:cs typeface="Calibri" pitchFamily="34" charset="-120"/>
              </a:rPr>
              <a:t>Luôn </a:t>
            </a:r>
            <a:pPr indent="0" marL="0">
              <a:buNone/>
            </a:pPr>
            <a:r>
              <a:rPr lang="en-US" sz="1250" b="1" i="1" dirty="0">
                <a:solidFill>
                  <a:srgbClr val="5B6B73"/>
                </a:solidFill>
                <a:latin typeface="Calibri" pitchFamily="34" charset="0"/>
                <a:ea typeface="Calibri" pitchFamily="34" charset="-122"/>
                <a:cs typeface="Calibri" pitchFamily="34" charset="-120"/>
              </a:rPr>
              <a:t>nghe thử</a:t>
            </a:r>
            <a:pPr indent="0" marL="0">
              <a:buNone/>
            </a:pPr>
            <a:r>
              <a:rPr lang="en-US" sz="1250" i="1" dirty="0">
                <a:solidFill>
                  <a:srgbClr val="5B6B73"/>
                </a:solidFill>
                <a:latin typeface="Calibri" pitchFamily="34" charset="0"/>
                <a:ea typeface="Calibri" pitchFamily="34" charset="-122"/>
                <a:cs typeface="Calibri" pitchFamily="34" charset="-120"/>
              </a:rPr>
              <a:t> sau khi khử ồn: khử quá tay có thể làm mất âm tiết. Cài mic ảo trên máy công ty: </a:t>
            </a:r>
            <a:pPr indent="0" marL="0">
              <a:buNone/>
            </a:pPr>
            <a:r>
              <a:rPr lang="en-US" sz="1250" b="1" i="1" dirty="0">
                <a:solidFill>
                  <a:srgbClr val="5B6B73"/>
                </a:solidFill>
                <a:latin typeface="Calibri" pitchFamily="34" charset="0"/>
                <a:ea typeface="Calibri" pitchFamily="34" charset="-122"/>
                <a:cs typeface="Calibri" pitchFamily="34" charset="-120"/>
              </a:rPr>
              <a:t>hỏi IT trước</a:t>
            </a:r>
            <a:pPr indent="0" marL="0">
              <a:buNone/>
            </a:pPr>
            <a:r>
              <a:rPr lang="en-US" sz="1250" i="1" dirty="0">
                <a:solidFill>
                  <a:srgbClr val="5B6B73"/>
                </a:solidFill>
                <a:latin typeface="Calibri" pitchFamily="34" charset="0"/>
                <a:ea typeface="Calibri" pitchFamily="34" charset="-122"/>
                <a:cs typeface="Calibri" pitchFamily="34" charset="-120"/>
              </a:rPr>
              <a:t>.</a:t>
            </a:r>
            <a:endParaRPr lang="en-US" sz="1250" dirty="0"/>
          </a:p>
        </p:txBody>
      </p:sp>
      <p:sp>
        <p:nvSpPr>
          <p:cNvPr id="6" name="Text 3"/>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7" name="Text 4"/>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3B45"/>
        </a:solidFill>
      </p:bgPr>
    </p:bg>
    <p:spTree>
      <p:nvGrpSpPr>
        <p:cNvPr id="1" name=""/>
        <p:cNvGrpSpPr/>
        <p:nvPr/>
      </p:nvGrpSpPr>
      <p:grpSpPr>
        <a:xfrm>
          <a:off x="0" y="0"/>
          <a:ext cx="0" cy="0"/>
          <a:chOff x="0" y="0"/>
          <a:chExt cx="0" cy="0"/>
        </a:xfrm>
      </p:grpSpPr>
      <p:sp>
        <p:nvSpPr>
          <p:cNvPr id="2" name="Text 0"/>
          <p:cNvSpPr txBox="1"/>
          <p:nvPr/>
        </p:nvSpPr>
        <p:spPr>
          <a:xfrm>
            <a:off x="548640" y="1097280"/>
            <a:ext cx="2743200" cy="1005840"/>
          </a:xfrm>
          <a:prstGeom prst="rect">
            <a:avLst/>
          </a:prstGeom>
          <a:noFill/>
          <a:ln/>
        </p:spPr>
        <p:txBody>
          <a:bodyPr wrap="square" lIns="0" tIns="0" rIns="0" bIns="0" rtlCol="0" anchor="t"/>
          <a:lstStyle/>
          <a:p>
            <a:pPr indent="0" marL="0">
              <a:buNone/>
            </a:pPr>
            <a:r>
              <a:rPr lang="en-US" sz="6600" b="1" dirty="0">
                <a:solidFill>
                  <a:srgbClr val="F2994A"/>
                </a:solidFill>
                <a:latin typeface="Cambria" pitchFamily="34" charset="0"/>
                <a:ea typeface="Cambria" pitchFamily="34" charset="-122"/>
                <a:cs typeface="Cambria" pitchFamily="34" charset="-120"/>
              </a:rPr>
              <a:t>03</a:t>
            </a:r>
            <a:endParaRPr lang="en-US" sz="6600" dirty="0"/>
          </a:p>
        </p:txBody>
      </p:sp>
      <p:sp>
        <p:nvSpPr>
          <p:cNvPr id="3" name="Text 1"/>
          <p:cNvSpPr txBox="1"/>
          <p:nvPr/>
        </p:nvSpPr>
        <p:spPr>
          <a:xfrm>
            <a:off x="548640" y="2148840"/>
            <a:ext cx="7315200" cy="320040"/>
          </a:xfrm>
          <a:prstGeom prst="rect">
            <a:avLst/>
          </a:prstGeom>
          <a:noFill/>
          <a:ln/>
        </p:spPr>
        <p:txBody>
          <a:bodyPr wrap="square" lIns="0" tIns="0" rIns="0" bIns="0" rtlCol="0" anchor="t"/>
          <a:lstStyle/>
          <a:p>
            <a:pPr indent="0" marL="0">
              <a:buNone/>
            </a:pPr>
            <a:r>
              <a:rPr lang="en-US" sz="1200" b="1" spc="300" kern="0" dirty="0">
                <a:solidFill>
                  <a:srgbClr val="BFE3DD"/>
                </a:solidFill>
                <a:latin typeface="Calibri" pitchFamily="34" charset="0"/>
                <a:ea typeface="Calibri" pitchFamily="34" charset="-122"/>
                <a:cs typeface="Calibri" pitchFamily="34" charset="-120"/>
              </a:rPr>
              <a:t>PHẦN 2 · ÂM THANH CUỘC GỌI</a:t>
            </a:r>
            <a:endParaRPr lang="en-US" sz="1200" dirty="0"/>
          </a:p>
        </p:txBody>
      </p:sp>
      <p:sp>
        <p:nvSpPr>
          <p:cNvPr id="4" name="Text 2"/>
          <p:cNvSpPr txBox="1"/>
          <p:nvPr/>
        </p:nvSpPr>
        <p:spPr>
          <a:xfrm>
            <a:off x="548640" y="2468880"/>
            <a:ext cx="6583680"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Tóm tắt cuộc gọi chuẩn CRM</a:t>
            </a:r>
            <a:endParaRPr lang="en-US" sz="3200" dirty="0"/>
          </a:p>
        </p:txBody>
      </p:sp>
      <p:sp>
        <p:nvSpPr>
          <p:cNvPr id="5" name="Text 3"/>
          <p:cNvSpPr txBox="1"/>
          <p:nvPr/>
        </p:nvSpPr>
        <p:spPr>
          <a:xfrm>
            <a:off x="548640" y="3291840"/>
            <a:ext cx="6400800" cy="731520"/>
          </a:xfrm>
          <a:prstGeom prst="rect">
            <a:avLst/>
          </a:prstGeom>
          <a:noFill/>
          <a:ln/>
        </p:spPr>
        <p:txBody>
          <a:bodyPr wrap="square" lIns="0" tIns="0" rIns="0" bIns="0" rtlCol="0" anchor="t"/>
          <a:lstStyle/>
          <a:p>
            <a:pPr indent="0" marL="0">
              <a:buNone/>
            </a:pPr>
            <a:r>
              <a:rPr lang="en-US" sz="1500" dirty="0">
                <a:solidFill>
                  <a:srgbClr val="BFE3DD"/>
                </a:solidFill>
                <a:latin typeface="Calibri" pitchFamily="34" charset="0"/>
                <a:ea typeface="Calibri" pitchFamily="34" charset="-122"/>
                <a:cs typeface="Calibri" pitchFamily="34" charset="-120"/>
              </a:rPr>
              <a:t>Ghi chú tốt không phải ghi chú dài, mà là người khác đọc xong có thể xử lý tiếp ngay.</a:t>
            </a:r>
            <a:endParaRPr lang="en-US" sz="1500" dirty="0"/>
          </a:p>
        </p:txBody>
      </p:sp>
      <p:sp>
        <p:nvSpPr>
          <p:cNvPr id="6" name="Shape 4"/>
          <p:cNvSpPr/>
          <p:nvPr/>
        </p:nvSpPr>
        <p:spPr>
          <a:xfrm>
            <a:off x="7315200" y="1234440"/>
            <a:ext cx="1188720" cy="1188720"/>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7624267" y="1543507"/>
            <a:ext cx="570586" cy="57058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MẪU 4 MỤC</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Vấn đề · Nguyên nhân · Đã xử lý · Việc cần follow-up</a:t>
            </a:r>
            <a:endParaRPr lang="en-US" sz="25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737360"/>
                <a:gridCol w="2194560"/>
                <a:gridCol w="429768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Mục</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Trả lời câu hỏi</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Ví dụ</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Vấn đề</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Khách gọi vì việc gì?</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Đổi size áo đơn [MÃ ĐƠN] từ M sang L</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Nguyên nhân</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Vì sao phát sinh?</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Bảng size trên app không khớp số đo thực tế</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Đã xử lý</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Đã làm gì, khách đồng ý gì?</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Xác nhận đủ điều kiện đổi; hướng dẫn tạo yêu cầu trên app</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Follow-up</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Ai làm gì, khi nào?</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Kho kiểm hàng trả trong 2 ngày; gọi lại khách trước [NGÀY]</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i="1" dirty="0">
                <a:solidFill>
                  <a:srgbClr val="5B6B73"/>
                </a:solidFill>
                <a:latin typeface="Calibri" pitchFamily="34" charset="0"/>
                <a:ea typeface="Calibri" pitchFamily="34" charset="-122"/>
                <a:cs typeface="Calibri" pitchFamily="34" charset="-120"/>
              </a:rPr>
              <a:t>Thêm khi CRM có trường: </a:t>
            </a:r>
            <a:pPr indent="0" marL="0">
              <a:buNone/>
            </a:pPr>
            <a:r>
              <a:rPr lang="en-US" sz="1250" b="1" i="1" dirty="0">
                <a:solidFill>
                  <a:srgbClr val="5B6B73"/>
                </a:solidFill>
                <a:latin typeface="Calibri" pitchFamily="34" charset="0"/>
                <a:ea typeface="Calibri" pitchFamily="34" charset="-122"/>
                <a:cs typeface="Calibri" pitchFamily="34" charset="-120"/>
              </a:rPr>
              <a:t>Cảm xúc khách</a:t>
            </a:r>
            <a:pPr indent="0" marL="0">
              <a:buNone/>
            </a:pPr>
            <a:r>
              <a:rPr lang="en-US" sz="1250" i="1" dirty="0">
                <a:solidFill>
                  <a:srgbClr val="5B6B73"/>
                </a:solidFill>
                <a:latin typeface="Calibri" pitchFamily="34" charset="0"/>
                <a:ea typeface="Calibri" pitchFamily="34" charset="-122"/>
                <a:cs typeface="Calibri" pitchFamily="34" charset="-120"/>
              </a:rPr>
              <a:t> và </a:t>
            </a:r>
            <a:pPr indent="0" marL="0">
              <a:buNone/>
            </a:pPr>
            <a:r>
              <a:rPr lang="en-US" sz="1250" b="1" i="1" dirty="0">
                <a:solidFill>
                  <a:srgbClr val="5B6B73"/>
                </a:solidFill>
                <a:latin typeface="Calibri" pitchFamily="34" charset="0"/>
                <a:ea typeface="Calibri" pitchFamily="34" charset="-122"/>
                <a:cs typeface="Calibri" pitchFamily="34" charset="-120"/>
              </a:rPr>
              <a:t>Phân loại</a:t>
            </a:r>
            <a:pPr indent="0" marL="0">
              <a:buNone/>
            </a:pPr>
            <a:r>
              <a:rPr lang="en-US" sz="1250" i="1" dirty="0">
                <a:solidFill>
                  <a:srgbClr val="5B6B73"/>
                </a:solidFill>
                <a:latin typeface="Calibri" pitchFamily="34" charset="0"/>
                <a:ea typeface="Calibri" pitchFamily="34" charset="-122"/>
                <a:cs typeface="Calibri" pitchFamily="34" charset="-120"/>
              </a:rPr>
              <a:t>. Mẫu cố định giúp nhất quán, dễ kiểm, dễ thống kê ở Buổi 4.</a:t>
            </a:r>
            <a:endParaRPr lang="en-US" sz="1250" dirty="0"/>
          </a:p>
        </p:txBody>
      </p:sp>
      <p:sp>
        <p:nvSpPr>
          <p:cNvPr id="6" name="Text 3"/>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7" name="Text 4"/>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PROMPT TÓM TẮT CUỘC GỌI · V-B-N-Đ-G</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Chỉ dùng thông tin có trong bản chép lời</a:t>
            </a:r>
            <a:endParaRPr lang="en-US" sz="2500" dirty="0"/>
          </a:p>
        </p:txBody>
      </p:sp>
      <p:sp>
        <p:nvSpPr>
          <p:cNvPr id="4" name="Shape 2"/>
          <p:cNvSpPr/>
          <p:nvPr/>
        </p:nvSpPr>
        <p:spPr>
          <a:xfrm>
            <a:off x="457200" y="1280160"/>
            <a:ext cx="8229600" cy="2852928"/>
          </a:xfrm>
          <a:prstGeom prst="roundRect">
            <a:avLst>
              <a:gd name="adj" fmla="val 2564"/>
            </a:avLst>
          </a:prstGeom>
          <a:solidFill>
            <a:srgbClr val="17262C"/>
          </a:solidFill>
          <a:ln w="12700">
            <a:solidFill>
              <a:srgbClr val="17262C"/>
            </a:solidFill>
            <a:prstDash val="solid"/>
          </a:ln>
        </p:spPr>
      </p:sp>
      <p:sp>
        <p:nvSpPr>
          <p:cNvPr id="5" name="Text 3"/>
          <p:cNvSpPr txBox="1"/>
          <p:nvPr/>
        </p:nvSpPr>
        <p:spPr>
          <a:xfrm>
            <a:off x="685800" y="1417320"/>
            <a:ext cx="7772400" cy="2578608"/>
          </a:xfrm>
          <a:prstGeom prst="rect">
            <a:avLst/>
          </a:prstGeom>
          <a:noFill/>
          <a:ln/>
        </p:spPr>
        <p:txBody>
          <a:bodyPr wrap="square" lIns="0" tIns="0" rIns="0" bIns="0" rtlCol="0" anchor="t"/>
          <a:lstStyle/>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[V] Bạn là nhân viên CSKH có kinh nghiệm của ShopNhanh, chuyên viết ghi chú CRM.</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[B] Dưới đây là bản chép lời cuộc gọi, dữ liệu cá nhân đã thay bằng placeholder.</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[N] Tóm tắt để đồng nghiệp đọc xong có thể xử lý tiếp. Chỉ dùng thông tin có</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    trong bản chép lời, không suy đoán. Thông tin nào không có, ghi "Chưa rõ".</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[Đ] Đúng 4 mục, mỗi mục tối đa 3 gạch đầu dòng:</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    - Vấn đề:  - Nguyên nhân:  - Đã xử lý:</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    - Việc cần follow-up: (ghi rõ ai làm, làm gì, hạn khi nào)</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    Thêm 1 dòng "Cảm xúc khách:" (bình thường / không hài lòng / rất bức xúc).</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[G] Ngắn gọn, khách quan, văn phong ghi chú nội bộ, không dùng từ cảm thán.</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Giữ nguyên các placeholder, không tự điền thông tin thật.</a:t>
            </a:r>
            <a:endParaRPr lang="en-US" sz="950" dirty="0"/>
          </a:p>
          <a:p>
            <a:pPr indent="0" marL="0">
              <a:lnSpc>
                <a:spcPct val="105000"/>
              </a:lnSpc>
              <a:buNone/>
            </a:pP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Bản chép lời:</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[DÁN BẢN CHÉP LỜI ĐÃ CHE Ở ĐÂY]</a:t>
            </a:r>
            <a:endParaRPr lang="en-US" sz="950" dirty="0"/>
          </a:p>
          <a:p>
            <a:pPr indent="0" marL="0">
              <a:lnSpc>
                <a:spcPct val="105000"/>
              </a:lnSpc>
              <a:buNone/>
            </a:pPr>
            <a:r>
              <a:rPr lang="en-US" sz="950" dirty="0">
                <a:solidFill>
                  <a:srgbClr val="E6F1EF"/>
                </a:solidFill>
                <a:latin typeface="Courier New" pitchFamily="34" charset="0"/>
                <a:ea typeface="Courier New" pitchFamily="34" charset="-122"/>
                <a:cs typeface="Courier New" pitchFamily="34" charset="-120"/>
              </a:rPr>
              <a:t>"""</a:t>
            </a:r>
            <a:endParaRPr lang="en-US" sz="950" dirty="0"/>
          </a:p>
        </p:txBody>
      </p:sp>
      <p:sp>
        <p:nvSpPr>
          <p:cNvPr id="6" name="Shape 4"/>
          <p:cNvSpPr/>
          <p:nvPr/>
        </p:nvSpPr>
        <p:spPr>
          <a:xfrm>
            <a:off x="457200" y="4242816"/>
            <a:ext cx="329184" cy="329184"/>
          </a:xfrm>
          <a:prstGeom prst="ellipse">
            <a:avLst/>
          </a:prstGeom>
          <a:solidFill>
            <a:srgbClr val="F2994A"/>
          </a:solidFill>
          <a:ln w="12700">
            <a:solidFill>
              <a:srgbClr val="F2994A"/>
            </a:solidFill>
            <a:prstDash val="solid"/>
          </a:ln>
        </p:spPr>
      </p:sp>
      <p:pic>
        <p:nvPicPr>
          <p:cNvPr id="7" name="Image 0" descr="preencoded.png">    </p:cNvPr>
          <p:cNvPicPr>
            <a:picLocks noChangeAspect="1"/>
          </p:cNvPicPr>
          <p:nvPr/>
        </p:nvPicPr>
        <p:blipFill>
          <a:blip r:embed="rId1"/>
          <a:stretch>
            <a:fillRect/>
          </a:stretch>
        </p:blipFill>
        <p:spPr>
          <a:xfrm>
            <a:off x="542788" y="4328404"/>
            <a:ext cx="158008" cy="158008"/>
          </a:xfrm>
          <a:prstGeom prst="rect">
            <a:avLst/>
          </a:prstGeom>
        </p:spPr>
      </p:pic>
      <p:sp>
        <p:nvSpPr>
          <p:cNvPr id="8" name="Text 5"/>
          <p:cNvSpPr txBox="1"/>
          <p:nvPr/>
        </p:nvSpPr>
        <p:spPr>
          <a:xfrm>
            <a:off x="896112" y="4206240"/>
            <a:ext cx="7772400" cy="411480"/>
          </a:xfrm>
          <a:prstGeom prst="rect">
            <a:avLst/>
          </a:prstGeom>
          <a:noFill/>
          <a:ln/>
        </p:spPr>
        <p:txBody>
          <a:bodyPr wrap="square" lIns="0" tIns="0" rIns="0" bIns="0" rtlCol="0" anchor="ctr"/>
          <a:lstStyle/>
          <a:p>
            <a:pPr indent="0" marL="0">
              <a:buNone/>
            </a:pPr>
            <a:r>
              <a:rPr lang="en-US" sz="1150" dirty="0">
                <a:solidFill>
                  <a:srgbClr val="1F2A30"/>
                </a:solidFill>
                <a:latin typeface="Calibri" pitchFamily="34" charset="0"/>
                <a:ea typeface="Calibri" pitchFamily="34" charset="-122"/>
                <a:cs typeface="Calibri" pitchFamily="34" charset="-120"/>
              </a:rPr>
              <a:t>Prompt đầy đủ trong trang </a:t>
            </a:r>
            <a:pPr indent="0" marL="0">
              <a:buNone/>
            </a:pPr>
            <a:r>
              <a:rPr lang="en-US" sz="1150" b="1" dirty="0">
                <a:solidFill>
                  <a:srgbClr val="1F2A30"/>
                </a:solidFill>
                <a:latin typeface="Calibri" pitchFamily="34" charset="0"/>
                <a:ea typeface="Calibri" pitchFamily="34" charset="-122"/>
                <a:cs typeface="Calibri" pitchFamily="34" charset="-120"/>
              </a:rPr>
              <a:t>Tóm tắt cuộc gọi</a:t>
            </a:r>
            <a:pPr indent="0" marL="0">
              <a:buNone/>
            </a:pPr>
            <a:r>
              <a:rPr lang="en-US" sz="1150" dirty="0">
                <a:solidFill>
                  <a:srgbClr val="1F2A30"/>
                </a:solidFill>
                <a:latin typeface="Calibri" pitchFamily="34" charset="0"/>
                <a:ea typeface="Calibri" pitchFamily="34" charset="-122"/>
                <a:cs typeface="Calibri" pitchFamily="34" charset="-120"/>
              </a:rPr>
              <a:t> của ebook. Đây là </a:t>
            </a:r>
            <a:pPr indent="0" marL="0">
              <a:buNone/>
            </a:pPr>
            <a:r>
              <a:rPr lang="en-US" sz="1150" b="1" dirty="0">
                <a:solidFill>
                  <a:srgbClr val="1F2A30"/>
                </a:solidFill>
                <a:latin typeface="Calibri" pitchFamily="34" charset="0"/>
                <a:ea typeface="Calibri" pitchFamily="34" charset="-122"/>
                <a:cs typeface="Calibri" pitchFamily="34" charset="-120"/>
              </a:rPr>
              <a:t>prompt tóm tắt</a:t>
            </a:r>
            <a:pPr indent="0" marL="0">
              <a:buNone/>
            </a:pPr>
            <a:r>
              <a:rPr lang="en-US" sz="1150" dirty="0">
                <a:solidFill>
                  <a:srgbClr val="1F2A30"/>
                </a:solidFill>
                <a:latin typeface="Calibri" pitchFamily="34" charset="0"/>
                <a:ea typeface="Calibri" pitchFamily="34" charset="-122"/>
                <a:cs typeface="Calibri" pitchFamily="34" charset="-120"/>
              </a:rPr>
              <a:t> bắt buộc trong ASM 1.</a:t>
            </a:r>
            <a:endParaRPr lang="en-US" sz="1150" dirty="0"/>
          </a:p>
        </p:txBody>
      </p:sp>
      <p:sp>
        <p:nvSpPr>
          <p:cNvPr id="9" name="Text 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10" name="Text 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SO SÁNH GHI CHÚ</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Ghi chú yếu vs ghi chú dùng được</a:t>
            </a:r>
            <a:endParaRPr lang="en-US" sz="2500" dirty="0"/>
          </a:p>
        </p:txBody>
      </p:sp>
      <p:sp>
        <p:nvSpPr>
          <p:cNvPr id="4" name="Shape 2"/>
          <p:cNvSpPr/>
          <p:nvPr/>
        </p:nvSpPr>
        <p:spPr>
          <a:xfrm>
            <a:off x="457200" y="1371600"/>
            <a:ext cx="3977640" cy="3154680"/>
          </a:xfrm>
          <a:prstGeom prst="roundRect">
            <a:avLst>
              <a:gd name="adj" fmla="val 2899"/>
            </a:avLst>
          </a:prstGeom>
          <a:solidFill>
            <a:srgbClr val="FBEAE8"/>
          </a:solidFill>
          <a:ln w="12700">
            <a:solidFill>
              <a:srgbClr val="FBEAE8"/>
            </a:solidFill>
            <a:prstDash val="solid"/>
          </a:ln>
        </p:spPr>
      </p:sp>
      <p:sp>
        <p:nvSpPr>
          <p:cNvPr id="5" name="Shape 3"/>
          <p:cNvSpPr/>
          <p:nvPr/>
        </p:nvSpPr>
        <p:spPr>
          <a:xfrm>
            <a:off x="658368" y="1554480"/>
            <a:ext cx="420624" cy="420624"/>
          </a:xfrm>
          <a:prstGeom prst="ellipse">
            <a:avLst/>
          </a:prstGeom>
          <a:solidFill>
            <a:srgbClr val="C0392B"/>
          </a:solidFill>
          <a:ln w="12700">
            <a:solidFill>
              <a:srgbClr val="C0392B"/>
            </a:solidFill>
            <a:prstDash val="solid"/>
          </a:ln>
        </p:spPr>
      </p:sp>
      <p:pic>
        <p:nvPicPr>
          <p:cNvPr id="6" name="Image 0" descr="preencoded.png">    </p:cNvPr>
          <p:cNvPicPr>
            <a:picLocks noChangeAspect="1"/>
          </p:cNvPicPr>
          <p:nvPr/>
        </p:nvPicPr>
        <p:blipFill>
          <a:blip r:embed="rId1"/>
          <a:stretch>
            <a:fillRect/>
          </a:stretch>
        </p:blipFill>
        <p:spPr>
          <a:xfrm>
            <a:off x="767730" y="1663842"/>
            <a:ext cx="201900" cy="201900"/>
          </a:xfrm>
          <a:prstGeom prst="rect">
            <a:avLst/>
          </a:prstGeom>
        </p:spPr>
      </p:pic>
      <p:sp>
        <p:nvSpPr>
          <p:cNvPr id="7" name="Text 4"/>
          <p:cNvSpPr txBox="1"/>
          <p:nvPr/>
        </p:nvSpPr>
        <p:spPr>
          <a:xfrm>
            <a:off x="1188720" y="1554480"/>
            <a:ext cx="3063240" cy="420624"/>
          </a:xfrm>
          <a:prstGeom prst="rect">
            <a:avLst/>
          </a:prstGeom>
          <a:noFill/>
          <a:ln/>
        </p:spPr>
        <p:txBody>
          <a:bodyPr wrap="square" lIns="0" tIns="0" rIns="0" bIns="0" rtlCol="0" anchor="ctr"/>
          <a:lstStyle/>
          <a:p>
            <a:pPr indent="0" marL="0">
              <a:buNone/>
            </a:pPr>
            <a:r>
              <a:rPr lang="en-US" sz="1450" b="1" dirty="0">
                <a:solidFill>
                  <a:srgbClr val="C0392B"/>
                </a:solidFill>
                <a:latin typeface="Calibri" pitchFamily="34" charset="0"/>
                <a:ea typeface="Calibri" pitchFamily="34" charset="-122"/>
                <a:cs typeface="Calibri" pitchFamily="34" charset="-120"/>
              </a:rPr>
              <a:t>Ghi chú yếu</a:t>
            </a:r>
            <a:endParaRPr lang="en-US" sz="1450" dirty="0"/>
          </a:p>
        </p:txBody>
      </p:sp>
      <p:sp>
        <p:nvSpPr>
          <p:cNvPr id="8" name="Text 5"/>
          <p:cNvSpPr txBox="1"/>
          <p:nvPr/>
        </p:nvSpPr>
        <p:spPr>
          <a:xfrm>
            <a:off x="685800" y="2103120"/>
            <a:ext cx="3520440" cy="228600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"KH gọi phàn nàn giao hàng chậm, đã xin lỗi, KH ok."</a:t>
            </a:r>
            <a:endParaRPr lang="en-US" sz="1400" dirty="0"/>
          </a:p>
          <a:p>
            <a:pPr indent="0" marL="0">
              <a:buNone/>
            </a:pPr>
            <a:endParaRPr lang="en-US" sz="1400" dirty="0"/>
          </a:p>
          <a:p>
            <a:pPr indent="0" marL="0">
              <a:buNone/>
            </a:pPr>
            <a:r>
              <a:rPr lang="en-US" sz="1400" dirty="0">
                <a:solidFill>
                  <a:srgbClr val="1F2A30"/>
                </a:solidFill>
                <a:latin typeface="Calibri" pitchFamily="34" charset="0"/>
                <a:ea typeface="Calibri" pitchFamily="34" charset="-122"/>
                <a:cs typeface="Calibri" pitchFamily="34" charset="-120"/>
              </a:rPr>
              <a:t>Ca sau đọc xong </a:t>
            </a:r>
            <a:endParaRPr lang="en-US" sz="1400" dirty="0"/>
          </a:p>
          <a:p>
            <a:pPr indent="0" marL="0">
              <a:buNone/>
            </a:pPr>
            <a:r>
              <a:rPr lang="en-US" sz="1400" b="1" dirty="0">
                <a:solidFill>
                  <a:srgbClr val="1F2A30"/>
                </a:solidFill>
                <a:latin typeface="Calibri" pitchFamily="34" charset="0"/>
                <a:ea typeface="Calibri" pitchFamily="34" charset="-122"/>
                <a:cs typeface="Calibri" pitchFamily="34" charset="-120"/>
              </a:rPr>
              <a:t>không biết</a:t>
            </a:r>
            <a:pPr indent="0" marL="0">
              <a:buNone/>
            </a:pPr>
            <a:r>
              <a:rPr lang="en-US" sz="1400" dirty="0">
                <a:solidFill>
                  <a:srgbClr val="1F2A30"/>
                </a:solidFill>
                <a:latin typeface="Calibri" pitchFamily="34" charset="0"/>
                <a:ea typeface="Calibri" pitchFamily="34" charset="-122"/>
                <a:cs typeface="Calibri" pitchFamily="34" charset="-120"/>
              </a:rPr>
              <a:t> đơn nào, đã làm gì, hẹn gì với khách.</a:t>
            </a:r>
            <a:endParaRPr lang="en-US" sz="1400" dirty="0"/>
          </a:p>
        </p:txBody>
      </p:sp>
      <p:sp>
        <p:nvSpPr>
          <p:cNvPr id="9" name="Shape 6"/>
          <p:cNvSpPr/>
          <p:nvPr/>
        </p:nvSpPr>
        <p:spPr>
          <a:xfrm>
            <a:off x="4709160" y="1371600"/>
            <a:ext cx="3977640" cy="3154680"/>
          </a:xfrm>
          <a:prstGeom prst="roundRect">
            <a:avLst>
              <a:gd name="adj" fmla="val 2899"/>
            </a:avLst>
          </a:prstGeom>
          <a:solidFill>
            <a:srgbClr val="E8F3F1"/>
          </a:solidFill>
          <a:ln w="12700">
            <a:solidFill>
              <a:srgbClr val="E8F3F1"/>
            </a:solidFill>
            <a:prstDash val="solid"/>
          </a:ln>
        </p:spPr>
      </p:sp>
      <p:sp>
        <p:nvSpPr>
          <p:cNvPr id="10" name="Shape 7"/>
          <p:cNvSpPr/>
          <p:nvPr/>
        </p:nvSpPr>
        <p:spPr>
          <a:xfrm>
            <a:off x="4910328" y="1554480"/>
            <a:ext cx="420624" cy="420624"/>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5019690" y="1663842"/>
            <a:ext cx="201900" cy="201900"/>
          </a:xfrm>
          <a:prstGeom prst="rect">
            <a:avLst/>
          </a:prstGeom>
        </p:spPr>
      </p:pic>
      <p:sp>
        <p:nvSpPr>
          <p:cNvPr id="12" name="Text 8"/>
          <p:cNvSpPr txBox="1"/>
          <p:nvPr/>
        </p:nvSpPr>
        <p:spPr>
          <a:xfrm>
            <a:off x="5440680" y="1554480"/>
            <a:ext cx="3063240" cy="420624"/>
          </a:xfrm>
          <a:prstGeom prst="rect">
            <a:avLst/>
          </a:prstGeom>
          <a:noFill/>
          <a:ln/>
        </p:spPr>
        <p:txBody>
          <a:bodyPr wrap="square" lIns="0" tIns="0" rIns="0" bIns="0" rtlCol="0" anchor="ctr"/>
          <a:lstStyle/>
          <a:p>
            <a:pPr indent="0" marL="0">
              <a:buNone/>
            </a:pPr>
            <a:r>
              <a:rPr lang="en-US" sz="1450" b="1" dirty="0">
                <a:solidFill>
                  <a:srgbClr val="0E7C7B"/>
                </a:solidFill>
                <a:latin typeface="Calibri" pitchFamily="34" charset="0"/>
                <a:ea typeface="Calibri" pitchFamily="34" charset="-122"/>
                <a:cs typeface="Calibri" pitchFamily="34" charset="-120"/>
              </a:rPr>
              <a:t>Ghi chú dùng được</a:t>
            </a:r>
            <a:endParaRPr lang="en-US" sz="1450" dirty="0"/>
          </a:p>
        </p:txBody>
      </p:sp>
      <p:sp>
        <p:nvSpPr>
          <p:cNvPr id="13" name="Text 9"/>
          <p:cNvSpPr txBox="1"/>
          <p:nvPr/>
        </p:nvSpPr>
        <p:spPr>
          <a:xfrm>
            <a:off x="4937760" y="2103120"/>
            <a:ext cx="3520440" cy="228600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1F2A30"/>
                </a:solidFill>
                <a:latin typeface="Calibri" pitchFamily="34" charset="0"/>
                <a:ea typeface="Calibri" pitchFamily="34" charset="-122"/>
                <a:cs typeface="Calibri" pitchFamily="34" charset="-120"/>
              </a:rPr>
              <a:t>Vấn đề:</a:t>
            </a:r>
            <a:pPr indent="0" marL="0">
              <a:spcAft>
                <a:spcPts val="800"/>
              </a:spcAft>
              <a:buNone/>
            </a:pPr>
            <a:r>
              <a:rPr lang="en-US" sz="1400" dirty="0">
                <a:solidFill>
                  <a:srgbClr val="1F2A30"/>
                </a:solidFill>
                <a:latin typeface="Calibri" pitchFamily="34" charset="0"/>
                <a:ea typeface="Calibri" pitchFamily="34" charset="-122"/>
                <a:cs typeface="Calibri" pitchFamily="34" charset="-120"/>
              </a:rPr>
              <a:t> đơn [MÃ ĐƠN] quá hạn 3 ngày.</a:t>
            </a:r>
            <a:endParaRPr lang="en-US" sz="1400" dirty="0"/>
          </a:p>
          <a:p>
            <a:pPr marL="177800" indent="-177800">
              <a:spcAft>
                <a:spcPts val="800"/>
              </a:spcAft>
              <a:buSzPct val="100000"/>
              <a:buChar char="•"/>
            </a:pPr>
            <a:r>
              <a:rPr lang="en-US" sz="1400" b="1" dirty="0">
                <a:solidFill>
                  <a:srgbClr val="1F2A30"/>
                </a:solidFill>
                <a:latin typeface="Calibri" pitchFamily="34" charset="0"/>
                <a:ea typeface="Calibri" pitchFamily="34" charset="-122"/>
                <a:cs typeface="Calibri" pitchFamily="34" charset="-120"/>
              </a:rPr>
              <a:t>Nguyên nhân:</a:t>
            </a:r>
            <a:pPr indent="0" marL="0">
              <a:spcAft>
                <a:spcPts val="800"/>
              </a:spcAft>
              <a:buNone/>
            </a:pPr>
            <a:r>
              <a:rPr lang="en-US" sz="1400" dirty="0">
                <a:solidFill>
                  <a:srgbClr val="1F2A30"/>
                </a:solidFill>
                <a:latin typeface="Calibri" pitchFamily="34" charset="0"/>
                <a:ea typeface="Calibri" pitchFamily="34" charset="-122"/>
                <a:cs typeface="Calibri" pitchFamily="34" charset="-120"/>
              </a:rPr>
              <a:t> kẹt kho trung chuyển.</a:t>
            </a:r>
            <a:endParaRPr lang="en-US" sz="1400" dirty="0"/>
          </a:p>
          <a:p>
            <a:pPr marL="177800" indent="-177800">
              <a:spcAft>
                <a:spcPts val="800"/>
              </a:spcAft>
              <a:buSzPct val="100000"/>
              <a:buChar char="•"/>
            </a:pPr>
            <a:r>
              <a:rPr lang="en-US" sz="1400" b="1" dirty="0">
                <a:solidFill>
                  <a:srgbClr val="1F2A30"/>
                </a:solidFill>
                <a:latin typeface="Calibri" pitchFamily="34" charset="0"/>
                <a:ea typeface="Calibri" pitchFamily="34" charset="-122"/>
                <a:cs typeface="Calibri" pitchFamily="34" charset="-120"/>
              </a:rPr>
              <a:t>Đã xử lý:</a:t>
            </a:r>
            <a:pPr indent="0" marL="0">
              <a:spcAft>
                <a:spcPts val="800"/>
              </a:spcAft>
              <a:buNone/>
            </a:pPr>
            <a:r>
              <a:rPr lang="en-US" sz="1400" dirty="0">
                <a:solidFill>
                  <a:srgbClr val="1F2A30"/>
                </a:solidFill>
                <a:latin typeface="Calibri" pitchFamily="34" charset="0"/>
                <a:ea typeface="Calibri" pitchFamily="34" charset="-122"/>
                <a:cs typeface="Calibri" pitchFamily="34" charset="-120"/>
              </a:rPr>
              <a:t> xin lỗi, kiểm hành trình, voucher ship theo chính sách.</a:t>
            </a:r>
            <a:endParaRPr lang="en-US" sz="1400" dirty="0"/>
          </a:p>
          <a:p>
            <a:pPr marL="177800" indent="-177800">
              <a:spcAft>
                <a:spcPts val="800"/>
              </a:spcAft>
              <a:buSzPct val="100000"/>
              <a:buChar char="•"/>
            </a:pPr>
            <a:r>
              <a:rPr lang="en-US" sz="1400" b="1" dirty="0">
                <a:solidFill>
                  <a:srgbClr val="1F2A30"/>
                </a:solidFill>
                <a:latin typeface="Calibri" pitchFamily="34" charset="0"/>
                <a:ea typeface="Calibri" pitchFamily="34" charset="-122"/>
                <a:cs typeface="Calibri" pitchFamily="34" charset="-120"/>
              </a:rPr>
              <a:t>Follow-up:</a:t>
            </a:r>
            <a:pPr indent="0" marL="0">
              <a:spcAft>
                <a:spcPts val="800"/>
              </a:spcAft>
              <a:buNone/>
            </a:pPr>
            <a:r>
              <a:rPr lang="en-US" sz="1400" dirty="0">
                <a:solidFill>
                  <a:srgbClr val="1F2A30"/>
                </a:solidFill>
                <a:latin typeface="Calibri" pitchFamily="34" charset="0"/>
                <a:ea typeface="Calibri" pitchFamily="34" charset="-122"/>
                <a:cs typeface="Calibri" pitchFamily="34" charset="-120"/>
              </a:rPr>
              <a:t> NV gọi lại khách trước 17h mai.</a:t>
            </a:r>
            <a:endParaRPr lang="en-US" sz="1400" dirty="0"/>
          </a:p>
          <a:p>
            <a:pPr marL="177800" indent="-177800">
              <a:spcAft>
                <a:spcPts val="800"/>
              </a:spcAft>
              <a:buSzPct val="100000"/>
              <a:buChar char="•"/>
            </a:pPr>
            <a:r>
              <a:rPr lang="en-US" sz="1400" b="1" dirty="0">
                <a:solidFill>
                  <a:srgbClr val="1F2A30"/>
                </a:solidFill>
                <a:latin typeface="Calibri" pitchFamily="34" charset="0"/>
                <a:ea typeface="Calibri" pitchFamily="34" charset="-122"/>
                <a:cs typeface="Calibri" pitchFamily="34" charset="-120"/>
              </a:rPr>
              <a:t>Cảm xúc:</a:t>
            </a:r>
            <a:pPr indent="0" marL="0">
              <a:spcAft>
                <a:spcPts val="800"/>
              </a:spcAft>
              <a:buNone/>
            </a:pPr>
            <a:r>
              <a:rPr lang="en-US" sz="1400" dirty="0">
                <a:solidFill>
                  <a:srgbClr val="1F2A30"/>
                </a:solidFill>
                <a:latin typeface="Calibri" pitchFamily="34" charset="0"/>
                <a:ea typeface="Calibri" pitchFamily="34" charset="-122"/>
                <a:cs typeface="Calibri" pitchFamily="34" charset="-120"/>
              </a:rPr>
              <a:t> không hài lòng, dịu hơn.</a:t>
            </a:r>
            <a:endParaRPr lang="en-US" sz="1400" dirty="0"/>
          </a:p>
        </p:txBody>
      </p:sp>
      <p:sp>
        <p:nvSpPr>
          <p:cNvPr id="14" name="Text 10"/>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15" name="Text 11"/>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KIỂM TRƯỚC KHI DÁN CRM</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Người dán vào CRM là bạn: kiểm 5 điểm</a:t>
            </a:r>
            <a:endParaRPr lang="en-US" sz="2500" dirty="0"/>
          </a:p>
        </p:txBody>
      </p:sp>
      <p:sp>
        <p:nvSpPr>
          <p:cNvPr id="4" name="Shape 2"/>
          <p:cNvSpPr/>
          <p:nvPr/>
        </p:nvSpPr>
        <p:spPr>
          <a:xfrm>
            <a:off x="1280160" y="1783080"/>
            <a:ext cx="6583680" cy="0"/>
          </a:xfrm>
          <a:prstGeom prst="line">
            <a:avLst/>
          </a:prstGeom>
          <a:noFill/>
          <a:ln w="31750">
            <a:solidFill>
              <a:srgbClr val="D3EAE6"/>
            </a:solidFill>
            <a:prstDash val="solid"/>
          </a:ln>
        </p:spPr>
      </p:sp>
      <p:sp>
        <p:nvSpPr>
          <p:cNvPr id="5" name="Shape 3"/>
          <p:cNvSpPr/>
          <p:nvPr/>
        </p:nvSpPr>
        <p:spPr>
          <a:xfrm>
            <a:off x="978408" y="1481328"/>
            <a:ext cx="603504" cy="603504"/>
          </a:xfrm>
          <a:prstGeom prst="ellipse">
            <a:avLst/>
          </a:prstGeom>
          <a:solidFill>
            <a:srgbClr val="0E7C7B"/>
          </a:solidFill>
          <a:ln w="25400">
            <a:solidFill>
              <a:srgbClr val="FFFFFF"/>
            </a:solidFill>
            <a:prstDash val="solid"/>
          </a:ln>
        </p:spPr>
      </p:sp>
      <p:sp>
        <p:nvSpPr>
          <p:cNvPr id="6" name="Text 4"/>
          <p:cNvSpPr txBox="1"/>
          <p:nvPr/>
        </p:nvSpPr>
        <p:spPr>
          <a:xfrm>
            <a:off x="97840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530352" y="2240280"/>
            <a:ext cx="1499616" cy="502920"/>
          </a:xfrm>
          <a:prstGeom prst="rect">
            <a:avLst/>
          </a:prstGeom>
          <a:noFill/>
          <a:ln/>
        </p:spPr>
        <p:txBody>
          <a:bodyPr wrap="square" lIns="0" tIns="0" rIns="0" bIns="0" rtlCol="0" anchor="ctr"/>
          <a:lstStyle/>
          <a:p>
            <a:pPr algn="ctr" indent="0" marL="0">
              <a:buNone/>
            </a:pPr>
            <a:r>
              <a:rPr lang="en-US" sz="1300" b="1" dirty="0">
                <a:solidFill>
                  <a:srgbClr val="0B3B45"/>
                </a:solidFill>
                <a:latin typeface="Calibri" pitchFamily="34" charset="0"/>
                <a:ea typeface="Calibri" pitchFamily="34" charset="-122"/>
                <a:cs typeface="Calibri" pitchFamily="34" charset="-120"/>
              </a:rPr>
              <a:t>Có bịa không?</a:t>
            </a:r>
            <a:endParaRPr lang="en-US" sz="1300" dirty="0"/>
          </a:p>
        </p:txBody>
      </p:sp>
      <p:sp>
        <p:nvSpPr>
          <p:cNvPr id="8" name="Text 6"/>
          <p:cNvSpPr txBox="1"/>
          <p:nvPr/>
        </p:nvSpPr>
        <p:spPr>
          <a:xfrm>
            <a:off x="548640" y="2788920"/>
            <a:ext cx="1463040" cy="1737360"/>
          </a:xfrm>
          <a:prstGeom prst="rect">
            <a:avLst/>
          </a:prstGeom>
          <a:noFill/>
          <a:ln/>
        </p:spPr>
        <p:txBody>
          <a:bodyPr wrap="square" lIns="0" tIns="0" rIns="0" bIns="0" rtlCol="0" anchor="t"/>
          <a:lstStyle/>
          <a:p>
            <a:pPr algn="ctr" indent="0" marL="0">
              <a:buNone/>
            </a:pPr>
            <a:r>
              <a:rPr lang="en-US" sz="1200" dirty="0">
                <a:solidFill>
                  <a:srgbClr val="1F2A30"/>
                </a:solidFill>
                <a:latin typeface="Calibri" pitchFamily="34" charset="0"/>
                <a:ea typeface="Calibri" pitchFamily="34" charset="-122"/>
                <a:cs typeface="Calibri" pitchFamily="34" charset="-120"/>
              </a:rPr>
              <a:t>Mọi ý, nhất là </a:t>
            </a:r>
            <a:pPr algn="ctr" indent="0" marL="0">
              <a:buNone/>
            </a:pPr>
            <a:r>
              <a:rPr lang="en-US" sz="1200" b="1" dirty="0">
                <a:solidFill>
                  <a:srgbClr val="1F2A30"/>
                </a:solidFill>
                <a:latin typeface="Calibri" pitchFamily="34" charset="0"/>
                <a:ea typeface="Calibri" pitchFamily="34" charset="-122"/>
                <a:cs typeface="Calibri" pitchFamily="34" charset="-120"/>
              </a:rPr>
              <a:t>cam kết</a:t>
            </a:r>
            <a:pPr algn="ctr" indent="0" marL="0">
              <a:buNone/>
            </a:pPr>
            <a:r>
              <a:rPr lang="en-US" sz="1200" dirty="0">
                <a:solidFill>
                  <a:srgbClr val="1F2A30"/>
                </a:solidFill>
                <a:latin typeface="Calibri" pitchFamily="34" charset="0"/>
                <a:ea typeface="Calibri" pitchFamily="34" charset="-122"/>
                <a:cs typeface="Calibri" pitchFamily="34" charset="-120"/>
              </a:rPr>
              <a:t>, có trong bản chép lời không?</a:t>
            </a:r>
            <a:endParaRPr lang="en-US" sz="1200" dirty="0"/>
          </a:p>
        </p:txBody>
      </p:sp>
      <p:sp>
        <p:nvSpPr>
          <p:cNvPr id="9" name="Shape 7"/>
          <p:cNvSpPr/>
          <p:nvPr/>
        </p:nvSpPr>
        <p:spPr>
          <a:xfrm>
            <a:off x="2624328" y="1481328"/>
            <a:ext cx="603504" cy="603504"/>
          </a:xfrm>
          <a:prstGeom prst="ellipse">
            <a:avLst/>
          </a:prstGeom>
          <a:solidFill>
            <a:srgbClr val="0E7C7B"/>
          </a:solidFill>
          <a:ln w="25400">
            <a:solidFill>
              <a:srgbClr val="FFFFFF"/>
            </a:solidFill>
            <a:prstDash val="solid"/>
          </a:ln>
        </p:spPr>
      </p:sp>
      <p:sp>
        <p:nvSpPr>
          <p:cNvPr id="10" name="Text 8"/>
          <p:cNvSpPr txBox="1"/>
          <p:nvPr/>
        </p:nvSpPr>
        <p:spPr>
          <a:xfrm>
            <a:off x="262432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2176272" y="2240280"/>
            <a:ext cx="1499616" cy="502920"/>
          </a:xfrm>
          <a:prstGeom prst="rect">
            <a:avLst/>
          </a:prstGeom>
          <a:noFill/>
          <a:ln/>
        </p:spPr>
        <p:txBody>
          <a:bodyPr wrap="square" lIns="0" tIns="0" rIns="0" bIns="0" rtlCol="0" anchor="ctr"/>
          <a:lstStyle/>
          <a:p>
            <a:pPr algn="ctr" indent="0" marL="0">
              <a:buNone/>
            </a:pPr>
            <a:r>
              <a:rPr lang="en-US" sz="1300" b="1" dirty="0">
                <a:solidFill>
                  <a:srgbClr val="0B3B45"/>
                </a:solidFill>
                <a:latin typeface="Calibri" pitchFamily="34" charset="0"/>
                <a:ea typeface="Calibri" pitchFamily="34" charset="-122"/>
                <a:cs typeface="Calibri" pitchFamily="34" charset="-120"/>
              </a:rPr>
              <a:t>Thiếu cam kết?</a:t>
            </a:r>
            <a:endParaRPr lang="en-US" sz="1300" dirty="0"/>
          </a:p>
        </p:txBody>
      </p:sp>
      <p:sp>
        <p:nvSpPr>
          <p:cNvPr id="12" name="Text 10"/>
          <p:cNvSpPr txBox="1"/>
          <p:nvPr/>
        </p:nvSpPr>
        <p:spPr>
          <a:xfrm>
            <a:off x="2194560" y="2788920"/>
            <a:ext cx="1463040" cy="1737360"/>
          </a:xfrm>
          <a:prstGeom prst="rect">
            <a:avLst/>
          </a:prstGeom>
          <a:noFill/>
          <a:ln/>
        </p:spPr>
        <p:txBody>
          <a:bodyPr wrap="square" lIns="0" tIns="0" rIns="0" bIns="0" rtlCol="0" anchor="t"/>
          <a:lstStyle/>
          <a:p>
            <a:pPr algn="ctr" indent="0" marL="0">
              <a:buNone/>
            </a:pPr>
            <a:r>
              <a:rPr lang="en-US" sz="1200" dirty="0">
                <a:solidFill>
                  <a:srgbClr val="1F2A30"/>
                </a:solidFill>
                <a:latin typeface="Calibri" pitchFamily="34" charset="0"/>
                <a:ea typeface="Calibri" pitchFamily="34" charset="-122"/>
                <a:cs typeface="Calibri" pitchFamily="34" charset="-120"/>
              </a:rPr>
              <a:t>Hẹn gọi lại, hẹn giờ giao phải có ở </a:t>
            </a:r>
            <a:pPr algn="ctr" indent="0" marL="0">
              <a:buNone/>
            </a:pPr>
            <a:r>
              <a:rPr lang="en-US" sz="1200" b="1" dirty="0">
                <a:solidFill>
                  <a:srgbClr val="1F2A30"/>
                </a:solidFill>
                <a:latin typeface="Calibri" pitchFamily="34" charset="0"/>
                <a:ea typeface="Calibri" pitchFamily="34" charset="-122"/>
                <a:cs typeface="Calibri" pitchFamily="34" charset="-120"/>
              </a:rPr>
              <a:t>follow-up</a:t>
            </a:r>
            <a:pPr algn="ctr" indent="0" marL="0">
              <a:buNone/>
            </a:pPr>
            <a:r>
              <a:rPr lang="en-US" sz="1200" dirty="0">
                <a:solidFill>
                  <a:srgbClr val="1F2A30"/>
                </a:solidFill>
                <a:latin typeface="Calibri" pitchFamily="34" charset="0"/>
                <a:ea typeface="Calibri" pitchFamily="34" charset="-122"/>
                <a:cs typeface="Calibri" pitchFamily="34" charset="-120"/>
              </a:rPr>
              <a:t>.</a:t>
            </a:r>
            <a:endParaRPr lang="en-US" sz="1200" dirty="0"/>
          </a:p>
        </p:txBody>
      </p:sp>
      <p:sp>
        <p:nvSpPr>
          <p:cNvPr id="13" name="Shape 11"/>
          <p:cNvSpPr/>
          <p:nvPr/>
        </p:nvSpPr>
        <p:spPr>
          <a:xfrm>
            <a:off x="4270248" y="1481328"/>
            <a:ext cx="603504" cy="603504"/>
          </a:xfrm>
          <a:prstGeom prst="ellipse">
            <a:avLst/>
          </a:prstGeom>
          <a:solidFill>
            <a:srgbClr val="0E7C7B"/>
          </a:solidFill>
          <a:ln w="25400">
            <a:solidFill>
              <a:srgbClr val="FFFFFF"/>
            </a:solidFill>
            <a:prstDash val="solid"/>
          </a:ln>
        </p:spPr>
      </p:sp>
      <p:sp>
        <p:nvSpPr>
          <p:cNvPr id="14" name="Text 12"/>
          <p:cNvSpPr txBox="1"/>
          <p:nvPr/>
        </p:nvSpPr>
        <p:spPr>
          <a:xfrm>
            <a:off x="427024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txBox="1"/>
          <p:nvPr/>
        </p:nvSpPr>
        <p:spPr>
          <a:xfrm>
            <a:off x="3822192" y="2240280"/>
            <a:ext cx="1499616" cy="502920"/>
          </a:xfrm>
          <a:prstGeom prst="rect">
            <a:avLst/>
          </a:prstGeom>
          <a:noFill/>
          <a:ln/>
        </p:spPr>
        <p:txBody>
          <a:bodyPr wrap="square" lIns="0" tIns="0" rIns="0" bIns="0" rtlCol="0" anchor="ctr"/>
          <a:lstStyle/>
          <a:p>
            <a:pPr algn="ctr" indent="0" marL="0">
              <a:buNone/>
            </a:pPr>
            <a:r>
              <a:rPr lang="en-US" sz="1300" b="1" dirty="0">
                <a:solidFill>
                  <a:srgbClr val="0B3B45"/>
                </a:solidFill>
                <a:latin typeface="Calibri" pitchFamily="34" charset="0"/>
                <a:ea typeface="Calibri" pitchFamily="34" charset="-122"/>
                <a:cs typeface="Calibri" pitchFamily="34" charset="-120"/>
              </a:rPr>
              <a:t>Con số đúng?</a:t>
            </a:r>
            <a:endParaRPr lang="en-US" sz="1300" dirty="0"/>
          </a:p>
        </p:txBody>
      </p:sp>
      <p:sp>
        <p:nvSpPr>
          <p:cNvPr id="16" name="Text 14"/>
          <p:cNvSpPr txBox="1"/>
          <p:nvPr/>
        </p:nvSpPr>
        <p:spPr>
          <a:xfrm>
            <a:off x="3840480" y="2788920"/>
            <a:ext cx="1463040" cy="1737360"/>
          </a:xfrm>
          <a:prstGeom prst="rect">
            <a:avLst/>
          </a:prstGeom>
          <a:noFill/>
          <a:ln/>
        </p:spPr>
        <p:txBody>
          <a:bodyPr wrap="square" lIns="0" tIns="0" rIns="0" bIns="0" rtlCol="0" anchor="t"/>
          <a:lstStyle/>
          <a:p>
            <a:pPr algn="ctr" indent="0" marL="0">
              <a:buNone/>
            </a:pPr>
            <a:r>
              <a:rPr lang="en-US" sz="1200" dirty="0">
                <a:solidFill>
                  <a:srgbClr val="1F2A30"/>
                </a:solidFill>
                <a:latin typeface="Calibri" pitchFamily="34" charset="0"/>
                <a:ea typeface="Calibri" pitchFamily="34" charset="-122"/>
                <a:cs typeface="Calibri" pitchFamily="34" charset="-120"/>
              </a:rPr>
              <a:t>Đối chiếu số ngày, số tiền với bản chép lời.</a:t>
            </a:r>
            <a:endParaRPr lang="en-US" sz="1200" dirty="0"/>
          </a:p>
        </p:txBody>
      </p:sp>
      <p:sp>
        <p:nvSpPr>
          <p:cNvPr id="17" name="Shape 15"/>
          <p:cNvSpPr/>
          <p:nvPr/>
        </p:nvSpPr>
        <p:spPr>
          <a:xfrm>
            <a:off x="5916168" y="1481328"/>
            <a:ext cx="603504" cy="603504"/>
          </a:xfrm>
          <a:prstGeom prst="ellipse">
            <a:avLst/>
          </a:prstGeom>
          <a:solidFill>
            <a:srgbClr val="0E7C7B"/>
          </a:solidFill>
          <a:ln w="25400">
            <a:solidFill>
              <a:srgbClr val="FFFFFF"/>
            </a:solidFill>
            <a:prstDash val="solid"/>
          </a:ln>
        </p:spPr>
      </p:sp>
      <p:sp>
        <p:nvSpPr>
          <p:cNvPr id="18" name="Text 16"/>
          <p:cNvSpPr txBox="1"/>
          <p:nvPr/>
        </p:nvSpPr>
        <p:spPr>
          <a:xfrm>
            <a:off x="591616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9" name="Text 17"/>
          <p:cNvSpPr txBox="1"/>
          <p:nvPr/>
        </p:nvSpPr>
        <p:spPr>
          <a:xfrm>
            <a:off x="5468112" y="2240280"/>
            <a:ext cx="1499616" cy="502920"/>
          </a:xfrm>
          <a:prstGeom prst="rect">
            <a:avLst/>
          </a:prstGeom>
          <a:noFill/>
          <a:ln/>
        </p:spPr>
        <p:txBody>
          <a:bodyPr wrap="square" lIns="0" tIns="0" rIns="0" bIns="0" rtlCol="0" anchor="ctr"/>
          <a:lstStyle/>
          <a:p>
            <a:pPr algn="ctr" indent="0" marL="0">
              <a:buNone/>
            </a:pPr>
            <a:r>
              <a:rPr lang="en-US" sz="1300" b="1" dirty="0">
                <a:solidFill>
                  <a:srgbClr val="0B3B45"/>
                </a:solidFill>
                <a:latin typeface="Calibri" pitchFamily="34" charset="0"/>
                <a:ea typeface="Calibri" pitchFamily="34" charset="-122"/>
                <a:cs typeface="Calibri" pitchFamily="34" charset="-120"/>
              </a:rPr>
              <a:t>Follow-up đủ?</a:t>
            </a:r>
            <a:endParaRPr lang="en-US" sz="1300" dirty="0"/>
          </a:p>
        </p:txBody>
      </p:sp>
      <p:sp>
        <p:nvSpPr>
          <p:cNvPr id="20" name="Text 18"/>
          <p:cNvSpPr txBox="1"/>
          <p:nvPr/>
        </p:nvSpPr>
        <p:spPr>
          <a:xfrm>
            <a:off x="5486400" y="2788920"/>
            <a:ext cx="1463040" cy="1737360"/>
          </a:xfrm>
          <a:prstGeom prst="rect">
            <a:avLst/>
          </a:prstGeom>
          <a:noFill/>
          <a:ln/>
        </p:spPr>
        <p:txBody>
          <a:bodyPr wrap="square" lIns="0" tIns="0" rIns="0" bIns="0" rtlCol="0" anchor="t"/>
          <a:lstStyle/>
          <a:p>
            <a:pPr algn="ctr" indent="0" marL="0">
              <a:buNone/>
            </a:pPr>
            <a:r>
              <a:rPr lang="en-US" sz="1200" dirty="0">
                <a:solidFill>
                  <a:srgbClr val="1F2A30"/>
                </a:solidFill>
                <a:latin typeface="Calibri" pitchFamily="34" charset="0"/>
                <a:ea typeface="Calibri" pitchFamily="34" charset="-122"/>
                <a:cs typeface="Calibri" pitchFamily="34" charset="-120"/>
              </a:rPr>
              <a:t>Có đủ </a:t>
            </a:r>
            <a:pPr algn="ctr" indent="0" marL="0">
              <a:buNone/>
            </a:pPr>
            <a:r>
              <a:rPr lang="en-US" sz="1200" b="1" dirty="0">
                <a:solidFill>
                  <a:srgbClr val="1F2A30"/>
                </a:solidFill>
                <a:latin typeface="Calibri" pitchFamily="34" charset="0"/>
                <a:ea typeface="Calibri" pitchFamily="34" charset="-122"/>
                <a:cs typeface="Calibri" pitchFamily="34" charset="-120"/>
              </a:rPr>
              <a:t>ai, làm gì, khi nào</a:t>
            </a:r>
            <a:pPr algn="ctr" indent="0" marL="0">
              <a:buNone/>
            </a:pPr>
            <a:r>
              <a:rPr lang="en-US" sz="1200" dirty="0">
                <a:solidFill>
                  <a:srgbClr val="1F2A30"/>
                </a:solidFill>
                <a:latin typeface="Calibri" pitchFamily="34" charset="0"/>
                <a:ea typeface="Calibri" pitchFamily="34" charset="-122"/>
                <a:cs typeface="Calibri" pitchFamily="34" charset="-120"/>
              </a:rPr>
              <a:t>.</a:t>
            </a:r>
            <a:endParaRPr lang="en-US" sz="1200" dirty="0"/>
          </a:p>
        </p:txBody>
      </p:sp>
      <p:sp>
        <p:nvSpPr>
          <p:cNvPr id="21" name="Shape 19"/>
          <p:cNvSpPr/>
          <p:nvPr/>
        </p:nvSpPr>
        <p:spPr>
          <a:xfrm>
            <a:off x="7562088" y="1481328"/>
            <a:ext cx="603504" cy="603504"/>
          </a:xfrm>
          <a:prstGeom prst="ellipse">
            <a:avLst/>
          </a:prstGeom>
          <a:solidFill>
            <a:srgbClr val="F2994A"/>
          </a:solidFill>
          <a:ln w="25400">
            <a:solidFill>
              <a:srgbClr val="FFFFFF"/>
            </a:solidFill>
            <a:prstDash val="solid"/>
          </a:ln>
        </p:spPr>
      </p:sp>
      <p:sp>
        <p:nvSpPr>
          <p:cNvPr id="22" name="Text 20"/>
          <p:cNvSpPr txBox="1"/>
          <p:nvPr/>
        </p:nvSpPr>
        <p:spPr>
          <a:xfrm>
            <a:off x="756208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3" name="Text 21"/>
          <p:cNvSpPr txBox="1"/>
          <p:nvPr/>
        </p:nvSpPr>
        <p:spPr>
          <a:xfrm>
            <a:off x="7114032" y="2240280"/>
            <a:ext cx="1499616" cy="502920"/>
          </a:xfrm>
          <a:prstGeom prst="rect">
            <a:avLst/>
          </a:prstGeom>
          <a:noFill/>
          <a:ln/>
        </p:spPr>
        <p:txBody>
          <a:bodyPr wrap="square" lIns="0" tIns="0" rIns="0" bIns="0" rtlCol="0" anchor="ctr"/>
          <a:lstStyle/>
          <a:p>
            <a:pPr algn="ctr" indent="0" marL="0">
              <a:buNone/>
            </a:pPr>
            <a:r>
              <a:rPr lang="en-US" sz="1300" b="1" dirty="0">
                <a:solidFill>
                  <a:srgbClr val="0B3B45"/>
                </a:solidFill>
                <a:latin typeface="Calibri" pitchFamily="34" charset="0"/>
                <a:ea typeface="Calibri" pitchFamily="34" charset="-122"/>
                <a:cs typeface="Calibri" pitchFamily="34" charset="-120"/>
              </a:rPr>
              <a:t>Dữ liệu cá nhân</a:t>
            </a:r>
            <a:endParaRPr lang="en-US" sz="1300" dirty="0"/>
          </a:p>
        </p:txBody>
      </p:sp>
      <p:sp>
        <p:nvSpPr>
          <p:cNvPr id="24" name="Text 22"/>
          <p:cNvSpPr txBox="1"/>
          <p:nvPr/>
        </p:nvSpPr>
        <p:spPr>
          <a:xfrm>
            <a:off x="7132320" y="2788920"/>
            <a:ext cx="1463040" cy="1737360"/>
          </a:xfrm>
          <a:prstGeom prst="rect">
            <a:avLst/>
          </a:prstGeom>
          <a:noFill/>
          <a:ln/>
        </p:spPr>
        <p:txBody>
          <a:bodyPr wrap="square" lIns="0" tIns="0" rIns="0" bIns="0" rtlCol="0" anchor="t"/>
          <a:lstStyle/>
          <a:p>
            <a:pPr algn="ctr" indent="0" marL="0">
              <a:buNone/>
            </a:pPr>
            <a:r>
              <a:rPr lang="en-US" sz="1200" dirty="0">
                <a:solidFill>
                  <a:srgbClr val="1F2A30"/>
                </a:solidFill>
                <a:latin typeface="Calibri" pitchFamily="34" charset="0"/>
                <a:ea typeface="Calibri" pitchFamily="34" charset="-122"/>
                <a:cs typeface="Calibri" pitchFamily="34" charset="-120"/>
              </a:rPr>
              <a:t>Ngoài AI vẫn là placeholder; mã đơn thật lấy </a:t>
            </a:r>
            <a:pPr algn="ctr" indent="0" marL="0">
              <a:buNone/>
            </a:pPr>
            <a:r>
              <a:rPr lang="en-US" sz="1200" b="1" dirty="0">
                <a:solidFill>
                  <a:srgbClr val="1F2A30"/>
                </a:solidFill>
                <a:latin typeface="Calibri" pitchFamily="34" charset="0"/>
                <a:ea typeface="Calibri" pitchFamily="34" charset="-122"/>
                <a:cs typeface="Calibri" pitchFamily="34" charset="-120"/>
              </a:rPr>
              <a:t>từ hệ thống</a:t>
            </a:r>
            <a:pPr algn="ctr" indent="0" marL="0">
              <a:buNone/>
            </a:pPr>
            <a:r>
              <a:rPr lang="en-US" sz="1200" dirty="0">
                <a:solidFill>
                  <a:srgbClr val="1F2A30"/>
                </a:solidFill>
                <a:latin typeface="Calibri" pitchFamily="34" charset="0"/>
                <a:ea typeface="Calibri" pitchFamily="34" charset="-122"/>
                <a:cs typeface="Calibri" pitchFamily="34" charset="-120"/>
              </a:rPr>
              <a:t>.</a:t>
            </a:r>
            <a:endParaRPr lang="en-US" sz="1200" dirty="0"/>
          </a:p>
        </p:txBody>
      </p:sp>
      <p:sp>
        <p:nvSpPr>
          <p:cNvPr id="25" name="Text 23"/>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i="1" dirty="0">
                <a:solidFill>
                  <a:srgbClr val="5B6B73"/>
                </a:solidFill>
                <a:latin typeface="Calibri" pitchFamily="34" charset="0"/>
                <a:ea typeface="Calibri" pitchFamily="34" charset="-122"/>
                <a:cs typeface="Calibri" pitchFamily="34" charset="-120"/>
              </a:rPr>
              <a:t>Khiếu nại pháp lý, đe dọa, sự cố an toàn, khách đọc số thẻ/tài khoản: tự ghi chú và báo trưởng ca, không đưa vào AI.</a:t>
            </a:r>
            <a:endParaRPr lang="en-US" sz="1250" dirty="0"/>
          </a:p>
        </p:txBody>
      </p:sp>
      <p:sp>
        <p:nvSpPr>
          <p:cNvPr id="26" name="Text 24"/>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27" name="Text 25"/>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BÀI LAB · 25 PHÚT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Lab · Ghi âm → Văn bản → CRM</a:t>
            </a:r>
            <a:endParaRPr lang="en-US" sz="2500" dirty="0"/>
          </a:p>
        </p:txBody>
      </p:sp>
      <p:sp>
        <p:nvSpPr>
          <p:cNvPr id="4" name="Shape 2"/>
          <p:cNvSpPr/>
          <p:nvPr/>
        </p:nvSpPr>
        <p:spPr>
          <a:xfrm>
            <a:off x="457200" y="1371600"/>
            <a:ext cx="2743200" cy="3200400"/>
          </a:xfrm>
          <a:prstGeom prst="roundRect">
            <a:avLst>
              <a:gd name="adj" fmla="val 3333"/>
            </a:avLst>
          </a:prstGeom>
          <a:solidFill>
            <a:srgbClr val="0B3B45"/>
          </a:solidFill>
          <a:ln w="12700">
            <a:solidFill>
              <a:srgbClr val="0B3B45"/>
            </a:solidFill>
            <a:prstDash val="solid"/>
          </a:ln>
        </p:spPr>
      </p:sp>
      <p:sp>
        <p:nvSpPr>
          <p:cNvPr id="5" name="Shape 3"/>
          <p:cNvSpPr/>
          <p:nvPr/>
        </p:nvSpPr>
        <p:spPr>
          <a:xfrm>
            <a:off x="685800" y="1572768"/>
            <a:ext cx="530352" cy="530352"/>
          </a:xfrm>
          <a:prstGeom prst="ellipse">
            <a:avLst/>
          </a:prstGeom>
          <a:solidFill>
            <a:srgbClr val="F2994A"/>
          </a:solidFill>
          <a:ln w="12700">
            <a:solidFill>
              <a:srgbClr val="F2994A"/>
            </a:solidFill>
            <a:prstDash val="solid"/>
          </a:ln>
        </p:spPr>
      </p:sp>
      <p:pic>
        <p:nvPicPr>
          <p:cNvPr id="6" name="Image 0" descr="preencoded.png">    </p:cNvPr>
          <p:cNvPicPr>
            <a:picLocks noChangeAspect="1"/>
          </p:cNvPicPr>
          <p:nvPr/>
        </p:nvPicPr>
        <p:blipFill>
          <a:blip r:embed="rId1"/>
          <a:stretch>
            <a:fillRect/>
          </a:stretch>
        </p:blipFill>
        <p:spPr>
          <a:xfrm>
            <a:off x="823692" y="1710660"/>
            <a:ext cx="254569" cy="254569"/>
          </a:xfrm>
          <a:prstGeom prst="rect">
            <a:avLst/>
          </a:prstGeom>
        </p:spPr>
      </p:pic>
      <p:sp>
        <p:nvSpPr>
          <p:cNvPr id="7" name="Text 4"/>
          <p:cNvSpPr txBox="1"/>
          <p:nvPr/>
        </p:nvSpPr>
        <p:spPr>
          <a:xfrm>
            <a:off x="685800" y="2240280"/>
            <a:ext cx="2286000" cy="274320"/>
          </a:xfrm>
          <a:prstGeom prst="rect">
            <a:avLst/>
          </a:prstGeom>
          <a:noFill/>
          <a:ln/>
        </p:spPr>
        <p:txBody>
          <a:bodyPr wrap="square" lIns="0" tIns="0" rIns="0" bIns="0" rtlCol="0" anchor="t"/>
          <a:lstStyle/>
          <a:p>
            <a:pPr indent="0" marL="0">
              <a:buNone/>
            </a:pPr>
            <a:r>
              <a:rPr lang="en-US" sz="1050" b="1" spc="200" kern="0" dirty="0">
                <a:solidFill>
                  <a:srgbClr val="F2994A"/>
                </a:solidFill>
                <a:latin typeface="Calibri" pitchFamily="34" charset="0"/>
                <a:ea typeface="Calibri" pitchFamily="34" charset="-122"/>
                <a:cs typeface="Calibri" pitchFamily="34" charset="-120"/>
              </a:rPr>
              <a:t>MỤC TIÊU</a:t>
            </a:r>
            <a:endParaRPr lang="en-US" sz="1050" dirty="0"/>
          </a:p>
        </p:txBody>
      </p:sp>
      <p:sp>
        <p:nvSpPr>
          <p:cNvPr id="8" name="Text 5"/>
          <p:cNvSpPr txBox="1"/>
          <p:nvPr/>
        </p:nvSpPr>
        <p:spPr>
          <a:xfrm>
            <a:off x="685800" y="2542032"/>
            <a:ext cx="2331720" cy="123444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Đi hết quy trình với kịch bản hư cấu: ghi âm, khử ồn, chép lời, che dữ liệu, tóm tắt 4 mục.</a:t>
            </a:r>
            <a:endParaRPr lang="en-US" sz="1350" dirty="0"/>
          </a:p>
        </p:txBody>
      </p:sp>
      <p:sp>
        <p:nvSpPr>
          <p:cNvPr id="9" name="Text 6"/>
          <p:cNvSpPr txBox="1"/>
          <p:nvPr/>
        </p:nvSpPr>
        <p:spPr>
          <a:xfrm>
            <a:off x="685800" y="3749040"/>
            <a:ext cx="2286000" cy="256032"/>
          </a:xfrm>
          <a:prstGeom prst="rect">
            <a:avLst/>
          </a:prstGeom>
          <a:noFill/>
          <a:ln/>
        </p:spPr>
        <p:txBody>
          <a:bodyPr wrap="square" lIns="0" tIns="0" rIns="0" bIns="0" rtlCol="0" anchor="t"/>
          <a:lstStyle/>
          <a:p>
            <a:pPr indent="0" marL="0">
              <a:buNone/>
            </a:pPr>
            <a:r>
              <a:rPr lang="en-US" sz="1050" b="1" spc="200" kern="0" dirty="0">
                <a:solidFill>
                  <a:srgbClr val="F2994A"/>
                </a:solidFill>
                <a:latin typeface="Calibri" pitchFamily="34" charset="0"/>
                <a:ea typeface="Calibri" pitchFamily="34" charset="-122"/>
                <a:cs typeface="Calibri" pitchFamily="34" charset="-120"/>
              </a:rPr>
              <a:t>SẢN PHẨM</a:t>
            </a:r>
            <a:endParaRPr lang="en-US" sz="1050" dirty="0"/>
          </a:p>
        </p:txBody>
      </p:sp>
      <p:sp>
        <p:nvSpPr>
          <p:cNvPr id="10" name="Text 7"/>
          <p:cNvSpPr txBox="1"/>
          <p:nvPr/>
        </p:nvSpPr>
        <p:spPr>
          <a:xfrm>
            <a:off x="685800" y="4005072"/>
            <a:ext cx="2331720" cy="502920"/>
          </a:xfrm>
          <a:prstGeom prst="rect">
            <a:avLst/>
          </a:prstGeom>
          <a:noFill/>
          <a:ln/>
        </p:spPr>
        <p:txBody>
          <a:bodyPr wrap="square" lIns="0" tIns="0" rIns="0" bIns="0" rtlCol="0" anchor="t"/>
          <a:lstStyle/>
          <a:p>
            <a:pPr indent="0" marL="0">
              <a:buNone/>
            </a:pPr>
            <a:r>
              <a:rPr lang="en-US" sz="1150" dirty="0">
                <a:solidFill>
                  <a:srgbClr val="BFE3DD"/>
                </a:solidFill>
                <a:latin typeface="Calibri" pitchFamily="34" charset="0"/>
                <a:ea typeface="Calibri" pitchFamily="34" charset="-122"/>
                <a:cs typeface="Calibri" pitchFamily="34" charset="-120"/>
              </a:rPr>
              <a:t>Tài liệu quy trình: </a:t>
            </a:r>
            <a:pPr indent="0" marL="0">
              <a:buNone/>
            </a:pPr>
            <a:r>
              <a:rPr lang="en-US" sz="1150" b="1" dirty="0">
                <a:solidFill>
                  <a:srgbClr val="BFE3DD"/>
                </a:solidFill>
                <a:latin typeface="Calibri" pitchFamily="34" charset="0"/>
                <a:ea typeface="Calibri" pitchFamily="34" charset="-122"/>
                <a:cs typeface="Calibri" pitchFamily="34" charset="-120"/>
              </a:rPr>
              <a:t>nguyên liệu chính cho ASM 1</a:t>
            </a:r>
            <a:endParaRPr lang="en-US" sz="1150" dirty="0"/>
          </a:p>
        </p:txBody>
      </p:sp>
      <p:sp>
        <p:nvSpPr>
          <p:cNvPr id="11" name="Shape 8"/>
          <p:cNvSpPr/>
          <p:nvPr/>
        </p:nvSpPr>
        <p:spPr>
          <a:xfrm>
            <a:off x="3520440" y="1464564"/>
            <a:ext cx="347472" cy="347472"/>
          </a:xfrm>
          <a:prstGeom prst="ellipse">
            <a:avLst/>
          </a:prstGeom>
          <a:solidFill>
            <a:srgbClr val="0E7C7B"/>
          </a:solidFill>
          <a:ln w="12700">
            <a:solidFill>
              <a:srgbClr val="0E7C7B"/>
            </a:solidFill>
            <a:prstDash val="solid"/>
          </a:ln>
        </p:spPr>
      </p:sp>
      <p:sp>
        <p:nvSpPr>
          <p:cNvPr id="12" name="Text 9"/>
          <p:cNvSpPr txBox="1"/>
          <p:nvPr/>
        </p:nvSpPr>
        <p:spPr>
          <a:xfrm>
            <a:off x="3520440" y="14645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txBox="1"/>
          <p:nvPr/>
        </p:nvSpPr>
        <p:spPr>
          <a:xfrm>
            <a:off x="4023360" y="1371600"/>
            <a:ext cx="4663440" cy="533400"/>
          </a:xfrm>
          <a:prstGeom prst="rect">
            <a:avLst/>
          </a:prstGeom>
          <a:noFill/>
          <a:ln/>
        </p:spPr>
        <p:txBody>
          <a:bodyPr wrap="square" lIns="0" tIns="0" rIns="0" bIns="0" rtlCol="0" anchor="ctr"/>
          <a:lstStyle/>
          <a:p>
            <a:pPr indent="0" marL="0">
              <a:buNone/>
            </a:pPr>
            <a:r>
              <a:rPr lang="en-US" sz="1400" b="1" dirty="0">
                <a:solidFill>
                  <a:srgbClr val="1F2A30"/>
                </a:solidFill>
                <a:latin typeface="Calibri" pitchFamily="34" charset="0"/>
                <a:ea typeface="Calibri" pitchFamily="34" charset="-122"/>
                <a:cs typeface="Calibri" pitchFamily="34" charset="-120"/>
              </a:rPr>
              <a:t>Ghi âm</a:t>
            </a:r>
            <a:pPr indent="0" marL="0">
              <a:buNone/>
            </a:pPr>
            <a:r>
              <a:rPr lang="en-US" sz="1400" dirty="0">
                <a:solidFill>
                  <a:srgbClr val="1F2A30"/>
                </a:solidFill>
                <a:latin typeface="Calibri" pitchFamily="34" charset="0"/>
                <a:ea typeface="Calibri" pitchFamily="34" charset="-122"/>
                <a:cs typeface="Calibri" pitchFamily="34" charset="-120"/>
              </a:rPr>
              <a:t> kịch bản mẫu theo cặp (3′), lưu lab-b2-goc.</a:t>
            </a:r>
            <a:endParaRPr lang="en-US" sz="1400" dirty="0"/>
          </a:p>
        </p:txBody>
      </p:sp>
      <p:sp>
        <p:nvSpPr>
          <p:cNvPr id="14" name="Shape 11"/>
          <p:cNvSpPr/>
          <p:nvPr/>
        </p:nvSpPr>
        <p:spPr>
          <a:xfrm>
            <a:off x="3520440" y="1997964"/>
            <a:ext cx="347472" cy="347472"/>
          </a:xfrm>
          <a:prstGeom prst="ellipse">
            <a:avLst/>
          </a:prstGeom>
          <a:solidFill>
            <a:srgbClr val="0E7C7B"/>
          </a:solidFill>
          <a:ln w="12700">
            <a:solidFill>
              <a:srgbClr val="0E7C7B"/>
            </a:solidFill>
            <a:prstDash val="solid"/>
          </a:ln>
        </p:spPr>
      </p:sp>
      <p:sp>
        <p:nvSpPr>
          <p:cNvPr id="15" name="Text 12"/>
          <p:cNvSpPr txBox="1"/>
          <p:nvPr/>
        </p:nvSpPr>
        <p:spPr>
          <a:xfrm>
            <a:off x="3520440" y="19979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txBox="1"/>
          <p:nvPr/>
        </p:nvSpPr>
        <p:spPr>
          <a:xfrm>
            <a:off x="4023360" y="1905000"/>
            <a:ext cx="4663440" cy="533400"/>
          </a:xfrm>
          <a:prstGeom prst="rect">
            <a:avLst/>
          </a:prstGeom>
          <a:noFill/>
          <a:ln/>
        </p:spPr>
        <p:txBody>
          <a:bodyPr wrap="square" lIns="0" tIns="0" rIns="0" bIns="0" rtlCol="0" anchor="ctr"/>
          <a:lstStyle/>
          <a:p>
            <a:pPr indent="0" marL="0">
              <a:buNone/>
            </a:pPr>
            <a:r>
              <a:rPr lang="en-US" sz="1400" b="1" dirty="0">
                <a:solidFill>
                  <a:srgbClr val="1F2A30"/>
                </a:solidFill>
                <a:latin typeface="Calibri" pitchFamily="34" charset="0"/>
                <a:ea typeface="Calibri" pitchFamily="34" charset="-122"/>
                <a:cs typeface="Calibri" pitchFamily="34" charset="-120"/>
              </a:rPr>
              <a:t>Khử ồn</a:t>
            </a:r>
            <a:pPr indent="0" marL="0">
              <a:buNone/>
            </a:pPr>
            <a:r>
              <a:rPr lang="en-US" sz="1400" dirty="0">
                <a:solidFill>
                  <a:srgbClr val="1F2A30"/>
                </a:solidFill>
                <a:latin typeface="Calibri" pitchFamily="34" charset="0"/>
                <a:ea typeface="Calibri" pitchFamily="34" charset="-122"/>
                <a:cs typeface="Calibri" pitchFamily="34" charset="-120"/>
              </a:rPr>
              <a:t> bằng Adobe Podcast, nghe thử so sánh (4′).</a:t>
            </a:r>
            <a:endParaRPr lang="en-US" sz="1400" dirty="0"/>
          </a:p>
        </p:txBody>
      </p:sp>
      <p:sp>
        <p:nvSpPr>
          <p:cNvPr id="17" name="Shape 14"/>
          <p:cNvSpPr/>
          <p:nvPr/>
        </p:nvSpPr>
        <p:spPr>
          <a:xfrm>
            <a:off x="3520440" y="2531364"/>
            <a:ext cx="347472" cy="347472"/>
          </a:xfrm>
          <a:prstGeom prst="ellipse">
            <a:avLst/>
          </a:prstGeom>
          <a:solidFill>
            <a:srgbClr val="0E7C7B"/>
          </a:solidFill>
          <a:ln w="12700">
            <a:solidFill>
              <a:srgbClr val="0E7C7B"/>
            </a:solidFill>
            <a:prstDash val="solid"/>
          </a:ln>
        </p:spPr>
      </p:sp>
      <p:sp>
        <p:nvSpPr>
          <p:cNvPr id="18" name="Text 15"/>
          <p:cNvSpPr txBox="1"/>
          <p:nvPr/>
        </p:nvSpPr>
        <p:spPr>
          <a:xfrm>
            <a:off x="3520440" y="25313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txBox="1"/>
          <p:nvPr/>
        </p:nvSpPr>
        <p:spPr>
          <a:xfrm>
            <a:off x="4023360" y="2438400"/>
            <a:ext cx="4663440" cy="533400"/>
          </a:xfrm>
          <a:prstGeom prst="rect">
            <a:avLst/>
          </a:prstGeom>
          <a:noFill/>
          <a:ln/>
        </p:spPr>
        <p:txBody>
          <a:bodyPr wrap="square" lIns="0" tIns="0" rIns="0" bIns="0" rtlCol="0" anchor="ctr"/>
          <a:lstStyle/>
          <a:p>
            <a:pPr indent="0" marL="0">
              <a:buNone/>
            </a:pPr>
            <a:r>
              <a:rPr lang="en-US" sz="1400" b="1" dirty="0">
                <a:solidFill>
                  <a:srgbClr val="1F2A30"/>
                </a:solidFill>
                <a:latin typeface="Calibri" pitchFamily="34" charset="0"/>
                <a:ea typeface="Calibri" pitchFamily="34" charset="-122"/>
                <a:cs typeface="Calibri" pitchFamily="34" charset="-120"/>
              </a:rPr>
              <a:t>Chép lời</a:t>
            </a:r>
            <a:pPr indent="0" marL="0">
              <a:buNone/>
            </a:pPr>
            <a:r>
              <a:rPr lang="en-US" sz="1400" dirty="0">
                <a:solidFill>
                  <a:srgbClr val="1F2A30"/>
                </a:solidFill>
                <a:latin typeface="Calibri" pitchFamily="34" charset="0"/>
                <a:ea typeface="Calibri" pitchFamily="34" charset="-122"/>
                <a:cs typeface="Calibri" pitchFamily="34" charset="-120"/>
              </a:rPr>
              <a:t> bằng TurboScribe hoặc Gemini, nghe lại sửa lỗi (5′).</a:t>
            </a:r>
            <a:endParaRPr lang="en-US" sz="1400" dirty="0"/>
          </a:p>
        </p:txBody>
      </p:sp>
      <p:sp>
        <p:nvSpPr>
          <p:cNvPr id="20" name="Shape 17"/>
          <p:cNvSpPr/>
          <p:nvPr/>
        </p:nvSpPr>
        <p:spPr>
          <a:xfrm>
            <a:off x="3520440" y="3064764"/>
            <a:ext cx="347472" cy="347472"/>
          </a:xfrm>
          <a:prstGeom prst="ellipse">
            <a:avLst/>
          </a:prstGeom>
          <a:solidFill>
            <a:srgbClr val="0E7C7B"/>
          </a:solidFill>
          <a:ln w="12700">
            <a:solidFill>
              <a:srgbClr val="0E7C7B"/>
            </a:solidFill>
            <a:prstDash val="solid"/>
          </a:ln>
        </p:spPr>
      </p:sp>
      <p:sp>
        <p:nvSpPr>
          <p:cNvPr id="21" name="Text 18"/>
          <p:cNvSpPr txBox="1"/>
          <p:nvPr/>
        </p:nvSpPr>
        <p:spPr>
          <a:xfrm>
            <a:off x="3520440" y="30647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txBox="1"/>
          <p:nvPr/>
        </p:nvSpPr>
        <p:spPr>
          <a:xfrm>
            <a:off x="4023360" y="2971800"/>
            <a:ext cx="4663440" cy="533400"/>
          </a:xfrm>
          <a:prstGeom prst="rect">
            <a:avLst/>
          </a:prstGeom>
          <a:noFill/>
          <a:ln/>
        </p:spPr>
        <p:txBody>
          <a:bodyPr wrap="square" lIns="0" tIns="0" rIns="0" bIns="0" rtlCol="0" anchor="ctr"/>
          <a:lstStyle/>
          <a:p>
            <a:pPr indent="0" marL="0">
              <a:buNone/>
            </a:pPr>
            <a:r>
              <a:rPr lang="en-US" sz="1400" b="1" dirty="0">
                <a:solidFill>
                  <a:srgbClr val="1F2A30"/>
                </a:solidFill>
                <a:latin typeface="Calibri" pitchFamily="34" charset="0"/>
                <a:ea typeface="Calibri" pitchFamily="34" charset="-122"/>
                <a:cs typeface="Calibri" pitchFamily="34" charset="-120"/>
              </a:rPr>
              <a:t>Tự che</a:t>
            </a:r>
            <a:pPr indent="0" marL="0">
              <a:buNone/>
            </a:pPr>
            <a:r>
              <a:rPr lang="en-US" sz="1400" dirty="0">
                <a:solidFill>
                  <a:srgbClr val="1F2A30"/>
                </a:solidFill>
                <a:latin typeface="Calibri" pitchFamily="34" charset="0"/>
                <a:ea typeface="Calibri" pitchFamily="34" charset="-122"/>
                <a:cs typeface="Calibri" pitchFamily="34" charset="-120"/>
              </a:rPr>
              <a:t> tên, SĐT, mã đơn, địa chỉ bằng Tìm và Thay thế (4′).</a:t>
            </a:r>
            <a:endParaRPr lang="en-US" sz="1400" dirty="0"/>
          </a:p>
        </p:txBody>
      </p:sp>
      <p:sp>
        <p:nvSpPr>
          <p:cNvPr id="23" name="Shape 20"/>
          <p:cNvSpPr/>
          <p:nvPr/>
        </p:nvSpPr>
        <p:spPr>
          <a:xfrm>
            <a:off x="3520440" y="3598164"/>
            <a:ext cx="347472" cy="347472"/>
          </a:xfrm>
          <a:prstGeom prst="ellipse">
            <a:avLst/>
          </a:prstGeom>
          <a:solidFill>
            <a:srgbClr val="0E7C7B"/>
          </a:solidFill>
          <a:ln w="12700">
            <a:solidFill>
              <a:srgbClr val="0E7C7B"/>
            </a:solidFill>
            <a:prstDash val="solid"/>
          </a:ln>
        </p:spPr>
      </p:sp>
      <p:sp>
        <p:nvSpPr>
          <p:cNvPr id="24" name="Text 21"/>
          <p:cNvSpPr txBox="1"/>
          <p:nvPr/>
        </p:nvSpPr>
        <p:spPr>
          <a:xfrm>
            <a:off x="3520440" y="35981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4023360" y="3505200"/>
            <a:ext cx="4663440" cy="533400"/>
          </a:xfrm>
          <a:prstGeom prst="rect">
            <a:avLst/>
          </a:prstGeom>
          <a:noFill/>
          <a:ln/>
        </p:spPr>
        <p:txBody>
          <a:bodyPr wrap="square" lIns="0" tIns="0" rIns="0" bIns="0" rtlCol="0" anchor="ctr"/>
          <a:lstStyle/>
          <a:p>
            <a:pPr indent="0" marL="0">
              <a:buNone/>
            </a:pPr>
            <a:r>
              <a:rPr lang="en-US" sz="1400" b="1" dirty="0">
                <a:solidFill>
                  <a:srgbClr val="1F2A30"/>
                </a:solidFill>
                <a:latin typeface="Calibri" pitchFamily="34" charset="0"/>
                <a:ea typeface="Calibri" pitchFamily="34" charset="-122"/>
                <a:cs typeface="Calibri" pitchFamily="34" charset="-120"/>
              </a:rPr>
              <a:t>Tóm tắt 4 mục</a:t>
            </a:r>
            <a:pPr indent="0" marL="0">
              <a:buNone/>
            </a:pPr>
            <a:r>
              <a:rPr lang="en-US" sz="1400" dirty="0">
                <a:solidFill>
                  <a:srgbClr val="1F2A30"/>
                </a:solidFill>
                <a:latin typeface="Calibri" pitchFamily="34" charset="0"/>
                <a:ea typeface="Calibri" pitchFamily="34" charset="-122"/>
                <a:cs typeface="Calibri" pitchFamily="34" charset="-120"/>
              </a:rPr>
              <a:t> với prompt mẫu, rồi kiểm 5 điểm (9′).</a:t>
            </a:r>
            <a:endParaRPr lang="en-US" sz="1400" dirty="0"/>
          </a:p>
        </p:txBody>
      </p:sp>
      <p:sp>
        <p:nvSpPr>
          <p:cNvPr id="26" name="Shape 23"/>
          <p:cNvSpPr/>
          <p:nvPr/>
        </p:nvSpPr>
        <p:spPr>
          <a:xfrm>
            <a:off x="3520440" y="4131564"/>
            <a:ext cx="347472" cy="347472"/>
          </a:xfrm>
          <a:prstGeom prst="ellipse">
            <a:avLst/>
          </a:prstGeom>
          <a:solidFill>
            <a:srgbClr val="0E7C7B"/>
          </a:solidFill>
          <a:ln w="12700">
            <a:solidFill>
              <a:srgbClr val="0E7C7B"/>
            </a:solidFill>
            <a:prstDash val="solid"/>
          </a:ln>
        </p:spPr>
      </p:sp>
      <p:sp>
        <p:nvSpPr>
          <p:cNvPr id="27" name="Text 24"/>
          <p:cNvSpPr txBox="1"/>
          <p:nvPr/>
        </p:nvSpPr>
        <p:spPr>
          <a:xfrm>
            <a:off x="3520440" y="41315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5"/>
          <p:cNvSpPr txBox="1"/>
          <p:nvPr/>
        </p:nvSpPr>
        <p:spPr>
          <a:xfrm>
            <a:off x="4023360" y="4038600"/>
            <a:ext cx="4663440" cy="533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Lưu công cụ, prompt, bản tóm tắt và lỗi AI đã bắt được.</a:t>
            </a:r>
            <a:endParaRPr lang="en-US" sz="1400" dirty="0"/>
          </a:p>
        </p:txBody>
      </p:sp>
      <p:sp>
        <p:nvSpPr>
          <p:cNvPr id="29" name="Text 2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30" name="Text 2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KIỂM TRA NHANH #2 · CÂU 1</a:t>
            </a:r>
            <a:endParaRPr lang="en-US" sz="1050" dirty="0"/>
          </a:p>
        </p:txBody>
      </p:sp>
      <p:sp>
        <p:nvSpPr>
          <p:cNvPr id="3" name="Text 1"/>
          <p:cNvSpPr txBox="1"/>
          <p:nvPr/>
        </p:nvSpPr>
        <p:spPr>
          <a:xfrm>
            <a:off x="457200" y="594360"/>
            <a:ext cx="8229600" cy="1234440"/>
          </a:xfrm>
          <a:prstGeom prst="rect">
            <a:avLst/>
          </a:prstGeom>
          <a:noFill/>
          <a:ln/>
        </p:spPr>
        <p:txBody>
          <a:bodyPr wrap="square" lIns="0" tIns="0" rIns="0" bIns="0" rtlCol="0" anchor="ctr">
            <a:normAutofit/>
          </a:bodyPr>
          <a:lstStyle/>
          <a:p>
            <a:pPr indent="0" marL="0">
              <a:buNone/>
            </a:pPr>
            <a:r>
              <a:rPr lang="en-US" sz="2100" b="1" dirty="0">
                <a:solidFill>
                  <a:srgbClr val="0B3B45"/>
                </a:solidFill>
                <a:latin typeface="Cambria" pitchFamily="34" charset="0"/>
                <a:ea typeface="Cambria" pitchFamily="34" charset="-122"/>
                <a:cs typeface="Cambria" pitchFamily="34" charset="-120"/>
              </a:rPr>
              <a:t>Khách phàn nàn không nghe rõ vì chỗ Lan ngồi ồn. Công cụ nào khử ồn </a:t>
            </a:r>
            <a:pPr indent="0" marL="0">
              <a:buNone/>
            </a:pPr>
            <a:r>
              <a:rPr lang="en-US" sz="2100" b="1" dirty="0">
                <a:solidFill>
                  <a:srgbClr val="0B3B45"/>
                </a:solidFill>
                <a:latin typeface="Cambria" pitchFamily="34" charset="0"/>
                <a:ea typeface="Cambria" pitchFamily="34" charset="-122"/>
                <a:cs typeface="Cambria" pitchFamily="34" charset="-120"/>
              </a:rPr>
              <a:t>trong lúc đang gọi</a:t>
            </a:r>
            <a:pPr indent="0" marL="0">
              <a:buNone/>
            </a:pPr>
            <a:r>
              <a:rPr lang="en-US" sz="2100" b="1" dirty="0">
                <a:solidFill>
                  <a:srgbClr val="0B3B45"/>
                </a:solidFill>
                <a:latin typeface="Cambria" pitchFamily="34" charset="0"/>
                <a:ea typeface="Cambria" pitchFamily="34" charset="-122"/>
                <a:cs typeface="Cambria" pitchFamily="34" charset="-120"/>
              </a:rPr>
              <a:t>?</a:t>
            </a:r>
            <a:endParaRPr lang="en-US" sz="2100" dirty="0"/>
          </a:p>
        </p:txBody>
      </p:sp>
      <p:sp>
        <p:nvSpPr>
          <p:cNvPr id="4" name="Shape 2"/>
          <p:cNvSpPr/>
          <p:nvPr/>
        </p:nvSpPr>
        <p:spPr>
          <a:xfrm>
            <a:off x="457200" y="2011680"/>
            <a:ext cx="4023360" cy="1143000"/>
          </a:xfrm>
          <a:prstGeom prst="roundRect">
            <a:avLst>
              <a:gd name="adj" fmla="val 8000"/>
            </a:avLst>
          </a:prstGeom>
          <a:solidFill>
            <a:srgbClr val="E8F3F1"/>
          </a:solidFill>
          <a:ln w="12700">
            <a:solidFill>
              <a:srgbClr val="E8F3F1"/>
            </a:solidFill>
            <a:prstDash val="solid"/>
          </a:ln>
        </p:spPr>
      </p:sp>
      <p:sp>
        <p:nvSpPr>
          <p:cNvPr id="5" name="Shape 3"/>
          <p:cNvSpPr/>
          <p:nvPr/>
        </p:nvSpPr>
        <p:spPr>
          <a:xfrm>
            <a:off x="658368" y="2331720"/>
            <a:ext cx="502920" cy="502920"/>
          </a:xfrm>
          <a:prstGeom prst="ellipse">
            <a:avLst/>
          </a:prstGeom>
          <a:solidFill>
            <a:srgbClr val="0E7C7B"/>
          </a:solidFill>
          <a:ln w="12700">
            <a:solidFill>
              <a:srgbClr val="0E7C7B"/>
            </a:solidFill>
            <a:prstDash val="solid"/>
          </a:ln>
        </p:spPr>
      </p:sp>
      <p:sp>
        <p:nvSpPr>
          <p:cNvPr id="6" name="Text 4"/>
          <p:cNvSpPr txBox="1"/>
          <p:nvPr/>
        </p:nvSpPr>
        <p:spPr>
          <a:xfrm>
            <a:off x="65836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txBox="1"/>
          <p:nvPr/>
        </p:nvSpPr>
        <p:spPr>
          <a:xfrm>
            <a:off x="132588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Adobe Podcast Enhance Speech</a:t>
            </a:r>
            <a:endParaRPr lang="en-US" sz="1450" dirty="0"/>
          </a:p>
        </p:txBody>
      </p:sp>
      <p:sp>
        <p:nvSpPr>
          <p:cNvPr id="8" name="Shape 6"/>
          <p:cNvSpPr/>
          <p:nvPr/>
        </p:nvSpPr>
        <p:spPr>
          <a:xfrm>
            <a:off x="4663440" y="2011680"/>
            <a:ext cx="4023360" cy="1143000"/>
          </a:xfrm>
          <a:prstGeom prst="roundRect">
            <a:avLst>
              <a:gd name="adj" fmla="val 8000"/>
            </a:avLst>
          </a:prstGeom>
          <a:solidFill>
            <a:srgbClr val="E8F3F1"/>
          </a:solidFill>
          <a:ln w="12700">
            <a:solidFill>
              <a:srgbClr val="E8F3F1"/>
            </a:solidFill>
            <a:prstDash val="solid"/>
          </a:ln>
        </p:spPr>
      </p:sp>
      <p:sp>
        <p:nvSpPr>
          <p:cNvPr id="9" name="Shape 7"/>
          <p:cNvSpPr/>
          <p:nvPr/>
        </p:nvSpPr>
        <p:spPr>
          <a:xfrm>
            <a:off x="4864608" y="2331720"/>
            <a:ext cx="502920" cy="502920"/>
          </a:xfrm>
          <a:prstGeom prst="ellipse">
            <a:avLst/>
          </a:prstGeom>
          <a:solidFill>
            <a:srgbClr val="0E7C7B"/>
          </a:solidFill>
          <a:ln w="12700">
            <a:solidFill>
              <a:srgbClr val="0E7C7B"/>
            </a:solidFill>
            <a:prstDash val="solid"/>
          </a:ln>
        </p:spPr>
      </p:sp>
      <p:sp>
        <p:nvSpPr>
          <p:cNvPr id="10" name="Text 8"/>
          <p:cNvSpPr txBox="1"/>
          <p:nvPr/>
        </p:nvSpPr>
        <p:spPr>
          <a:xfrm>
            <a:off x="486460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1" name="Text 9"/>
          <p:cNvSpPr txBox="1"/>
          <p:nvPr/>
        </p:nvSpPr>
        <p:spPr>
          <a:xfrm>
            <a:off x="553212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TurboScribe</a:t>
            </a:r>
            <a:endParaRPr lang="en-US" sz="1450" dirty="0"/>
          </a:p>
        </p:txBody>
      </p:sp>
      <p:sp>
        <p:nvSpPr>
          <p:cNvPr id="12" name="Shape 10"/>
          <p:cNvSpPr/>
          <p:nvPr/>
        </p:nvSpPr>
        <p:spPr>
          <a:xfrm>
            <a:off x="457200" y="3337560"/>
            <a:ext cx="4023360" cy="1143000"/>
          </a:xfrm>
          <a:prstGeom prst="roundRect">
            <a:avLst>
              <a:gd name="adj" fmla="val 8000"/>
            </a:avLst>
          </a:prstGeom>
          <a:solidFill>
            <a:srgbClr val="E8F3F1"/>
          </a:solidFill>
          <a:ln w="12700">
            <a:solidFill>
              <a:srgbClr val="E8F3F1"/>
            </a:solidFill>
            <a:prstDash val="solid"/>
          </a:ln>
        </p:spPr>
      </p:sp>
      <p:sp>
        <p:nvSpPr>
          <p:cNvPr id="13" name="Shape 11"/>
          <p:cNvSpPr/>
          <p:nvPr/>
        </p:nvSpPr>
        <p:spPr>
          <a:xfrm>
            <a:off x="658368" y="3657600"/>
            <a:ext cx="502920" cy="502920"/>
          </a:xfrm>
          <a:prstGeom prst="ellipse">
            <a:avLst/>
          </a:prstGeom>
          <a:solidFill>
            <a:srgbClr val="0E7C7B"/>
          </a:solidFill>
          <a:ln w="12700">
            <a:solidFill>
              <a:srgbClr val="0E7C7B"/>
            </a:solidFill>
            <a:prstDash val="solid"/>
          </a:ln>
        </p:spPr>
      </p:sp>
      <p:sp>
        <p:nvSpPr>
          <p:cNvPr id="14" name="Text 12"/>
          <p:cNvSpPr txBox="1"/>
          <p:nvPr/>
        </p:nvSpPr>
        <p:spPr>
          <a:xfrm>
            <a:off x="65836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5" name="Text 13"/>
          <p:cNvSpPr txBox="1"/>
          <p:nvPr/>
        </p:nvSpPr>
        <p:spPr>
          <a:xfrm>
            <a:off x="132588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Krisp hoặc NVIDIA Broadcast</a:t>
            </a:r>
            <a:endParaRPr lang="en-US" sz="1450" dirty="0"/>
          </a:p>
        </p:txBody>
      </p:sp>
      <p:sp>
        <p:nvSpPr>
          <p:cNvPr id="16" name="Shape 14"/>
          <p:cNvSpPr/>
          <p:nvPr/>
        </p:nvSpPr>
        <p:spPr>
          <a:xfrm>
            <a:off x="4663440" y="3337560"/>
            <a:ext cx="4023360" cy="1143000"/>
          </a:xfrm>
          <a:prstGeom prst="roundRect">
            <a:avLst>
              <a:gd name="adj" fmla="val 8000"/>
            </a:avLst>
          </a:prstGeom>
          <a:solidFill>
            <a:srgbClr val="E8F3F1"/>
          </a:solidFill>
          <a:ln w="12700">
            <a:solidFill>
              <a:srgbClr val="E8F3F1"/>
            </a:solidFill>
            <a:prstDash val="solid"/>
          </a:ln>
        </p:spPr>
      </p:sp>
      <p:sp>
        <p:nvSpPr>
          <p:cNvPr id="17" name="Shape 15"/>
          <p:cNvSpPr/>
          <p:nvPr/>
        </p:nvSpPr>
        <p:spPr>
          <a:xfrm>
            <a:off x="4864608" y="3657600"/>
            <a:ext cx="502920" cy="502920"/>
          </a:xfrm>
          <a:prstGeom prst="ellipse">
            <a:avLst/>
          </a:prstGeom>
          <a:solidFill>
            <a:srgbClr val="0E7C7B"/>
          </a:solidFill>
          <a:ln w="12700">
            <a:solidFill>
              <a:srgbClr val="0E7C7B"/>
            </a:solidFill>
            <a:prstDash val="solid"/>
          </a:ln>
        </p:spPr>
      </p:sp>
      <p:sp>
        <p:nvSpPr>
          <p:cNvPr id="18" name="Text 16"/>
          <p:cNvSpPr txBox="1"/>
          <p:nvPr/>
        </p:nvSpPr>
        <p:spPr>
          <a:xfrm>
            <a:off x="486460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9" name="Text 17"/>
          <p:cNvSpPr txBox="1"/>
          <p:nvPr/>
        </p:nvSpPr>
        <p:spPr>
          <a:xfrm>
            <a:off x="553212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NotebookLM</a:t>
            </a:r>
            <a:endParaRPr lang="en-US" sz="1450" dirty="0"/>
          </a:p>
        </p:txBody>
      </p:sp>
      <p:sp>
        <p:nvSpPr>
          <p:cNvPr id="20"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21"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KIỂM TRA NHANH #2 · CÂU 2</a:t>
            </a:r>
            <a:endParaRPr lang="en-US" sz="1050" dirty="0"/>
          </a:p>
        </p:txBody>
      </p:sp>
      <p:sp>
        <p:nvSpPr>
          <p:cNvPr id="3" name="Text 1"/>
          <p:cNvSpPr txBox="1"/>
          <p:nvPr/>
        </p:nvSpPr>
        <p:spPr>
          <a:xfrm>
            <a:off x="457200" y="594360"/>
            <a:ext cx="8229600" cy="1234440"/>
          </a:xfrm>
          <a:prstGeom prst="rect">
            <a:avLst/>
          </a:prstGeom>
          <a:noFill/>
          <a:ln/>
        </p:spPr>
        <p:txBody>
          <a:bodyPr wrap="square" lIns="0" tIns="0" rIns="0" bIns="0" rtlCol="0" anchor="ctr">
            <a:normAutofit/>
          </a:bodyPr>
          <a:lstStyle/>
          <a:p>
            <a:pPr indent="0" marL="0">
              <a:buNone/>
            </a:pPr>
            <a:r>
              <a:rPr lang="en-US" sz="2100" b="1" dirty="0">
                <a:solidFill>
                  <a:srgbClr val="0B3B45"/>
                </a:solidFill>
                <a:latin typeface="Cambria" pitchFamily="34" charset="0"/>
                <a:ea typeface="Cambria" pitchFamily="34" charset="-122"/>
                <a:cs typeface="Cambria" pitchFamily="34" charset="-120"/>
              </a:rPr>
              <a:t>Thứ tự đúng khi chuẩn bị bản chép lời để AI tóm tắt là gì?</a:t>
            </a:r>
            <a:endParaRPr lang="en-US" sz="2100" dirty="0"/>
          </a:p>
        </p:txBody>
      </p:sp>
      <p:sp>
        <p:nvSpPr>
          <p:cNvPr id="4" name="Shape 2"/>
          <p:cNvSpPr/>
          <p:nvPr/>
        </p:nvSpPr>
        <p:spPr>
          <a:xfrm>
            <a:off x="457200" y="2011680"/>
            <a:ext cx="4023360" cy="1143000"/>
          </a:xfrm>
          <a:prstGeom prst="roundRect">
            <a:avLst>
              <a:gd name="adj" fmla="val 8000"/>
            </a:avLst>
          </a:prstGeom>
          <a:solidFill>
            <a:srgbClr val="E8F3F1"/>
          </a:solidFill>
          <a:ln w="12700">
            <a:solidFill>
              <a:srgbClr val="E8F3F1"/>
            </a:solidFill>
            <a:prstDash val="solid"/>
          </a:ln>
        </p:spPr>
      </p:sp>
      <p:sp>
        <p:nvSpPr>
          <p:cNvPr id="5" name="Shape 3"/>
          <p:cNvSpPr/>
          <p:nvPr/>
        </p:nvSpPr>
        <p:spPr>
          <a:xfrm>
            <a:off x="658368" y="2331720"/>
            <a:ext cx="502920" cy="502920"/>
          </a:xfrm>
          <a:prstGeom prst="ellipse">
            <a:avLst/>
          </a:prstGeom>
          <a:solidFill>
            <a:srgbClr val="0E7C7B"/>
          </a:solidFill>
          <a:ln w="12700">
            <a:solidFill>
              <a:srgbClr val="0E7C7B"/>
            </a:solidFill>
            <a:prstDash val="solid"/>
          </a:ln>
        </p:spPr>
      </p:sp>
      <p:sp>
        <p:nvSpPr>
          <p:cNvPr id="6" name="Text 4"/>
          <p:cNvSpPr txBox="1"/>
          <p:nvPr/>
        </p:nvSpPr>
        <p:spPr>
          <a:xfrm>
            <a:off x="65836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txBox="1"/>
          <p:nvPr/>
        </p:nvSpPr>
        <p:spPr>
          <a:xfrm>
            <a:off x="132588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Dán vào chatbot, nhờ chatbot che dữ liệu, rồi tóm tắt</a:t>
            </a:r>
            <a:endParaRPr lang="en-US" sz="1450" dirty="0"/>
          </a:p>
        </p:txBody>
      </p:sp>
      <p:sp>
        <p:nvSpPr>
          <p:cNvPr id="8" name="Shape 6"/>
          <p:cNvSpPr/>
          <p:nvPr/>
        </p:nvSpPr>
        <p:spPr>
          <a:xfrm>
            <a:off x="4663440" y="2011680"/>
            <a:ext cx="4023360" cy="1143000"/>
          </a:xfrm>
          <a:prstGeom prst="roundRect">
            <a:avLst>
              <a:gd name="adj" fmla="val 8000"/>
            </a:avLst>
          </a:prstGeom>
          <a:solidFill>
            <a:srgbClr val="E8F3F1"/>
          </a:solidFill>
          <a:ln w="12700">
            <a:solidFill>
              <a:srgbClr val="E8F3F1"/>
            </a:solidFill>
            <a:prstDash val="solid"/>
          </a:ln>
        </p:spPr>
      </p:sp>
      <p:sp>
        <p:nvSpPr>
          <p:cNvPr id="9" name="Shape 7"/>
          <p:cNvSpPr/>
          <p:nvPr/>
        </p:nvSpPr>
        <p:spPr>
          <a:xfrm>
            <a:off x="4864608" y="2331720"/>
            <a:ext cx="502920" cy="502920"/>
          </a:xfrm>
          <a:prstGeom prst="ellipse">
            <a:avLst/>
          </a:prstGeom>
          <a:solidFill>
            <a:srgbClr val="0E7C7B"/>
          </a:solidFill>
          <a:ln w="12700">
            <a:solidFill>
              <a:srgbClr val="0E7C7B"/>
            </a:solidFill>
            <a:prstDash val="solid"/>
          </a:ln>
        </p:spPr>
      </p:sp>
      <p:sp>
        <p:nvSpPr>
          <p:cNvPr id="10" name="Text 8"/>
          <p:cNvSpPr txBox="1"/>
          <p:nvPr/>
        </p:nvSpPr>
        <p:spPr>
          <a:xfrm>
            <a:off x="486460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1" name="Text 9"/>
          <p:cNvSpPr txBox="1"/>
          <p:nvPr/>
        </p:nvSpPr>
        <p:spPr>
          <a:xfrm>
            <a:off x="553212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Chép lời, nghe lại sửa lỗi, tự che bằng placeholder, rồi mới dán</a:t>
            </a:r>
            <a:endParaRPr lang="en-US" sz="1450" dirty="0"/>
          </a:p>
        </p:txBody>
      </p:sp>
      <p:sp>
        <p:nvSpPr>
          <p:cNvPr id="12" name="Shape 10"/>
          <p:cNvSpPr/>
          <p:nvPr/>
        </p:nvSpPr>
        <p:spPr>
          <a:xfrm>
            <a:off x="457200" y="3337560"/>
            <a:ext cx="4023360" cy="1143000"/>
          </a:xfrm>
          <a:prstGeom prst="roundRect">
            <a:avLst>
              <a:gd name="adj" fmla="val 8000"/>
            </a:avLst>
          </a:prstGeom>
          <a:solidFill>
            <a:srgbClr val="E8F3F1"/>
          </a:solidFill>
          <a:ln w="12700">
            <a:solidFill>
              <a:srgbClr val="E8F3F1"/>
            </a:solidFill>
            <a:prstDash val="solid"/>
          </a:ln>
        </p:spPr>
      </p:sp>
      <p:sp>
        <p:nvSpPr>
          <p:cNvPr id="13" name="Shape 11"/>
          <p:cNvSpPr/>
          <p:nvPr/>
        </p:nvSpPr>
        <p:spPr>
          <a:xfrm>
            <a:off x="658368" y="3657600"/>
            <a:ext cx="502920" cy="502920"/>
          </a:xfrm>
          <a:prstGeom prst="ellipse">
            <a:avLst/>
          </a:prstGeom>
          <a:solidFill>
            <a:srgbClr val="0E7C7B"/>
          </a:solidFill>
          <a:ln w="12700">
            <a:solidFill>
              <a:srgbClr val="0E7C7B"/>
            </a:solidFill>
            <a:prstDash val="solid"/>
          </a:ln>
        </p:spPr>
      </p:sp>
      <p:sp>
        <p:nvSpPr>
          <p:cNvPr id="14" name="Text 12"/>
          <p:cNvSpPr txBox="1"/>
          <p:nvPr/>
        </p:nvSpPr>
        <p:spPr>
          <a:xfrm>
            <a:off x="65836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5" name="Text 13"/>
          <p:cNvSpPr txBox="1"/>
          <p:nvPr/>
        </p:nvSpPr>
        <p:spPr>
          <a:xfrm>
            <a:off x="132588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Tóm tắt trước, che dữ liệu sau khi dán vào CRM</a:t>
            </a:r>
            <a:endParaRPr lang="en-US" sz="1450" dirty="0"/>
          </a:p>
        </p:txBody>
      </p:sp>
      <p:sp>
        <p:nvSpPr>
          <p:cNvPr id="16" name="Shape 14"/>
          <p:cNvSpPr/>
          <p:nvPr/>
        </p:nvSpPr>
        <p:spPr>
          <a:xfrm>
            <a:off x="4663440" y="3337560"/>
            <a:ext cx="4023360" cy="1143000"/>
          </a:xfrm>
          <a:prstGeom prst="roundRect">
            <a:avLst>
              <a:gd name="adj" fmla="val 8000"/>
            </a:avLst>
          </a:prstGeom>
          <a:solidFill>
            <a:srgbClr val="E8F3F1"/>
          </a:solidFill>
          <a:ln w="12700">
            <a:solidFill>
              <a:srgbClr val="E8F3F1"/>
            </a:solidFill>
            <a:prstDash val="solid"/>
          </a:ln>
        </p:spPr>
      </p:sp>
      <p:sp>
        <p:nvSpPr>
          <p:cNvPr id="17" name="Shape 15"/>
          <p:cNvSpPr/>
          <p:nvPr/>
        </p:nvSpPr>
        <p:spPr>
          <a:xfrm>
            <a:off x="4864608" y="3657600"/>
            <a:ext cx="502920" cy="502920"/>
          </a:xfrm>
          <a:prstGeom prst="ellipse">
            <a:avLst/>
          </a:prstGeom>
          <a:solidFill>
            <a:srgbClr val="0E7C7B"/>
          </a:solidFill>
          <a:ln w="12700">
            <a:solidFill>
              <a:srgbClr val="0E7C7B"/>
            </a:solidFill>
            <a:prstDash val="solid"/>
          </a:ln>
        </p:spPr>
      </p:sp>
      <p:sp>
        <p:nvSpPr>
          <p:cNvPr id="18" name="Text 16"/>
          <p:cNvSpPr txBox="1"/>
          <p:nvPr/>
        </p:nvSpPr>
        <p:spPr>
          <a:xfrm>
            <a:off x="486460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9" name="Text 17"/>
          <p:cNvSpPr txBox="1"/>
          <p:nvPr/>
        </p:nvSpPr>
        <p:spPr>
          <a:xfrm>
            <a:off x="553212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Không cần che vì chatbot không lưu dữ liệu</a:t>
            </a:r>
            <a:endParaRPr lang="en-US" sz="1450" dirty="0"/>
          </a:p>
        </p:txBody>
      </p:sp>
      <p:sp>
        <p:nvSpPr>
          <p:cNvPr id="20"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21"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KIỂM TRA NHANH #2 · CÂU 3</a:t>
            </a:r>
            <a:endParaRPr lang="en-US" sz="1050" dirty="0"/>
          </a:p>
        </p:txBody>
      </p:sp>
      <p:sp>
        <p:nvSpPr>
          <p:cNvPr id="3" name="Text 1"/>
          <p:cNvSpPr txBox="1"/>
          <p:nvPr/>
        </p:nvSpPr>
        <p:spPr>
          <a:xfrm>
            <a:off x="457200" y="594360"/>
            <a:ext cx="8229600" cy="1234440"/>
          </a:xfrm>
          <a:prstGeom prst="rect">
            <a:avLst/>
          </a:prstGeom>
          <a:noFill/>
          <a:ln/>
        </p:spPr>
        <p:txBody>
          <a:bodyPr wrap="square" lIns="0" tIns="0" rIns="0" bIns="0" rtlCol="0" anchor="ctr">
            <a:normAutofit/>
          </a:bodyPr>
          <a:lstStyle/>
          <a:p>
            <a:pPr indent="0" marL="0">
              <a:buNone/>
            </a:pPr>
            <a:r>
              <a:rPr lang="en-US" sz="2100" b="1" dirty="0">
                <a:solidFill>
                  <a:srgbClr val="0B3B45"/>
                </a:solidFill>
                <a:latin typeface="Cambria" pitchFamily="34" charset="0"/>
                <a:ea typeface="Cambria" pitchFamily="34" charset="-122"/>
                <a:cs typeface="Cambria" pitchFamily="34" charset="-120"/>
              </a:rPr>
              <a:t>Tóm tắt AI ghi "Nhân viên cam kết hoàn tiền trong 24 giờ", nhưng bản chép lời không hề có. Bạn làm gì?</a:t>
            </a:r>
            <a:endParaRPr lang="en-US" sz="2100" dirty="0"/>
          </a:p>
        </p:txBody>
      </p:sp>
      <p:sp>
        <p:nvSpPr>
          <p:cNvPr id="4" name="Shape 2"/>
          <p:cNvSpPr/>
          <p:nvPr/>
        </p:nvSpPr>
        <p:spPr>
          <a:xfrm>
            <a:off x="457200" y="2011680"/>
            <a:ext cx="4023360" cy="1143000"/>
          </a:xfrm>
          <a:prstGeom prst="roundRect">
            <a:avLst>
              <a:gd name="adj" fmla="val 8000"/>
            </a:avLst>
          </a:prstGeom>
          <a:solidFill>
            <a:srgbClr val="E8F3F1"/>
          </a:solidFill>
          <a:ln w="12700">
            <a:solidFill>
              <a:srgbClr val="E8F3F1"/>
            </a:solidFill>
            <a:prstDash val="solid"/>
          </a:ln>
        </p:spPr>
      </p:sp>
      <p:sp>
        <p:nvSpPr>
          <p:cNvPr id="5" name="Shape 3"/>
          <p:cNvSpPr/>
          <p:nvPr/>
        </p:nvSpPr>
        <p:spPr>
          <a:xfrm>
            <a:off x="658368" y="2331720"/>
            <a:ext cx="502920" cy="502920"/>
          </a:xfrm>
          <a:prstGeom prst="ellipse">
            <a:avLst/>
          </a:prstGeom>
          <a:solidFill>
            <a:srgbClr val="0E7C7B"/>
          </a:solidFill>
          <a:ln w="12700">
            <a:solidFill>
              <a:srgbClr val="0E7C7B"/>
            </a:solidFill>
            <a:prstDash val="solid"/>
          </a:ln>
        </p:spPr>
      </p:sp>
      <p:sp>
        <p:nvSpPr>
          <p:cNvPr id="6" name="Text 4"/>
          <p:cNvSpPr txBox="1"/>
          <p:nvPr/>
        </p:nvSpPr>
        <p:spPr>
          <a:xfrm>
            <a:off x="65836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txBox="1"/>
          <p:nvPr/>
        </p:nvSpPr>
        <p:spPr>
          <a:xfrm>
            <a:off x="132588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Không sao, cứ dán vào CRM vì AI thường đúng</a:t>
            </a:r>
            <a:endParaRPr lang="en-US" sz="1450" dirty="0"/>
          </a:p>
        </p:txBody>
      </p:sp>
      <p:sp>
        <p:nvSpPr>
          <p:cNvPr id="8" name="Shape 6"/>
          <p:cNvSpPr/>
          <p:nvPr/>
        </p:nvSpPr>
        <p:spPr>
          <a:xfrm>
            <a:off x="4663440" y="2011680"/>
            <a:ext cx="4023360" cy="1143000"/>
          </a:xfrm>
          <a:prstGeom prst="roundRect">
            <a:avLst>
              <a:gd name="adj" fmla="val 8000"/>
            </a:avLst>
          </a:prstGeom>
          <a:solidFill>
            <a:srgbClr val="E8F3F1"/>
          </a:solidFill>
          <a:ln w="12700">
            <a:solidFill>
              <a:srgbClr val="E8F3F1"/>
            </a:solidFill>
            <a:prstDash val="solid"/>
          </a:ln>
        </p:spPr>
      </p:sp>
      <p:sp>
        <p:nvSpPr>
          <p:cNvPr id="9" name="Shape 7"/>
          <p:cNvSpPr/>
          <p:nvPr/>
        </p:nvSpPr>
        <p:spPr>
          <a:xfrm>
            <a:off x="4864608" y="2331720"/>
            <a:ext cx="502920" cy="502920"/>
          </a:xfrm>
          <a:prstGeom prst="ellipse">
            <a:avLst/>
          </a:prstGeom>
          <a:solidFill>
            <a:srgbClr val="0E7C7B"/>
          </a:solidFill>
          <a:ln w="12700">
            <a:solidFill>
              <a:srgbClr val="0E7C7B"/>
            </a:solidFill>
            <a:prstDash val="solid"/>
          </a:ln>
        </p:spPr>
      </p:sp>
      <p:sp>
        <p:nvSpPr>
          <p:cNvPr id="10" name="Text 8"/>
          <p:cNvSpPr txBox="1"/>
          <p:nvPr/>
        </p:nvSpPr>
        <p:spPr>
          <a:xfrm>
            <a:off x="486460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1" name="Text 9"/>
          <p:cNvSpPr txBox="1"/>
          <p:nvPr/>
        </p:nvSpPr>
        <p:spPr>
          <a:xfrm>
            <a:off x="553212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AI bịa: xóa ý đó, đối chiếu lại toàn bộ trước khi dán</a:t>
            </a:r>
            <a:endParaRPr lang="en-US" sz="1450" dirty="0"/>
          </a:p>
        </p:txBody>
      </p:sp>
      <p:sp>
        <p:nvSpPr>
          <p:cNvPr id="12" name="Shape 10"/>
          <p:cNvSpPr/>
          <p:nvPr/>
        </p:nvSpPr>
        <p:spPr>
          <a:xfrm>
            <a:off x="457200" y="3337560"/>
            <a:ext cx="4023360" cy="1143000"/>
          </a:xfrm>
          <a:prstGeom prst="roundRect">
            <a:avLst>
              <a:gd name="adj" fmla="val 8000"/>
            </a:avLst>
          </a:prstGeom>
          <a:solidFill>
            <a:srgbClr val="E8F3F1"/>
          </a:solidFill>
          <a:ln w="12700">
            <a:solidFill>
              <a:srgbClr val="E8F3F1"/>
            </a:solidFill>
            <a:prstDash val="solid"/>
          </a:ln>
        </p:spPr>
      </p:sp>
      <p:sp>
        <p:nvSpPr>
          <p:cNvPr id="13" name="Shape 11"/>
          <p:cNvSpPr/>
          <p:nvPr/>
        </p:nvSpPr>
        <p:spPr>
          <a:xfrm>
            <a:off x="658368" y="3657600"/>
            <a:ext cx="502920" cy="502920"/>
          </a:xfrm>
          <a:prstGeom prst="ellipse">
            <a:avLst/>
          </a:prstGeom>
          <a:solidFill>
            <a:srgbClr val="0E7C7B"/>
          </a:solidFill>
          <a:ln w="12700">
            <a:solidFill>
              <a:srgbClr val="0E7C7B"/>
            </a:solidFill>
            <a:prstDash val="solid"/>
          </a:ln>
        </p:spPr>
      </p:sp>
      <p:sp>
        <p:nvSpPr>
          <p:cNvPr id="14" name="Text 12"/>
          <p:cNvSpPr txBox="1"/>
          <p:nvPr/>
        </p:nvSpPr>
        <p:spPr>
          <a:xfrm>
            <a:off x="65836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5" name="Text 13"/>
          <p:cNvSpPr txBox="1"/>
          <p:nvPr/>
        </p:nvSpPr>
        <p:spPr>
          <a:xfrm>
            <a:off x="132588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Gọi lại khách hứa hoàn tiền trong 24 giờ cho khớp</a:t>
            </a:r>
            <a:endParaRPr lang="en-US" sz="1450" dirty="0"/>
          </a:p>
        </p:txBody>
      </p:sp>
      <p:sp>
        <p:nvSpPr>
          <p:cNvPr id="16" name="Shape 14"/>
          <p:cNvSpPr/>
          <p:nvPr/>
        </p:nvSpPr>
        <p:spPr>
          <a:xfrm>
            <a:off x="4663440" y="3337560"/>
            <a:ext cx="4023360" cy="1143000"/>
          </a:xfrm>
          <a:prstGeom prst="roundRect">
            <a:avLst>
              <a:gd name="adj" fmla="val 8000"/>
            </a:avLst>
          </a:prstGeom>
          <a:solidFill>
            <a:srgbClr val="E8F3F1"/>
          </a:solidFill>
          <a:ln w="12700">
            <a:solidFill>
              <a:srgbClr val="E8F3F1"/>
            </a:solidFill>
            <a:prstDash val="solid"/>
          </a:ln>
        </p:spPr>
      </p:sp>
      <p:sp>
        <p:nvSpPr>
          <p:cNvPr id="17" name="Shape 15"/>
          <p:cNvSpPr/>
          <p:nvPr/>
        </p:nvSpPr>
        <p:spPr>
          <a:xfrm>
            <a:off x="4864608" y="3657600"/>
            <a:ext cx="502920" cy="502920"/>
          </a:xfrm>
          <a:prstGeom prst="ellipse">
            <a:avLst/>
          </a:prstGeom>
          <a:solidFill>
            <a:srgbClr val="0E7C7B"/>
          </a:solidFill>
          <a:ln w="12700">
            <a:solidFill>
              <a:srgbClr val="0E7C7B"/>
            </a:solidFill>
            <a:prstDash val="solid"/>
          </a:ln>
        </p:spPr>
      </p:sp>
      <p:sp>
        <p:nvSpPr>
          <p:cNvPr id="18" name="Text 16"/>
          <p:cNvSpPr txBox="1"/>
          <p:nvPr/>
        </p:nvSpPr>
        <p:spPr>
          <a:xfrm>
            <a:off x="486460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9" name="Text 17"/>
          <p:cNvSpPr txBox="1"/>
          <p:nvPr/>
        </p:nvSpPr>
        <p:spPr>
          <a:xfrm>
            <a:off x="553212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Đổi công cụ AI khác, dán kết quả mới không cần kiểm</a:t>
            </a:r>
            <a:endParaRPr lang="en-US" sz="1450" dirty="0"/>
          </a:p>
        </p:txBody>
      </p:sp>
      <p:sp>
        <p:nvSpPr>
          <p:cNvPr id="20"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21"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ASM 1 · 30% TỔNG ĐIỂM</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Thư viện prompt &amp; Quy trình tóm tắt cuộc gọi</a:t>
            </a:r>
            <a:endParaRPr lang="en-US" sz="2500" dirty="0"/>
          </a:p>
        </p:txBody>
      </p:sp>
      <p:sp>
        <p:nvSpPr>
          <p:cNvPr id="4" name="Text 2"/>
          <p:cNvSpPr txBox="1"/>
          <p:nvPr/>
        </p:nvSpPr>
        <p:spPr>
          <a:xfrm>
            <a:off x="457200" y="1280160"/>
            <a:ext cx="8229600" cy="411480"/>
          </a:xfrm>
          <a:prstGeom prst="rect">
            <a:avLst/>
          </a:prstGeom>
          <a:noFill/>
          <a:ln/>
        </p:spPr>
        <p:txBody>
          <a:bodyPr wrap="square" lIns="0" tIns="0" rIns="0" bIns="0" rtlCol="0" anchor="ctr"/>
          <a:lstStyle/>
          <a:p>
            <a:pPr indent="0" marL="0">
              <a:buNone/>
            </a:pPr>
            <a:r>
              <a:rPr lang="en-US" sz="1300" dirty="0">
                <a:solidFill>
                  <a:srgbClr val="5B6B73"/>
                </a:solidFill>
                <a:latin typeface="Calibri" pitchFamily="34" charset="0"/>
                <a:ea typeface="Calibri" pitchFamily="34" charset="-122"/>
                <a:cs typeface="Calibri" pitchFamily="34" charset="-120"/>
              </a:rPr>
              <a:t>Bạn là Lan: chuẩn bị bộ tài liệu để cả team dùng AI </a:t>
            </a:r>
            <a:pPr indent="0" marL="0">
              <a:buNone/>
            </a:pPr>
            <a:r>
              <a:rPr lang="en-US" sz="1300" b="1" dirty="0">
                <a:solidFill>
                  <a:srgbClr val="5B6B73"/>
                </a:solidFill>
                <a:latin typeface="Calibri" pitchFamily="34" charset="0"/>
                <a:ea typeface="Calibri" pitchFamily="34" charset="-122"/>
                <a:cs typeface="Calibri" pitchFamily="34" charset="-120"/>
              </a:rPr>
              <a:t>giống nhau và an toàn</a:t>
            </a:r>
            <a:pPr indent="0" marL="0">
              <a:buNone/>
            </a:pPr>
            <a:r>
              <a:rPr lang="en-US" sz="1300" dirty="0">
                <a:solidFill>
                  <a:srgbClr val="5B6B73"/>
                </a:solidFill>
                <a:latin typeface="Calibri" pitchFamily="34" charset="0"/>
                <a:ea typeface="Calibri" pitchFamily="34" charset="-122"/>
                <a:cs typeface="Calibri" pitchFamily="34" charset="-120"/>
              </a:rPr>
              <a:t>. Nộp </a:t>
            </a:r>
            <a:pPr indent="0" marL="0">
              <a:buNone/>
            </a:pPr>
            <a:r>
              <a:rPr lang="en-US" sz="1300" b="1" dirty="0">
                <a:solidFill>
                  <a:srgbClr val="5B6B73"/>
                </a:solidFill>
                <a:latin typeface="Calibri" pitchFamily="34" charset="0"/>
                <a:ea typeface="Calibri" pitchFamily="34" charset="-122"/>
                <a:cs typeface="Calibri" pitchFamily="34" charset="-120"/>
              </a:rPr>
              <a:t>1 file</a:t>
            </a:r>
            <a:pPr indent="0" marL="0">
              <a:buNone/>
            </a:pPr>
            <a:r>
              <a:rPr lang="en-US" sz="1300" dirty="0">
                <a:solidFill>
                  <a:srgbClr val="5B6B73"/>
                </a:solidFill>
                <a:latin typeface="Calibri" pitchFamily="34" charset="0"/>
                <a:ea typeface="Calibri" pitchFamily="34" charset="-122"/>
                <a:cs typeface="Calibri" pitchFamily="34" charset="-120"/>
              </a:rPr>
              <a:t> duy nhất.</a:t>
            </a:r>
            <a:endParaRPr lang="en-US" sz="1300" dirty="0"/>
          </a:p>
        </p:txBody>
      </p:sp>
      <p:sp>
        <p:nvSpPr>
          <p:cNvPr id="5" name="Shape 3"/>
          <p:cNvSpPr/>
          <p:nvPr/>
        </p:nvSpPr>
        <p:spPr>
          <a:xfrm>
            <a:off x="457200" y="1783080"/>
            <a:ext cx="4000500" cy="1280160"/>
          </a:xfrm>
          <a:prstGeom prst="roundRect">
            <a:avLst>
              <a:gd name="adj" fmla="val 7143"/>
            </a:avLst>
          </a:prstGeom>
          <a:solidFill>
            <a:srgbClr val="E8F3F1"/>
          </a:solidFill>
          <a:ln w="12700">
            <a:solidFill>
              <a:srgbClr val="E8F3F1"/>
            </a:solidFill>
            <a:prstDash val="solid"/>
          </a:ln>
        </p:spPr>
      </p:sp>
      <p:sp>
        <p:nvSpPr>
          <p:cNvPr id="6" name="Shape 4"/>
          <p:cNvSpPr/>
          <p:nvPr/>
        </p:nvSpPr>
        <p:spPr>
          <a:xfrm>
            <a:off x="640080" y="1965960"/>
            <a:ext cx="457200" cy="457200"/>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758952" y="2084832"/>
            <a:ext cx="219456" cy="219456"/>
          </a:xfrm>
          <a:prstGeom prst="rect">
            <a:avLst/>
          </a:prstGeom>
        </p:spPr>
      </p:pic>
      <p:sp>
        <p:nvSpPr>
          <p:cNvPr id="8" name="Text 5"/>
          <p:cNvSpPr txBox="1"/>
          <p:nvPr/>
        </p:nvSpPr>
        <p:spPr>
          <a:xfrm>
            <a:off x="1234440" y="193852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Phần A · Thư viện prompt v2</a:t>
            </a:r>
            <a:endParaRPr lang="en-US" sz="1400" dirty="0"/>
          </a:p>
        </p:txBody>
      </p:sp>
      <p:sp>
        <p:nvSpPr>
          <p:cNvPr id="9" name="Text 6"/>
          <p:cNvSpPr txBox="1"/>
          <p:nvPr/>
        </p:nvSpPr>
        <p:spPr>
          <a:xfrm>
            <a:off x="1234440" y="2331720"/>
            <a:ext cx="3040380" cy="594360"/>
          </a:xfrm>
          <a:prstGeom prst="rect">
            <a:avLst/>
          </a:prstGeom>
          <a:noFill/>
          <a:ln/>
        </p:spPr>
        <p:txBody>
          <a:bodyPr wrap="square" lIns="0" tIns="0" rIns="0" bIns="0" rtlCol="0" anchor="t"/>
          <a:lstStyle/>
          <a:p>
            <a:pPr indent="0" marL="0">
              <a:buNone/>
            </a:pPr>
            <a:r>
              <a:rPr lang="en-US" sz="1300" b="1" dirty="0">
                <a:solidFill>
                  <a:srgbClr val="1F2A30"/>
                </a:solidFill>
                <a:latin typeface="Calibri" pitchFamily="34" charset="0"/>
                <a:ea typeface="Calibri" pitchFamily="34" charset="-122"/>
                <a:cs typeface="Calibri" pitchFamily="34" charset="-120"/>
              </a:rPr>
              <a:t>≥7 prompt</a:t>
            </a:r>
            <a:pPr indent="0" marL="0">
              <a:buNone/>
            </a:pPr>
            <a:r>
              <a:rPr lang="en-US" sz="1300" dirty="0">
                <a:solidFill>
                  <a:srgbClr val="1F2A30"/>
                </a:solidFill>
                <a:latin typeface="Calibri" pitchFamily="34" charset="0"/>
                <a:ea typeface="Calibri" pitchFamily="34" charset="-122"/>
                <a:cs typeface="Calibri" pitchFamily="34" charset="-120"/>
              </a:rPr>
              <a:t> V-B-N-Đ-G: ≥2 giao tiếp, 1 tra cứu, 1 chép lời, 1 tóm tắt 4 mục.</a:t>
            </a:r>
            <a:endParaRPr lang="en-US" sz="1300" dirty="0"/>
          </a:p>
        </p:txBody>
      </p:sp>
      <p:sp>
        <p:nvSpPr>
          <p:cNvPr id="10" name="Shape 7"/>
          <p:cNvSpPr/>
          <p:nvPr/>
        </p:nvSpPr>
        <p:spPr>
          <a:xfrm>
            <a:off x="4686300" y="1783080"/>
            <a:ext cx="4000500" cy="1280160"/>
          </a:xfrm>
          <a:prstGeom prst="roundRect">
            <a:avLst>
              <a:gd name="adj" fmla="val 7143"/>
            </a:avLst>
          </a:prstGeom>
          <a:solidFill>
            <a:srgbClr val="E8F3F1"/>
          </a:solidFill>
          <a:ln w="12700">
            <a:solidFill>
              <a:srgbClr val="E8F3F1"/>
            </a:solidFill>
            <a:prstDash val="solid"/>
          </a:ln>
        </p:spPr>
      </p:sp>
      <p:sp>
        <p:nvSpPr>
          <p:cNvPr id="11" name="Shape 8"/>
          <p:cNvSpPr/>
          <p:nvPr/>
        </p:nvSpPr>
        <p:spPr>
          <a:xfrm>
            <a:off x="4869180" y="1965960"/>
            <a:ext cx="457200" cy="457200"/>
          </a:xfrm>
          <a:prstGeom prst="ellipse">
            <a:avLst/>
          </a:prstGeom>
          <a:solidFill>
            <a:srgbClr val="0E7C7B"/>
          </a:solidFill>
          <a:ln w="12700">
            <a:solidFill>
              <a:srgbClr val="0E7C7B"/>
            </a:solidFill>
            <a:prstDash val="solid"/>
          </a:ln>
        </p:spPr>
      </p:sp>
      <p:pic>
        <p:nvPicPr>
          <p:cNvPr id="12" name="Image 1" descr="preencoded.png">    </p:cNvPr>
          <p:cNvPicPr>
            <a:picLocks noChangeAspect="1"/>
          </p:cNvPicPr>
          <p:nvPr/>
        </p:nvPicPr>
        <p:blipFill>
          <a:blip r:embed="rId2"/>
          <a:stretch>
            <a:fillRect/>
          </a:stretch>
        </p:blipFill>
        <p:spPr>
          <a:xfrm>
            <a:off x="4988052" y="2084832"/>
            <a:ext cx="219456" cy="219456"/>
          </a:xfrm>
          <a:prstGeom prst="rect">
            <a:avLst/>
          </a:prstGeom>
        </p:spPr>
      </p:pic>
      <p:sp>
        <p:nvSpPr>
          <p:cNvPr id="13" name="Text 9"/>
          <p:cNvSpPr txBox="1"/>
          <p:nvPr/>
        </p:nvSpPr>
        <p:spPr>
          <a:xfrm>
            <a:off x="5463540" y="193852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Phần B · Quy trình</a:t>
            </a:r>
            <a:endParaRPr lang="en-US" sz="1400" dirty="0"/>
          </a:p>
        </p:txBody>
      </p:sp>
      <p:sp>
        <p:nvSpPr>
          <p:cNvPr id="14" name="Text 10"/>
          <p:cNvSpPr txBox="1"/>
          <p:nvPr/>
        </p:nvSpPr>
        <p:spPr>
          <a:xfrm>
            <a:off x="5463540" y="2331720"/>
            <a:ext cx="3040380" cy="59436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7 bước có công cụ, lý do; minh họa đã che, ≥1 lỗi AI; checklist bảo mật; phản tư.</a:t>
            </a:r>
            <a:endParaRPr lang="en-US" sz="1300" dirty="0"/>
          </a:p>
        </p:txBody>
      </p:sp>
      <p:sp>
        <p:nvSpPr>
          <p:cNvPr id="15" name="Shape 11"/>
          <p:cNvSpPr/>
          <p:nvPr/>
        </p:nvSpPr>
        <p:spPr>
          <a:xfrm>
            <a:off x="457200" y="3291840"/>
            <a:ext cx="4000500" cy="1280160"/>
          </a:xfrm>
          <a:prstGeom prst="roundRect">
            <a:avLst>
              <a:gd name="adj" fmla="val 7143"/>
            </a:avLst>
          </a:prstGeom>
          <a:solidFill>
            <a:srgbClr val="E8F3F1"/>
          </a:solidFill>
          <a:ln w="12700">
            <a:solidFill>
              <a:srgbClr val="E8F3F1"/>
            </a:solidFill>
            <a:prstDash val="solid"/>
          </a:ln>
        </p:spPr>
      </p:sp>
      <p:sp>
        <p:nvSpPr>
          <p:cNvPr id="16" name="Shape 12"/>
          <p:cNvSpPr/>
          <p:nvPr/>
        </p:nvSpPr>
        <p:spPr>
          <a:xfrm>
            <a:off x="640080" y="3474720"/>
            <a:ext cx="457200" cy="457200"/>
          </a:xfrm>
          <a:prstGeom prst="ellipse">
            <a:avLst/>
          </a:prstGeom>
          <a:solidFill>
            <a:srgbClr val="0E7C7B"/>
          </a:solidFill>
          <a:ln w="12700">
            <a:solidFill>
              <a:srgbClr val="0E7C7B"/>
            </a:solidFill>
            <a:prstDash val="solid"/>
          </a:ln>
        </p:spPr>
      </p:sp>
      <p:pic>
        <p:nvPicPr>
          <p:cNvPr id="17" name="Image 2" descr="preencoded.png">    </p:cNvPr>
          <p:cNvPicPr>
            <a:picLocks noChangeAspect="1"/>
          </p:cNvPicPr>
          <p:nvPr/>
        </p:nvPicPr>
        <p:blipFill>
          <a:blip r:embed="rId3"/>
          <a:stretch>
            <a:fillRect/>
          </a:stretch>
        </p:blipFill>
        <p:spPr>
          <a:xfrm>
            <a:off x="758952" y="3593592"/>
            <a:ext cx="219456" cy="219456"/>
          </a:xfrm>
          <a:prstGeom prst="rect">
            <a:avLst/>
          </a:prstGeom>
        </p:spPr>
      </p:pic>
      <p:sp>
        <p:nvSpPr>
          <p:cNvPr id="18" name="Text 13"/>
          <p:cNvSpPr txBox="1"/>
          <p:nvPr/>
        </p:nvSpPr>
        <p:spPr>
          <a:xfrm>
            <a:off x="1234440" y="344728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Định dạng &amp; hạn nộp</a:t>
            </a:r>
            <a:endParaRPr lang="en-US" sz="1400" dirty="0"/>
          </a:p>
        </p:txBody>
      </p:sp>
      <p:sp>
        <p:nvSpPr>
          <p:cNvPr id="19" name="Text 14"/>
          <p:cNvSpPr txBox="1"/>
          <p:nvPr/>
        </p:nvSpPr>
        <p:spPr>
          <a:xfrm>
            <a:off x="1234440" y="3840480"/>
            <a:ext cx="3040380" cy="594360"/>
          </a:xfrm>
          <a:prstGeom prst="rect">
            <a:avLst/>
          </a:prstGeom>
          <a:noFill/>
          <a:ln/>
        </p:spPr>
        <p:txBody>
          <a:bodyPr wrap="square" lIns="0" tIns="0" rIns="0" bIns="0" rtlCol="0" anchor="t"/>
          <a:lstStyle/>
          <a:p>
            <a:pPr indent="0" marL="0">
              <a:buNone/>
            </a:pPr>
            <a:r>
              <a:rPr lang="en-US" sz="1300" b="1" dirty="0">
                <a:solidFill>
                  <a:srgbClr val="1F2A30"/>
                </a:solidFill>
                <a:latin typeface="Calibri" pitchFamily="34" charset="0"/>
                <a:ea typeface="Calibri" pitchFamily="34" charset="-122"/>
                <a:cs typeface="Calibri" pitchFamily="34" charset="-120"/>
              </a:rPr>
              <a:t>ASM1_HoTen_Lop</a:t>
            </a:r>
            <a:pPr indent="0" marL="0">
              <a:buNone/>
            </a:pPr>
            <a:r>
              <a:rPr lang="en-US" sz="1300" dirty="0">
                <a:solidFill>
                  <a:srgbClr val="1F2A30"/>
                </a:solidFill>
                <a:latin typeface="Calibri" pitchFamily="34" charset="0"/>
                <a:ea typeface="Calibri" pitchFamily="34" charset="-122"/>
                <a:cs typeface="Calibri" pitchFamily="34" charset="-120"/>
              </a:rPr>
              <a:t> (Docs/Word/PDF). Nộp </a:t>
            </a:r>
            <a:pPr indent="0" marL="0">
              <a:buNone/>
            </a:pPr>
            <a:r>
              <a:rPr lang="en-US" sz="1300" b="1" dirty="0">
                <a:solidFill>
                  <a:srgbClr val="1F2A30"/>
                </a:solidFill>
                <a:latin typeface="Calibri" pitchFamily="34" charset="0"/>
                <a:ea typeface="Calibri" pitchFamily="34" charset="-122"/>
                <a:cs typeface="Calibri" pitchFamily="34" charset="-120"/>
              </a:rPr>
              <a:t>trước Buổi 3</a:t>
            </a:r>
            <a:pPr indent="0" marL="0">
              <a:buNone/>
            </a:pPr>
            <a:r>
              <a:rPr lang="en-US" sz="1300" dirty="0">
                <a:solidFill>
                  <a:srgbClr val="1F2A30"/>
                </a:solidFill>
                <a:latin typeface="Calibri" pitchFamily="34" charset="0"/>
                <a:ea typeface="Calibri" pitchFamily="34" charset="-122"/>
                <a:cs typeface="Calibri" pitchFamily="34" charset="-120"/>
              </a:rPr>
              <a:t>, trễ trừ 10 điểm/ngày.</a:t>
            </a:r>
            <a:endParaRPr lang="en-US" sz="1300" dirty="0"/>
          </a:p>
        </p:txBody>
      </p:sp>
      <p:sp>
        <p:nvSpPr>
          <p:cNvPr id="20" name="Shape 15"/>
          <p:cNvSpPr/>
          <p:nvPr/>
        </p:nvSpPr>
        <p:spPr>
          <a:xfrm>
            <a:off x="4686300" y="3291840"/>
            <a:ext cx="4000500" cy="1280160"/>
          </a:xfrm>
          <a:prstGeom prst="roundRect">
            <a:avLst>
              <a:gd name="adj" fmla="val 7143"/>
            </a:avLst>
          </a:prstGeom>
          <a:solidFill>
            <a:srgbClr val="E8F3F1"/>
          </a:solidFill>
          <a:ln w="12700">
            <a:solidFill>
              <a:srgbClr val="E8F3F1"/>
            </a:solidFill>
            <a:prstDash val="solid"/>
          </a:ln>
        </p:spPr>
      </p:sp>
      <p:sp>
        <p:nvSpPr>
          <p:cNvPr id="21" name="Shape 16"/>
          <p:cNvSpPr/>
          <p:nvPr/>
        </p:nvSpPr>
        <p:spPr>
          <a:xfrm>
            <a:off x="4869180" y="3474720"/>
            <a:ext cx="457200" cy="457200"/>
          </a:xfrm>
          <a:prstGeom prst="ellipse">
            <a:avLst/>
          </a:prstGeom>
          <a:solidFill>
            <a:srgbClr val="F2994A"/>
          </a:solidFill>
          <a:ln w="12700">
            <a:solidFill>
              <a:srgbClr val="F2994A"/>
            </a:solidFill>
            <a:prstDash val="solid"/>
          </a:ln>
        </p:spPr>
      </p:sp>
      <p:pic>
        <p:nvPicPr>
          <p:cNvPr id="22" name="Image 3" descr="preencoded.png">    </p:cNvPr>
          <p:cNvPicPr>
            <a:picLocks noChangeAspect="1"/>
          </p:cNvPicPr>
          <p:nvPr/>
        </p:nvPicPr>
        <p:blipFill>
          <a:blip r:embed="rId4"/>
          <a:stretch>
            <a:fillRect/>
          </a:stretch>
        </p:blipFill>
        <p:spPr>
          <a:xfrm>
            <a:off x="4988052" y="3593592"/>
            <a:ext cx="219456" cy="219456"/>
          </a:xfrm>
          <a:prstGeom prst="rect">
            <a:avLst/>
          </a:prstGeom>
        </p:spPr>
      </p:pic>
      <p:sp>
        <p:nvSpPr>
          <p:cNvPr id="23" name="Text 17"/>
          <p:cNvSpPr txBox="1"/>
          <p:nvPr/>
        </p:nvSpPr>
        <p:spPr>
          <a:xfrm>
            <a:off x="5463540" y="344728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Điều kiện bắt buộc</a:t>
            </a:r>
            <a:endParaRPr lang="en-US" sz="1400" dirty="0"/>
          </a:p>
        </p:txBody>
      </p:sp>
      <p:sp>
        <p:nvSpPr>
          <p:cNvPr id="24" name="Text 18"/>
          <p:cNvSpPr txBox="1"/>
          <p:nvPr/>
        </p:nvSpPr>
        <p:spPr>
          <a:xfrm>
            <a:off x="5463540" y="3840480"/>
            <a:ext cx="3040380" cy="59436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Không dữ liệu khách thật; dữ liệu hư cấu cũng thay bằng </a:t>
            </a:r>
            <a:pPr indent="0" marL="0">
              <a:buNone/>
            </a:pPr>
            <a:r>
              <a:rPr lang="en-US" sz="1300" b="1" dirty="0">
                <a:solidFill>
                  <a:srgbClr val="1F2A30"/>
                </a:solidFill>
                <a:latin typeface="Calibri" pitchFamily="34" charset="0"/>
                <a:ea typeface="Calibri" pitchFamily="34" charset="-122"/>
                <a:cs typeface="Calibri" pitchFamily="34" charset="-120"/>
              </a:rPr>
              <a:t>placeholder</a:t>
            </a:r>
            <a:pPr indent="0" marL="0">
              <a:buNone/>
            </a:pPr>
            <a:r>
              <a:rPr lang="en-US" sz="1300" dirty="0">
                <a:solidFill>
                  <a:srgbClr val="1F2A30"/>
                </a:solidFill>
                <a:latin typeface="Calibri" pitchFamily="34" charset="0"/>
                <a:ea typeface="Calibri" pitchFamily="34" charset="-122"/>
                <a:cs typeface="Calibri" pitchFamily="34" charset="-120"/>
              </a:rPr>
              <a:t>.</a:t>
            </a:r>
            <a:endParaRPr lang="en-US" sz="1300" dirty="0"/>
          </a:p>
        </p:txBody>
      </p:sp>
      <p:sp>
        <p:nvSpPr>
          <p:cNvPr id="25" name="Text 19"/>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26" name="Text 20"/>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ASM 1 · RUBRIC</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Chấm trên thang 100, quy đổi × 0,3</a:t>
            </a:r>
            <a:endParaRPr lang="en-US" sz="25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103120"/>
                <a:gridCol w="3108960"/>
                <a:gridCol w="2286000"/>
                <a:gridCol w="731520"/>
              </a:tblGrid>
              <a:tr h="4572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Tiêu chí</a:t>
                      </a:r>
                      <a:endParaRPr lang="en-US" sz="11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Tốt</a:t>
                      </a:r>
                      <a:endParaRPr lang="en-US" sz="11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Chưa đạt</a:t>
                      </a:r>
                      <a:endParaRPr lang="en-US" sz="11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Điểm</a:t>
                      </a:r>
                      <a:endParaRPr lang="en-US" sz="11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457200">
                <a:tc>
                  <a:txBody>
                    <a:bodyPr/>
                    <a:lstStyle/>
                    <a:p>
                      <a:pPr indent="0" marL="0">
                        <a:buNone/>
                      </a:pPr>
                      <a:r>
                        <a:rPr lang="en-US" sz="1150" b="1" dirty="0">
                          <a:solidFill>
                            <a:srgbClr val="1F2A30"/>
                          </a:solidFill>
                          <a:latin typeface="Calibri" pitchFamily="34" charset="0"/>
                          <a:ea typeface="Calibri" pitchFamily="34" charset="-122"/>
                          <a:cs typeface="Calibri" pitchFamily="34" charset="-120"/>
                        </a:rPr>
                        <a:t>1. Cấu trúc prompt</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≥7 prompt đủ V-B-N-Đ-G, có placeholder, khi nào dùng</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Thiếu số lượng, prompt 1–2 câu chung chung</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25</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150" b="1" dirty="0">
                          <a:solidFill>
                            <a:srgbClr val="1F2A30"/>
                          </a:solidFill>
                          <a:latin typeface="Calibri" pitchFamily="34" charset="0"/>
                          <a:ea typeface="Calibri" pitchFamily="34" charset="-122"/>
                          <a:cs typeface="Calibri" pitchFamily="34" charset="-120"/>
                        </a:rPr>
                        <a:t>2. Đầu ra dùng được</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Ví dụ chạy thật, dùng được ngay với khách/CRM</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Không có ví dụ, hoặc sai chính sách</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25</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F2A30"/>
                          </a:solidFill>
                          <a:latin typeface="Calibri" pitchFamily="34" charset="0"/>
                          <a:ea typeface="Calibri" pitchFamily="34" charset="-122"/>
                          <a:cs typeface="Calibri" pitchFamily="34" charset="-120"/>
                        </a:rPr>
                        <a:t>3. Quy trình tóm tắt</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Đủ bước, công cụ, lý do; 4 mục; nêu lỗi AI</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Thiếu bước, không theo mẫu 4 mục</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20</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150" b="1" dirty="0">
                          <a:solidFill>
                            <a:srgbClr val="1F2A30"/>
                          </a:solidFill>
                          <a:latin typeface="Calibri" pitchFamily="34" charset="0"/>
                          <a:ea typeface="Calibri" pitchFamily="34" charset="-122"/>
                          <a:cs typeface="Calibri" pitchFamily="34" charset="-120"/>
                        </a:rPr>
                        <a:t>4. Che dữ liệu</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Placeholder nhất quán; checklist cụ thể</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Sót dữ liệu, nhờ AI che hộ</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20</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F2A30"/>
                          </a:solidFill>
                          <a:latin typeface="Calibri" pitchFamily="34" charset="0"/>
                          <a:ea typeface="Calibri" pitchFamily="34" charset="-122"/>
                          <a:cs typeface="Calibri" pitchFamily="34" charset="-120"/>
                        </a:rPr>
                        <a:t>5. Trình bày &amp; phản tư</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Dễ dùng; ước lượng thời gian tiết kiệm</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Khó đọc, thiếu phản tư</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10</a:t>
                      </a:r>
                      <a:endParaRPr lang="en-US" sz="11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bl>
          </a:graphicData>
        </a:graphic>
      </p:graphicFrame>
      <p:sp>
        <p:nvSpPr>
          <p:cNvPr id="5" name="Text 2"/>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i="1" dirty="0">
                <a:solidFill>
                  <a:srgbClr val="5B6B73"/>
                </a:solidFill>
                <a:latin typeface="Calibri" pitchFamily="34" charset="0"/>
                <a:ea typeface="Calibri" pitchFamily="34" charset="-122"/>
                <a:cs typeface="Calibri" pitchFamily="34" charset="-120"/>
              </a:rPr>
              <a:t>Ví dụ: 80/100 tương đương </a:t>
            </a:r>
            <a:pPr indent="0" marL="0">
              <a:buNone/>
            </a:pPr>
            <a:r>
              <a:rPr lang="en-US" sz="1250" b="1" i="1" dirty="0">
                <a:solidFill>
                  <a:srgbClr val="5B6B73"/>
                </a:solidFill>
                <a:latin typeface="Calibri" pitchFamily="34" charset="0"/>
                <a:ea typeface="Calibri" pitchFamily="34" charset="-122"/>
                <a:cs typeface="Calibri" pitchFamily="34" charset="-120"/>
              </a:rPr>
              <a:t>24/30</a:t>
            </a:r>
            <a:pPr indent="0" marL="0">
              <a:buNone/>
            </a:pPr>
            <a:r>
              <a:rPr lang="en-US" sz="1250" i="1" dirty="0">
                <a:solidFill>
                  <a:srgbClr val="5B6B73"/>
                </a:solidFill>
                <a:latin typeface="Calibri" pitchFamily="34" charset="0"/>
                <a:ea typeface="Calibri" pitchFamily="34" charset="-122"/>
                <a:cs typeface="Calibri" pitchFamily="34" charset="-120"/>
              </a:rPr>
              <a:t>. Bài mẫu ASM 1 ở mục </a:t>
            </a:r>
            <a:pPr indent="0" marL="0">
              <a:buNone/>
            </a:pPr>
            <a:r>
              <a:rPr lang="en-US" sz="1250" b="1" i="1" dirty="0">
                <a:solidFill>
                  <a:srgbClr val="5B6B73"/>
                </a:solidFill>
                <a:latin typeface="Calibri" pitchFamily="34" charset="0"/>
                <a:ea typeface="Calibri" pitchFamily="34" charset="-122"/>
                <a:cs typeface="Calibri" pitchFamily="34" charset="-120"/>
              </a:rPr>
              <a:t>Giải pháp</a:t>
            </a:r>
            <a:pPr indent="0" marL="0">
              <a:buNone/>
            </a:pPr>
            <a:r>
              <a:rPr lang="en-US" sz="1250" i="1" dirty="0">
                <a:solidFill>
                  <a:srgbClr val="5B6B73"/>
                </a:solidFill>
                <a:latin typeface="Calibri" pitchFamily="34" charset="0"/>
                <a:ea typeface="Calibri" pitchFamily="34" charset="-122"/>
                <a:cs typeface="Calibri" pitchFamily="34" charset="-120"/>
              </a:rPr>
              <a:t>: tự làm trước rồi mới xem.</a:t>
            </a:r>
            <a:endParaRPr lang="en-US" sz="1250" dirty="0"/>
          </a:p>
        </p:txBody>
      </p:sp>
      <p:sp>
        <p:nvSpPr>
          <p:cNvPr id="6" name="Text 3"/>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7" name="Text 4"/>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ROLE PLAY VỚI THẦY GIÁO AI · 13 PHÚT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Luyện cùng "anh Quân", trưởng ca khó tính</a:t>
            </a:r>
            <a:endParaRPr lang="en-US" sz="2500" dirty="0"/>
          </a:p>
        </p:txBody>
      </p:sp>
      <p:sp>
        <p:nvSpPr>
          <p:cNvPr id="4" name="Shape 2"/>
          <p:cNvSpPr/>
          <p:nvPr/>
        </p:nvSpPr>
        <p:spPr>
          <a:xfrm>
            <a:off x="457200" y="1280160"/>
            <a:ext cx="8229600" cy="2852928"/>
          </a:xfrm>
          <a:prstGeom prst="roundRect">
            <a:avLst>
              <a:gd name="adj" fmla="val 2564"/>
            </a:avLst>
          </a:prstGeom>
          <a:solidFill>
            <a:srgbClr val="17262C"/>
          </a:solidFill>
          <a:ln w="12700">
            <a:solidFill>
              <a:srgbClr val="17262C"/>
            </a:solidFill>
            <a:prstDash val="solid"/>
          </a:ln>
        </p:spPr>
      </p:sp>
      <p:sp>
        <p:nvSpPr>
          <p:cNvPr id="5" name="Text 3"/>
          <p:cNvSpPr txBox="1"/>
          <p:nvPr/>
        </p:nvSpPr>
        <p:spPr>
          <a:xfrm>
            <a:off x="685800" y="1417320"/>
            <a:ext cx="7772400" cy="2578608"/>
          </a:xfrm>
          <a:prstGeom prst="rect">
            <a:avLst/>
          </a:prstGeom>
          <a:noFill/>
          <a:ln/>
        </p:spPr>
        <p:txBody>
          <a:bodyPr wrap="square" lIns="0" tIns="0" rIns="0" bIns="0" rtlCol="0" anchor="t"/>
          <a:lstStyle/>
          <a:p>
            <a:pPr indent="0" marL="0">
              <a:lnSpc>
                <a:spcPct val="105000"/>
              </a:lnSpc>
              <a:buNone/>
            </a:pPr>
            <a:r>
              <a:rPr lang="en-US" sz="1200" dirty="0">
                <a:solidFill>
                  <a:srgbClr val="E6F1EF"/>
                </a:solidFill>
                <a:latin typeface="Courier New" pitchFamily="34" charset="0"/>
                <a:ea typeface="Courier New" pitchFamily="34" charset="-122"/>
                <a:cs typeface="Courier New" pitchFamily="34" charset="-120"/>
              </a:rPr>
              <a:t>Bạn là "anh Quân", trưởng ca tổng đài 8 năm kinh nghiệm ở ShopNhanh (hư cấu),</a:t>
            </a:r>
            <a:endParaRPr lang="en-US" sz="1200" dirty="0"/>
          </a:p>
          <a:p>
            <a:pPr indent="0" marL="0">
              <a:lnSpc>
                <a:spcPct val="105000"/>
              </a:lnSpc>
              <a:buNone/>
            </a:pPr>
            <a:r>
              <a:rPr lang="en-US" sz="1200" dirty="0">
                <a:solidFill>
                  <a:srgbClr val="E6F1EF"/>
                </a:solidFill>
                <a:latin typeface="Courier New" pitchFamily="34" charset="0"/>
                <a:ea typeface="Courier New" pitchFamily="34" charset="-122"/>
                <a:cs typeface="Courier New" pitchFamily="34" charset="-120"/>
              </a:rPr>
              <a:t>khó tính nhưng tận tâm. Hãy giữ vai này suốt cuộc trò chuyện.</a:t>
            </a:r>
            <a:endParaRPr lang="en-US" sz="1200" dirty="0"/>
          </a:p>
          <a:p>
            <a:pPr indent="0" marL="0">
              <a:lnSpc>
                <a:spcPct val="105000"/>
              </a:lnSpc>
              <a:buNone/>
            </a:pPr>
            <a:r>
              <a:rPr lang="en-US" sz="1200" dirty="0">
                <a:solidFill>
                  <a:srgbClr val="E6F1EF"/>
                </a:solidFill>
                <a:latin typeface="Courier New" pitchFamily="34" charset="0"/>
                <a:ea typeface="Courier New" pitchFamily="34" charset="-122"/>
                <a:cs typeface="Courier New" pitchFamily="34" charset="-120"/>
              </a:rPr>
              <a:t>Tôi đang học tóm tắt cuộc gọi theo 4 mục: Vấn đề, Nguyên nhân, Đã xử lý, Việc cần</a:t>
            </a:r>
            <a:endParaRPr lang="en-US" sz="1200" dirty="0"/>
          </a:p>
          <a:p>
            <a:pPr indent="0" marL="0">
              <a:lnSpc>
                <a:spcPct val="105000"/>
              </a:lnSpc>
              <a:buNone/>
            </a:pPr>
            <a:r>
              <a:rPr lang="en-US" sz="1200" dirty="0">
                <a:solidFill>
                  <a:srgbClr val="E6F1EF"/>
                </a:solidFill>
                <a:latin typeface="Courier New" pitchFamily="34" charset="0"/>
                <a:ea typeface="Courier New" pitchFamily="34" charset="-122"/>
                <a:cs typeface="Courier New" pitchFamily="34" charset="-120"/>
              </a:rPr>
              <a:t>follow-up, và che dữ liệu bằng [TÊN KH], [SĐT], [MÃ ĐƠN], [ĐỊA CHỈ].</a:t>
            </a:r>
            <a:endParaRPr lang="en-US" sz="1200" dirty="0"/>
          </a:p>
          <a:p>
            <a:pPr indent="0" marL="0">
              <a:lnSpc>
                <a:spcPct val="105000"/>
              </a:lnSpc>
              <a:buNone/>
            </a:pPr>
            <a:endParaRPr lang="en-US" sz="1200" dirty="0"/>
          </a:p>
          <a:p>
            <a:pPr indent="0" marL="0">
              <a:lnSpc>
                <a:spcPct val="105000"/>
              </a:lnSpc>
              <a:buNone/>
            </a:pPr>
            <a:r>
              <a:rPr lang="en-US" sz="1200" dirty="0">
                <a:solidFill>
                  <a:srgbClr val="E6F1EF"/>
                </a:solidFill>
                <a:latin typeface="Courier New" pitchFamily="34" charset="0"/>
                <a:ea typeface="Courier New" pitchFamily="34" charset="-122"/>
                <a:cs typeface="Courier New" pitchFamily="34" charset="-120"/>
              </a:rPr>
              <a:t>- Vòng 1: bạn viết đoạn chép lời hư cấu ĐÃ che, có 1 cam kết kèm thời hạn.</a:t>
            </a:r>
            <a:endParaRPr lang="en-US" sz="1200" dirty="0"/>
          </a:p>
          <a:p>
            <a:pPr indent="0" marL="0">
              <a:lnSpc>
                <a:spcPct val="105000"/>
              </a:lnSpc>
              <a:buNone/>
            </a:pPr>
            <a:r>
              <a:rPr lang="en-US" sz="1200" dirty="0">
                <a:solidFill>
                  <a:srgbClr val="E6F1EF"/>
                </a:solidFill>
                <a:latin typeface="Courier New" pitchFamily="34" charset="0"/>
                <a:ea typeface="Courier New" pitchFamily="34" charset="-122"/>
                <a:cs typeface="Courier New" pitchFamily="34" charset="-120"/>
              </a:rPr>
              <a:t>- Vòng 2: đoạn chép lời hư cấu CHƯA che, cài 1 chi tiết dễ bỏ sót.</a:t>
            </a:r>
            <a:endParaRPr lang="en-US" sz="1200" dirty="0"/>
          </a:p>
          <a:p>
            <a:pPr indent="0" marL="0">
              <a:lnSpc>
                <a:spcPct val="105000"/>
              </a:lnSpc>
              <a:buNone/>
            </a:pPr>
            <a:r>
              <a:rPr lang="en-US" sz="1200" dirty="0">
                <a:solidFill>
                  <a:srgbClr val="E6F1EF"/>
                </a:solidFill>
                <a:latin typeface="Courier New" pitchFamily="34" charset="0"/>
                <a:ea typeface="Courier New" pitchFamily="34" charset="-122"/>
                <a:cs typeface="Courier New" pitchFamily="34" charset="-120"/>
              </a:rPr>
              <a:t>- Vòng 3: bạn đóng vai khách hỏi chính sách đổi trả, tôi trả lời có dẫn mục.</a:t>
            </a:r>
            <a:endParaRPr lang="en-US" sz="1200" dirty="0"/>
          </a:p>
          <a:p>
            <a:pPr indent="0" marL="0">
              <a:lnSpc>
                <a:spcPct val="105000"/>
              </a:lnSpc>
              <a:buNone/>
            </a:pPr>
            <a:endParaRPr lang="en-US" sz="1200" dirty="0"/>
          </a:p>
          <a:p>
            <a:pPr indent="0" marL="0">
              <a:lnSpc>
                <a:spcPct val="105000"/>
              </a:lnSpc>
              <a:buNone/>
            </a:pPr>
            <a:r>
              <a:rPr lang="en-US" sz="1200" dirty="0">
                <a:solidFill>
                  <a:srgbClr val="E6F1EF"/>
                </a:solidFill>
                <a:latin typeface="Courier New" pitchFamily="34" charset="0"/>
                <a:ea typeface="Courier New" pitchFamily="34" charset="-122"/>
                <a:cs typeface="Courier New" pitchFamily="34" charset="-120"/>
              </a:rPr>
              <a:t>Mỗi vòng: chấm Đạt / Thiếu / Sai kèm lý do, chỉ ra chỗ bỏ sót, bịa, lọt dữ liệu;</a:t>
            </a:r>
            <a:endParaRPr lang="en-US" sz="1200" dirty="0"/>
          </a:p>
          <a:p>
            <a:pPr indent="0" marL="0">
              <a:lnSpc>
                <a:spcPct val="105000"/>
              </a:lnSpc>
              <a:buNone/>
            </a:pPr>
            <a:r>
              <a:rPr lang="en-US" sz="1200" dirty="0">
                <a:solidFill>
                  <a:srgbClr val="E6F1EF"/>
                </a:solidFill>
                <a:latin typeface="Courier New" pitchFamily="34" charset="0"/>
                <a:ea typeface="Courier New" pitchFamily="34" charset="-122"/>
                <a:cs typeface="Courier New" pitchFamily="34" charset="-120"/>
              </a:rPr>
              <a:t>gợi ý sửa nhưng KHÔNG viết hộ; cho điểm /10.</a:t>
            </a:r>
            <a:endParaRPr lang="en-US" sz="1200" dirty="0"/>
          </a:p>
          <a:p>
            <a:pPr indent="0" marL="0">
              <a:lnSpc>
                <a:spcPct val="105000"/>
              </a:lnSpc>
              <a:buNone/>
            </a:pPr>
            <a:r>
              <a:rPr lang="en-US" sz="1200" dirty="0">
                <a:solidFill>
                  <a:srgbClr val="E6F1EF"/>
                </a:solidFill>
                <a:latin typeface="Courier New" pitchFamily="34" charset="0"/>
                <a:ea typeface="Courier New" pitchFamily="34" charset="-122"/>
                <a:cs typeface="Courier New" pitchFamily="34" charset="-120"/>
              </a:rPr>
              <a:t>Sau vòng 3: điểm trung bình, 3 thói quen tốt, 3 điểm cần cải thiện.</a:t>
            </a:r>
            <a:endParaRPr lang="en-US" sz="1200" dirty="0"/>
          </a:p>
        </p:txBody>
      </p:sp>
      <p:sp>
        <p:nvSpPr>
          <p:cNvPr id="6" name="Shape 4"/>
          <p:cNvSpPr/>
          <p:nvPr/>
        </p:nvSpPr>
        <p:spPr>
          <a:xfrm>
            <a:off x="457200" y="4242816"/>
            <a:ext cx="329184" cy="329184"/>
          </a:xfrm>
          <a:prstGeom prst="ellipse">
            <a:avLst/>
          </a:prstGeom>
          <a:solidFill>
            <a:srgbClr val="F2994A"/>
          </a:solidFill>
          <a:ln w="12700">
            <a:solidFill>
              <a:srgbClr val="F2994A"/>
            </a:solidFill>
            <a:prstDash val="solid"/>
          </a:ln>
        </p:spPr>
      </p:sp>
      <p:pic>
        <p:nvPicPr>
          <p:cNvPr id="7" name="Image 0" descr="preencoded.png">    </p:cNvPr>
          <p:cNvPicPr>
            <a:picLocks noChangeAspect="1"/>
          </p:cNvPicPr>
          <p:nvPr/>
        </p:nvPicPr>
        <p:blipFill>
          <a:blip r:embed="rId1"/>
          <a:stretch>
            <a:fillRect/>
          </a:stretch>
        </p:blipFill>
        <p:spPr>
          <a:xfrm>
            <a:off x="542788" y="4328404"/>
            <a:ext cx="158008" cy="158008"/>
          </a:xfrm>
          <a:prstGeom prst="rect">
            <a:avLst/>
          </a:prstGeom>
        </p:spPr>
      </p:pic>
      <p:sp>
        <p:nvSpPr>
          <p:cNvPr id="8" name="Text 5"/>
          <p:cNvSpPr txBox="1"/>
          <p:nvPr/>
        </p:nvSpPr>
        <p:spPr>
          <a:xfrm>
            <a:off x="896112" y="4206240"/>
            <a:ext cx="7772400" cy="411480"/>
          </a:xfrm>
          <a:prstGeom prst="rect">
            <a:avLst/>
          </a:prstGeom>
          <a:noFill/>
          <a:ln/>
        </p:spPr>
        <p:txBody>
          <a:bodyPr wrap="square" lIns="0" tIns="0" rIns="0" bIns="0" rtlCol="0" anchor="ctr"/>
          <a:lstStyle/>
          <a:p>
            <a:pPr indent="0" marL="0">
              <a:buNone/>
            </a:pPr>
            <a:r>
              <a:rPr lang="en-US" sz="1150" dirty="0">
                <a:solidFill>
                  <a:srgbClr val="1F2A30"/>
                </a:solidFill>
                <a:latin typeface="Calibri" pitchFamily="34" charset="0"/>
                <a:ea typeface="Calibri" pitchFamily="34" charset="-122"/>
                <a:cs typeface="Calibri" pitchFamily="34" charset="-120"/>
              </a:rPr>
              <a:t>Bản rút gọn. Prompt đầy đủ trong trang </a:t>
            </a:r>
            <a:pPr indent="0" marL="0">
              <a:buNone/>
            </a:pPr>
            <a:r>
              <a:rPr lang="en-US" sz="1150" b="1" dirty="0">
                <a:solidFill>
                  <a:srgbClr val="1F2A30"/>
                </a:solidFill>
                <a:latin typeface="Calibri" pitchFamily="34" charset="0"/>
                <a:ea typeface="Calibri" pitchFamily="34" charset="-122"/>
                <a:cs typeface="Calibri" pitchFamily="34" charset="-120"/>
              </a:rPr>
              <a:t>Role play</a:t>
            </a:r>
            <a:pPr indent="0" marL="0">
              <a:buNone/>
            </a:pPr>
            <a:r>
              <a:rPr lang="en-US" sz="1150" dirty="0">
                <a:solidFill>
                  <a:srgbClr val="1F2A30"/>
                </a:solidFill>
                <a:latin typeface="Calibri" pitchFamily="34" charset="0"/>
                <a:ea typeface="Calibri" pitchFamily="34" charset="-122"/>
                <a:cs typeface="Calibri" pitchFamily="34" charset="-120"/>
              </a:rPr>
              <a:t> của ebook. Mục tiêu: ít nhất </a:t>
            </a:r>
            <a:pPr indent="0" marL="0">
              <a:buNone/>
            </a:pPr>
            <a:r>
              <a:rPr lang="en-US" sz="1150" b="1" dirty="0">
                <a:solidFill>
                  <a:srgbClr val="1F2A30"/>
                </a:solidFill>
                <a:latin typeface="Calibri" pitchFamily="34" charset="0"/>
                <a:ea typeface="Calibri" pitchFamily="34" charset="-122"/>
                <a:cs typeface="Calibri" pitchFamily="34" charset="-120"/>
              </a:rPr>
              <a:t>1 vòng đạt 8/10</a:t>
            </a:r>
            <a:pPr indent="0" marL="0">
              <a:buNone/>
            </a:pPr>
            <a:r>
              <a:rPr lang="en-US" sz="1150" dirty="0">
                <a:solidFill>
                  <a:srgbClr val="1F2A30"/>
                </a:solidFill>
                <a:latin typeface="Calibri" pitchFamily="34" charset="0"/>
                <a:ea typeface="Calibri" pitchFamily="34" charset="-122"/>
                <a:cs typeface="Calibri" pitchFamily="34" charset="-120"/>
              </a:rPr>
              <a:t>.</a:t>
            </a:r>
            <a:endParaRPr lang="en-US" sz="1150" dirty="0"/>
          </a:p>
        </p:txBody>
      </p:sp>
      <p:sp>
        <p:nvSpPr>
          <p:cNvPr id="9" name="Text 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10" name="Text 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TỔNG KẾT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Bạn đã học được gì</a:t>
            </a:r>
            <a:endParaRPr lang="en-US" sz="2500" dirty="0"/>
          </a:p>
        </p:txBody>
      </p:sp>
      <p:sp>
        <p:nvSpPr>
          <p:cNvPr id="4" name="Shape 2"/>
          <p:cNvSpPr/>
          <p:nvPr/>
        </p:nvSpPr>
        <p:spPr>
          <a:xfrm>
            <a:off x="457200" y="1490472"/>
            <a:ext cx="329184" cy="329184"/>
          </a:xfrm>
          <a:prstGeom prst="ellipse">
            <a:avLst/>
          </a:prstGeom>
          <a:solidFill>
            <a:srgbClr val="0E7C7B"/>
          </a:solidFill>
          <a:ln w="12700">
            <a:solidFill>
              <a:srgbClr val="0E7C7B"/>
            </a:solidFill>
            <a:prstDash val="solid"/>
          </a:ln>
        </p:spPr>
      </p:sp>
      <p:pic>
        <p:nvPicPr>
          <p:cNvPr id="5" name="Image 0" descr="preencoded.png">    </p:cNvPr>
          <p:cNvPicPr>
            <a:picLocks noChangeAspect="1"/>
          </p:cNvPicPr>
          <p:nvPr/>
        </p:nvPicPr>
        <p:blipFill>
          <a:blip r:embed="rId1"/>
          <a:stretch>
            <a:fillRect/>
          </a:stretch>
        </p:blipFill>
        <p:spPr>
          <a:xfrm>
            <a:off x="542788" y="1576060"/>
            <a:ext cx="158008" cy="158008"/>
          </a:xfrm>
          <a:prstGeom prst="rect">
            <a:avLst/>
          </a:prstGeom>
        </p:spPr>
      </p:pic>
      <p:sp>
        <p:nvSpPr>
          <p:cNvPr id="6" name="Text 3"/>
          <p:cNvSpPr txBox="1"/>
          <p:nvPr/>
        </p:nvSpPr>
        <p:spPr>
          <a:xfrm>
            <a:off x="914400" y="1371600"/>
            <a:ext cx="4754880" cy="566928"/>
          </a:xfrm>
          <a:prstGeom prst="rect">
            <a:avLst/>
          </a:prstGeom>
          <a:noFill/>
          <a:ln/>
        </p:spPr>
        <p:txBody>
          <a:bodyPr wrap="square" lIns="0" tIns="0" rIns="0" bIns="0" rtlCol="0" anchor="ctr"/>
          <a:lstStyle/>
          <a:p>
            <a:pPr indent="0" marL="0">
              <a:buNone/>
            </a:pPr>
            <a:r>
              <a:rPr lang="en-US" sz="1450" b="1" dirty="0">
                <a:solidFill>
                  <a:srgbClr val="1F2A30"/>
                </a:solidFill>
                <a:latin typeface="Calibri" pitchFamily="34" charset="0"/>
                <a:ea typeface="Calibri" pitchFamily="34" charset="-122"/>
                <a:cs typeface="Calibri" pitchFamily="34" charset="-120"/>
              </a:rPr>
              <a:t>NotebookLM</a:t>
            </a:r>
            <a:pPr indent="0" marL="0">
              <a:buNone/>
            </a:pPr>
            <a:r>
              <a:rPr lang="en-US" sz="1450" dirty="0">
                <a:solidFill>
                  <a:srgbClr val="1F2A30"/>
                </a:solidFill>
                <a:latin typeface="Calibri" pitchFamily="34" charset="0"/>
                <a:ea typeface="Calibri" pitchFamily="34" charset="-122"/>
                <a:cs typeface="Calibri" pitchFamily="34" charset="-120"/>
              </a:rPr>
              <a:t> trả lời dựa trên tài liệu bạn nạp, kèm trích dẫn: vẫn phải </a:t>
            </a:r>
            <a:pPr indent="0" marL="0">
              <a:buNone/>
            </a:pPr>
            <a:r>
              <a:rPr lang="en-US" sz="1450" b="1" dirty="0">
                <a:solidFill>
                  <a:srgbClr val="1F2A30"/>
                </a:solidFill>
                <a:latin typeface="Calibri" pitchFamily="34" charset="0"/>
                <a:ea typeface="Calibri" pitchFamily="34" charset="-122"/>
                <a:cs typeface="Calibri" pitchFamily="34" charset="-120"/>
              </a:rPr>
              <a:t>bấm để kiểm</a:t>
            </a:r>
            <a:pPr indent="0" marL="0">
              <a:buNone/>
            </a:pPr>
            <a:r>
              <a:rPr lang="en-US" sz="1450" dirty="0">
                <a:solidFill>
                  <a:srgbClr val="1F2A30"/>
                </a:solidFill>
                <a:latin typeface="Calibri" pitchFamily="34" charset="0"/>
                <a:ea typeface="Calibri" pitchFamily="34" charset="-122"/>
                <a:cs typeface="Calibri" pitchFamily="34" charset="-120"/>
              </a:rPr>
              <a:t>.</a:t>
            </a:r>
            <a:endParaRPr lang="en-US" sz="1450" dirty="0"/>
          </a:p>
        </p:txBody>
      </p:sp>
      <p:sp>
        <p:nvSpPr>
          <p:cNvPr id="7" name="Shape 4"/>
          <p:cNvSpPr/>
          <p:nvPr/>
        </p:nvSpPr>
        <p:spPr>
          <a:xfrm>
            <a:off x="457200" y="2057400"/>
            <a:ext cx="329184" cy="329184"/>
          </a:xfrm>
          <a:prstGeom prst="ellipse">
            <a:avLst/>
          </a:prstGeom>
          <a:solidFill>
            <a:srgbClr val="0E7C7B"/>
          </a:solidFill>
          <a:ln w="12700">
            <a:solidFill>
              <a:srgbClr val="0E7C7B"/>
            </a:solidFill>
            <a:prstDash val="solid"/>
          </a:ln>
        </p:spPr>
      </p:sp>
      <p:pic>
        <p:nvPicPr>
          <p:cNvPr id="8" name="Image 1" descr="preencoded.png">    </p:cNvPr>
          <p:cNvPicPr>
            <a:picLocks noChangeAspect="1"/>
          </p:cNvPicPr>
          <p:nvPr/>
        </p:nvPicPr>
        <p:blipFill>
          <a:blip r:embed="rId2"/>
          <a:stretch>
            <a:fillRect/>
          </a:stretch>
        </p:blipFill>
        <p:spPr>
          <a:xfrm>
            <a:off x="542788" y="2142988"/>
            <a:ext cx="158008" cy="158008"/>
          </a:xfrm>
          <a:prstGeom prst="rect">
            <a:avLst/>
          </a:prstGeom>
        </p:spPr>
      </p:pic>
      <p:sp>
        <p:nvSpPr>
          <p:cNvPr id="9" name="Text 5"/>
          <p:cNvSpPr txBox="1"/>
          <p:nvPr/>
        </p:nvSpPr>
        <p:spPr>
          <a:xfrm>
            <a:off x="914400" y="1938528"/>
            <a:ext cx="4754880" cy="566928"/>
          </a:xfrm>
          <a:prstGeom prst="rect">
            <a:avLst/>
          </a:prstGeom>
          <a:noFill/>
          <a:ln/>
        </p:spPr>
        <p:txBody>
          <a:bodyPr wrap="square" lIns="0" tIns="0" rIns="0" bIns="0" rtlCol="0" anchor="ctr"/>
          <a:lstStyle/>
          <a:p>
            <a:pPr indent="0" marL="0">
              <a:buNone/>
            </a:pPr>
            <a:r>
              <a:rPr lang="en-US" sz="1450" b="1" dirty="0">
                <a:solidFill>
                  <a:srgbClr val="1F2A30"/>
                </a:solidFill>
                <a:latin typeface="Calibri" pitchFamily="34" charset="0"/>
                <a:ea typeface="Calibri" pitchFamily="34" charset="-122"/>
                <a:cs typeface="Calibri" pitchFamily="34" charset="-120"/>
              </a:rPr>
              <a:t>Chép lời:</a:t>
            </a:r>
            <a:pPr indent="0" marL="0">
              <a:buNone/>
            </a:pPr>
            <a:r>
              <a:rPr lang="en-US" sz="1450" dirty="0">
                <a:solidFill>
                  <a:srgbClr val="1F2A30"/>
                </a:solidFill>
                <a:latin typeface="Calibri" pitchFamily="34" charset="0"/>
                <a:ea typeface="Calibri" pitchFamily="34" charset="-122"/>
                <a:cs typeface="Calibri" pitchFamily="34" charset="-120"/>
              </a:rPr>
              <a:t> TurboScribe, Whisper, Gemini; kiểm con số, động từ, phủ định, người nói.</a:t>
            </a:r>
            <a:endParaRPr lang="en-US" sz="1450" dirty="0"/>
          </a:p>
        </p:txBody>
      </p:sp>
      <p:sp>
        <p:nvSpPr>
          <p:cNvPr id="10" name="Shape 6"/>
          <p:cNvSpPr/>
          <p:nvPr/>
        </p:nvSpPr>
        <p:spPr>
          <a:xfrm>
            <a:off x="457200" y="2624328"/>
            <a:ext cx="329184" cy="329184"/>
          </a:xfrm>
          <a:prstGeom prst="ellipse">
            <a:avLst/>
          </a:prstGeom>
          <a:solidFill>
            <a:srgbClr val="0E7C7B"/>
          </a:solidFill>
          <a:ln w="12700">
            <a:solidFill>
              <a:srgbClr val="0E7C7B"/>
            </a:solidFill>
            <a:prstDash val="solid"/>
          </a:ln>
        </p:spPr>
      </p:sp>
      <p:pic>
        <p:nvPicPr>
          <p:cNvPr id="11" name="Image 2" descr="preencoded.png">    </p:cNvPr>
          <p:cNvPicPr>
            <a:picLocks noChangeAspect="1"/>
          </p:cNvPicPr>
          <p:nvPr/>
        </p:nvPicPr>
        <p:blipFill>
          <a:blip r:embed="rId3"/>
          <a:stretch>
            <a:fillRect/>
          </a:stretch>
        </p:blipFill>
        <p:spPr>
          <a:xfrm>
            <a:off x="542788" y="2709916"/>
            <a:ext cx="158008" cy="158008"/>
          </a:xfrm>
          <a:prstGeom prst="rect">
            <a:avLst/>
          </a:prstGeom>
        </p:spPr>
      </p:pic>
      <p:sp>
        <p:nvSpPr>
          <p:cNvPr id="12" name="Text 7"/>
          <p:cNvSpPr txBox="1"/>
          <p:nvPr/>
        </p:nvSpPr>
        <p:spPr>
          <a:xfrm>
            <a:off x="914400" y="2505456"/>
            <a:ext cx="4754880" cy="566928"/>
          </a:xfrm>
          <a:prstGeom prst="rect">
            <a:avLst/>
          </a:prstGeom>
          <a:noFill/>
          <a:ln/>
        </p:spPr>
        <p:txBody>
          <a:bodyPr wrap="square" lIns="0" tIns="0" rIns="0" bIns="0" rtlCol="0" anchor="ctr"/>
          <a:lstStyle/>
          <a:p>
            <a:pPr indent="0" marL="0">
              <a:buNone/>
            </a:pPr>
            <a:r>
              <a:rPr lang="en-US" sz="1450" b="1" dirty="0">
                <a:solidFill>
                  <a:srgbClr val="1F2A30"/>
                </a:solidFill>
                <a:latin typeface="Calibri" pitchFamily="34" charset="0"/>
                <a:ea typeface="Calibri" pitchFamily="34" charset="-122"/>
                <a:cs typeface="Calibri" pitchFamily="34" charset="-120"/>
              </a:rPr>
              <a:t>Khử ồn:</a:t>
            </a:r>
            <a:pPr indent="0" marL="0">
              <a:buNone/>
            </a:pPr>
            <a:r>
              <a:rPr lang="en-US" sz="1450" dirty="0">
                <a:solidFill>
                  <a:srgbClr val="1F2A30"/>
                </a:solidFill>
                <a:latin typeface="Calibri" pitchFamily="34" charset="0"/>
                <a:ea typeface="Calibri" pitchFamily="34" charset="-122"/>
                <a:cs typeface="Calibri" pitchFamily="34" charset="-120"/>
              </a:rPr>
              <a:t> Adobe Podcast cho </a:t>
            </a:r>
            <a:pPr indent="0" marL="0">
              <a:buNone/>
            </a:pPr>
            <a:r>
              <a:rPr lang="en-US" sz="1450" b="1" dirty="0">
                <a:solidFill>
                  <a:srgbClr val="1F2A30"/>
                </a:solidFill>
                <a:latin typeface="Calibri" pitchFamily="34" charset="0"/>
                <a:ea typeface="Calibri" pitchFamily="34" charset="-122"/>
                <a:cs typeface="Calibri" pitchFamily="34" charset="-120"/>
              </a:rPr>
              <a:t>file</a:t>
            </a:r>
            <a:pPr indent="0" marL="0">
              <a:buNone/>
            </a:pPr>
            <a:r>
              <a:rPr lang="en-US" sz="1450" dirty="0">
                <a:solidFill>
                  <a:srgbClr val="1F2A30"/>
                </a:solidFill>
                <a:latin typeface="Calibri" pitchFamily="34" charset="0"/>
                <a:ea typeface="Calibri" pitchFamily="34" charset="-122"/>
                <a:cs typeface="Calibri" pitchFamily="34" charset="-120"/>
              </a:rPr>
              <a:t>; Krisp, NVIDIA Broadcast cho </a:t>
            </a:r>
            <a:pPr indent="0" marL="0">
              <a:buNone/>
            </a:pPr>
            <a:r>
              <a:rPr lang="en-US" sz="1450" b="1" dirty="0">
                <a:solidFill>
                  <a:srgbClr val="1F2A30"/>
                </a:solidFill>
                <a:latin typeface="Calibri" pitchFamily="34" charset="0"/>
                <a:ea typeface="Calibri" pitchFamily="34" charset="-122"/>
                <a:cs typeface="Calibri" pitchFamily="34" charset="-120"/>
              </a:rPr>
              <a:t>mic realtime</a:t>
            </a:r>
            <a:pPr indent="0" marL="0">
              <a:buNone/>
            </a:pPr>
            <a:r>
              <a:rPr lang="en-US" sz="1450" dirty="0">
                <a:solidFill>
                  <a:srgbClr val="1F2A30"/>
                </a:solidFill>
                <a:latin typeface="Calibri" pitchFamily="34" charset="0"/>
                <a:ea typeface="Calibri" pitchFamily="34" charset="-122"/>
                <a:cs typeface="Calibri" pitchFamily="34" charset="-120"/>
              </a:rPr>
              <a:t>.</a:t>
            </a:r>
            <a:endParaRPr lang="en-US" sz="1450" dirty="0"/>
          </a:p>
        </p:txBody>
      </p:sp>
      <p:sp>
        <p:nvSpPr>
          <p:cNvPr id="13" name="Shape 8"/>
          <p:cNvSpPr/>
          <p:nvPr/>
        </p:nvSpPr>
        <p:spPr>
          <a:xfrm>
            <a:off x="457200" y="3191256"/>
            <a:ext cx="329184" cy="329184"/>
          </a:xfrm>
          <a:prstGeom prst="ellipse">
            <a:avLst/>
          </a:prstGeom>
          <a:solidFill>
            <a:srgbClr val="0E7C7B"/>
          </a:solidFill>
          <a:ln w="12700">
            <a:solidFill>
              <a:srgbClr val="0E7C7B"/>
            </a:solidFill>
            <a:prstDash val="solid"/>
          </a:ln>
        </p:spPr>
      </p:sp>
      <p:pic>
        <p:nvPicPr>
          <p:cNvPr id="14" name="Image 3" descr="preencoded.png">    </p:cNvPr>
          <p:cNvPicPr>
            <a:picLocks noChangeAspect="1"/>
          </p:cNvPicPr>
          <p:nvPr/>
        </p:nvPicPr>
        <p:blipFill>
          <a:blip r:embed="rId4"/>
          <a:stretch>
            <a:fillRect/>
          </a:stretch>
        </p:blipFill>
        <p:spPr>
          <a:xfrm>
            <a:off x="542788" y="3276844"/>
            <a:ext cx="158008" cy="158008"/>
          </a:xfrm>
          <a:prstGeom prst="rect">
            <a:avLst/>
          </a:prstGeom>
        </p:spPr>
      </p:pic>
      <p:sp>
        <p:nvSpPr>
          <p:cNvPr id="15" name="Text 9"/>
          <p:cNvSpPr txBox="1"/>
          <p:nvPr/>
        </p:nvSpPr>
        <p:spPr>
          <a:xfrm>
            <a:off x="914400" y="3072384"/>
            <a:ext cx="4754880" cy="566928"/>
          </a:xfrm>
          <a:prstGeom prst="rect">
            <a:avLst/>
          </a:prstGeom>
          <a:noFill/>
          <a:ln/>
        </p:spPr>
        <p:txBody>
          <a:bodyPr wrap="square" lIns="0" tIns="0" rIns="0" bIns="0" rtlCol="0" anchor="ctr"/>
          <a:lstStyle/>
          <a:p>
            <a:pPr indent="0" marL="0">
              <a:buNone/>
            </a:pPr>
            <a:r>
              <a:rPr lang="en-US" sz="1450" b="1" dirty="0">
                <a:solidFill>
                  <a:srgbClr val="1F2A30"/>
                </a:solidFill>
                <a:latin typeface="Calibri" pitchFamily="34" charset="0"/>
                <a:ea typeface="Calibri" pitchFamily="34" charset="-122"/>
                <a:cs typeface="Calibri" pitchFamily="34" charset="-120"/>
              </a:rPr>
              <a:t>Tóm tắt CRM 4 mục</a:t>
            </a:r>
            <a:pPr indent="0" marL="0">
              <a:buNone/>
            </a:pPr>
            <a:r>
              <a:rPr lang="en-US" sz="1450" dirty="0">
                <a:solidFill>
                  <a:srgbClr val="1F2A30"/>
                </a:solidFill>
                <a:latin typeface="Calibri" pitchFamily="34" charset="0"/>
                <a:ea typeface="Calibri" pitchFamily="34" charset="-122"/>
                <a:cs typeface="Calibri" pitchFamily="34" charset="-120"/>
              </a:rPr>
              <a:t>; follow-up có đủ ai, làm gì, khi nào.</a:t>
            </a:r>
            <a:endParaRPr lang="en-US" sz="1450" dirty="0"/>
          </a:p>
        </p:txBody>
      </p:sp>
      <p:sp>
        <p:nvSpPr>
          <p:cNvPr id="16" name="Shape 10"/>
          <p:cNvSpPr/>
          <p:nvPr/>
        </p:nvSpPr>
        <p:spPr>
          <a:xfrm>
            <a:off x="457200" y="3758184"/>
            <a:ext cx="329184" cy="329184"/>
          </a:xfrm>
          <a:prstGeom prst="ellipse">
            <a:avLst/>
          </a:prstGeom>
          <a:solidFill>
            <a:srgbClr val="0E7C7B"/>
          </a:solidFill>
          <a:ln w="12700">
            <a:solidFill>
              <a:srgbClr val="0E7C7B"/>
            </a:solidFill>
            <a:prstDash val="solid"/>
          </a:ln>
        </p:spPr>
      </p:sp>
      <p:pic>
        <p:nvPicPr>
          <p:cNvPr id="17" name="Image 4" descr="preencoded.png">    </p:cNvPr>
          <p:cNvPicPr>
            <a:picLocks noChangeAspect="1"/>
          </p:cNvPicPr>
          <p:nvPr/>
        </p:nvPicPr>
        <p:blipFill>
          <a:blip r:embed="rId5"/>
          <a:stretch>
            <a:fillRect/>
          </a:stretch>
        </p:blipFill>
        <p:spPr>
          <a:xfrm>
            <a:off x="542788" y="3843772"/>
            <a:ext cx="158008" cy="158008"/>
          </a:xfrm>
          <a:prstGeom prst="rect">
            <a:avLst/>
          </a:prstGeom>
        </p:spPr>
      </p:pic>
      <p:sp>
        <p:nvSpPr>
          <p:cNvPr id="18" name="Text 11"/>
          <p:cNvSpPr txBox="1"/>
          <p:nvPr/>
        </p:nvSpPr>
        <p:spPr>
          <a:xfrm>
            <a:off x="914400" y="3639312"/>
            <a:ext cx="4754880" cy="566928"/>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Bản chép lời là dữ liệu cá nhân: </a:t>
            </a:r>
            <a:pPr indent="0" marL="0">
              <a:buNone/>
            </a:pPr>
            <a:r>
              <a:rPr lang="en-US" sz="1450" b="1" dirty="0">
                <a:solidFill>
                  <a:srgbClr val="1F2A30"/>
                </a:solidFill>
                <a:latin typeface="Calibri" pitchFamily="34" charset="0"/>
                <a:ea typeface="Calibri" pitchFamily="34" charset="-122"/>
                <a:cs typeface="Calibri" pitchFamily="34" charset="-120"/>
              </a:rPr>
              <a:t>che trước, dán sau</a:t>
            </a:r>
            <a:pPr indent="0" marL="0">
              <a:buNone/>
            </a:pPr>
            <a:r>
              <a:rPr lang="en-US" sz="1450" dirty="0">
                <a:solidFill>
                  <a:srgbClr val="1F2A30"/>
                </a:solidFill>
                <a:latin typeface="Calibri" pitchFamily="34" charset="0"/>
                <a:ea typeface="Calibri" pitchFamily="34" charset="-122"/>
                <a:cs typeface="Calibri" pitchFamily="34" charset="-120"/>
              </a:rPr>
              <a:t>, không nhờ AI che hộ.</a:t>
            </a:r>
            <a:endParaRPr lang="en-US" sz="1450" dirty="0"/>
          </a:p>
        </p:txBody>
      </p:sp>
      <p:sp>
        <p:nvSpPr>
          <p:cNvPr id="19" name="Shape 12"/>
          <p:cNvSpPr/>
          <p:nvPr/>
        </p:nvSpPr>
        <p:spPr>
          <a:xfrm>
            <a:off x="5897880" y="1371600"/>
            <a:ext cx="2788920" cy="3154680"/>
          </a:xfrm>
          <a:prstGeom prst="roundRect">
            <a:avLst>
              <a:gd name="adj" fmla="val 3279"/>
            </a:avLst>
          </a:prstGeom>
          <a:solidFill>
            <a:srgbClr val="0B3B45"/>
          </a:solidFill>
          <a:ln w="12700">
            <a:solidFill>
              <a:srgbClr val="0B3B45"/>
            </a:solidFill>
            <a:prstDash val="solid"/>
          </a:ln>
        </p:spPr>
      </p:sp>
      <p:sp>
        <p:nvSpPr>
          <p:cNvPr id="20" name="Shape 13"/>
          <p:cNvSpPr/>
          <p:nvPr/>
        </p:nvSpPr>
        <p:spPr>
          <a:xfrm>
            <a:off x="6126480" y="1572768"/>
            <a:ext cx="502920" cy="502920"/>
          </a:xfrm>
          <a:prstGeom prst="ellipse">
            <a:avLst/>
          </a:prstGeom>
          <a:solidFill>
            <a:srgbClr val="F2994A"/>
          </a:solidFill>
          <a:ln w="12700">
            <a:solidFill>
              <a:srgbClr val="F2994A"/>
            </a:solidFill>
            <a:prstDash val="solid"/>
          </a:ln>
        </p:spPr>
      </p:sp>
      <p:pic>
        <p:nvPicPr>
          <p:cNvPr id="21" name="Image 5" descr="preencoded.png">    </p:cNvPr>
          <p:cNvPicPr>
            <a:picLocks noChangeAspect="1"/>
          </p:cNvPicPr>
          <p:nvPr/>
        </p:nvPicPr>
        <p:blipFill>
          <a:blip r:embed="rId6"/>
          <a:stretch>
            <a:fillRect/>
          </a:stretch>
        </p:blipFill>
        <p:spPr>
          <a:xfrm>
            <a:off x="6257239" y="1703527"/>
            <a:ext cx="241402" cy="241402"/>
          </a:xfrm>
          <a:prstGeom prst="rect">
            <a:avLst/>
          </a:prstGeom>
        </p:spPr>
      </p:pic>
      <p:sp>
        <p:nvSpPr>
          <p:cNvPr id="22" name="Text 14"/>
          <p:cNvSpPr txBox="1"/>
          <p:nvPr/>
        </p:nvSpPr>
        <p:spPr>
          <a:xfrm>
            <a:off x="6126480" y="2194560"/>
            <a:ext cx="2377440" cy="274320"/>
          </a:xfrm>
          <a:prstGeom prst="rect">
            <a:avLst/>
          </a:prstGeom>
          <a:noFill/>
          <a:ln/>
        </p:spPr>
        <p:txBody>
          <a:bodyPr wrap="square" lIns="0" tIns="0" rIns="0" bIns="0" rtlCol="0" anchor="t"/>
          <a:lstStyle/>
          <a:p>
            <a:pPr indent="0" marL="0">
              <a:buNone/>
            </a:pPr>
            <a:r>
              <a:rPr lang="en-US" sz="1050" b="1" spc="200" kern="0" dirty="0">
                <a:solidFill>
                  <a:srgbClr val="F2994A"/>
                </a:solidFill>
                <a:latin typeface="Calibri" pitchFamily="34" charset="0"/>
                <a:ea typeface="Calibri" pitchFamily="34" charset="-122"/>
                <a:cs typeface="Calibri" pitchFamily="34" charset="-120"/>
              </a:rPr>
              <a:t>TIẾP THEO</a:t>
            </a:r>
            <a:endParaRPr lang="en-US" sz="1050" dirty="0"/>
          </a:p>
        </p:txBody>
      </p:sp>
      <p:sp>
        <p:nvSpPr>
          <p:cNvPr id="23" name="Text 15"/>
          <p:cNvSpPr txBox="1"/>
          <p:nvPr/>
        </p:nvSpPr>
        <p:spPr>
          <a:xfrm>
            <a:off x="6126480" y="2514600"/>
            <a:ext cx="2377440" cy="18745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Buổi 3:</a:t>
            </a:r>
            <a:pPr indent="0" marL="0">
              <a:buNone/>
            </a:pPr>
            <a:r>
              <a:rPr lang="en-US" sz="1400" dirty="0">
                <a:solidFill>
                  <a:srgbClr val="FFFFFF"/>
                </a:solidFill>
                <a:latin typeface="Calibri" pitchFamily="34" charset="0"/>
                <a:ea typeface="Calibri" pitchFamily="34" charset="-122"/>
                <a:cs typeface="Calibri" pitchFamily="34" charset="-120"/>
              </a:rPr>
              <a:t> AI đọc ảnh lỗi và hóa đơn, infographic bằng Canva AI, video hướng dẫn có phụ đề, so sánh 4 trợ lý trên cùng một ticket. Nộp </a:t>
            </a:r>
            <a:pPr indent="0" marL="0">
              <a:buNone/>
            </a:pPr>
            <a:r>
              <a:rPr lang="en-US" sz="1400" b="1" dirty="0">
                <a:solidFill>
                  <a:srgbClr val="FFFFFF"/>
                </a:solidFill>
                <a:latin typeface="Calibri" pitchFamily="34" charset="0"/>
                <a:ea typeface="Calibri" pitchFamily="34" charset="-122"/>
                <a:cs typeface="Calibri" pitchFamily="34" charset="-120"/>
              </a:rPr>
              <a:t>ASM 1</a:t>
            </a:r>
            <a:pPr indent="0" marL="0">
              <a:buNone/>
            </a:pPr>
            <a:r>
              <a:rPr lang="en-US" sz="1400" dirty="0">
                <a:solidFill>
                  <a:srgbClr val="FFFFFF"/>
                </a:solidFill>
                <a:latin typeface="Calibri" pitchFamily="34" charset="0"/>
                <a:ea typeface="Calibri" pitchFamily="34" charset="-122"/>
                <a:cs typeface="Calibri" pitchFamily="34" charset="-120"/>
              </a:rPr>
              <a:t> trước Buổi 3.</a:t>
            </a:r>
            <a:endParaRPr lang="en-US" sz="1400" dirty="0"/>
          </a:p>
        </p:txBody>
      </p:sp>
      <p:sp>
        <p:nvSpPr>
          <p:cNvPr id="24" name="Text 1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2</a:t>
            </a:r>
            <a:endParaRPr lang="en-US" sz="900" dirty="0"/>
          </a:p>
        </p:txBody>
      </p:sp>
      <p:sp>
        <p:nvSpPr>
          <p:cNvPr id="25" name="Text 1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3B45"/>
        </a:solidFill>
      </p:bgPr>
    </p:bg>
    <p:spTree>
      <p:nvGrpSpPr>
        <p:cNvPr id="1" name=""/>
        <p:cNvGrpSpPr/>
        <p:nvPr/>
      </p:nvGrpSpPr>
      <p:grpSpPr>
        <a:xfrm>
          <a:off x="0" y="0"/>
          <a:ext cx="0" cy="0"/>
          <a:chOff x="0" y="0"/>
          <a:chExt cx="0" cy="0"/>
        </a:xfrm>
      </p:grpSpPr>
      <p:sp>
        <p:nvSpPr>
          <p:cNvPr id="2" name="Shape 0"/>
          <p:cNvSpPr/>
          <p:nvPr/>
        </p:nvSpPr>
        <p:spPr>
          <a:xfrm>
            <a:off x="-1097280" y="2926080"/>
            <a:ext cx="3657600" cy="3657600"/>
          </a:xfrm>
          <a:prstGeom prst="ellipse">
            <a:avLst/>
          </a:prstGeom>
          <a:solidFill>
            <a:srgbClr val="0E7C7B">
              <a:alpha val="40000"/>
            </a:srgbClr>
          </a:solidFill>
          <a:ln w="12700">
            <a:solidFill>
              <a:srgbClr val="0E7C7B">
                <a:alpha val="0"/>
              </a:srgbClr>
            </a:solidFill>
            <a:prstDash val="solid"/>
          </a:ln>
        </p:spPr>
      </p:sp>
      <p:sp>
        <p:nvSpPr>
          <p:cNvPr id="3" name="Text 1"/>
          <p:cNvSpPr txBox="1"/>
          <p:nvPr/>
        </p:nvSpPr>
        <p:spPr>
          <a:xfrm>
            <a:off x="548640" y="822960"/>
            <a:ext cx="8046720" cy="8229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Cảm ơn bạn!</a:t>
            </a:r>
            <a:endParaRPr lang="en-US" sz="3600" dirty="0"/>
          </a:p>
        </p:txBody>
      </p:sp>
      <p:sp>
        <p:nvSpPr>
          <p:cNvPr id="4" name="Text 2"/>
          <p:cNvSpPr txBox="1"/>
          <p:nvPr/>
        </p:nvSpPr>
        <p:spPr>
          <a:xfrm>
            <a:off x="548640" y="1645920"/>
            <a:ext cx="8046720" cy="457200"/>
          </a:xfrm>
          <a:prstGeom prst="rect">
            <a:avLst/>
          </a:prstGeom>
          <a:noFill/>
          <a:ln/>
        </p:spPr>
        <p:txBody>
          <a:bodyPr wrap="square" lIns="0" tIns="0" rIns="0" bIns="0" rtlCol="0" anchor="t"/>
          <a:lstStyle/>
          <a:p>
            <a:pPr indent="0" marL="0">
              <a:buNone/>
            </a:pPr>
            <a:r>
              <a:rPr lang="en-US" sz="1500" dirty="0">
                <a:solidFill>
                  <a:srgbClr val="BFE3DD"/>
                </a:solidFill>
                <a:latin typeface="Calibri" pitchFamily="34" charset="0"/>
                <a:ea typeface="Calibri" pitchFamily="34" charset="-122"/>
                <a:cs typeface="Calibri" pitchFamily="34" charset="-120"/>
              </a:rPr>
              <a:t>Hẹn gặp lại ở Buổi 3 · Hình ảnh &amp; Video</a:t>
            </a:r>
            <a:endParaRPr lang="en-US" sz="1500" dirty="0"/>
          </a:p>
        </p:txBody>
      </p:sp>
      <p:sp>
        <p:nvSpPr>
          <p:cNvPr id="5" name="Text 3"/>
          <p:cNvSpPr txBox="1"/>
          <p:nvPr/>
        </p:nvSpPr>
        <p:spPr>
          <a:xfrm>
            <a:off x="3291840" y="2423160"/>
            <a:ext cx="5486400" cy="274320"/>
          </a:xfrm>
          <a:prstGeom prst="rect">
            <a:avLst/>
          </a:prstGeom>
          <a:noFill/>
          <a:ln/>
        </p:spPr>
        <p:txBody>
          <a:bodyPr wrap="square" lIns="0" tIns="0" rIns="0" bIns="0" rtlCol="0" anchor="t"/>
          <a:lstStyle/>
          <a:p>
            <a:pPr indent="0" marL="0">
              <a:buNone/>
            </a:pPr>
            <a:r>
              <a:rPr lang="en-US" sz="1100" b="1" spc="200" kern="0" dirty="0">
                <a:solidFill>
                  <a:srgbClr val="F2994A"/>
                </a:solidFill>
                <a:latin typeface="Calibri" pitchFamily="34" charset="0"/>
                <a:ea typeface="Calibri" pitchFamily="34" charset="-122"/>
                <a:cs typeface="Calibri" pitchFamily="34" charset="-120"/>
              </a:rPr>
              <a:t>VIỆC CẦN LÀM TRƯỚC BUỔI SAU</a:t>
            </a:r>
            <a:endParaRPr lang="en-US" sz="1100" dirty="0"/>
          </a:p>
        </p:txBody>
      </p:sp>
      <p:sp>
        <p:nvSpPr>
          <p:cNvPr id="6" name="Text 4"/>
          <p:cNvSpPr txBox="1"/>
          <p:nvPr/>
        </p:nvSpPr>
        <p:spPr>
          <a:xfrm>
            <a:off x="3291840" y="2743200"/>
            <a:ext cx="5394960" cy="1828800"/>
          </a:xfrm>
          <a:prstGeom prst="rect">
            <a:avLst/>
          </a:prstGeom>
          <a:noFill/>
          <a:ln/>
        </p:spPr>
        <p:txBody>
          <a:bodyPr wrap="square" lIns="0" tIns="0" rIns="0" bIns="0" rtlCol="0" anchor="t"/>
          <a:lstStyle/>
          <a:p>
            <a:pPr marL="177800" indent="-177800">
              <a:spcAft>
                <a:spcPts val="800"/>
              </a:spcAft>
              <a:buSzPct val="100000"/>
              <a:buChar char="•"/>
            </a:pPr>
            <a:r>
              <a:rPr lang="en-US" sz="1550" dirty="0">
                <a:solidFill>
                  <a:srgbClr val="FFFFFF"/>
                </a:solidFill>
                <a:latin typeface="Calibri" pitchFamily="34" charset="0"/>
                <a:ea typeface="Calibri" pitchFamily="34" charset="-122"/>
                <a:cs typeface="Calibri" pitchFamily="34" charset="-120"/>
              </a:rPr>
              <a:t>Nộp </a:t>
            </a:r>
            <a:pPr indent="0" marL="0">
              <a:spcAft>
                <a:spcPts val="800"/>
              </a:spcAft>
              <a:buNone/>
            </a:pPr>
            <a:r>
              <a:rPr lang="en-US" sz="1550" b="1" dirty="0">
                <a:solidFill>
                  <a:srgbClr val="FFFFFF"/>
                </a:solidFill>
                <a:latin typeface="Calibri" pitchFamily="34" charset="0"/>
                <a:ea typeface="Calibri" pitchFamily="34" charset="-122"/>
                <a:cs typeface="Calibri" pitchFamily="34" charset="-120"/>
              </a:rPr>
              <a:t>ASM 1</a:t>
            </a:r>
            <a:pPr indent="0" marL="0">
              <a:spcAft>
                <a:spcPts val="800"/>
              </a:spcAft>
              <a:buNone/>
            </a:pPr>
            <a:r>
              <a:rPr lang="en-US" sz="1550" dirty="0">
                <a:solidFill>
                  <a:srgbClr val="FFFFFF"/>
                </a:solidFill>
                <a:latin typeface="Calibri" pitchFamily="34" charset="0"/>
                <a:ea typeface="Calibri" pitchFamily="34" charset="-122"/>
                <a:cs typeface="Calibri" pitchFamily="34" charset="-120"/>
              </a:rPr>
              <a:t> trước Buổi 3</a:t>
            </a:r>
            <a:endParaRPr lang="en-US" sz="1550" dirty="0"/>
          </a:p>
          <a:p>
            <a:pPr marL="177800" indent="-177800">
              <a:spcAft>
                <a:spcPts val="800"/>
              </a:spcAft>
              <a:buSzPct val="100000"/>
              <a:buChar char="•"/>
            </a:pPr>
            <a:r>
              <a:rPr lang="en-US" sz="1550" dirty="0">
                <a:solidFill>
                  <a:srgbClr val="FFFFFF"/>
                </a:solidFill>
                <a:latin typeface="Calibri" pitchFamily="34" charset="0"/>
                <a:ea typeface="Calibri" pitchFamily="34" charset="-122"/>
                <a:cs typeface="Calibri" pitchFamily="34" charset="-120"/>
              </a:rPr>
              <a:t>Làm </a:t>
            </a:r>
            <a:pPr indent="0" marL="0">
              <a:spcAft>
                <a:spcPts val="800"/>
              </a:spcAft>
              <a:buNone/>
            </a:pPr>
            <a:r>
              <a:rPr lang="en-US" sz="1550" b="1" dirty="0">
                <a:solidFill>
                  <a:srgbClr val="FFFFFF"/>
                </a:solidFill>
                <a:latin typeface="Calibri" pitchFamily="34" charset="0"/>
                <a:ea typeface="Calibri" pitchFamily="34" charset="-122"/>
                <a:cs typeface="Calibri" pitchFamily="34" charset="-120"/>
              </a:rPr>
              <a:t>Quiz Buổi 2</a:t>
            </a:r>
            <a:pPr indent="0" marL="0">
              <a:spcAft>
                <a:spcPts val="800"/>
              </a:spcAft>
              <a:buNone/>
            </a:pPr>
            <a:r>
              <a:rPr lang="en-US" sz="1550" dirty="0">
                <a:solidFill>
                  <a:srgbClr val="FFFFFF"/>
                </a:solidFill>
                <a:latin typeface="Calibri" pitchFamily="34" charset="0"/>
                <a:ea typeface="Calibri" pitchFamily="34" charset="-122"/>
                <a:cs typeface="Calibri" pitchFamily="34" charset="-120"/>
              </a:rPr>
              <a:t> và đối chiếu đáp án</a:t>
            </a:r>
            <a:endParaRPr lang="en-US" sz="1550" dirty="0"/>
          </a:p>
          <a:p>
            <a:pPr marL="177800" indent="-177800">
              <a:spcAft>
                <a:spcPts val="800"/>
              </a:spcAft>
              <a:buSzPct val="100000"/>
              <a:buChar char="•"/>
            </a:pPr>
            <a:r>
              <a:rPr lang="en-US" sz="1550" dirty="0">
                <a:solidFill>
                  <a:srgbClr val="FFFFFF"/>
                </a:solidFill>
                <a:latin typeface="Calibri" pitchFamily="34" charset="0"/>
                <a:ea typeface="Calibri" pitchFamily="34" charset="-122"/>
                <a:cs typeface="Calibri" pitchFamily="34" charset="-120"/>
              </a:rPr>
              <a:t>Chia sẻ 1 câu hỏi </a:t>
            </a:r>
            <a:pPr indent="0" marL="0">
              <a:spcAft>
                <a:spcPts val="800"/>
              </a:spcAft>
              <a:buNone/>
            </a:pPr>
            <a:r>
              <a:rPr lang="en-US" sz="1550" b="1" dirty="0">
                <a:solidFill>
                  <a:srgbClr val="FFFFFF"/>
                </a:solidFill>
                <a:latin typeface="Calibri" pitchFamily="34" charset="0"/>
                <a:ea typeface="Calibri" pitchFamily="34" charset="-122"/>
                <a:cs typeface="Calibri" pitchFamily="34" charset="-120"/>
              </a:rPr>
              <a:t>bẫy</a:t>
            </a:r>
            <a:pPr indent="0" marL="0">
              <a:spcAft>
                <a:spcPts val="800"/>
              </a:spcAft>
              <a:buNone/>
            </a:pPr>
            <a:r>
              <a:rPr lang="en-US" sz="1550" dirty="0">
                <a:solidFill>
                  <a:srgbClr val="FFFFFF"/>
                </a:solidFill>
                <a:latin typeface="Calibri" pitchFamily="34" charset="0"/>
                <a:ea typeface="Calibri" pitchFamily="34" charset="-122"/>
                <a:cs typeface="Calibri" pitchFamily="34" charset="-120"/>
              </a:rPr>
              <a:t> và 1 lỗi chép lời</a:t>
            </a:r>
            <a:endParaRPr lang="en-US" sz="1550" dirty="0"/>
          </a:p>
          <a:p>
            <a:pPr marL="177800" indent="-177800">
              <a:spcAft>
                <a:spcPts val="800"/>
              </a:spcAft>
              <a:buSzPct val="100000"/>
              <a:buChar char="•"/>
            </a:pPr>
            <a:r>
              <a:rPr lang="en-US" sz="1550" dirty="0">
                <a:solidFill>
                  <a:srgbClr val="FFFFFF"/>
                </a:solidFill>
                <a:latin typeface="Calibri" pitchFamily="34" charset="0"/>
                <a:ea typeface="Calibri" pitchFamily="34" charset="-122"/>
                <a:cs typeface="Calibri" pitchFamily="34" charset="-120"/>
              </a:rPr>
              <a:t>Để lại </a:t>
            </a:r>
            <a:pPr indent="0" marL="0">
              <a:spcAft>
                <a:spcPts val="800"/>
              </a:spcAft>
              <a:buNone/>
            </a:pPr>
            <a:r>
              <a:rPr lang="en-US" sz="1550" b="1" dirty="0">
                <a:solidFill>
                  <a:srgbClr val="FFFFFF"/>
                </a:solidFill>
                <a:latin typeface="Calibri" pitchFamily="34" charset="0"/>
                <a:ea typeface="Calibri" pitchFamily="34" charset="-122"/>
                <a:cs typeface="Calibri" pitchFamily="34" charset="-120"/>
              </a:rPr>
              <a:t>feedback</a:t>
            </a:r>
            <a:pPr indent="0" marL="0">
              <a:spcAft>
                <a:spcPts val="800"/>
              </a:spcAft>
              <a:buNone/>
            </a:pPr>
            <a:r>
              <a:rPr lang="en-US" sz="1550" dirty="0">
                <a:solidFill>
                  <a:srgbClr val="FFFFFF"/>
                </a:solidFill>
                <a:latin typeface="Calibri" pitchFamily="34" charset="0"/>
                <a:ea typeface="Calibri" pitchFamily="34" charset="-122"/>
                <a:cs typeface="Calibri" pitchFamily="34" charset="-120"/>
              </a:rPr>
              <a:t> cho buổi học</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2 · Tra cứu tài liệu &amp; Âm thanh cuộc gọi</dc:title>
  <dc:subject>PptxGenJS Presentation</dc:subject>
  <dc:creator>GenAI cho Call Center</dc:creator>
  <cp:lastModifiedBy>GenAI cho Call Center</cp:lastModifiedBy>
  <cp:revision>1</cp:revision>
  <dcterms:created xsi:type="dcterms:W3CDTF">2026-09-30T06:37:15Z</dcterms:created>
  <dcterms:modified xsi:type="dcterms:W3CDTF">2026-09-30T06:37:15Z</dcterms:modified>
</cp:coreProperties>
</file>