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lớp, giới thiệu bản thân và khóa học 5 buổi. Nhấn mạnh: cả khóa thực hành trên dữ liệu call center đã ẩn danh, cuối khóa mỗi người có một Bộ công cụ AI ca trực dùng được ngay.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Kể chuyện, hỏi lớp: ai đã từng gặp tình huống giống Lan? Ghi lên bảng 2 câu hỏi của Lan, cuối buổi quay lại trả lời.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nhanh bằng ví dụ gõ nửa câu trên điện thoại, bàn phím gợi ý chữ tiếp theo. LLM là phiên bản cực mạnh của việc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lớp đọc to 3 chữ. Nhấn mạnh: placeholder chỉ được thay bằng dữ liệu thật trong hệ thống của công ty, không phải trong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học viên 30–45 giây suy nghĩ, rồi mời vài bạn trả lời.
ĐÁP ÁN: B. AI không biết trạng thái đơn thật, nó chỉ tạo câu nghe hợp lý. Trạng thái đơn phải tra trong hệ thống nội bộ.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học viên 30–45 giây suy nghĩ, rồi mời vài bạn trả lời.
ĐÁP ÁN: C. Mọi thông tin định danh đều thay bằng placeholder. B và D vẫn lộ một phần danh tính hoặc mã đơn thật.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học viên 30–45 giây suy nghĩ, rồi mời vài bạn trả lời.
ĐÁP ÁN: C. Giấy tờ tùy thân và dữ liệu tài chính không bao giờ được đưa vào AI cá nhân.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nhanh giao diện một trợ lý (khuyến nghị ChatGPT hoặc Gemini). Chỉ chỗ tạo hội thoại mới và chỗ tắt lưu lịch sử/huấn luyện nếu có.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Dữ liệu mẫu có sẵn trong trang ebook Lab 1. Đi vòng quanh lớp, chọn 2 kết quả hay nhất để chiếu lên màn hình.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Mời 2 học viên đọc to kịch bản theo cặp: một người đóng khách, một người đóng nhân viên.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học viên 30–45 giây suy nghĩ, rồi mời vài bạn trả lời.
ĐÁP ÁN: B. Thiếu Bối cảnh (chính sách đổi size thật) nên AI tự bịa "30 ngày"; thiếu Định dạng nên kết quả dài.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học viên 30–45 giây suy nghĩ, rồi mời vài bạn trả lời.
ĐÁP ÁN: C. Trình tự là Listen, Empathize, Apologize rồi mới Solve và Thank.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 học viên 30–45 giây suy nghĩ, rồi mời vài bạn trả lời.
ĐÁP ÁN: B. Diagnose hướng về cải tiến nội bộ, để sự cố không lặp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Quay lại 2 câu hỏi của Lan ở đầu buổi, mời lớp trả lời. Nhắc làm Quiz buổi trong ebook, đáp án ở mục Giải pháp.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slideLayout" Target="../slideLayouts/slideLayout1.xml"/><Relationship Id="rId8"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B45"/>
        </a:solidFill>
      </p:bgPr>
    </p:bg>
    <p:spTree>
      <p:nvGrpSpPr>
        <p:cNvPr id="1" name=""/>
        <p:cNvGrpSpPr/>
        <p:nvPr/>
      </p:nvGrpSpPr>
      <p:grpSpPr>
        <a:xfrm>
          <a:off x="0" y="0"/>
          <a:ext cx="0" cy="0"/>
          <a:chOff x="0" y="0"/>
          <a:chExt cx="0" cy="0"/>
        </a:xfrm>
      </p:grpSpPr>
      <p:sp>
        <p:nvSpPr>
          <p:cNvPr id="2" name="Shape 0"/>
          <p:cNvSpPr/>
          <p:nvPr/>
        </p:nvSpPr>
        <p:spPr>
          <a:xfrm>
            <a:off x="5760720" y="-822960"/>
            <a:ext cx="4572000" cy="4572000"/>
          </a:xfrm>
          <a:prstGeom prst="ellipse">
            <a:avLst/>
          </a:prstGeom>
          <a:solidFill>
            <a:srgbClr val="0E7C7B">
              <a:alpha val="45000"/>
            </a:srgbClr>
          </a:solidFill>
          <a:ln w="12700">
            <a:solidFill>
              <a:srgbClr val="0E7C7B">
                <a:alpha val="0"/>
              </a:srgbClr>
            </a:solidFill>
            <a:prstDash val="solid"/>
          </a:ln>
        </p:spPr>
      </p:sp>
      <p:sp>
        <p:nvSpPr>
          <p:cNvPr id="3" name="Shape 1"/>
          <p:cNvSpPr/>
          <p:nvPr/>
        </p:nvSpPr>
        <p:spPr>
          <a:xfrm>
            <a:off x="5989320" y="3429000"/>
            <a:ext cx="640080" cy="640080"/>
          </a:xfrm>
          <a:prstGeom prst="ellipse">
            <a:avLst/>
          </a:prstGeom>
          <a:solidFill>
            <a:srgbClr val="F2994A"/>
          </a:solidFill>
          <a:ln w="12700">
            <a:solidFill>
              <a:srgbClr val="F2994A"/>
            </a:solidFill>
            <a:prstDash val="solid"/>
          </a:ln>
        </p:spPr>
      </p:sp>
      <p:sp>
        <p:nvSpPr>
          <p:cNvPr id="4" name="Shape 2"/>
          <p:cNvSpPr/>
          <p:nvPr/>
        </p:nvSpPr>
        <p:spPr>
          <a:xfrm>
            <a:off x="6720840" y="1188720"/>
            <a:ext cx="1737360" cy="1737360"/>
          </a:xfrm>
          <a:prstGeom prst="ellipse">
            <a:avLst/>
          </a:prstGeom>
          <a:solidFill>
            <a:srgbClr val="FFFFFF"/>
          </a:solidFill>
          <a:ln w="12700">
            <a:solidFill>
              <a:srgbClr val="FFFFFF"/>
            </a:solidFill>
            <a:prstDash val="solid"/>
          </a:ln>
        </p:spPr>
      </p:sp>
      <p:pic>
        <p:nvPicPr>
          <p:cNvPr id="5" name="Image 0" descr="preencoded.png">    </p:cNvPr>
          <p:cNvPicPr>
            <a:picLocks noChangeAspect="1"/>
          </p:cNvPicPr>
          <p:nvPr/>
        </p:nvPicPr>
        <p:blipFill>
          <a:blip r:embed="rId1"/>
          <a:stretch>
            <a:fillRect/>
          </a:stretch>
        </p:blipFill>
        <p:spPr>
          <a:xfrm>
            <a:off x="7172554" y="1640434"/>
            <a:ext cx="833933" cy="833933"/>
          </a:xfrm>
          <a:prstGeom prst="rect">
            <a:avLst/>
          </a:prstGeom>
        </p:spPr>
      </p:pic>
      <p:sp>
        <p:nvSpPr>
          <p:cNvPr id="6" name="Text 3"/>
          <p:cNvSpPr txBox="1"/>
          <p:nvPr/>
        </p:nvSpPr>
        <p:spPr>
          <a:xfrm>
            <a:off x="548640" y="914400"/>
            <a:ext cx="5486400" cy="320040"/>
          </a:xfrm>
          <a:prstGeom prst="rect">
            <a:avLst/>
          </a:prstGeom>
          <a:noFill/>
          <a:ln/>
        </p:spPr>
        <p:txBody>
          <a:bodyPr wrap="square" lIns="0" tIns="0" rIns="0" bIns="0" rtlCol="0" anchor="t"/>
          <a:lstStyle/>
          <a:p>
            <a:pPr indent="0" marL="0">
              <a:buNone/>
            </a:pPr>
            <a:r>
              <a:rPr lang="en-US" sz="1300" b="1" spc="300" kern="0" dirty="0">
                <a:solidFill>
                  <a:srgbClr val="F2994A"/>
                </a:solidFill>
                <a:latin typeface="Calibri" pitchFamily="34" charset="0"/>
                <a:ea typeface="Calibri" pitchFamily="34" charset="-122"/>
                <a:cs typeface="Calibri" pitchFamily="34" charset="-120"/>
              </a:rPr>
              <a:t>BUỔI 1 / 5  ·  120 PHÚT</a:t>
            </a:r>
            <a:endParaRPr lang="en-US" sz="1300" dirty="0"/>
          </a:p>
        </p:txBody>
      </p:sp>
      <p:sp>
        <p:nvSpPr>
          <p:cNvPr id="7" name="Text 4"/>
          <p:cNvSpPr txBox="1"/>
          <p:nvPr/>
        </p:nvSpPr>
        <p:spPr>
          <a:xfrm>
            <a:off x="548640" y="1325880"/>
            <a:ext cx="5760720" cy="1463040"/>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Cambria" pitchFamily="34" charset="0"/>
                <a:ea typeface="Cambria" pitchFamily="34" charset="-122"/>
                <a:cs typeface="Cambria" pitchFamily="34" charset="-120"/>
              </a:rPr>
              <a:t>AI có trách nhiệm &amp; Trợ lý ảo cho CSKH</a:t>
            </a:r>
            <a:endParaRPr lang="en-US" sz="3600" dirty="0"/>
          </a:p>
        </p:txBody>
      </p:sp>
      <p:sp>
        <p:nvSpPr>
          <p:cNvPr id="8" name="Text 5"/>
          <p:cNvSpPr txBox="1"/>
          <p:nvPr/>
        </p:nvSpPr>
        <p:spPr>
          <a:xfrm>
            <a:off x="548640" y="2880360"/>
            <a:ext cx="5669280" cy="822960"/>
          </a:xfrm>
          <a:prstGeom prst="rect">
            <a:avLst/>
          </a:prstGeom>
          <a:noFill/>
          <a:ln/>
        </p:spPr>
        <p:txBody>
          <a:bodyPr wrap="square" lIns="0" tIns="0" rIns="0" bIns="0" rtlCol="0" anchor="t"/>
          <a:lstStyle/>
          <a:p>
            <a:pPr indent="0" marL="0">
              <a:buNone/>
            </a:pPr>
            <a:r>
              <a:rPr lang="en-US" sz="1500" dirty="0">
                <a:solidFill>
                  <a:srgbClr val="BFE3DD"/>
                </a:solidFill>
                <a:latin typeface="Calibri" pitchFamily="34" charset="0"/>
                <a:ea typeface="Calibri" pitchFamily="34" charset="-122"/>
                <a:cs typeface="Calibri" pitchFamily="34" charset="-120"/>
              </a:rPr>
              <a:t>Dùng AI an toàn với dữ liệu khách hàng và viết prompt chuẩn V-B-N-Đ-G cho công việc tổng đài.</a:t>
            </a:r>
            <a:endParaRPr lang="en-US" sz="1500" dirty="0"/>
          </a:p>
        </p:txBody>
      </p:sp>
      <p:sp>
        <p:nvSpPr>
          <p:cNvPr id="9" name="Text 6"/>
          <p:cNvSpPr txBox="1"/>
          <p:nvPr/>
        </p:nvSpPr>
        <p:spPr>
          <a:xfrm>
            <a:off x="548640" y="4434840"/>
            <a:ext cx="6400800" cy="274320"/>
          </a:xfrm>
          <a:prstGeom prst="rect">
            <a:avLst/>
          </a:prstGeom>
          <a:noFill/>
          <a:ln/>
        </p:spPr>
        <p:txBody>
          <a:bodyPr wrap="square" lIns="0" tIns="0" rIns="0" bIns="0" rtlCol="0" anchor="t"/>
          <a:lstStyle/>
          <a:p>
            <a:pPr indent="0" marL="0">
              <a:buNone/>
            </a:pPr>
            <a:r>
              <a:rPr lang="en-US" sz="1000" dirty="0">
                <a:solidFill>
                  <a:srgbClr val="BFE3DD"/>
                </a:solidFill>
                <a:latin typeface="Calibri" pitchFamily="34" charset="0"/>
                <a:ea typeface="Calibri" pitchFamily="34" charset="-122"/>
                <a:cs typeface="Calibri" pitchFamily="34" charset="-120"/>
              </a:rPr>
              <a:t>Ứng dụng GenAI cho nhân viên support Call Center  ·  Chuyển thể AIE102x.1.0_VN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CÂU CHUYỆN MỞ ĐẦU</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Một ca trực của Lan</a:t>
            </a:r>
            <a:endParaRPr lang="en-US" sz="2500" dirty="0"/>
          </a:p>
        </p:txBody>
      </p:sp>
      <p:sp>
        <p:nvSpPr>
          <p:cNvPr id="4" name="Text 2"/>
          <p:cNvSpPr txBox="1"/>
          <p:nvPr/>
        </p:nvSpPr>
        <p:spPr>
          <a:xfrm>
            <a:off x="457200" y="1371600"/>
            <a:ext cx="4846320" cy="3200400"/>
          </a:xfrm>
          <a:prstGeom prst="rect">
            <a:avLst/>
          </a:prstGeom>
          <a:noFill/>
          <a:ln/>
        </p:spPr>
        <p:txBody>
          <a:bodyPr wrap="square" lIns="0" tIns="0" rIns="0" bIns="0" rtlCol="0" anchor="t"/>
          <a:lstStyle/>
          <a:p>
            <a:pPr indent="0" marL="0">
              <a:lnSpc>
                <a:spcPct val="108000"/>
              </a:lnSpc>
              <a:buNone/>
            </a:pPr>
            <a:r>
              <a:rPr lang="en-US" sz="1500" dirty="0">
                <a:solidFill>
                  <a:srgbClr val="1F2A30"/>
                </a:solidFill>
                <a:latin typeface="Calibri" pitchFamily="34" charset="0"/>
                <a:ea typeface="Calibri" pitchFamily="34" charset="-122"/>
                <a:cs typeface="Calibri" pitchFamily="34" charset="-120"/>
              </a:rPr>
              <a:t>19h40 tối thứ Sáu, đợt sale cuối tháng của </a:t>
            </a:r>
            <a:pPr indent="0" marL="0">
              <a:lnSpc>
                <a:spcPct val="108000"/>
              </a:lnSpc>
              <a:buNone/>
            </a:pPr>
            <a:r>
              <a:rPr lang="en-US" sz="1500" b="1" dirty="0">
                <a:solidFill>
                  <a:srgbClr val="1F2A30"/>
                </a:solidFill>
                <a:latin typeface="Calibri" pitchFamily="34" charset="0"/>
                <a:ea typeface="Calibri" pitchFamily="34" charset="-122"/>
                <a:cs typeface="Calibri" pitchFamily="34" charset="-120"/>
              </a:rPr>
              <a:t>ShopNhanh</a:t>
            </a:r>
            <a:pPr indent="0" marL="0">
              <a:lnSpc>
                <a:spcPct val="108000"/>
              </a:lnSpc>
              <a:buNone/>
            </a:pPr>
            <a:r>
              <a:rPr lang="en-US" sz="1500" dirty="0">
                <a:solidFill>
                  <a:srgbClr val="1F2A30"/>
                </a:solidFill>
                <a:latin typeface="Calibri" pitchFamily="34" charset="0"/>
                <a:ea typeface="Calibri" pitchFamily="34" charset="-122"/>
                <a:cs typeface="Calibri" pitchFamily="34" charset="-120"/>
              </a:rPr>
              <a:t>. Lan có </a:t>
            </a:r>
            <a:pPr indent="0" marL="0">
              <a:lnSpc>
                <a:spcPct val="108000"/>
              </a:lnSpc>
              <a:buNone/>
            </a:pPr>
            <a:r>
              <a:rPr lang="en-US" sz="1500" b="1" dirty="0">
                <a:solidFill>
                  <a:srgbClr val="1F2A30"/>
                </a:solidFill>
                <a:latin typeface="Calibri" pitchFamily="34" charset="0"/>
                <a:ea typeface="Calibri" pitchFamily="34" charset="-122"/>
                <a:cs typeface="Calibri" pitchFamily="34" charset="-120"/>
              </a:rPr>
              <a:t>37 ticket</a:t>
            </a:r>
            <a:pPr indent="0" marL="0">
              <a:lnSpc>
                <a:spcPct val="108000"/>
              </a:lnSpc>
              <a:spcAft>
                <a:spcPts val="800"/>
              </a:spcAft>
              <a:buNone/>
            </a:pPr>
            <a:r>
              <a:rPr lang="en-US" sz="1500" dirty="0">
                <a:solidFill>
                  <a:srgbClr val="1F2A30"/>
                </a:solidFill>
                <a:latin typeface="Calibri" pitchFamily="34" charset="0"/>
                <a:ea typeface="Calibri" pitchFamily="34" charset="-122"/>
                <a:cs typeface="Calibri" pitchFamily="34" charset="-120"/>
              </a:rPr>
              <a:t> đang chờ, phần lớn hỏi đơn giao trễ.</a:t>
            </a:r>
            <a:endParaRPr lang="en-US" sz="1500" dirty="0"/>
          </a:p>
          <a:p>
            <a:pPr indent="0" marL="0">
              <a:lnSpc>
                <a:spcPct val="108000"/>
              </a:lnSpc>
              <a:spcAft>
                <a:spcPts val="800"/>
              </a:spcAft>
              <a:buNone/>
            </a:pPr>
            <a:r>
              <a:rPr lang="en-US" sz="1500" dirty="0">
                <a:solidFill>
                  <a:srgbClr val="1F2A30"/>
                </a:solidFill>
                <a:latin typeface="Calibri" pitchFamily="34" charset="0"/>
                <a:ea typeface="Calibri" pitchFamily="34" charset="-122"/>
                <a:cs typeface="Calibri" pitchFamily="34" charset="-120"/>
              </a:rPr>
              <a:t>Lan gõ vội: "Đơn của anh đang giao, anh chờ thêm." Hai phút sau, khách đánh giá 1 sao: "Nhân viên trả lời như robot".</a:t>
            </a:r>
            <a:endParaRPr lang="en-US" sz="1500" dirty="0"/>
          </a:p>
          <a:p>
            <a:pPr indent="0" marL="0">
              <a:lnSpc>
                <a:spcPct val="108000"/>
              </a:lnSpc>
              <a:buNone/>
            </a:pPr>
            <a:r>
              <a:rPr lang="en-US" sz="1500" dirty="0">
                <a:solidFill>
                  <a:srgbClr val="1F2A30"/>
                </a:solidFill>
                <a:latin typeface="Calibri" pitchFamily="34" charset="0"/>
                <a:ea typeface="Calibri" pitchFamily="34" charset="-122"/>
                <a:cs typeface="Calibri" pitchFamily="34" charset="-120"/>
              </a:rPr>
              <a:t>Bạn ngồi cạnh gợi ý dán tin nhắn vào ChatGPT. Lan khựng lại: trong tin nhắn có </a:t>
            </a:r>
            <a:pPr indent="0" marL="0">
              <a:lnSpc>
                <a:spcPct val="108000"/>
              </a:lnSpc>
              <a:buNone/>
            </a:pPr>
            <a:r>
              <a:rPr lang="en-US" sz="1500" b="1" dirty="0">
                <a:solidFill>
                  <a:srgbClr val="1F2A30"/>
                </a:solidFill>
                <a:latin typeface="Calibri" pitchFamily="34" charset="0"/>
                <a:ea typeface="Calibri" pitchFamily="34" charset="-122"/>
                <a:cs typeface="Calibri" pitchFamily="34" charset="-120"/>
              </a:rPr>
              <a:t>họ tên, SĐT, địa chỉ</a:t>
            </a:r>
            <a:pPr indent="0" marL="0">
              <a:lnSpc>
                <a:spcPct val="108000"/>
              </a:lnSpc>
              <a:spcAft>
                <a:spcPts val="800"/>
              </a:spcAft>
              <a:buNone/>
            </a:pPr>
            <a:r>
              <a:rPr lang="en-US" sz="1500" dirty="0">
                <a:solidFill>
                  <a:srgbClr val="1F2A30"/>
                </a:solidFill>
                <a:latin typeface="Calibri" pitchFamily="34" charset="0"/>
                <a:ea typeface="Calibri" pitchFamily="34" charset="-122"/>
                <a:cs typeface="Calibri" pitchFamily="34" charset="-120"/>
              </a:rPr>
              <a:t> của khách.</a:t>
            </a:r>
            <a:endParaRPr lang="en-US" sz="1500" dirty="0"/>
          </a:p>
        </p:txBody>
      </p:sp>
      <p:sp>
        <p:nvSpPr>
          <p:cNvPr id="5" name="Shape 3"/>
          <p:cNvSpPr/>
          <p:nvPr/>
        </p:nvSpPr>
        <p:spPr>
          <a:xfrm>
            <a:off x="5623560" y="1371600"/>
            <a:ext cx="3063240" cy="3154680"/>
          </a:xfrm>
          <a:prstGeom prst="roundRect">
            <a:avLst>
              <a:gd name="adj" fmla="val 3582"/>
            </a:avLst>
          </a:prstGeom>
          <a:solidFill>
            <a:srgbClr val="E8F3F1"/>
          </a:solidFill>
          <a:ln w="12700">
            <a:solidFill>
              <a:srgbClr val="E8F3F1"/>
            </a:solidFill>
            <a:prstDash val="solid"/>
          </a:ln>
        </p:spPr>
      </p:sp>
      <p:sp>
        <p:nvSpPr>
          <p:cNvPr id="6" name="Shape 4"/>
          <p:cNvSpPr/>
          <p:nvPr/>
        </p:nvSpPr>
        <p:spPr>
          <a:xfrm>
            <a:off x="5897880" y="1627632"/>
            <a:ext cx="566928" cy="566928"/>
          </a:xfrm>
          <a:prstGeom prst="ellipse">
            <a:avLst/>
          </a:prstGeom>
          <a:solidFill>
            <a:srgbClr val="0E7C7B"/>
          </a:solidFill>
          <a:ln w="12700">
            <a:solidFill>
              <a:srgbClr val="0E7C7B"/>
            </a:solidFill>
            <a:prstDash val="solid"/>
          </a:ln>
        </p:spPr>
      </p:sp>
      <p:pic>
        <p:nvPicPr>
          <p:cNvPr id="7" name="Image 0" descr="preencoded.png">    </p:cNvPr>
          <p:cNvPicPr>
            <a:picLocks noChangeAspect="1"/>
          </p:cNvPicPr>
          <p:nvPr/>
        </p:nvPicPr>
        <p:blipFill>
          <a:blip r:embed="rId1"/>
          <a:stretch>
            <a:fillRect/>
          </a:stretch>
        </p:blipFill>
        <p:spPr>
          <a:xfrm>
            <a:off x="6045281" y="1775033"/>
            <a:ext cx="272125" cy="272125"/>
          </a:xfrm>
          <a:prstGeom prst="rect">
            <a:avLst/>
          </a:prstGeom>
        </p:spPr>
      </p:pic>
      <p:sp>
        <p:nvSpPr>
          <p:cNvPr id="8" name="Text 5"/>
          <p:cNvSpPr txBox="1"/>
          <p:nvPr/>
        </p:nvSpPr>
        <p:spPr>
          <a:xfrm>
            <a:off x="5897880" y="2331720"/>
            <a:ext cx="2560320" cy="2011680"/>
          </a:xfrm>
          <a:prstGeom prst="rect">
            <a:avLst/>
          </a:prstGeom>
          <a:noFill/>
          <a:ln/>
        </p:spPr>
        <p:txBody>
          <a:bodyPr wrap="square" lIns="0" tIns="0" rIns="0" bIns="0" rtlCol="0" anchor="t"/>
          <a:lstStyle/>
          <a:p>
            <a:pPr indent="0" marL="0">
              <a:buNone/>
            </a:pPr>
            <a:r>
              <a:rPr lang="en-US" sz="1500" i="1" dirty="0">
                <a:solidFill>
                  <a:srgbClr val="0B3B45"/>
                </a:solidFill>
                <a:latin typeface="Cambria" pitchFamily="34" charset="0"/>
                <a:ea typeface="Cambria" pitchFamily="34" charset="-122"/>
                <a:cs typeface="Cambria" pitchFamily="34" charset="-120"/>
              </a:rPr>
              <a:t>"Dán như vậy có được không? Nếu AI trả lời sai chính sách hoàn tiền thì ai chịu trách nhiệm?"</a:t>
            </a:r>
            <a:endParaRPr lang="en-US" sz="1500" dirty="0"/>
          </a:p>
        </p:txBody>
      </p:sp>
      <p:sp>
        <p:nvSpPr>
          <p:cNvPr id="9" name="Text 6"/>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1</a:t>
            </a:r>
            <a:endParaRPr lang="en-US" sz="900" dirty="0"/>
          </a:p>
        </p:txBody>
      </p:sp>
      <p:sp>
        <p:nvSpPr>
          <p:cNvPr id="10" name="Text 7"/>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MỤC TIÊU BUỔI HỌC</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Sau buổi này, bạn có thể</a:t>
            </a:r>
            <a:endParaRPr lang="en-US" sz="2500" dirty="0"/>
          </a:p>
        </p:txBody>
      </p:sp>
      <p:sp>
        <p:nvSpPr>
          <p:cNvPr id="4" name="Shape 2"/>
          <p:cNvSpPr/>
          <p:nvPr/>
        </p:nvSpPr>
        <p:spPr>
          <a:xfrm>
            <a:off x="457200" y="1485900"/>
            <a:ext cx="420624" cy="420624"/>
          </a:xfrm>
          <a:prstGeom prst="ellipse">
            <a:avLst/>
          </a:prstGeom>
          <a:solidFill>
            <a:srgbClr val="0E7C7B"/>
          </a:solidFill>
          <a:ln w="12700">
            <a:solidFill>
              <a:srgbClr val="0E7C7B"/>
            </a:solidFill>
            <a:prstDash val="solid"/>
          </a:ln>
        </p:spPr>
      </p:sp>
      <p:pic>
        <p:nvPicPr>
          <p:cNvPr id="5" name="Image 0" descr="preencoded.png">    </p:cNvPr>
          <p:cNvPicPr>
            <a:picLocks noChangeAspect="1"/>
          </p:cNvPicPr>
          <p:nvPr/>
        </p:nvPicPr>
        <p:blipFill>
          <a:blip r:embed="rId1"/>
          <a:stretch>
            <a:fillRect/>
          </a:stretch>
        </p:blipFill>
        <p:spPr>
          <a:xfrm>
            <a:off x="566562" y="1595262"/>
            <a:ext cx="201900" cy="201900"/>
          </a:xfrm>
          <a:prstGeom prst="rect">
            <a:avLst/>
          </a:prstGeom>
        </p:spPr>
      </p:pic>
      <p:sp>
        <p:nvSpPr>
          <p:cNvPr id="6" name="Text 3"/>
          <p:cNvSpPr txBox="1"/>
          <p:nvPr/>
        </p:nvSpPr>
        <p:spPr>
          <a:xfrm>
            <a:off x="1051560" y="1371600"/>
            <a:ext cx="7589520" cy="649224"/>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Giải thích </a:t>
            </a:r>
            <a:pPr indent="0" marL="0">
              <a:buNone/>
            </a:pPr>
            <a:r>
              <a:rPr lang="en-US" sz="1450" b="1" dirty="0">
                <a:solidFill>
                  <a:srgbClr val="1F2A30"/>
                </a:solidFill>
                <a:latin typeface="Calibri" pitchFamily="34" charset="0"/>
                <a:ea typeface="Calibri" pitchFamily="34" charset="-122"/>
                <a:cs typeface="Calibri" pitchFamily="34" charset="-120"/>
              </a:rPr>
              <a:t>GenAI</a:t>
            </a:r>
            <a:pPr indent="0" marL="0">
              <a:buNone/>
            </a:pPr>
            <a:r>
              <a:rPr lang="en-US" sz="1450" dirty="0">
                <a:solidFill>
                  <a:srgbClr val="1F2A30"/>
                </a:solidFill>
                <a:latin typeface="Calibri" pitchFamily="34" charset="0"/>
                <a:ea typeface="Calibri" pitchFamily="34" charset="-122"/>
                <a:cs typeface="Calibri" pitchFamily="34" charset="-120"/>
              </a:rPr>
              <a:t> là gì và vì sao AI có thể "bịa" (hallucination).</a:t>
            </a:r>
            <a:endParaRPr lang="en-US" sz="1450" dirty="0"/>
          </a:p>
        </p:txBody>
      </p:sp>
      <p:sp>
        <p:nvSpPr>
          <p:cNvPr id="7" name="Shape 4"/>
          <p:cNvSpPr/>
          <p:nvPr/>
        </p:nvSpPr>
        <p:spPr>
          <a:xfrm>
            <a:off x="457200" y="2135124"/>
            <a:ext cx="420624" cy="420624"/>
          </a:xfrm>
          <a:prstGeom prst="ellipse">
            <a:avLst/>
          </a:prstGeom>
          <a:solidFill>
            <a:srgbClr val="0E7C7B"/>
          </a:solidFill>
          <a:ln w="12700">
            <a:solidFill>
              <a:srgbClr val="0E7C7B"/>
            </a:solidFill>
            <a:prstDash val="solid"/>
          </a:ln>
        </p:spPr>
      </p:sp>
      <p:pic>
        <p:nvPicPr>
          <p:cNvPr id="8" name="Image 1" descr="preencoded.png">    </p:cNvPr>
          <p:cNvPicPr>
            <a:picLocks noChangeAspect="1"/>
          </p:cNvPicPr>
          <p:nvPr/>
        </p:nvPicPr>
        <p:blipFill>
          <a:blip r:embed="rId2"/>
          <a:stretch>
            <a:fillRect/>
          </a:stretch>
        </p:blipFill>
        <p:spPr>
          <a:xfrm>
            <a:off x="566562" y="2244486"/>
            <a:ext cx="201900" cy="201900"/>
          </a:xfrm>
          <a:prstGeom prst="rect">
            <a:avLst/>
          </a:prstGeom>
        </p:spPr>
      </p:pic>
      <p:sp>
        <p:nvSpPr>
          <p:cNvPr id="9" name="Text 5"/>
          <p:cNvSpPr txBox="1"/>
          <p:nvPr/>
        </p:nvSpPr>
        <p:spPr>
          <a:xfrm>
            <a:off x="1051560" y="2020824"/>
            <a:ext cx="7589520" cy="649224"/>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Nhận diện </a:t>
            </a:r>
            <a:pPr indent="0" marL="0">
              <a:buNone/>
            </a:pPr>
            <a:r>
              <a:rPr lang="en-US" sz="1450" b="1" dirty="0">
                <a:solidFill>
                  <a:srgbClr val="1F2A30"/>
                </a:solidFill>
                <a:latin typeface="Calibri" pitchFamily="34" charset="0"/>
                <a:ea typeface="Calibri" pitchFamily="34" charset="-122"/>
                <a:cs typeface="Calibri" pitchFamily="34" charset="-120"/>
              </a:rPr>
              <a:t>dữ liệu cá nhân của khách</a:t>
            </a:r>
            <a:pPr indent="0" marL="0">
              <a:buNone/>
            </a:pPr>
            <a:r>
              <a:rPr lang="en-US" sz="1450" dirty="0">
                <a:solidFill>
                  <a:srgbClr val="1F2A30"/>
                </a:solidFill>
                <a:latin typeface="Calibri" pitchFamily="34" charset="0"/>
                <a:ea typeface="Calibri" pitchFamily="34" charset="-122"/>
                <a:cs typeface="Calibri" pitchFamily="34" charset="-120"/>
              </a:rPr>
              <a:t>, áp dụng quy tắc </a:t>
            </a:r>
            <a:pPr indent="0" marL="0">
              <a:buNone/>
            </a:pPr>
            <a:r>
              <a:rPr lang="en-US" sz="1450" b="1" dirty="0">
                <a:solidFill>
                  <a:srgbClr val="1F2A30"/>
                </a:solidFill>
                <a:latin typeface="Calibri" pitchFamily="34" charset="0"/>
                <a:ea typeface="Calibri" pitchFamily="34" charset="-122"/>
                <a:cs typeface="Calibri" pitchFamily="34" charset="-120"/>
              </a:rPr>
              <a:t>Che, Kiểm, Chịu trách nhiệm</a:t>
            </a:r>
            <a:pPr indent="0" marL="0">
              <a:buNone/>
            </a:pPr>
            <a:r>
              <a:rPr lang="en-US" sz="1450" dirty="0">
                <a:solidFill>
                  <a:srgbClr val="1F2A30"/>
                </a:solidFill>
                <a:latin typeface="Calibri" pitchFamily="34" charset="0"/>
                <a:ea typeface="Calibri" pitchFamily="34" charset="-122"/>
                <a:cs typeface="Calibri" pitchFamily="34" charset="-120"/>
              </a:rPr>
              <a:t>.</a:t>
            </a:r>
            <a:endParaRPr lang="en-US" sz="1450" dirty="0"/>
          </a:p>
        </p:txBody>
      </p:sp>
      <p:sp>
        <p:nvSpPr>
          <p:cNvPr id="10" name="Shape 6"/>
          <p:cNvSpPr/>
          <p:nvPr/>
        </p:nvSpPr>
        <p:spPr>
          <a:xfrm>
            <a:off x="457200" y="2784348"/>
            <a:ext cx="420624" cy="420624"/>
          </a:xfrm>
          <a:prstGeom prst="ellipse">
            <a:avLst/>
          </a:prstGeom>
          <a:solidFill>
            <a:srgbClr val="0E7C7B"/>
          </a:solidFill>
          <a:ln w="12700">
            <a:solidFill>
              <a:srgbClr val="0E7C7B"/>
            </a:solidFill>
            <a:prstDash val="solid"/>
          </a:ln>
        </p:spPr>
      </p:sp>
      <p:pic>
        <p:nvPicPr>
          <p:cNvPr id="11" name="Image 2" descr="preencoded.png">    </p:cNvPr>
          <p:cNvPicPr>
            <a:picLocks noChangeAspect="1"/>
          </p:cNvPicPr>
          <p:nvPr/>
        </p:nvPicPr>
        <p:blipFill>
          <a:blip r:embed="rId3"/>
          <a:stretch>
            <a:fillRect/>
          </a:stretch>
        </p:blipFill>
        <p:spPr>
          <a:xfrm>
            <a:off x="566562" y="2893710"/>
            <a:ext cx="201900" cy="201900"/>
          </a:xfrm>
          <a:prstGeom prst="rect">
            <a:avLst/>
          </a:prstGeom>
        </p:spPr>
      </p:pic>
      <p:sp>
        <p:nvSpPr>
          <p:cNvPr id="12" name="Text 7"/>
          <p:cNvSpPr txBox="1"/>
          <p:nvPr/>
        </p:nvSpPr>
        <p:spPr>
          <a:xfrm>
            <a:off x="1051560" y="2670048"/>
            <a:ext cx="7589520" cy="649224"/>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Làm quen 4 trợ lý ảo: </a:t>
            </a:r>
            <a:pPr indent="0" marL="0">
              <a:buNone/>
            </a:pPr>
            <a:r>
              <a:rPr lang="en-US" sz="1450" b="1" dirty="0">
                <a:solidFill>
                  <a:srgbClr val="1F2A30"/>
                </a:solidFill>
                <a:latin typeface="Calibri" pitchFamily="34" charset="0"/>
                <a:ea typeface="Calibri" pitchFamily="34" charset="-122"/>
                <a:cs typeface="Calibri" pitchFamily="34" charset="-120"/>
              </a:rPr>
              <a:t>ChatGPT, Gemini, Claude, Grok</a:t>
            </a:r>
            <a:pPr indent="0" marL="0">
              <a:buNone/>
            </a:pPr>
            <a:r>
              <a:rPr lang="en-US" sz="1450" dirty="0">
                <a:solidFill>
                  <a:srgbClr val="1F2A30"/>
                </a:solidFill>
                <a:latin typeface="Calibri" pitchFamily="34" charset="0"/>
                <a:ea typeface="Calibri" pitchFamily="34" charset="-122"/>
                <a:cs typeface="Calibri" pitchFamily="34" charset="-120"/>
              </a:rPr>
              <a:t>.</a:t>
            </a:r>
            <a:endParaRPr lang="en-US" sz="1450" dirty="0"/>
          </a:p>
        </p:txBody>
      </p:sp>
      <p:sp>
        <p:nvSpPr>
          <p:cNvPr id="13" name="Shape 8"/>
          <p:cNvSpPr/>
          <p:nvPr/>
        </p:nvSpPr>
        <p:spPr>
          <a:xfrm>
            <a:off x="457200" y="3433572"/>
            <a:ext cx="420624" cy="420624"/>
          </a:xfrm>
          <a:prstGeom prst="ellipse">
            <a:avLst/>
          </a:prstGeom>
          <a:solidFill>
            <a:srgbClr val="0E7C7B"/>
          </a:solidFill>
          <a:ln w="12700">
            <a:solidFill>
              <a:srgbClr val="0E7C7B"/>
            </a:solidFill>
            <a:prstDash val="solid"/>
          </a:ln>
        </p:spPr>
      </p:sp>
      <p:pic>
        <p:nvPicPr>
          <p:cNvPr id="14" name="Image 3" descr="preencoded.png">    </p:cNvPr>
          <p:cNvPicPr>
            <a:picLocks noChangeAspect="1"/>
          </p:cNvPicPr>
          <p:nvPr/>
        </p:nvPicPr>
        <p:blipFill>
          <a:blip r:embed="rId4"/>
          <a:stretch>
            <a:fillRect/>
          </a:stretch>
        </p:blipFill>
        <p:spPr>
          <a:xfrm>
            <a:off x="566562" y="3542934"/>
            <a:ext cx="201900" cy="201900"/>
          </a:xfrm>
          <a:prstGeom prst="rect">
            <a:avLst/>
          </a:prstGeom>
        </p:spPr>
      </p:pic>
      <p:sp>
        <p:nvSpPr>
          <p:cNvPr id="15" name="Text 9"/>
          <p:cNvSpPr txBox="1"/>
          <p:nvPr/>
        </p:nvSpPr>
        <p:spPr>
          <a:xfrm>
            <a:off x="1051560" y="3319272"/>
            <a:ext cx="7589520" cy="649224"/>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Viết prompt theo công thức </a:t>
            </a:r>
            <a:pPr indent="0" marL="0">
              <a:buNone/>
            </a:pPr>
            <a:r>
              <a:rPr lang="en-US" sz="1450" b="1" dirty="0">
                <a:solidFill>
                  <a:srgbClr val="1F2A30"/>
                </a:solidFill>
                <a:latin typeface="Calibri" pitchFamily="34" charset="0"/>
                <a:ea typeface="Calibri" pitchFamily="34" charset="-122"/>
                <a:cs typeface="Calibri" pitchFamily="34" charset="-120"/>
              </a:rPr>
              <a:t>V-B-N-Đ-G</a:t>
            </a:r>
            <a:pPr indent="0" marL="0">
              <a:buNone/>
            </a:pPr>
            <a:r>
              <a:rPr lang="en-US" sz="1450" dirty="0">
                <a:solidFill>
                  <a:srgbClr val="1F2A30"/>
                </a:solidFill>
                <a:latin typeface="Calibri" pitchFamily="34" charset="0"/>
                <a:ea typeface="Calibri" pitchFamily="34" charset="-122"/>
                <a:cs typeface="Calibri" pitchFamily="34" charset="-120"/>
              </a:rPr>
              <a:t>.</a:t>
            </a:r>
            <a:endParaRPr lang="en-US" sz="1450" dirty="0"/>
          </a:p>
        </p:txBody>
      </p:sp>
      <p:sp>
        <p:nvSpPr>
          <p:cNvPr id="16" name="Shape 10"/>
          <p:cNvSpPr/>
          <p:nvPr/>
        </p:nvSpPr>
        <p:spPr>
          <a:xfrm>
            <a:off x="457200" y="4082796"/>
            <a:ext cx="420624" cy="420624"/>
          </a:xfrm>
          <a:prstGeom prst="ellipse">
            <a:avLst/>
          </a:prstGeom>
          <a:solidFill>
            <a:srgbClr val="0E7C7B"/>
          </a:solidFill>
          <a:ln w="12700">
            <a:solidFill>
              <a:srgbClr val="0E7C7B"/>
            </a:solidFill>
            <a:prstDash val="solid"/>
          </a:ln>
        </p:spPr>
      </p:sp>
      <p:pic>
        <p:nvPicPr>
          <p:cNvPr id="17" name="Image 4" descr="preencoded.png">    </p:cNvPr>
          <p:cNvPicPr>
            <a:picLocks noChangeAspect="1"/>
          </p:cNvPicPr>
          <p:nvPr/>
        </p:nvPicPr>
        <p:blipFill>
          <a:blip r:embed="rId5"/>
          <a:stretch>
            <a:fillRect/>
          </a:stretch>
        </p:blipFill>
        <p:spPr>
          <a:xfrm>
            <a:off x="566562" y="4192158"/>
            <a:ext cx="201900" cy="201900"/>
          </a:xfrm>
          <a:prstGeom prst="rect">
            <a:avLst/>
          </a:prstGeom>
        </p:spPr>
      </p:pic>
      <p:sp>
        <p:nvSpPr>
          <p:cNvPr id="18" name="Text 11"/>
          <p:cNvSpPr txBox="1"/>
          <p:nvPr/>
        </p:nvSpPr>
        <p:spPr>
          <a:xfrm>
            <a:off x="1051560" y="3968496"/>
            <a:ext cx="7589520" cy="649224"/>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Soạn phản hồi đồng cảm, email xin lỗi và kịch bản theo </a:t>
            </a:r>
            <a:pPr indent="0" marL="0">
              <a:buNone/>
            </a:pPr>
            <a:r>
              <a:rPr lang="en-US" sz="1450" b="1" dirty="0">
                <a:solidFill>
                  <a:srgbClr val="1F2A30"/>
                </a:solidFill>
                <a:latin typeface="Calibri" pitchFamily="34" charset="0"/>
                <a:ea typeface="Calibri" pitchFamily="34" charset="-122"/>
                <a:cs typeface="Calibri" pitchFamily="34" charset="-120"/>
              </a:rPr>
              <a:t>LEAST / HEARD</a:t>
            </a:r>
            <a:pPr indent="0" marL="0">
              <a:buNone/>
            </a:pPr>
            <a:r>
              <a:rPr lang="en-US" sz="1450" dirty="0">
                <a:solidFill>
                  <a:srgbClr val="1F2A30"/>
                </a:solidFill>
                <a:latin typeface="Calibri" pitchFamily="34" charset="0"/>
                <a:ea typeface="Calibri" pitchFamily="34" charset="-122"/>
                <a:cs typeface="Calibri" pitchFamily="34" charset="-120"/>
              </a:rPr>
              <a:t>.</a:t>
            </a:r>
            <a:endParaRPr lang="en-US" sz="1450" dirty="0"/>
          </a:p>
        </p:txBody>
      </p:sp>
      <p:sp>
        <p:nvSpPr>
          <p:cNvPr id="19" name="Text 12"/>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1</a:t>
            </a:r>
            <a:endParaRPr lang="en-US" sz="900" dirty="0"/>
          </a:p>
        </p:txBody>
      </p:sp>
      <p:sp>
        <p:nvSpPr>
          <p:cNvPr id="20" name="Text 13"/>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PHÂN BỔ 120 PHÚT</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Lịch trình buổi học</a:t>
            </a:r>
            <a:endParaRPr lang="en-US" sz="2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4023360" cy="914400"/>
        </p:xfrm>
        <a:graphic>
          <a:graphicData uri="http://schemas.openxmlformats.org/drawingml/2006/table">
            <a:tbl>
              <a:tblPr/>
              <a:tblGrid>
                <a:gridCol w="960120"/>
                <a:gridCol w="306324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Thời gian</a:t>
                      </a:r>
                      <a:endParaRPr lang="en-US" sz="1200" dirty="0">
                        <a:latin typeface="Calibri" charset="0"/>
                        <a:ea typeface="Calibri" charset="0"/>
                        <a:cs typeface="Calibri" charset="0"/>
                      </a:endParaRPr>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Hoạt động</a:t>
                      </a:r>
                      <a:endParaRPr lang="en-US" sz="1200" dirty="0">
                        <a:latin typeface="Calibri" charset="0"/>
                        <a:ea typeface="Calibri" charset="0"/>
                        <a:cs typeface="Calibri" charset="0"/>
                      </a:endParaRPr>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0:00–0:10</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Mở đầu: câu chuyện của Lan</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0:10–0:18</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GenAI là gì, vì sao AI "bịa"</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0:18–0:28</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Đạo đức &amp; bảo mật dữ liệu khách</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0:28–0:31</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Kiểm tra nhanh #1</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0:31–0:38</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Làm quen 4 trợ lý ảo</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0:38–0:46</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Công thức prompt V-B-N-Đ-G</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0:46–1:01</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00" b="1" dirty="0">
                          <a:solidFill>
                            <a:srgbClr val="1F2A30"/>
                          </a:solidFill>
                          <a:latin typeface="Calibri" pitchFamily="34" charset="0"/>
                          <a:ea typeface="Calibri" pitchFamily="34" charset="-122"/>
                          <a:cs typeface="Calibri" pitchFamily="34" charset="-120"/>
                        </a:rPr>
                        <a:t>Lab 1:</a:t>
                      </a:r>
                      <a:pPr indent="0" marL="0">
                        <a:buNone/>
                      </a:pPr>
                      <a:r>
                        <a:rPr lang="en-US" sz="1200" dirty="0">
                          <a:solidFill>
                            <a:srgbClr val="1F2A30"/>
                          </a:solidFill>
                          <a:latin typeface="Calibri" pitchFamily="34" charset="0"/>
                          <a:ea typeface="Calibri" pitchFamily="34" charset="-122"/>
                          <a:cs typeface="Calibri" pitchFamily="34" charset="-120"/>
                        </a:rPr>
                        <a:t> viết lại câu trả lời cộc lốc</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bl>
          </a:graphicData>
        </a:graphic>
      </p:graphicFrame>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4663440" y="1371600"/>
          <a:ext cx="4023360" cy="914400"/>
        </p:xfrm>
        <a:graphic>
          <a:graphicData uri="http://schemas.openxmlformats.org/drawingml/2006/table">
            <a:tbl>
              <a:tblPr/>
              <a:tblGrid>
                <a:gridCol w="960120"/>
                <a:gridCol w="306324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Thời gian</a:t>
                      </a:r>
                      <a:endParaRPr lang="en-US" sz="1200" dirty="0">
                        <a:latin typeface="Calibri" charset="0"/>
                        <a:ea typeface="Calibri" charset="0"/>
                        <a:cs typeface="Calibri" charset="0"/>
                      </a:endParaRPr>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Hoạt động</a:t>
                      </a:r>
                      <a:endParaRPr lang="en-US" sz="1200" dirty="0">
                        <a:latin typeface="Calibri" charset="0"/>
                        <a:ea typeface="Calibri" charset="0"/>
                        <a:cs typeface="Calibri" charset="0"/>
                      </a:endParaRPr>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1:01–1:06</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Nghỉ giải lao</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1:06–1:13</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Xử lý khiếu nại: LEAST &amp; HEARD</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1:13–1:33</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00" b="1" dirty="0">
                          <a:solidFill>
                            <a:srgbClr val="1F2A30"/>
                          </a:solidFill>
                          <a:latin typeface="Calibri" pitchFamily="34" charset="0"/>
                          <a:ea typeface="Calibri" pitchFamily="34" charset="-122"/>
                          <a:cs typeface="Calibri" pitchFamily="34" charset="-120"/>
                        </a:rPr>
                        <a:t>Lab 2:</a:t>
                      </a:r>
                      <a:pPr indent="0" marL="0">
                        <a:buNone/>
                      </a:pPr>
                      <a:r>
                        <a:rPr lang="en-US" sz="1200" dirty="0">
                          <a:solidFill>
                            <a:srgbClr val="1F2A30"/>
                          </a:solidFill>
                          <a:latin typeface="Calibri" pitchFamily="34" charset="0"/>
                          <a:ea typeface="Calibri" pitchFamily="34" charset="-122"/>
                          <a:cs typeface="Calibri" pitchFamily="34" charset="-120"/>
                        </a:rPr>
                        <a:t> email xin lỗi &amp; kịch bản</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1:33–1:36</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Kiểm tra nhanh #2</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1:36–1:41</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Giao bài tập</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1:41–1:51</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Role play với cô giáo AI</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1:51–2:00</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00" dirty="0">
                          <a:solidFill>
                            <a:srgbClr val="1F2A30"/>
                          </a:solidFill>
                          <a:latin typeface="Calibri" pitchFamily="34" charset="0"/>
                          <a:ea typeface="Calibri" pitchFamily="34" charset="-122"/>
                          <a:cs typeface="Calibri" pitchFamily="34" charset="-120"/>
                        </a:rPr>
                        <a:t>Quiz, tổng kết &amp; feedback</a:t>
                      </a:r>
                      <a:endParaRPr lang="en-US" sz="1200" dirty="0"/>
                    </a:p>
                  </a:txBody>
                  <a:tcPr marL="76200" marR="76200" marT="38100" marB="381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bl>
          </a:graphicData>
        </a:graphic>
      </p:graphicFrame>
      <p:sp>
        <p:nvSpPr>
          <p:cNvPr id="6" name="Text 2"/>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1</a:t>
            </a:r>
            <a:endParaRPr lang="en-US" sz="900" dirty="0"/>
          </a:p>
        </p:txBody>
      </p:sp>
      <p:sp>
        <p:nvSpPr>
          <p:cNvPr id="7" name="Text 3"/>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3B45"/>
        </a:solidFill>
      </p:bgPr>
    </p:bg>
    <p:spTree>
      <p:nvGrpSpPr>
        <p:cNvPr id="1" name=""/>
        <p:cNvGrpSpPr/>
        <p:nvPr/>
      </p:nvGrpSpPr>
      <p:grpSpPr>
        <a:xfrm>
          <a:off x="0" y="0"/>
          <a:ext cx="0" cy="0"/>
          <a:chOff x="0" y="0"/>
          <a:chExt cx="0" cy="0"/>
        </a:xfrm>
      </p:grpSpPr>
      <p:sp>
        <p:nvSpPr>
          <p:cNvPr id="2" name="Text 0"/>
          <p:cNvSpPr txBox="1"/>
          <p:nvPr/>
        </p:nvSpPr>
        <p:spPr>
          <a:xfrm>
            <a:off x="548640" y="1097280"/>
            <a:ext cx="2743200" cy="1005840"/>
          </a:xfrm>
          <a:prstGeom prst="rect">
            <a:avLst/>
          </a:prstGeom>
          <a:noFill/>
          <a:ln/>
        </p:spPr>
        <p:txBody>
          <a:bodyPr wrap="square" lIns="0" tIns="0" rIns="0" bIns="0" rtlCol="0" anchor="t"/>
          <a:lstStyle/>
          <a:p>
            <a:pPr indent="0" marL="0">
              <a:buNone/>
            </a:pPr>
            <a:r>
              <a:rPr lang="en-US" sz="6600" b="1" dirty="0">
                <a:solidFill>
                  <a:srgbClr val="F2994A"/>
                </a:solidFill>
                <a:latin typeface="Cambria" pitchFamily="34" charset="0"/>
                <a:ea typeface="Cambria" pitchFamily="34" charset="-122"/>
                <a:cs typeface="Cambria" pitchFamily="34" charset="-120"/>
              </a:rPr>
              <a:t>01</a:t>
            </a:r>
            <a:endParaRPr lang="en-US" sz="6600" dirty="0"/>
          </a:p>
        </p:txBody>
      </p:sp>
      <p:sp>
        <p:nvSpPr>
          <p:cNvPr id="3" name="Text 1"/>
          <p:cNvSpPr txBox="1"/>
          <p:nvPr/>
        </p:nvSpPr>
        <p:spPr>
          <a:xfrm>
            <a:off x="548640" y="2148840"/>
            <a:ext cx="7315200" cy="320040"/>
          </a:xfrm>
          <a:prstGeom prst="rect">
            <a:avLst/>
          </a:prstGeom>
          <a:noFill/>
          <a:ln/>
        </p:spPr>
        <p:txBody>
          <a:bodyPr wrap="square" lIns="0" tIns="0" rIns="0" bIns="0" rtlCol="0" anchor="t"/>
          <a:lstStyle/>
          <a:p>
            <a:pPr indent="0" marL="0">
              <a:buNone/>
            </a:pPr>
            <a:r>
              <a:rPr lang="en-US" sz="1200" b="1" spc="300" kern="0" dirty="0">
                <a:solidFill>
                  <a:srgbClr val="BFE3DD"/>
                </a:solidFill>
                <a:latin typeface="Calibri" pitchFamily="34" charset="0"/>
                <a:ea typeface="Calibri" pitchFamily="34" charset="-122"/>
                <a:cs typeface="Calibri" pitchFamily="34" charset="-120"/>
              </a:rPr>
              <a:t>PHẦN 1 · BÀI 1</a:t>
            </a:r>
            <a:endParaRPr lang="en-US" sz="1200" dirty="0"/>
          </a:p>
        </p:txBody>
      </p:sp>
      <p:sp>
        <p:nvSpPr>
          <p:cNvPr id="4" name="Text 2"/>
          <p:cNvSpPr txBox="1"/>
          <p:nvPr/>
        </p:nvSpPr>
        <p:spPr>
          <a:xfrm>
            <a:off x="548640" y="2468880"/>
            <a:ext cx="6583680"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Hiểu đúng về AI</a:t>
            </a:r>
            <a:endParaRPr lang="en-US" sz="3200" dirty="0"/>
          </a:p>
        </p:txBody>
      </p:sp>
      <p:sp>
        <p:nvSpPr>
          <p:cNvPr id="5" name="Text 3"/>
          <p:cNvSpPr txBox="1"/>
          <p:nvPr/>
        </p:nvSpPr>
        <p:spPr>
          <a:xfrm>
            <a:off x="548640" y="3291840"/>
            <a:ext cx="6400800" cy="731520"/>
          </a:xfrm>
          <a:prstGeom prst="rect">
            <a:avLst/>
          </a:prstGeom>
          <a:noFill/>
          <a:ln/>
        </p:spPr>
        <p:txBody>
          <a:bodyPr wrap="square" lIns="0" tIns="0" rIns="0" bIns="0" rtlCol="0" anchor="t"/>
          <a:lstStyle/>
          <a:p>
            <a:pPr indent="0" marL="0">
              <a:buNone/>
            </a:pPr>
            <a:r>
              <a:rPr lang="en-US" sz="1500" dirty="0">
                <a:solidFill>
                  <a:srgbClr val="BFE3DD"/>
                </a:solidFill>
                <a:latin typeface="Calibri" pitchFamily="34" charset="0"/>
                <a:ea typeface="Calibri" pitchFamily="34" charset="-122"/>
                <a:cs typeface="Calibri" pitchFamily="34" charset="-120"/>
              </a:rPr>
              <a:t>GenAI hoạt động ra sao, và vì sao nó có thể trả lời sai một cách rất tự tin.</a:t>
            </a:r>
            <a:endParaRPr lang="en-US" sz="1500" dirty="0"/>
          </a:p>
        </p:txBody>
      </p:sp>
      <p:sp>
        <p:nvSpPr>
          <p:cNvPr id="6" name="Shape 4"/>
          <p:cNvSpPr/>
          <p:nvPr/>
        </p:nvSpPr>
        <p:spPr>
          <a:xfrm>
            <a:off x="7315200" y="1234440"/>
            <a:ext cx="1188720" cy="1188720"/>
          </a:xfrm>
          <a:prstGeom prst="ellipse">
            <a:avLst/>
          </a:prstGeom>
          <a:solidFill>
            <a:srgbClr val="0E7C7B"/>
          </a:solidFill>
          <a:ln w="12700">
            <a:solidFill>
              <a:srgbClr val="0E7C7B"/>
            </a:solidFill>
            <a:prstDash val="solid"/>
          </a:ln>
        </p:spPr>
      </p:sp>
      <p:pic>
        <p:nvPicPr>
          <p:cNvPr id="7" name="Image 0" descr="preencoded.png">    </p:cNvPr>
          <p:cNvPicPr>
            <a:picLocks noChangeAspect="1"/>
          </p:cNvPicPr>
          <p:nvPr/>
        </p:nvPicPr>
        <p:blipFill>
          <a:blip r:embed="rId1"/>
          <a:stretch>
            <a:fillRect/>
          </a:stretch>
        </p:blipFill>
        <p:spPr>
          <a:xfrm>
            <a:off x="7624267" y="1543507"/>
            <a:ext cx="570586" cy="57058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GENAI LÀ GÌ</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AI tạo sinh: "đoán chữ tiếp theo", không phải tra cứu</a:t>
            </a:r>
            <a:endParaRPr lang="en-US" sz="2500" dirty="0"/>
          </a:p>
        </p:txBody>
      </p:sp>
      <p:sp>
        <p:nvSpPr>
          <p:cNvPr id="4" name="Shape 2"/>
          <p:cNvSpPr/>
          <p:nvPr/>
        </p:nvSpPr>
        <p:spPr>
          <a:xfrm>
            <a:off x="457200" y="1371600"/>
            <a:ext cx="2590800" cy="3200400"/>
          </a:xfrm>
          <a:prstGeom prst="roundRect">
            <a:avLst>
              <a:gd name="adj" fmla="val 3529"/>
            </a:avLst>
          </a:prstGeom>
          <a:solidFill>
            <a:srgbClr val="E8F3F1"/>
          </a:solidFill>
          <a:ln w="12700">
            <a:solidFill>
              <a:srgbClr val="E8F3F1"/>
            </a:solidFill>
            <a:prstDash val="solid"/>
          </a:ln>
        </p:spPr>
      </p:sp>
      <p:sp>
        <p:nvSpPr>
          <p:cNvPr id="5" name="Shape 3"/>
          <p:cNvSpPr/>
          <p:nvPr/>
        </p:nvSpPr>
        <p:spPr>
          <a:xfrm>
            <a:off x="658368" y="1572768"/>
            <a:ext cx="475488" cy="475488"/>
          </a:xfrm>
          <a:prstGeom prst="ellipse">
            <a:avLst/>
          </a:prstGeom>
          <a:solidFill>
            <a:srgbClr val="0E7C7B"/>
          </a:solidFill>
          <a:ln w="12700">
            <a:solidFill>
              <a:srgbClr val="0E7C7B"/>
            </a:solidFill>
            <a:prstDash val="solid"/>
          </a:ln>
        </p:spPr>
      </p:sp>
      <p:pic>
        <p:nvPicPr>
          <p:cNvPr id="6" name="Image 0" descr="preencoded.png">    </p:cNvPr>
          <p:cNvPicPr>
            <a:picLocks noChangeAspect="1"/>
          </p:cNvPicPr>
          <p:nvPr/>
        </p:nvPicPr>
        <p:blipFill>
          <a:blip r:embed="rId1"/>
          <a:stretch>
            <a:fillRect/>
          </a:stretch>
        </p:blipFill>
        <p:spPr>
          <a:xfrm>
            <a:off x="781995" y="1696395"/>
            <a:ext cx="228234" cy="228234"/>
          </a:xfrm>
          <a:prstGeom prst="rect">
            <a:avLst/>
          </a:prstGeom>
        </p:spPr>
      </p:pic>
      <p:sp>
        <p:nvSpPr>
          <p:cNvPr id="7" name="Text 4"/>
          <p:cNvSpPr txBox="1"/>
          <p:nvPr/>
        </p:nvSpPr>
        <p:spPr>
          <a:xfrm>
            <a:off x="658368" y="2148840"/>
            <a:ext cx="2188464" cy="411480"/>
          </a:xfrm>
          <a:prstGeom prst="rect">
            <a:avLst/>
          </a:prstGeom>
          <a:noFill/>
          <a:ln/>
        </p:spPr>
        <p:txBody>
          <a:bodyPr wrap="square" lIns="0" tIns="0" rIns="0" bIns="0" rtlCol="0" anchor="ctr"/>
          <a:lstStyle/>
          <a:p>
            <a:pPr indent="0" marL="0">
              <a:buNone/>
            </a:pPr>
            <a:r>
              <a:rPr lang="en-US" sz="1450" b="1" dirty="0">
                <a:solidFill>
                  <a:srgbClr val="0B3B45"/>
                </a:solidFill>
                <a:latin typeface="Calibri" pitchFamily="34" charset="0"/>
                <a:ea typeface="Calibri" pitchFamily="34" charset="-122"/>
                <a:cs typeface="Calibri" pitchFamily="34" charset="-120"/>
              </a:rPr>
              <a:t>Tạo nội dung mới</a:t>
            </a:r>
            <a:endParaRPr lang="en-US" sz="1450" dirty="0"/>
          </a:p>
        </p:txBody>
      </p:sp>
      <p:sp>
        <p:nvSpPr>
          <p:cNvPr id="8" name="Text 5"/>
          <p:cNvSpPr txBox="1"/>
          <p:nvPr/>
        </p:nvSpPr>
        <p:spPr>
          <a:xfrm>
            <a:off x="658368" y="2587752"/>
            <a:ext cx="2188464" cy="187452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ChatGPT, Gemini, Claude </a:t>
            </a:r>
            <a:pPr indent="0" marL="0">
              <a:buNone/>
            </a:pPr>
            <a:r>
              <a:rPr lang="en-US" sz="1400" b="1" dirty="0">
                <a:solidFill>
                  <a:srgbClr val="1F2A30"/>
                </a:solidFill>
                <a:latin typeface="Calibri" pitchFamily="34" charset="0"/>
                <a:ea typeface="Calibri" pitchFamily="34" charset="-122"/>
                <a:cs typeface="Calibri" pitchFamily="34" charset="-120"/>
              </a:rPr>
              <a:t>tạo</a:t>
            </a:r>
            <a:pPr indent="0" marL="0">
              <a:buNone/>
            </a:pPr>
            <a:r>
              <a:rPr lang="en-US" sz="1400" dirty="0">
                <a:solidFill>
                  <a:srgbClr val="1F2A30"/>
                </a:solidFill>
                <a:latin typeface="Calibri" pitchFamily="34" charset="0"/>
                <a:ea typeface="Calibri" pitchFamily="34" charset="-122"/>
                <a:cs typeface="Calibri" pitchFamily="34" charset="-120"/>
              </a:rPr>
              <a:t> câu trả lời mới mỗi lần, không tìm câu có sẵn như Google.</a:t>
            </a:r>
            <a:endParaRPr lang="en-US" sz="1400" dirty="0"/>
          </a:p>
        </p:txBody>
      </p:sp>
      <p:sp>
        <p:nvSpPr>
          <p:cNvPr id="9" name="Shape 6"/>
          <p:cNvSpPr/>
          <p:nvPr/>
        </p:nvSpPr>
        <p:spPr>
          <a:xfrm>
            <a:off x="3276600" y="1371600"/>
            <a:ext cx="2590800" cy="3200400"/>
          </a:xfrm>
          <a:prstGeom prst="roundRect">
            <a:avLst>
              <a:gd name="adj" fmla="val 3529"/>
            </a:avLst>
          </a:prstGeom>
          <a:solidFill>
            <a:srgbClr val="E8F3F1"/>
          </a:solidFill>
          <a:ln w="12700">
            <a:solidFill>
              <a:srgbClr val="E8F3F1"/>
            </a:solidFill>
            <a:prstDash val="solid"/>
          </a:ln>
        </p:spPr>
      </p:sp>
      <p:sp>
        <p:nvSpPr>
          <p:cNvPr id="10" name="Shape 7"/>
          <p:cNvSpPr/>
          <p:nvPr/>
        </p:nvSpPr>
        <p:spPr>
          <a:xfrm>
            <a:off x="3477768" y="1572768"/>
            <a:ext cx="475488" cy="475488"/>
          </a:xfrm>
          <a:prstGeom prst="ellipse">
            <a:avLst/>
          </a:prstGeom>
          <a:solidFill>
            <a:srgbClr val="0E7C7B"/>
          </a:solidFill>
          <a:ln w="12700">
            <a:solidFill>
              <a:srgbClr val="0E7C7B"/>
            </a:solidFill>
            <a:prstDash val="solid"/>
          </a:ln>
        </p:spPr>
      </p:sp>
      <p:pic>
        <p:nvPicPr>
          <p:cNvPr id="11" name="Image 1" descr="preencoded.png">    </p:cNvPr>
          <p:cNvPicPr>
            <a:picLocks noChangeAspect="1"/>
          </p:cNvPicPr>
          <p:nvPr/>
        </p:nvPicPr>
        <p:blipFill>
          <a:blip r:embed="rId2"/>
          <a:stretch>
            <a:fillRect/>
          </a:stretch>
        </p:blipFill>
        <p:spPr>
          <a:xfrm>
            <a:off x="3601395" y="1696395"/>
            <a:ext cx="228234" cy="228234"/>
          </a:xfrm>
          <a:prstGeom prst="rect">
            <a:avLst/>
          </a:prstGeom>
        </p:spPr>
      </p:pic>
      <p:sp>
        <p:nvSpPr>
          <p:cNvPr id="12" name="Text 8"/>
          <p:cNvSpPr txBox="1"/>
          <p:nvPr/>
        </p:nvSpPr>
        <p:spPr>
          <a:xfrm>
            <a:off x="3477768" y="2148840"/>
            <a:ext cx="2188464" cy="411480"/>
          </a:xfrm>
          <a:prstGeom prst="rect">
            <a:avLst/>
          </a:prstGeom>
          <a:noFill/>
          <a:ln/>
        </p:spPr>
        <p:txBody>
          <a:bodyPr wrap="square" lIns="0" tIns="0" rIns="0" bIns="0" rtlCol="0" anchor="ctr"/>
          <a:lstStyle/>
          <a:p>
            <a:pPr indent="0" marL="0">
              <a:buNone/>
            </a:pPr>
            <a:r>
              <a:rPr lang="en-US" sz="1450" b="1" dirty="0">
                <a:solidFill>
                  <a:srgbClr val="0B3B45"/>
                </a:solidFill>
                <a:latin typeface="Calibri" pitchFamily="34" charset="0"/>
                <a:ea typeface="Calibri" pitchFamily="34" charset="-122"/>
                <a:cs typeface="Calibri" pitchFamily="34" charset="-120"/>
              </a:rPr>
              <a:t>Lõi là LLM</a:t>
            </a:r>
            <a:endParaRPr lang="en-US" sz="1450" dirty="0"/>
          </a:p>
        </p:txBody>
      </p:sp>
      <p:sp>
        <p:nvSpPr>
          <p:cNvPr id="13" name="Text 9"/>
          <p:cNvSpPr txBox="1"/>
          <p:nvPr/>
        </p:nvSpPr>
        <p:spPr>
          <a:xfrm>
            <a:off x="3477768" y="2587752"/>
            <a:ext cx="2188464" cy="187452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Mô hình ngôn ngữ lớn học từ lượng văn bản khổng lồ, rồi </a:t>
            </a:r>
            <a:pPr indent="0" marL="0">
              <a:buNone/>
            </a:pPr>
            <a:r>
              <a:rPr lang="en-US" sz="1400" b="1" dirty="0">
                <a:solidFill>
                  <a:srgbClr val="1F2A30"/>
                </a:solidFill>
                <a:latin typeface="Calibri" pitchFamily="34" charset="0"/>
                <a:ea typeface="Calibri" pitchFamily="34" charset="-122"/>
                <a:cs typeface="Calibri" pitchFamily="34" charset="-120"/>
              </a:rPr>
              <a:t>đoán từ tiếp theo hợp lý nhất</a:t>
            </a:r>
            <a:pPr indent="0" marL="0">
              <a:buNone/>
            </a:pPr>
            <a:r>
              <a:rPr lang="en-US" sz="1400" dirty="0">
                <a:solidFill>
                  <a:srgbClr val="1F2A30"/>
                </a:solidFill>
                <a:latin typeface="Calibri" pitchFamily="34" charset="0"/>
                <a:ea typeface="Calibri" pitchFamily="34" charset="-122"/>
                <a:cs typeface="Calibri" pitchFamily="34" charset="-120"/>
              </a:rPr>
              <a:t>.</a:t>
            </a:r>
            <a:endParaRPr lang="en-US" sz="1400" dirty="0"/>
          </a:p>
        </p:txBody>
      </p:sp>
      <p:sp>
        <p:nvSpPr>
          <p:cNvPr id="14" name="Shape 10"/>
          <p:cNvSpPr/>
          <p:nvPr/>
        </p:nvSpPr>
        <p:spPr>
          <a:xfrm>
            <a:off x="6096000" y="1371600"/>
            <a:ext cx="2590800" cy="3200400"/>
          </a:xfrm>
          <a:prstGeom prst="roundRect">
            <a:avLst>
              <a:gd name="adj" fmla="val 3529"/>
            </a:avLst>
          </a:prstGeom>
          <a:solidFill>
            <a:srgbClr val="E8F3F1"/>
          </a:solidFill>
          <a:ln w="12700">
            <a:solidFill>
              <a:srgbClr val="E8F3F1"/>
            </a:solidFill>
            <a:prstDash val="solid"/>
          </a:ln>
        </p:spPr>
      </p:sp>
      <p:sp>
        <p:nvSpPr>
          <p:cNvPr id="15" name="Shape 11"/>
          <p:cNvSpPr/>
          <p:nvPr/>
        </p:nvSpPr>
        <p:spPr>
          <a:xfrm>
            <a:off x="6297168" y="1572768"/>
            <a:ext cx="475488" cy="475488"/>
          </a:xfrm>
          <a:prstGeom prst="ellipse">
            <a:avLst/>
          </a:prstGeom>
          <a:solidFill>
            <a:srgbClr val="F2994A"/>
          </a:solidFill>
          <a:ln w="12700">
            <a:solidFill>
              <a:srgbClr val="F2994A"/>
            </a:solidFill>
            <a:prstDash val="solid"/>
          </a:ln>
        </p:spPr>
      </p:sp>
      <p:pic>
        <p:nvPicPr>
          <p:cNvPr id="16" name="Image 2" descr="preencoded.png">    </p:cNvPr>
          <p:cNvPicPr>
            <a:picLocks noChangeAspect="1"/>
          </p:cNvPicPr>
          <p:nvPr/>
        </p:nvPicPr>
        <p:blipFill>
          <a:blip r:embed="rId3"/>
          <a:stretch>
            <a:fillRect/>
          </a:stretch>
        </p:blipFill>
        <p:spPr>
          <a:xfrm>
            <a:off x="6420795" y="1696395"/>
            <a:ext cx="228234" cy="228234"/>
          </a:xfrm>
          <a:prstGeom prst="rect">
            <a:avLst/>
          </a:prstGeom>
        </p:spPr>
      </p:pic>
      <p:sp>
        <p:nvSpPr>
          <p:cNvPr id="17" name="Text 12"/>
          <p:cNvSpPr txBox="1"/>
          <p:nvPr/>
        </p:nvSpPr>
        <p:spPr>
          <a:xfrm>
            <a:off x="6297168" y="2148840"/>
            <a:ext cx="2188464" cy="411480"/>
          </a:xfrm>
          <a:prstGeom prst="rect">
            <a:avLst/>
          </a:prstGeom>
          <a:noFill/>
          <a:ln/>
        </p:spPr>
        <p:txBody>
          <a:bodyPr wrap="square" lIns="0" tIns="0" rIns="0" bIns="0" rtlCol="0" anchor="ctr"/>
          <a:lstStyle/>
          <a:p>
            <a:pPr indent="0" marL="0">
              <a:buNone/>
            </a:pPr>
            <a:r>
              <a:rPr lang="en-US" sz="1450" b="1" dirty="0">
                <a:solidFill>
                  <a:srgbClr val="0B3B45"/>
                </a:solidFill>
                <a:latin typeface="Calibri" pitchFamily="34" charset="0"/>
                <a:ea typeface="Calibri" pitchFamily="34" charset="-122"/>
                <a:cs typeface="Calibri" pitchFamily="34" charset="-120"/>
              </a:rPr>
              <a:t>Nghe hay ≠ đúng</a:t>
            </a:r>
            <a:endParaRPr lang="en-US" sz="1450" dirty="0"/>
          </a:p>
        </p:txBody>
      </p:sp>
      <p:sp>
        <p:nvSpPr>
          <p:cNvPr id="18" name="Text 13"/>
          <p:cNvSpPr txBox="1"/>
          <p:nvPr/>
        </p:nvSpPr>
        <p:spPr>
          <a:xfrm>
            <a:off x="6297168" y="2587752"/>
            <a:ext cx="2188464" cy="187452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Mục tiêu của AI là </a:t>
            </a:r>
            <a:pPr indent="0" marL="0">
              <a:buNone/>
            </a:pPr>
            <a:r>
              <a:rPr lang="en-US" sz="1400" b="1" dirty="0">
                <a:solidFill>
                  <a:srgbClr val="1F2A30"/>
                </a:solidFill>
                <a:latin typeface="Calibri" pitchFamily="34" charset="0"/>
                <a:ea typeface="Calibri" pitchFamily="34" charset="-122"/>
                <a:cs typeface="Calibri" pitchFamily="34" charset="-120"/>
              </a:rPr>
              <a:t>nghe hợp lý</a:t>
            </a:r>
            <a:pPr indent="0" marL="0">
              <a:buNone/>
            </a:pPr>
            <a:r>
              <a:rPr lang="en-US" sz="1400" dirty="0">
                <a:solidFill>
                  <a:srgbClr val="1F2A30"/>
                </a:solidFill>
                <a:latin typeface="Calibri" pitchFamily="34" charset="0"/>
                <a:ea typeface="Calibri" pitchFamily="34" charset="-122"/>
                <a:cs typeface="Calibri" pitchFamily="34" charset="-120"/>
              </a:rPr>
              <a:t>, nên có thể bịa số liệu, chính sách, mức bồi thường.</a:t>
            </a:r>
            <a:endParaRPr lang="en-US" sz="1400" dirty="0"/>
          </a:p>
        </p:txBody>
      </p:sp>
      <p:sp>
        <p:nvSpPr>
          <p:cNvPr id="19" name="Text 14"/>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1</a:t>
            </a:r>
            <a:endParaRPr lang="en-US" sz="900" dirty="0"/>
          </a:p>
        </p:txBody>
      </p:sp>
      <p:sp>
        <p:nvSpPr>
          <p:cNvPr id="20" name="Text 15"/>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HALLUCINATION TRONG CALL CENTER</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Khi AI "bịa" chính sách</a:t>
            </a:r>
            <a:endParaRPr lang="en-US" sz="2500" dirty="0"/>
          </a:p>
        </p:txBody>
      </p:sp>
      <p:sp>
        <p:nvSpPr>
          <p:cNvPr id="4" name="Shape 2"/>
          <p:cNvSpPr/>
          <p:nvPr/>
        </p:nvSpPr>
        <p:spPr>
          <a:xfrm>
            <a:off x="457200" y="1371600"/>
            <a:ext cx="3977640" cy="2697480"/>
          </a:xfrm>
          <a:prstGeom prst="roundRect">
            <a:avLst>
              <a:gd name="adj" fmla="val 3390"/>
            </a:avLst>
          </a:prstGeom>
          <a:solidFill>
            <a:srgbClr val="FBEAE8"/>
          </a:solidFill>
          <a:ln w="12700">
            <a:solidFill>
              <a:srgbClr val="FBEAE8"/>
            </a:solidFill>
            <a:prstDash val="solid"/>
          </a:ln>
        </p:spPr>
      </p:sp>
      <p:sp>
        <p:nvSpPr>
          <p:cNvPr id="5" name="Shape 3"/>
          <p:cNvSpPr/>
          <p:nvPr/>
        </p:nvSpPr>
        <p:spPr>
          <a:xfrm>
            <a:off x="658368" y="1554480"/>
            <a:ext cx="420624" cy="420624"/>
          </a:xfrm>
          <a:prstGeom prst="ellipse">
            <a:avLst/>
          </a:prstGeom>
          <a:solidFill>
            <a:srgbClr val="C0392B"/>
          </a:solidFill>
          <a:ln w="12700">
            <a:solidFill>
              <a:srgbClr val="C0392B"/>
            </a:solidFill>
            <a:prstDash val="solid"/>
          </a:ln>
        </p:spPr>
      </p:sp>
      <p:pic>
        <p:nvPicPr>
          <p:cNvPr id="6" name="Image 0" descr="preencoded.png">    </p:cNvPr>
          <p:cNvPicPr>
            <a:picLocks noChangeAspect="1"/>
          </p:cNvPicPr>
          <p:nvPr/>
        </p:nvPicPr>
        <p:blipFill>
          <a:blip r:embed="rId1"/>
          <a:stretch>
            <a:fillRect/>
          </a:stretch>
        </p:blipFill>
        <p:spPr>
          <a:xfrm>
            <a:off x="767730" y="1663842"/>
            <a:ext cx="201900" cy="201900"/>
          </a:xfrm>
          <a:prstGeom prst="rect">
            <a:avLst/>
          </a:prstGeom>
        </p:spPr>
      </p:pic>
      <p:sp>
        <p:nvSpPr>
          <p:cNvPr id="7" name="Text 4"/>
          <p:cNvSpPr txBox="1"/>
          <p:nvPr/>
        </p:nvSpPr>
        <p:spPr>
          <a:xfrm>
            <a:off x="1188720" y="1554480"/>
            <a:ext cx="3063240" cy="420624"/>
          </a:xfrm>
          <a:prstGeom prst="rect">
            <a:avLst/>
          </a:prstGeom>
          <a:noFill/>
          <a:ln/>
        </p:spPr>
        <p:txBody>
          <a:bodyPr wrap="square" lIns="0" tIns="0" rIns="0" bIns="0" rtlCol="0" anchor="ctr"/>
          <a:lstStyle/>
          <a:p>
            <a:pPr indent="0" marL="0">
              <a:buNone/>
            </a:pPr>
            <a:r>
              <a:rPr lang="en-US" sz="1450" b="1" dirty="0">
                <a:solidFill>
                  <a:srgbClr val="C0392B"/>
                </a:solidFill>
                <a:latin typeface="Calibri" pitchFamily="34" charset="0"/>
                <a:ea typeface="Calibri" pitchFamily="34" charset="-122"/>
                <a:cs typeface="Calibri" pitchFamily="34" charset="-120"/>
              </a:rPr>
              <a:t>Hỏi AI không có dữ liệu</a:t>
            </a:r>
            <a:endParaRPr lang="en-US" sz="1450" dirty="0"/>
          </a:p>
        </p:txBody>
      </p:sp>
      <p:sp>
        <p:nvSpPr>
          <p:cNvPr id="8" name="Text 5"/>
          <p:cNvSpPr txBox="1"/>
          <p:nvPr/>
        </p:nvSpPr>
        <p:spPr>
          <a:xfrm>
            <a:off x="685800" y="2103120"/>
            <a:ext cx="3520440" cy="18288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F2A30"/>
                </a:solidFill>
                <a:latin typeface="Calibri" pitchFamily="34" charset="0"/>
                <a:ea typeface="Calibri" pitchFamily="34" charset="-122"/>
                <a:cs typeface="Calibri" pitchFamily="34" charset="-120"/>
              </a:rPr>
              <a:t>Hỏi: "Đơn của khách đang ở đâu?"</a:t>
            </a:r>
            <a:endParaRPr lang="en-US" sz="1400" dirty="0"/>
          </a:p>
          <a:p>
            <a:pPr marL="177800" indent="-177800">
              <a:spcAft>
                <a:spcPts val="800"/>
              </a:spcAft>
              <a:buSzPct val="100000"/>
              <a:buChar char="•"/>
            </a:pPr>
            <a:r>
              <a:rPr lang="en-US" sz="1400" dirty="0">
                <a:solidFill>
                  <a:srgbClr val="1F2A30"/>
                </a:solidFill>
                <a:latin typeface="Calibri" pitchFamily="34" charset="0"/>
                <a:ea typeface="Calibri" pitchFamily="34" charset="-122"/>
                <a:cs typeface="Calibri" pitchFamily="34" charset="-120"/>
              </a:rPr>
              <a:t>AI đáp: "Đơn đang giao, dự kiến tới trong 2 ngày".</a:t>
            </a:r>
            <a:endParaRPr lang="en-US" sz="1400" dirty="0"/>
          </a:p>
          <a:p>
            <a:pPr marL="177800" indent="-177800">
              <a:spcAft>
                <a:spcPts val="800"/>
              </a:spcAft>
              <a:buSzPct val="100000"/>
              <a:buChar char="•"/>
            </a:pPr>
            <a:r>
              <a:rPr lang="en-US" sz="1400" dirty="0">
                <a:solidFill>
                  <a:srgbClr val="1F2A30"/>
                </a:solidFill>
                <a:latin typeface="Calibri" pitchFamily="34" charset="0"/>
                <a:ea typeface="Calibri" pitchFamily="34" charset="-122"/>
                <a:cs typeface="Calibri" pitchFamily="34" charset="-120"/>
              </a:rPr>
              <a:t>AI </a:t>
            </a:r>
            <a:pPr indent="0" marL="0">
              <a:spcAft>
                <a:spcPts val="800"/>
              </a:spcAft>
              <a:buNone/>
            </a:pPr>
            <a:r>
              <a:rPr lang="en-US" sz="1400" b="1" dirty="0">
                <a:solidFill>
                  <a:srgbClr val="1F2A30"/>
                </a:solidFill>
                <a:latin typeface="Calibri" pitchFamily="34" charset="0"/>
                <a:ea typeface="Calibri" pitchFamily="34" charset="-122"/>
                <a:cs typeface="Calibri" pitchFamily="34" charset="-120"/>
              </a:rPr>
              <a:t>không truy cập</a:t>
            </a:r>
            <a:pPr indent="0" marL="0">
              <a:spcAft>
                <a:spcPts val="800"/>
              </a:spcAft>
              <a:buNone/>
            </a:pPr>
            <a:r>
              <a:rPr lang="en-US" sz="1400" dirty="0">
                <a:solidFill>
                  <a:srgbClr val="1F2A30"/>
                </a:solidFill>
                <a:latin typeface="Calibri" pitchFamily="34" charset="0"/>
                <a:ea typeface="Calibri" pitchFamily="34" charset="-122"/>
                <a:cs typeface="Calibri" pitchFamily="34" charset="-120"/>
              </a:rPr>
              <a:t> hệ thống đơn hàng: câu này là bịa.</a:t>
            </a:r>
            <a:endParaRPr lang="en-US" sz="1400" dirty="0"/>
          </a:p>
        </p:txBody>
      </p:sp>
      <p:sp>
        <p:nvSpPr>
          <p:cNvPr id="9" name="Shape 6"/>
          <p:cNvSpPr/>
          <p:nvPr/>
        </p:nvSpPr>
        <p:spPr>
          <a:xfrm>
            <a:off x="4709160" y="1371600"/>
            <a:ext cx="3977640" cy="2697480"/>
          </a:xfrm>
          <a:prstGeom prst="roundRect">
            <a:avLst>
              <a:gd name="adj" fmla="val 3390"/>
            </a:avLst>
          </a:prstGeom>
          <a:solidFill>
            <a:srgbClr val="E8F3F1"/>
          </a:solidFill>
          <a:ln w="12700">
            <a:solidFill>
              <a:srgbClr val="E8F3F1"/>
            </a:solidFill>
            <a:prstDash val="solid"/>
          </a:ln>
        </p:spPr>
      </p:sp>
      <p:sp>
        <p:nvSpPr>
          <p:cNvPr id="10" name="Shape 7"/>
          <p:cNvSpPr/>
          <p:nvPr/>
        </p:nvSpPr>
        <p:spPr>
          <a:xfrm>
            <a:off x="4910328" y="1554480"/>
            <a:ext cx="420624" cy="420624"/>
          </a:xfrm>
          <a:prstGeom prst="ellipse">
            <a:avLst/>
          </a:prstGeom>
          <a:solidFill>
            <a:srgbClr val="0E7C7B"/>
          </a:solidFill>
          <a:ln w="12700">
            <a:solidFill>
              <a:srgbClr val="0E7C7B"/>
            </a:solidFill>
            <a:prstDash val="solid"/>
          </a:ln>
        </p:spPr>
      </p:sp>
      <p:pic>
        <p:nvPicPr>
          <p:cNvPr id="11" name="Image 1" descr="preencoded.png">    </p:cNvPr>
          <p:cNvPicPr>
            <a:picLocks noChangeAspect="1"/>
          </p:cNvPicPr>
          <p:nvPr/>
        </p:nvPicPr>
        <p:blipFill>
          <a:blip r:embed="rId2"/>
          <a:stretch>
            <a:fillRect/>
          </a:stretch>
        </p:blipFill>
        <p:spPr>
          <a:xfrm>
            <a:off x="5019690" y="1663842"/>
            <a:ext cx="201900" cy="201900"/>
          </a:xfrm>
          <a:prstGeom prst="rect">
            <a:avLst/>
          </a:prstGeom>
        </p:spPr>
      </p:pic>
      <p:sp>
        <p:nvSpPr>
          <p:cNvPr id="12" name="Text 8"/>
          <p:cNvSpPr txBox="1"/>
          <p:nvPr/>
        </p:nvSpPr>
        <p:spPr>
          <a:xfrm>
            <a:off x="5440680" y="1554480"/>
            <a:ext cx="3063240" cy="420624"/>
          </a:xfrm>
          <a:prstGeom prst="rect">
            <a:avLst/>
          </a:prstGeom>
          <a:noFill/>
          <a:ln/>
        </p:spPr>
        <p:txBody>
          <a:bodyPr wrap="square" lIns="0" tIns="0" rIns="0" bIns="0" rtlCol="0" anchor="ctr"/>
          <a:lstStyle/>
          <a:p>
            <a:pPr indent="0" marL="0">
              <a:buNone/>
            </a:pPr>
            <a:r>
              <a:rPr lang="en-US" sz="1450" b="1" dirty="0">
                <a:solidFill>
                  <a:srgbClr val="0E7C7B"/>
                </a:solidFill>
                <a:latin typeface="Calibri" pitchFamily="34" charset="0"/>
                <a:ea typeface="Calibri" pitchFamily="34" charset="-122"/>
                <a:cs typeface="Calibri" pitchFamily="34" charset="-120"/>
              </a:rPr>
              <a:t>Tra hệ thống, AI chỉ viết</a:t>
            </a:r>
            <a:endParaRPr lang="en-US" sz="1450" dirty="0"/>
          </a:p>
        </p:txBody>
      </p:sp>
      <p:sp>
        <p:nvSpPr>
          <p:cNvPr id="13" name="Text 9"/>
          <p:cNvSpPr txBox="1"/>
          <p:nvPr/>
        </p:nvSpPr>
        <p:spPr>
          <a:xfrm>
            <a:off x="4937760" y="2103120"/>
            <a:ext cx="3520440" cy="182880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F2A30"/>
                </a:solidFill>
                <a:latin typeface="Calibri" pitchFamily="34" charset="0"/>
                <a:ea typeface="Calibri" pitchFamily="34" charset="-122"/>
                <a:cs typeface="Calibri" pitchFamily="34" charset="-120"/>
              </a:rPr>
              <a:t>Tra trạng thái đơn trong hệ thống nội bộ.</a:t>
            </a:r>
            <a:endParaRPr lang="en-US" sz="1400" dirty="0"/>
          </a:p>
          <a:p>
            <a:pPr marL="177800" indent="-177800">
              <a:spcAft>
                <a:spcPts val="800"/>
              </a:spcAft>
              <a:buSzPct val="100000"/>
              <a:buChar char="•"/>
            </a:pPr>
            <a:r>
              <a:rPr lang="en-US" sz="1400" dirty="0">
                <a:solidFill>
                  <a:srgbClr val="1F2A30"/>
                </a:solidFill>
                <a:latin typeface="Calibri" pitchFamily="34" charset="0"/>
                <a:ea typeface="Calibri" pitchFamily="34" charset="-122"/>
                <a:cs typeface="Calibri" pitchFamily="34" charset="-120"/>
              </a:rPr>
              <a:t>Đưa </a:t>
            </a:r>
            <a:pPr indent="0" marL="0">
              <a:spcAft>
                <a:spcPts val="800"/>
              </a:spcAft>
              <a:buNone/>
            </a:pPr>
            <a:r>
              <a:rPr lang="en-US" sz="1400" b="1" dirty="0">
                <a:solidFill>
                  <a:srgbClr val="1F2A30"/>
                </a:solidFill>
                <a:latin typeface="Calibri" pitchFamily="34" charset="0"/>
                <a:ea typeface="Calibri" pitchFamily="34" charset="-122"/>
                <a:cs typeface="Calibri" pitchFamily="34" charset="-120"/>
              </a:rPr>
              <a:t>sự thật đã kiểm chứng</a:t>
            </a:r>
            <a:pPr indent="0" marL="0">
              <a:spcAft>
                <a:spcPts val="800"/>
              </a:spcAft>
              <a:buNone/>
            </a:pPr>
            <a:r>
              <a:rPr lang="en-US" sz="1400" dirty="0">
                <a:solidFill>
                  <a:srgbClr val="1F2A30"/>
                </a:solidFill>
                <a:latin typeface="Calibri" pitchFamily="34" charset="0"/>
                <a:ea typeface="Calibri" pitchFamily="34" charset="-122"/>
                <a:cs typeface="Calibri" pitchFamily="34" charset="-120"/>
              </a:rPr>
              <a:t> vào prompt.</a:t>
            </a:r>
            <a:endParaRPr lang="en-US" sz="1400" dirty="0"/>
          </a:p>
          <a:p>
            <a:pPr marL="177800" indent="-177800">
              <a:spcAft>
                <a:spcPts val="800"/>
              </a:spcAft>
              <a:buSzPct val="100000"/>
              <a:buChar char="•"/>
            </a:pPr>
            <a:r>
              <a:rPr lang="en-US" sz="1400" dirty="0">
                <a:solidFill>
                  <a:srgbClr val="1F2A30"/>
                </a:solidFill>
                <a:latin typeface="Calibri" pitchFamily="34" charset="0"/>
                <a:ea typeface="Calibri" pitchFamily="34" charset="-122"/>
                <a:cs typeface="Calibri" pitchFamily="34" charset="-120"/>
              </a:rPr>
              <a:t>AI chỉ lo phần </a:t>
            </a:r>
            <a:pPr indent="0" marL="0">
              <a:spcAft>
                <a:spcPts val="800"/>
              </a:spcAft>
              <a:buNone/>
            </a:pPr>
            <a:r>
              <a:rPr lang="en-US" sz="1400" b="1" dirty="0">
                <a:solidFill>
                  <a:srgbClr val="1F2A30"/>
                </a:solidFill>
                <a:latin typeface="Calibri" pitchFamily="34" charset="0"/>
                <a:ea typeface="Calibri" pitchFamily="34" charset="-122"/>
                <a:cs typeface="Calibri" pitchFamily="34" charset="-120"/>
              </a:rPr>
              <a:t>câu chữ</a:t>
            </a:r>
            <a:pPr indent="0" marL="0">
              <a:spcAft>
                <a:spcPts val="800"/>
              </a:spcAft>
              <a:buNone/>
            </a:pPr>
            <a:r>
              <a:rPr lang="en-US" sz="1400" dirty="0">
                <a:solidFill>
                  <a:srgbClr val="1F2A30"/>
                </a:solidFill>
                <a:latin typeface="Calibri" pitchFamily="34" charset="0"/>
                <a:ea typeface="Calibri" pitchFamily="34" charset="-122"/>
                <a:cs typeface="Calibri" pitchFamily="34" charset="-120"/>
              </a:rPr>
              <a:t>: lịch sự, đồng cảm, ngắn gọn.</a:t>
            </a:r>
            <a:endParaRPr lang="en-US" sz="1400" dirty="0"/>
          </a:p>
        </p:txBody>
      </p:sp>
      <p:sp>
        <p:nvSpPr>
          <p:cNvPr id="14" name="Shape 10"/>
          <p:cNvSpPr/>
          <p:nvPr/>
        </p:nvSpPr>
        <p:spPr>
          <a:xfrm>
            <a:off x="457200" y="4206240"/>
            <a:ext cx="347472" cy="347472"/>
          </a:xfrm>
          <a:prstGeom prst="ellipse">
            <a:avLst/>
          </a:prstGeom>
          <a:solidFill>
            <a:srgbClr val="F2994A"/>
          </a:solidFill>
          <a:ln w="12700">
            <a:solidFill>
              <a:srgbClr val="F2994A"/>
            </a:solidFill>
            <a:prstDash val="solid"/>
          </a:ln>
        </p:spPr>
      </p:sp>
      <p:pic>
        <p:nvPicPr>
          <p:cNvPr id="15" name="Image 2" descr="preencoded.png">    </p:cNvPr>
          <p:cNvPicPr>
            <a:picLocks noChangeAspect="1"/>
          </p:cNvPicPr>
          <p:nvPr/>
        </p:nvPicPr>
        <p:blipFill>
          <a:blip r:embed="rId3"/>
          <a:stretch>
            <a:fillRect/>
          </a:stretch>
        </p:blipFill>
        <p:spPr>
          <a:xfrm>
            <a:off x="547543" y="4296583"/>
            <a:ext cx="166787" cy="166787"/>
          </a:xfrm>
          <a:prstGeom prst="rect">
            <a:avLst/>
          </a:prstGeom>
        </p:spPr>
      </p:pic>
      <p:sp>
        <p:nvSpPr>
          <p:cNvPr id="16" name="Text 11"/>
          <p:cNvSpPr txBox="1"/>
          <p:nvPr/>
        </p:nvSpPr>
        <p:spPr>
          <a:xfrm>
            <a:off x="914400" y="4160520"/>
            <a:ext cx="7772400" cy="438912"/>
          </a:xfrm>
          <a:prstGeom prst="rect">
            <a:avLst/>
          </a:prstGeom>
          <a:noFill/>
          <a:ln/>
        </p:spPr>
        <p:txBody>
          <a:bodyPr wrap="square" lIns="0" tIns="0" rIns="0" bIns="0" rtlCol="0" anchor="ctr"/>
          <a:lstStyle/>
          <a:p>
            <a:pPr indent="0" marL="0">
              <a:buNone/>
            </a:pPr>
            <a:r>
              <a:rPr lang="en-US" sz="1200" dirty="0">
                <a:solidFill>
                  <a:srgbClr val="1F2A30"/>
                </a:solidFill>
                <a:latin typeface="Calibri" pitchFamily="34" charset="0"/>
                <a:ea typeface="Calibri" pitchFamily="34" charset="-122"/>
                <a:cs typeface="Calibri" pitchFamily="34" charset="-120"/>
              </a:rPr>
              <a:t>Nguyên tắc: AI giúp </a:t>
            </a:r>
            <a:pPr indent="0" marL="0">
              <a:buNone/>
            </a:pPr>
            <a:r>
              <a:rPr lang="en-US" sz="1200" b="1" dirty="0">
                <a:solidFill>
                  <a:srgbClr val="1F2A30"/>
                </a:solidFill>
                <a:latin typeface="Calibri" pitchFamily="34" charset="0"/>
                <a:ea typeface="Calibri" pitchFamily="34" charset="-122"/>
                <a:cs typeface="Calibri" pitchFamily="34" charset="-120"/>
              </a:rPr>
              <a:t>viết</a:t>
            </a:r>
            <a:pPr indent="0" marL="0">
              <a:buNone/>
            </a:pPr>
            <a:r>
              <a:rPr lang="en-US" sz="1200" dirty="0">
                <a:solidFill>
                  <a:srgbClr val="1F2A30"/>
                </a:solidFill>
                <a:latin typeface="Calibri" pitchFamily="34" charset="0"/>
                <a:ea typeface="Calibri" pitchFamily="34" charset="-122"/>
                <a:cs typeface="Calibri" pitchFamily="34" charset="-120"/>
              </a:rPr>
              <a:t>, hệ thống và tài liệu công ty mới là nơi cung cấp </a:t>
            </a:r>
            <a:pPr indent="0" marL="0">
              <a:buNone/>
            </a:pPr>
            <a:r>
              <a:rPr lang="en-US" sz="1200" b="1" dirty="0">
                <a:solidFill>
                  <a:srgbClr val="1F2A30"/>
                </a:solidFill>
                <a:latin typeface="Calibri" pitchFamily="34" charset="0"/>
                <a:ea typeface="Calibri" pitchFamily="34" charset="-122"/>
                <a:cs typeface="Calibri" pitchFamily="34" charset="-120"/>
              </a:rPr>
              <a:t>sự thật</a:t>
            </a:r>
            <a:pPr indent="0" marL="0">
              <a:buNone/>
            </a:pPr>
            <a:r>
              <a:rPr lang="en-US" sz="1200" dirty="0">
                <a:solidFill>
                  <a:srgbClr val="1F2A30"/>
                </a:solidFill>
                <a:latin typeface="Calibri" pitchFamily="34" charset="0"/>
                <a:ea typeface="Calibri" pitchFamily="34" charset="-122"/>
                <a:cs typeface="Calibri" pitchFamily="34" charset="-120"/>
              </a:rPr>
              <a:t>.</a:t>
            </a:r>
            <a:endParaRPr lang="en-US" sz="1200" dirty="0"/>
          </a:p>
        </p:txBody>
      </p:sp>
      <p:sp>
        <p:nvSpPr>
          <p:cNvPr id="17" name="Text 12"/>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1</a:t>
            </a:r>
            <a:endParaRPr lang="en-US" sz="900" dirty="0"/>
          </a:p>
        </p:txBody>
      </p:sp>
      <p:sp>
        <p:nvSpPr>
          <p:cNvPr id="18" name="Text 13"/>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3B45"/>
        </a:solidFill>
      </p:bgPr>
    </p:bg>
    <p:spTree>
      <p:nvGrpSpPr>
        <p:cNvPr id="1" name=""/>
        <p:cNvGrpSpPr/>
        <p:nvPr/>
      </p:nvGrpSpPr>
      <p:grpSpPr>
        <a:xfrm>
          <a:off x="0" y="0"/>
          <a:ext cx="0" cy="0"/>
          <a:chOff x="0" y="0"/>
          <a:chExt cx="0" cy="0"/>
        </a:xfrm>
      </p:grpSpPr>
      <p:sp>
        <p:nvSpPr>
          <p:cNvPr id="2" name="Text 0"/>
          <p:cNvSpPr txBox="1"/>
          <p:nvPr/>
        </p:nvSpPr>
        <p:spPr>
          <a:xfrm>
            <a:off x="548640" y="1097280"/>
            <a:ext cx="2743200" cy="1005840"/>
          </a:xfrm>
          <a:prstGeom prst="rect">
            <a:avLst/>
          </a:prstGeom>
          <a:noFill/>
          <a:ln/>
        </p:spPr>
        <p:txBody>
          <a:bodyPr wrap="square" lIns="0" tIns="0" rIns="0" bIns="0" rtlCol="0" anchor="t"/>
          <a:lstStyle/>
          <a:p>
            <a:pPr indent="0" marL="0">
              <a:buNone/>
            </a:pPr>
            <a:r>
              <a:rPr lang="en-US" sz="6600" b="1" dirty="0">
                <a:solidFill>
                  <a:srgbClr val="F2994A"/>
                </a:solidFill>
                <a:latin typeface="Cambria" pitchFamily="34" charset="0"/>
                <a:ea typeface="Cambria" pitchFamily="34" charset="-122"/>
                <a:cs typeface="Cambria" pitchFamily="34" charset="-120"/>
              </a:rPr>
              <a:t>02</a:t>
            </a:r>
            <a:endParaRPr lang="en-US" sz="6600" dirty="0"/>
          </a:p>
        </p:txBody>
      </p:sp>
      <p:sp>
        <p:nvSpPr>
          <p:cNvPr id="3" name="Text 1"/>
          <p:cNvSpPr txBox="1"/>
          <p:nvPr/>
        </p:nvSpPr>
        <p:spPr>
          <a:xfrm>
            <a:off x="548640" y="2148840"/>
            <a:ext cx="7315200" cy="320040"/>
          </a:xfrm>
          <a:prstGeom prst="rect">
            <a:avLst/>
          </a:prstGeom>
          <a:noFill/>
          <a:ln/>
        </p:spPr>
        <p:txBody>
          <a:bodyPr wrap="square" lIns="0" tIns="0" rIns="0" bIns="0" rtlCol="0" anchor="t"/>
          <a:lstStyle/>
          <a:p>
            <a:pPr indent="0" marL="0">
              <a:buNone/>
            </a:pPr>
            <a:r>
              <a:rPr lang="en-US" sz="1200" b="1" spc="300" kern="0" dirty="0">
                <a:solidFill>
                  <a:srgbClr val="BFE3DD"/>
                </a:solidFill>
                <a:latin typeface="Calibri" pitchFamily="34" charset="0"/>
                <a:ea typeface="Calibri" pitchFamily="34" charset="-122"/>
                <a:cs typeface="Calibri" pitchFamily="34" charset="-120"/>
              </a:rPr>
              <a:t>PHẦN 1 · BÀI 1</a:t>
            </a:r>
            <a:endParaRPr lang="en-US" sz="1200" dirty="0"/>
          </a:p>
        </p:txBody>
      </p:sp>
      <p:sp>
        <p:nvSpPr>
          <p:cNvPr id="4" name="Text 2"/>
          <p:cNvSpPr txBox="1"/>
          <p:nvPr/>
        </p:nvSpPr>
        <p:spPr>
          <a:xfrm>
            <a:off x="548640" y="2468880"/>
            <a:ext cx="6583680" cy="105156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Đạo đức &amp; bảo mật dữ liệu khách</a:t>
            </a:r>
            <a:endParaRPr lang="en-US" sz="2600" dirty="0"/>
          </a:p>
        </p:txBody>
      </p:sp>
      <p:sp>
        <p:nvSpPr>
          <p:cNvPr id="5" name="Text 3"/>
          <p:cNvSpPr txBox="1"/>
          <p:nvPr/>
        </p:nvSpPr>
        <p:spPr>
          <a:xfrm>
            <a:off x="548640" y="3611880"/>
            <a:ext cx="6400800" cy="731520"/>
          </a:xfrm>
          <a:prstGeom prst="rect">
            <a:avLst/>
          </a:prstGeom>
          <a:noFill/>
          <a:ln/>
        </p:spPr>
        <p:txBody>
          <a:bodyPr wrap="square" lIns="0" tIns="0" rIns="0" bIns="0" rtlCol="0" anchor="t"/>
          <a:lstStyle/>
          <a:p>
            <a:pPr indent="0" marL="0">
              <a:buNone/>
            </a:pPr>
            <a:r>
              <a:rPr lang="en-US" sz="1500" dirty="0">
                <a:solidFill>
                  <a:srgbClr val="BFE3DD"/>
                </a:solidFill>
                <a:latin typeface="Calibri" pitchFamily="34" charset="0"/>
                <a:ea typeface="Calibri" pitchFamily="34" charset="-122"/>
                <a:cs typeface="Calibri" pitchFamily="34" charset="-120"/>
              </a:rPr>
              <a:t>Dữ liệu nào tuyệt đối không được đưa vào AI, và quy tắc 3 bước trước mỗi lần dán.</a:t>
            </a:r>
            <a:endParaRPr lang="en-US" sz="1500" dirty="0"/>
          </a:p>
        </p:txBody>
      </p:sp>
      <p:sp>
        <p:nvSpPr>
          <p:cNvPr id="6" name="Shape 4"/>
          <p:cNvSpPr/>
          <p:nvPr/>
        </p:nvSpPr>
        <p:spPr>
          <a:xfrm>
            <a:off x="7315200" y="1234440"/>
            <a:ext cx="1188720" cy="1188720"/>
          </a:xfrm>
          <a:prstGeom prst="ellipse">
            <a:avLst/>
          </a:prstGeom>
          <a:solidFill>
            <a:srgbClr val="0E7C7B"/>
          </a:solidFill>
          <a:ln w="12700">
            <a:solidFill>
              <a:srgbClr val="0E7C7B"/>
            </a:solidFill>
            <a:prstDash val="solid"/>
          </a:ln>
        </p:spPr>
      </p:sp>
      <p:pic>
        <p:nvPicPr>
          <p:cNvPr id="7" name="Image 0" descr="preencoded.png">    </p:cNvPr>
          <p:cNvPicPr>
            <a:picLocks noChangeAspect="1"/>
          </p:cNvPicPr>
          <p:nvPr/>
        </p:nvPicPr>
        <p:blipFill>
          <a:blip r:embed="rId1"/>
          <a:stretch>
            <a:fillRect/>
          </a:stretch>
        </p:blipFill>
        <p:spPr>
          <a:xfrm>
            <a:off x="7624267" y="1543507"/>
            <a:ext cx="570586" cy="57058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DỮ LIỆU NHẠY CẢM</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Dữ liệu nào là "nhạy cảm" trong call center?</a:t>
            </a:r>
            <a:endParaRPr lang="en-US" sz="2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011680"/>
                <a:gridCol w="3931920"/>
                <a:gridCol w="2286000"/>
              </a:tblGrid>
              <a:tr h="398417">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Nhóm</a:t>
                      </a:r>
                      <a:endParaRPr lang="en-US" sz="125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Ví dụ</a:t>
                      </a:r>
                      <a:endParaRPr lang="en-US" sz="125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Mức độ</a:t>
                      </a:r>
                      <a:endParaRPr lang="en-US" sz="125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r>
              <a:tr h="398417">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Định danh trực tiếp</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Họ tên đầy đủ, SĐT, email, địa chỉ nhà</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 Luôn che</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98417">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Giấy tờ tùy thân</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Số CCCD, hộ chiếu, ảnh chụp giấy tờ</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 Không bao giờ đưa vào AI</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398417">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Tài chính</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Số thẻ, số tài khoản, mã OTP, mật khẩu</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 Không bao giờ đưa vào AI</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98417">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Giao dịch</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Mã đơn, mã vận đơn, mã khách hàng</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 Thay bằng placeholder</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398417">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Nội dung nhạy cảm</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Thông tin sức khỏe, khiếu nại có yếu tố pháp lý</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 Hỏi quản lý trước</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398417">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Dữ liệu nội bộ</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Giá vốn, chính sách chưa công bố, kịch bản nội bộ</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250" dirty="0">
                          <a:solidFill>
                            <a:srgbClr val="1F2A30"/>
                          </a:solidFill>
                          <a:latin typeface="Calibri" pitchFamily="34" charset="0"/>
                          <a:ea typeface="Calibri" pitchFamily="34" charset="-122"/>
                          <a:cs typeface="Calibri" pitchFamily="34" charset="-120"/>
                        </a:rPr>
                        <a:t>🟠 Theo quy định công ty</a:t>
                      </a:r>
                      <a:endParaRPr lang="en-US" sz="125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4315968"/>
            <a:ext cx="8229600" cy="365760"/>
          </a:xfrm>
          <a:prstGeom prst="rect">
            <a:avLst/>
          </a:prstGeom>
          <a:noFill/>
          <a:ln/>
        </p:spPr>
        <p:txBody>
          <a:bodyPr wrap="square" lIns="0" tIns="0" rIns="0" bIns="0" rtlCol="0" anchor="b"/>
          <a:lstStyle/>
          <a:p>
            <a:pPr indent="0" marL="0">
              <a:buNone/>
            </a:pPr>
            <a:r>
              <a:rPr lang="en-US" sz="1250" i="1" dirty="0">
                <a:solidFill>
                  <a:srgbClr val="5B6B73"/>
                </a:solidFill>
                <a:latin typeface="Calibri" pitchFamily="34" charset="0"/>
                <a:ea typeface="Calibri" pitchFamily="34" charset="-122"/>
                <a:cs typeface="Calibri" pitchFamily="34" charset="-120"/>
              </a:rPr>
              <a:t>Căn cứ: quy định công ty và Nghị định 13/2023/NĐ-CP về bảo vệ dữ liệu cá nhân.</a:t>
            </a:r>
            <a:endParaRPr lang="en-US" sz="1250" dirty="0"/>
          </a:p>
        </p:txBody>
      </p:sp>
      <p:sp>
        <p:nvSpPr>
          <p:cNvPr id="6" name="Text 3"/>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1</a:t>
            </a:r>
            <a:endParaRPr lang="en-US" sz="900" dirty="0"/>
          </a:p>
        </p:txBody>
      </p:sp>
      <p:sp>
        <p:nvSpPr>
          <p:cNvPr id="7" name="Text 4"/>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QUY TẮC VÀNG</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Che, Kiểm, Chịu trách nhiệm</a:t>
            </a:r>
            <a:endParaRPr lang="en-US" sz="2500" dirty="0"/>
          </a:p>
        </p:txBody>
      </p:sp>
      <p:sp>
        <p:nvSpPr>
          <p:cNvPr id="4" name="Shape 2"/>
          <p:cNvSpPr/>
          <p:nvPr/>
        </p:nvSpPr>
        <p:spPr>
          <a:xfrm>
            <a:off x="1828800" y="1783080"/>
            <a:ext cx="5486400" cy="0"/>
          </a:xfrm>
          <a:prstGeom prst="line">
            <a:avLst/>
          </a:prstGeom>
          <a:noFill/>
          <a:ln w="31750">
            <a:solidFill>
              <a:srgbClr val="D3EAE6"/>
            </a:solidFill>
            <a:prstDash val="solid"/>
          </a:ln>
        </p:spPr>
      </p:sp>
      <p:sp>
        <p:nvSpPr>
          <p:cNvPr id="5" name="Shape 3"/>
          <p:cNvSpPr/>
          <p:nvPr/>
        </p:nvSpPr>
        <p:spPr>
          <a:xfrm>
            <a:off x="1527048" y="1481328"/>
            <a:ext cx="603504" cy="603504"/>
          </a:xfrm>
          <a:prstGeom prst="ellipse">
            <a:avLst/>
          </a:prstGeom>
          <a:solidFill>
            <a:srgbClr val="0E7C7B"/>
          </a:solidFill>
          <a:ln w="25400">
            <a:solidFill>
              <a:srgbClr val="FFFFFF"/>
            </a:solidFill>
            <a:prstDash val="solid"/>
          </a:ln>
        </p:spPr>
      </p:sp>
      <p:sp>
        <p:nvSpPr>
          <p:cNvPr id="6" name="Text 4"/>
          <p:cNvSpPr txBox="1"/>
          <p:nvPr/>
        </p:nvSpPr>
        <p:spPr>
          <a:xfrm>
            <a:off x="1527048" y="1481328"/>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530352" y="2240280"/>
            <a:ext cx="2596896" cy="502920"/>
          </a:xfrm>
          <a:prstGeom prst="rect">
            <a:avLst/>
          </a:prstGeom>
          <a:noFill/>
          <a:ln/>
        </p:spPr>
        <p:txBody>
          <a:bodyPr wrap="square" lIns="0" tIns="0" rIns="0" bIns="0" rtlCol="0" anchor="ctr"/>
          <a:lstStyle/>
          <a:p>
            <a:pPr algn="ctr" indent="0" marL="0">
              <a:buNone/>
            </a:pPr>
            <a:r>
              <a:rPr lang="en-US" sz="1450" b="1" dirty="0">
                <a:solidFill>
                  <a:srgbClr val="0B3B45"/>
                </a:solidFill>
                <a:latin typeface="Calibri" pitchFamily="34" charset="0"/>
                <a:ea typeface="Calibri" pitchFamily="34" charset="-122"/>
                <a:cs typeface="Calibri" pitchFamily="34" charset="-120"/>
              </a:rPr>
              <a:t>CHE</a:t>
            </a:r>
            <a:endParaRPr lang="en-US" sz="1450" dirty="0"/>
          </a:p>
        </p:txBody>
      </p:sp>
      <p:sp>
        <p:nvSpPr>
          <p:cNvPr id="8" name="Text 6"/>
          <p:cNvSpPr txBox="1"/>
          <p:nvPr/>
        </p:nvSpPr>
        <p:spPr>
          <a:xfrm>
            <a:off x="548640" y="2788920"/>
            <a:ext cx="2560320" cy="1737360"/>
          </a:xfrm>
          <a:prstGeom prst="rect">
            <a:avLst/>
          </a:prstGeom>
          <a:noFill/>
          <a:ln/>
        </p:spPr>
        <p:txBody>
          <a:bodyPr wrap="square" lIns="0" tIns="0" rIns="0" bIns="0" rtlCol="0" anchor="t"/>
          <a:lstStyle/>
          <a:p>
            <a:pPr algn="ctr" indent="0" marL="0">
              <a:buNone/>
            </a:pPr>
            <a:r>
              <a:rPr lang="en-US" sz="1350" dirty="0">
                <a:solidFill>
                  <a:srgbClr val="1F2A30"/>
                </a:solidFill>
                <a:latin typeface="Calibri" pitchFamily="34" charset="0"/>
                <a:ea typeface="Calibri" pitchFamily="34" charset="-122"/>
                <a:cs typeface="Calibri" pitchFamily="34" charset="-120"/>
              </a:rPr>
              <a:t>Thay tên, SĐT, địa chỉ, mã đơn bằng </a:t>
            </a:r>
            <a:pPr algn="ctr" indent="0" marL="0">
              <a:buNone/>
            </a:pPr>
            <a:r>
              <a:rPr lang="en-US" sz="1350" b="1" dirty="0">
                <a:solidFill>
                  <a:srgbClr val="1F2A30"/>
                </a:solidFill>
                <a:latin typeface="Calibri" pitchFamily="34" charset="0"/>
                <a:ea typeface="Calibri" pitchFamily="34" charset="-122"/>
                <a:cs typeface="Calibri" pitchFamily="34" charset="-120"/>
              </a:rPr>
              <a:t>[TÊN KH]</a:t>
            </a:r>
            <a:pPr algn="ctr" indent="0" marL="0">
              <a:buNone/>
            </a:pPr>
            <a:r>
              <a:rPr lang="en-US" sz="1350" dirty="0">
                <a:solidFill>
                  <a:srgbClr val="1F2A30"/>
                </a:solidFill>
                <a:latin typeface="Calibri" pitchFamily="34" charset="0"/>
                <a:ea typeface="Calibri" pitchFamily="34" charset="-122"/>
                <a:cs typeface="Calibri" pitchFamily="34" charset="-120"/>
              </a:rPr>
              <a:t>, </a:t>
            </a:r>
            <a:pPr algn="ctr" indent="0" marL="0">
              <a:buNone/>
            </a:pPr>
            <a:r>
              <a:rPr lang="en-US" sz="1350" b="1" dirty="0">
                <a:solidFill>
                  <a:srgbClr val="1F2A30"/>
                </a:solidFill>
                <a:latin typeface="Calibri" pitchFamily="34" charset="0"/>
                <a:ea typeface="Calibri" pitchFamily="34" charset="-122"/>
                <a:cs typeface="Calibri" pitchFamily="34" charset="-120"/>
              </a:rPr>
              <a:t>[SĐT]</a:t>
            </a:r>
            <a:pPr algn="ctr" indent="0" marL="0">
              <a:buNone/>
            </a:pPr>
            <a:r>
              <a:rPr lang="en-US" sz="1350" dirty="0">
                <a:solidFill>
                  <a:srgbClr val="1F2A30"/>
                </a:solidFill>
                <a:latin typeface="Calibri" pitchFamily="34" charset="0"/>
                <a:ea typeface="Calibri" pitchFamily="34" charset="-122"/>
                <a:cs typeface="Calibri" pitchFamily="34" charset="-120"/>
              </a:rPr>
              <a:t>, </a:t>
            </a:r>
            <a:pPr algn="ctr" indent="0" marL="0">
              <a:buNone/>
            </a:pPr>
            <a:r>
              <a:rPr lang="en-US" sz="1350" b="1" dirty="0">
                <a:solidFill>
                  <a:srgbClr val="1F2A30"/>
                </a:solidFill>
                <a:latin typeface="Calibri" pitchFamily="34" charset="0"/>
                <a:ea typeface="Calibri" pitchFamily="34" charset="-122"/>
                <a:cs typeface="Calibri" pitchFamily="34" charset="-120"/>
              </a:rPr>
              <a:t>[MÃ ĐƠN]</a:t>
            </a:r>
            <a:pPr algn="ctr" indent="0" marL="0">
              <a:buNone/>
            </a:pPr>
            <a:r>
              <a:rPr lang="en-US" sz="1350" dirty="0">
                <a:solidFill>
                  <a:srgbClr val="1F2A30"/>
                </a:solidFill>
                <a:latin typeface="Calibri" pitchFamily="34" charset="0"/>
                <a:ea typeface="Calibri" pitchFamily="34" charset="-122"/>
                <a:cs typeface="Calibri" pitchFamily="34" charset="-120"/>
              </a:rPr>
              <a:t> trước khi dán.</a:t>
            </a:r>
            <a:endParaRPr lang="en-US" sz="1350" dirty="0"/>
          </a:p>
        </p:txBody>
      </p:sp>
      <p:sp>
        <p:nvSpPr>
          <p:cNvPr id="9" name="Shape 7"/>
          <p:cNvSpPr/>
          <p:nvPr/>
        </p:nvSpPr>
        <p:spPr>
          <a:xfrm>
            <a:off x="4270248" y="1481328"/>
            <a:ext cx="603504" cy="603504"/>
          </a:xfrm>
          <a:prstGeom prst="ellipse">
            <a:avLst/>
          </a:prstGeom>
          <a:solidFill>
            <a:srgbClr val="0E7C7B"/>
          </a:solidFill>
          <a:ln w="25400">
            <a:solidFill>
              <a:srgbClr val="FFFFFF"/>
            </a:solidFill>
            <a:prstDash val="solid"/>
          </a:ln>
        </p:spPr>
      </p:sp>
      <p:sp>
        <p:nvSpPr>
          <p:cNvPr id="10" name="Text 8"/>
          <p:cNvSpPr txBox="1"/>
          <p:nvPr/>
        </p:nvSpPr>
        <p:spPr>
          <a:xfrm>
            <a:off x="4270248" y="1481328"/>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3273552" y="2240280"/>
            <a:ext cx="2596896" cy="502920"/>
          </a:xfrm>
          <a:prstGeom prst="rect">
            <a:avLst/>
          </a:prstGeom>
          <a:noFill/>
          <a:ln/>
        </p:spPr>
        <p:txBody>
          <a:bodyPr wrap="square" lIns="0" tIns="0" rIns="0" bIns="0" rtlCol="0" anchor="ctr"/>
          <a:lstStyle/>
          <a:p>
            <a:pPr algn="ctr" indent="0" marL="0">
              <a:buNone/>
            </a:pPr>
            <a:r>
              <a:rPr lang="en-US" sz="1450" b="1" dirty="0">
                <a:solidFill>
                  <a:srgbClr val="0B3B45"/>
                </a:solidFill>
                <a:latin typeface="Calibri" pitchFamily="34" charset="0"/>
                <a:ea typeface="Calibri" pitchFamily="34" charset="-122"/>
                <a:cs typeface="Calibri" pitchFamily="34" charset="-120"/>
              </a:rPr>
              <a:t>KIỂM</a:t>
            </a:r>
            <a:endParaRPr lang="en-US" sz="1450" dirty="0"/>
          </a:p>
        </p:txBody>
      </p:sp>
      <p:sp>
        <p:nvSpPr>
          <p:cNvPr id="12" name="Text 10"/>
          <p:cNvSpPr txBox="1"/>
          <p:nvPr/>
        </p:nvSpPr>
        <p:spPr>
          <a:xfrm>
            <a:off x="3291840" y="2788920"/>
            <a:ext cx="2560320" cy="1737360"/>
          </a:xfrm>
          <a:prstGeom prst="rect">
            <a:avLst/>
          </a:prstGeom>
          <a:noFill/>
          <a:ln/>
        </p:spPr>
        <p:txBody>
          <a:bodyPr wrap="square" lIns="0" tIns="0" rIns="0" bIns="0" rtlCol="0" anchor="t"/>
          <a:lstStyle/>
          <a:p>
            <a:pPr algn="ctr" indent="0" marL="0">
              <a:buNone/>
            </a:pPr>
            <a:r>
              <a:rPr lang="en-US" sz="1350" dirty="0">
                <a:solidFill>
                  <a:srgbClr val="1F2A30"/>
                </a:solidFill>
                <a:latin typeface="Calibri" pitchFamily="34" charset="0"/>
                <a:ea typeface="Calibri" pitchFamily="34" charset="-122"/>
                <a:cs typeface="Calibri" pitchFamily="34" charset="-120"/>
              </a:rPr>
              <a:t>Đối chiếu mọi </a:t>
            </a:r>
            <a:pPr algn="ctr" indent="0" marL="0">
              <a:buNone/>
            </a:pPr>
            <a:r>
              <a:rPr lang="en-US" sz="1350" b="1" dirty="0">
                <a:solidFill>
                  <a:srgbClr val="1F2A30"/>
                </a:solidFill>
                <a:latin typeface="Calibri" pitchFamily="34" charset="0"/>
                <a:ea typeface="Calibri" pitchFamily="34" charset="-122"/>
                <a:cs typeface="Calibri" pitchFamily="34" charset="-120"/>
              </a:rPr>
              <a:t>chính sách, mức phí, thời hạn</a:t>
            </a:r>
            <a:pPr algn="ctr" indent="0" marL="0">
              <a:buNone/>
            </a:pPr>
            <a:r>
              <a:rPr lang="en-US" sz="1350" dirty="0">
                <a:solidFill>
                  <a:srgbClr val="1F2A30"/>
                </a:solidFill>
                <a:latin typeface="Calibri" pitchFamily="34" charset="0"/>
                <a:ea typeface="Calibri" pitchFamily="34" charset="-122"/>
                <a:cs typeface="Calibri" pitchFamily="34" charset="-120"/>
              </a:rPr>
              <a:t> với tài liệu chính thức. Xóa lời hứa AI tự thêm.</a:t>
            </a:r>
            <a:endParaRPr lang="en-US" sz="1350" dirty="0"/>
          </a:p>
        </p:txBody>
      </p:sp>
      <p:sp>
        <p:nvSpPr>
          <p:cNvPr id="13" name="Shape 11"/>
          <p:cNvSpPr/>
          <p:nvPr/>
        </p:nvSpPr>
        <p:spPr>
          <a:xfrm>
            <a:off x="7013448" y="1481328"/>
            <a:ext cx="603504" cy="603504"/>
          </a:xfrm>
          <a:prstGeom prst="ellipse">
            <a:avLst/>
          </a:prstGeom>
          <a:solidFill>
            <a:srgbClr val="F2994A"/>
          </a:solidFill>
          <a:ln w="25400">
            <a:solidFill>
              <a:srgbClr val="FFFFFF"/>
            </a:solidFill>
            <a:prstDash val="solid"/>
          </a:ln>
        </p:spPr>
      </p:sp>
      <p:sp>
        <p:nvSpPr>
          <p:cNvPr id="14" name="Text 12"/>
          <p:cNvSpPr txBox="1"/>
          <p:nvPr/>
        </p:nvSpPr>
        <p:spPr>
          <a:xfrm>
            <a:off x="7013448" y="1481328"/>
            <a:ext cx="603504" cy="60350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5" name="Text 13"/>
          <p:cNvSpPr txBox="1"/>
          <p:nvPr/>
        </p:nvSpPr>
        <p:spPr>
          <a:xfrm>
            <a:off x="6016752" y="2240280"/>
            <a:ext cx="2596896" cy="502920"/>
          </a:xfrm>
          <a:prstGeom prst="rect">
            <a:avLst/>
          </a:prstGeom>
          <a:noFill/>
          <a:ln/>
        </p:spPr>
        <p:txBody>
          <a:bodyPr wrap="square" lIns="0" tIns="0" rIns="0" bIns="0" rtlCol="0" anchor="ctr"/>
          <a:lstStyle/>
          <a:p>
            <a:pPr algn="ctr" indent="0" marL="0">
              <a:buNone/>
            </a:pPr>
            <a:r>
              <a:rPr lang="en-US" sz="1450" b="1" dirty="0">
                <a:solidFill>
                  <a:srgbClr val="0B3B45"/>
                </a:solidFill>
                <a:latin typeface="Calibri" pitchFamily="34" charset="0"/>
                <a:ea typeface="Calibri" pitchFamily="34" charset="-122"/>
                <a:cs typeface="Calibri" pitchFamily="34" charset="-120"/>
              </a:rPr>
              <a:t>CHỊU TRÁCH NHIỆM</a:t>
            </a:r>
            <a:endParaRPr lang="en-US" sz="1450" dirty="0"/>
          </a:p>
        </p:txBody>
      </p:sp>
      <p:sp>
        <p:nvSpPr>
          <p:cNvPr id="16" name="Text 14"/>
          <p:cNvSpPr txBox="1"/>
          <p:nvPr/>
        </p:nvSpPr>
        <p:spPr>
          <a:xfrm>
            <a:off x="6035040" y="2788920"/>
            <a:ext cx="2560320" cy="1737360"/>
          </a:xfrm>
          <a:prstGeom prst="rect">
            <a:avLst/>
          </a:prstGeom>
          <a:noFill/>
          <a:ln/>
        </p:spPr>
        <p:txBody>
          <a:bodyPr wrap="square" lIns="0" tIns="0" rIns="0" bIns="0" rtlCol="0" anchor="t"/>
          <a:lstStyle/>
          <a:p>
            <a:pPr algn="ctr" indent="0" marL="0">
              <a:buNone/>
            </a:pPr>
            <a:r>
              <a:rPr lang="en-US" sz="1350" dirty="0">
                <a:solidFill>
                  <a:srgbClr val="1F2A30"/>
                </a:solidFill>
                <a:latin typeface="Calibri" pitchFamily="34" charset="0"/>
                <a:ea typeface="Calibri" pitchFamily="34" charset="-122"/>
                <a:cs typeface="Calibri" pitchFamily="34" charset="-120"/>
              </a:rPr>
              <a:t>Đọc lại trước khi gửi. </a:t>
            </a:r>
            <a:pPr algn="ctr" indent="0" marL="0">
              <a:buNone/>
            </a:pPr>
            <a:r>
              <a:rPr lang="en-US" sz="1350" b="1" dirty="0">
                <a:solidFill>
                  <a:srgbClr val="1F2A30"/>
                </a:solidFill>
                <a:latin typeface="Calibri" pitchFamily="34" charset="0"/>
                <a:ea typeface="Calibri" pitchFamily="34" charset="-122"/>
                <a:cs typeface="Calibri" pitchFamily="34" charset="-120"/>
              </a:rPr>
              <a:t>Bạn là người gửi</a:t>
            </a:r>
            <a:pPr algn="ctr" indent="0" marL="0">
              <a:buNone/>
            </a:pPr>
            <a:r>
              <a:rPr lang="en-US" sz="1350" dirty="0">
                <a:solidFill>
                  <a:srgbClr val="1F2A30"/>
                </a:solidFill>
                <a:latin typeface="Calibri" pitchFamily="34" charset="0"/>
                <a:ea typeface="Calibri" pitchFamily="34" charset="-122"/>
                <a:cs typeface="Calibri" pitchFamily="34" charset="-120"/>
              </a:rPr>
              <a:t>, không phải AI.</a:t>
            </a:r>
            <a:endParaRPr lang="en-US" sz="1350" dirty="0"/>
          </a:p>
        </p:txBody>
      </p:sp>
      <p:sp>
        <p:nvSpPr>
          <p:cNvPr id="17" name="Text 15"/>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1</a:t>
            </a:r>
            <a:endParaRPr lang="en-US" sz="900" dirty="0"/>
          </a:p>
        </p:txBody>
      </p:sp>
      <p:sp>
        <p:nvSpPr>
          <p:cNvPr id="18" name="Text 16"/>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GIỚI HẠN</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Khi nào KHÔNG dùng AI?</a:t>
            </a:r>
            <a:endParaRPr lang="en-US" sz="2500" dirty="0"/>
          </a:p>
        </p:txBody>
      </p:sp>
      <p:sp>
        <p:nvSpPr>
          <p:cNvPr id="4" name="Shape 2"/>
          <p:cNvSpPr/>
          <p:nvPr/>
        </p:nvSpPr>
        <p:spPr>
          <a:xfrm>
            <a:off x="457200" y="1371600"/>
            <a:ext cx="4000500" cy="1485900"/>
          </a:xfrm>
          <a:prstGeom prst="roundRect">
            <a:avLst>
              <a:gd name="adj" fmla="val 6154"/>
            </a:avLst>
          </a:prstGeom>
          <a:solidFill>
            <a:srgbClr val="FBEAE8"/>
          </a:solidFill>
          <a:ln w="12700">
            <a:solidFill>
              <a:srgbClr val="FBEAE8"/>
            </a:solidFill>
            <a:prstDash val="solid"/>
          </a:ln>
        </p:spPr>
      </p:sp>
      <p:sp>
        <p:nvSpPr>
          <p:cNvPr id="5" name="Shape 3"/>
          <p:cNvSpPr/>
          <p:nvPr/>
        </p:nvSpPr>
        <p:spPr>
          <a:xfrm>
            <a:off x="640080" y="1554480"/>
            <a:ext cx="457200" cy="457200"/>
          </a:xfrm>
          <a:prstGeom prst="ellipse">
            <a:avLst/>
          </a:prstGeom>
          <a:solidFill>
            <a:srgbClr val="C0392B"/>
          </a:solidFill>
          <a:ln w="12700">
            <a:solidFill>
              <a:srgbClr val="C0392B"/>
            </a:solidFill>
            <a:prstDash val="solid"/>
          </a:ln>
        </p:spPr>
      </p:sp>
      <p:pic>
        <p:nvPicPr>
          <p:cNvPr id="6" name="Image 0" descr="preencoded.png">    </p:cNvPr>
          <p:cNvPicPr>
            <a:picLocks noChangeAspect="1"/>
          </p:cNvPicPr>
          <p:nvPr/>
        </p:nvPicPr>
        <p:blipFill>
          <a:blip r:embed="rId1"/>
          <a:stretch>
            <a:fillRect/>
          </a:stretch>
        </p:blipFill>
        <p:spPr>
          <a:xfrm>
            <a:off x="758952" y="1673352"/>
            <a:ext cx="219456" cy="219456"/>
          </a:xfrm>
          <a:prstGeom prst="rect">
            <a:avLst/>
          </a:prstGeom>
        </p:spPr>
      </p:pic>
      <p:sp>
        <p:nvSpPr>
          <p:cNvPr id="7" name="Text 4"/>
          <p:cNvSpPr txBox="1"/>
          <p:nvPr/>
        </p:nvSpPr>
        <p:spPr>
          <a:xfrm>
            <a:off x="1234440" y="15270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Giấy tờ &amp; tài chính</a:t>
            </a:r>
            <a:endParaRPr lang="en-US" sz="1400" dirty="0"/>
          </a:p>
        </p:txBody>
      </p:sp>
      <p:sp>
        <p:nvSpPr>
          <p:cNvPr id="8" name="Text 5"/>
          <p:cNvSpPr txBox="1"/>
          <p:nvPr/>
        </p:nvSpPr>
        <p:spPr>
          <a:xfrm>
            <a:off x="1234440" y="19202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Khách gửi ảnh CCCD, sao kê, số thẻ: xử lý </a:t>
            </a:r>
            <a:pPr indent="0" marL="0">
              <a:buNone/>
            </a:pPr>
            <a:r>
              <a:rPr lang="en-US" sz="1300" b="1" dirty="0">
                <a:solidFill>
                  <a:srgbClr val="1F2A30"/>
                </a:solidFill>
                <a:latin typeface="Calibri" pitchFamily="34" charset="0"/>
                <a:ea typeface="Calibri" pitchFamily="34" charset="-122"/>
                <a:cs typeface="Calibri" pitchFamily="34" charset="-120"/>
              </a:rPr>
              <a:t>trong hệ thống nội bộ</a:t>
            </a:r>
            <a:pPr indent="0" marL="0">
              <a:buNone/>
            </a:pPr>
            <a:r>
              <a:rPr lang="en-US" sz="1300" dirty="0">
                <a:solidFill>
                  <a:srgbClr val="1F2A30"/>
                </a:solidFill>
                <a:latin typeface="Calibri" pitchFamily="34" charset="0"/>
                <a:ea typeface="Calibri" pitchFamily="34" charset="-122"/>
                <a:cs typeface="Calibri" pitchFamily="34" charset="-120"/>
              </a:rPr>
              <a:t>.</a:t>
            </a:r>
            <a:endParaRPr lang="en-US" sz="1300" dirty="0"/>
          </a:p>
        </p:txBody>
      </p:sp>
      <p:sp>
        <p:nvSpPr>
          <p:cNvPr id="9" name="Shape 6"/>
          <p:cNvSpPr/>
          <p:nvPr/>
        </p:nvSpPr>
        <p:spPr>
          <a:xfrm>
            <a:off x="4686300" y="1371600"/>
            <a:ext cx="4000500" cy="1485900"/>
          </a:xfrm>
          <a:prstGeom prst="roundRect">
            <a:avLst>
              <a:gd name="adj" fmla="val 6154"/>
            </a:avLst>
          </a:prstGeom>
          <a:solidFill>
            <a:srgbClr val="FBEAE8"/>
          </a:solidFill>
          <a:ln w="12700">
            <a:solidFill>
              <a:srgbClr val="FBEAE8"/>
            </a:solidFill>
            <a:prstDash val="solid"/>
          </a:ln>
        </p:spPr>
      </p:sp>
      <p:sp>
        <p:nvSpPr>
          <p:cNvPr id="10" name="Shape 7"/>
          <p:cNvSpPr/>
          <p:nvPr/>
        </p:nvSpPr>
        <p:spPr>
          <a:xfrm>
            <a:off x="4869180" y="1554480"/>
            <a:ext cx="457200" cy="457200"/>
          </a:xfrm>
          <a:prstGeom prst="ellipse">
            <a:avLst/>
          </a:prstGeom>
          <a:solidFill>
            <a:srgbClr val="C0392B"/>
          </a:solidFill>
          <a:ln w="12700">
            <a:solidFill>
              <a:srgbClr val="C0392B"/>
            </a:solidFill>
            <a:prstDash val="solid"/>
          </a:ln>
        </p:spPr>
      </p:sp>
      <p:pic>
        <p:nvPicPr>
          <p:cNvPr id="11" name="Image 1" descr="preencoded.png">    </p:cNvPr>
          <p:cNvPicPr>
            <a:picLocks noChangeAspect="1"/>
          </p:cNvPicPr>
          <p:nvPr/>
        </p:nvPicPr>
        <p:blipFill>
          <a:blip r:embed="rId2"/>
          <a:stretch>
            <a:fillRect/>
          </a:stretch>
        </p:blipFill>
        <p:spPr>
          <a:xfrm>
            <a:off x="4988052" y="1673352"/>
            <a:ext cx="219456" cy="219456"/>
          </a:xfrm>
          <a:prstGeom prst="rect">
            <a:avLst/>
          </a:prstGeom>
        </p:spPr>
      </p:pic>
      <p:sp>
        <p:nvSpPr>
          <p:cNvPr id="12" name="Text 8"/>
          <p:cNvSpPr txBox="1"/>
          <p:nvPr/>
        </p:nvSpPr>
        <p:spPr>
          <a:xfrm>
            <a:off x="5463540" y="15270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Pháp lý, khiếu nại lớn</a:t>
            </a:r>
            <a:endParaRPr lang="en-US" sz="1400" dirty="0"/>
          </a:p>
        </p:txBody>
      </p:sp>
      <p:sp>
        <p:nvSpPr>
          <p:cNvPr id="13" name="Text 9"/>
          <p:cNvSpPr txBox="1"/>
          <p:nvPr/>
        </p:nvSpPr>
        <p:spPr>
          <a:xfrm>
            <a:off x="5463540" y="19202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Khách dọa kiện, khiếu nại lên cơ quan chức năng: </a:t>
            </a:r>
            <a:pPr indent="0" marL="0">
              <a:buNone/>
            </a:pPr>
            <a:r>
              <a:rPr lang="en-US" sz="1300" b="1" dirty="0">
                <a:solidFill>
                  <a:srgbClr val="1F2A30"/>
                </a:solidFill>
                <a:latin typeface="Calibri" pitchFamily="34" charset="0"/>
                <a:ea typeface="Calibri" pitchFamily="34" charset="-122"/>
                <a:cs typeface="Calibri" pitchFamily="34" charset="-120"/>
              </a:rPr>
              <a:t>chuyển cấp trên</a:t>
            </a:r>
            <a:pPr indent="0" marL="0">
              <a:buNone/>
            </a:pPr>
            <a:r>
              <a:rPr lang="en-US" sz="1300" dirty="0">
                <a:solidFill>
                  <a:srgbClr val="1F2A30"/>
                </a:solidFill>
                <a:latin typeface="Calibri" pitchFamily="34" charset="0"/>
                <a:ea typeface="Calibri" pitchFamily="34" charset="-122"/>
                <a:cs typeface="Calibri" pitchFamily="34" charset="-120"/>
              </a:rPr>
              <a:t>.</a:t>
            </a:r>
            <a:endParaRPr lang="en-US" sz="1300" dirty="0"/>
          </a:p>
        </p:txBody>
      </p:sp>
      <p:sp>
        <p:nvSpPr>
          <p:cNvPr id="14" name="Shape 10"/>
          <p:cNvSpPr/>
          <p:nvPr/>
        </p:nvSpPr>
        <p:spPr>
          <a:xfrm>
            <a:off x="457200" y="3086100"/>
            <a:ext cx="4000500" cy="1485900"/>
          </a:xfrm>
          <a:prstGeom prst="roundRect">
            <a:avLst>
              <a:gd name="adj" fmla="val 6154"/>
            </a:avLst>
          </a:prstGeom>
          <a:solidFill>
            <a:srgbClr val="FBEAE8"/>
          </a:solidFill>
          <a:ln w="12700">
            <a:solidFill>
              <a:srgbClr val="FBEAE8"/>
            </a:solidFill>
            <a:prstDash val="solid"/>
          </a:ln>
        </p:spPr>
      </p:sp>
      <p:sp>
        <p:nvSpPr>
          <p:cNvPr id="15" name="Shape 11"/>
          <p:cNvSpPr/>
          <p:nvPr/>
        </p:nvSpPr>
        <p:spPr>
          <a:xfrm>
            <a:off x="640080" y="3268980"/>
            <a:ext cx="457200" cy="457200"/>
          </a:xfrm>
          <a:prstGeom prst="ellipse">
            <a:avLst/>
          </a:prstGeom>
          <a:solidFill>
            <a:srgbClr val="C0392B"/>
          </a:solidFill>
          <a:ln w="12700">
            <a:solidFill>
              <a:srgbClr val="C0392B"/>
            </a:solidFill>
            <a:prstDash val="solid"/>
          </a:ln>
        </p:spPr>
      </p:sp>
      <p:pic>
        <p:nvPicPr>
          <p:cNvPr id="16" name="Image 2" descr="preencoded.png">    </p:cNvPr>
          <p:cNvPicPr>
            <a:picLocks noChangeAspect="1"/>
          </p:cNvPicPr>
          <p:nvPr/>
        </p:nvPicPr>
        <p:blipFill>
          <a:blip r:embed="rId3"/>
          <a:stretch>
            <a:fillRect/>
          </a:stretch>
        </p:blipFill>
        <p:spPr>
          <a:xfrm>
            <a:off x="758952" y="3387852"/>
            <a:ext cx="219456" cy="219456"/>
          </a:xfrm>
          <a:prstGeom prst="rect">
            <a:avLst/>
          </a:prstGeom>
        </p:spPr>
      </p:pic>
      <p:sp>
        <p:nvSpPr>
          <p:cNvPr id="17" name="Text 12"/>
          <p:cNvSpPr txBox="1"/>
          <p:nvPr/>
        </p:nvSpPr>
        <p:spPr>
          <a:xfrm>
            <a:off x="1234440" y="32415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Tình huống nhạy cảm</a:t>
            </a:r>
            <a:endParaRPr lang="en-US" sz="1400" dirty="0"/>
          </a:p>
        </p:txBody>
      </p:sp>
      <p:sp>
        <p:nvSpPr>
          <p:cNvPr id="18" name="Text 13"/>
          <p:cNvSpPr txBox="1"/>
          <p:nvPr/>
        </p:nvSpPr>
        <p:spPr>
          <a:xfrm>
            <a:off x="1234440" y="36347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Sức khỏe, khách đang hoảng loạn, đe dọa: con người xử lý trực tiếp.</a:t>
            </a:r>
            <a:endParaRPr lang="en-US" sz="1300" dirty="0"/>
          </a:p>
        </p:txBody>
      </p:sp>
      <p:sp>
        <p:nvSpPr>
          <p:cNvPr id="19" name="Shape 14"/>
          <p:cNvSpPr/>
          <p:nvPr/>
        </p:nvSpPr>
        <p:spPr>
          <a:xfrm>
            <a:off x="4686300" y="3086100"/>
            <a:ext cx="4000500" cy="1485900"/>
          </a:xfrm>
          <a:prstGeom prst="roundRect">
            <a:avLst>
              <a:gd name="adj" fmla="val 6154"/>
            </a:avLst>
          </a:prstGeom>
          <a:solidFill>
            <a:srgbClr val="FBEAE8"/>
          </a:solidFill>
          <a:ln w="12700">
            <a:solidFill>
              <a:srgbClr val="FBEAE8"/>
            </a:solidFill>
            <a:prstDash val="solid"/>
          </a:ln>
        </p:spPr>
      </p:sp>
      <p:sp>
        <p:nvSpPr>
          <p:cNvPr id="20" name="Shape 15"/>
          <p:cNvSpPr/>
          <p:nvPr/>
        </p:nvSpPr>
        <p:spPr>
          <a:xfrm>
            <a:off x="4869180" y="3268980"/>
            <a:ext cx="457200" cy="457200"/>
          </a:xfrm>
          <a:prstGeom prst="ellipse">
            <a:avLst/>
          </a:prstGeom>
          <a:solidFill>
            <a:srgbClr val="C0392B"/>
          </a:solidFill>
          <a:ln w="12700">
            <a:solidFill>
              <a:srgbClr val="C0392B"/>
            </a:solidFill>
            <a:prstDash val="solid"/>
          </a:ln>
        </p:spPr>
      </p:sp>
      <p:pic>
        <p:nvPicPr>
          <p:cNvPr id="21" name="Image 3" descr="preencoded.png">    </p:cNvPr>
          <p:cNvPicPr>
            <a:picLocks noChangeAspect="1"/>
          </p:cNvPicPr>
          <p:nvPr/>
        </p:nvPicPr>
        <p:blipFill>
          <a:blip r:embed="rId4"/>
          <a:stretch>
            <a:fillRect/>
          </a:stretch>
        </p:blipFill>
        <p:spPr>
          <a:xfrm>
            <a:off x="4988052" y="3387852"/>
            <a:ext cx="219456" cy="219456"/>
          </a:xfrm>
          <a:prstGeom prst="rect">
            <a:avLst/>
          </a:prstGeom>
        </p:spPr>
      </p:pic>
      <p:sp>
        <p:nvSpPr>
          <p:cNvPr id="22" name="Text 16"/>
          <p:cNvSpPr txBox="1"/>
          <p:nvPr/>
        </p:nvSpPr>
        <p:spPr>
          <a:xfrm>
            <a:off x="5463540" y="32415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Công cụ chưa được duyệt</a:t>
            </a:r>
            <a:endParaRPr lang="en-US" sz="1400" dirty="0"/>
          </a:p>
        </p:txBody>
      </p:sp>
      <p:sp>
        <p:nvSpPr>
          <p:cNvPr id="23" name="Text 17"/>
          <p:cNvSpPr txBox="1"/>
          <p:nvPr/>
        </p:nvSpPr>
        <p:spPr>
          <a:xfrm>
            <a:off x="5463540" y="36347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Chỉ dùng công cụ mà </a:t>
            </a:r>
            <a:pPr indent="0" marL="0">
              <a:buNone/>
            </a:pPr>
            <a:r>
              <a:rPr lang="en-US" sz="1300" b="1" dirty="0">
                <a:solidFill>
                  <a:srgbClr val="1F2A30"/>
                </a:solidFill>
                <a:latin typeface="Calibri" pitchFamily="34" charset="0"/>
                <a:ea typeface="Calibri" pitchFamily="34" charset="-122"/>
                <a:cs typeface="Calibri" pitchFamily="34" charset="-120"/>
              </a:rPr>
              <a:t>IT/Bảo mật</a:t>
            </a:r>
            <a:pPr indent="0" marL="0">
              <a:buNone/>
            </a:pPr>
            <a:r>
              <a:rPr lang="en-US" sz="1300" dirty="0">
                <a:solidFill>
                  <a:srgbClr val="1F2A30"/>
                </a:solidFill>
                <a:latin typeface="Calibri" pitchFamily="34" charset="0"/>
                <a:ea typeface="Calibri" pitchFamily="34" charset="-122"/>
                <a:cs typeface="Calibri" pitchFamily="34" charset="-120"/>
              </a:rPr>
              <a:t> cho phép với loại dữ liệu đó.</a:t>
            </a:r>
            <a:endParaRPr lang="en-US" sz="1300" dirty="0"/>
          </a:p>
        </p:txBody>
      </p:sp>
      <p:sp>
        <p:nvSpPr>
          <p:cNvPr id="24" name="Text 18"/>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1</a:t>
            </a:r>
            <a:endParaRPr lang="en-US" sz="900" dirty="0"/>
          </a:p>
        </p:txBody>
      </p:sp>
      <p:sp>
        <p:nvSpPr>
          <p:cNvPr id="25" name="Text 19"/>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KIỂM TRA NHANH #1 · CÂU 1</a:t>
            </a:r>
            <a:endParaRPr lang="en-US" sz="1050" dirty="0"/>
          </a:p>
        </p:txBody>
      </p:sp>
      <p:sp>
        <p:nvSpPr>
          <p:cNvPr id="3" name="Text 1"/>
          <p:cNvSpPr txBox="1"/>
          <p:nvPr/>
        </p:nvSpPr>
        <p:spPr>
          <a:xfrm>
            <a:off x="457200" y="594360"/>
            <a:ext cx="8229600" cy="1234440"/>
          </a:xfrm>
          <a:prstGeom prst="rect">
            <a:avLst/>
          </a:prstGeom>
          <a:noFill/>
          <a:ln/>
        </p:spPr>
        <p:txBody>
          <a:bodyPr wrap="square" lIns="0" tIns="0" rIns="0" bIns="0" rtlCol="0" anchor="ctr">
            <a:normAutofit/>
          </a:bodyPr>
          <a:lstStyle/>
          <a:p>
            <a:pPr indent="0" marL="0">
              <a:buNone/>
            </a:pPr>
            <a:r>
              <a:rPr lang="en-US" sz="2100" b="1" dirty="0">
                <a:solidFill>
                  <a:srgbClr val="0B3B45"/>
                </a:solidFill>
                <a:latin typeface="Cambria" pitchFamily="34" charset="0"/>
                <a:ea typeface="Cambria" pitchFamily="34" charset="-122"/>
                <a:cs typeface="Cambria" pitchFamily="34" charset="-120"/>
              </a:rPr>
              <a:t>Lan hỏi ChatGPT (không đưa thêm thông tin) và nhận được "Đơn đang giao, dự kiến tới trong 2 ngày". Nhận định nào đúng?</a:t>
            </a:r>
            <a:endParaRPr lang="en-US" sz="2100" dirty="0"/>
          </a:p>
        </p:txBody>
      </p:sp>
      <p:sp>
        <p:nvSpPr>
          <p:cNvPr id="4" name="Shape 2"/>
          <p:cNvSpPr/>
          <p:nvPr/>
        </p:nvSpPr>
        <p:spPr>
          <a:xfrm>
            <a:off x="457200" y="2011680"/>
            <a:ext cx="4023360" cy="1143000"/>
          </a:xfrm>
          <a:prstGeom prst="roundRect">
            <a:avLst>
              <a:gd name="adj" fmla="val 8000"/>
            </a:avLst>
          </a:prstGeom>
          <a:solidFill>
            <a:srgbClr val="E8F3F1"/>
          </a:solidFill>
          <a:ln w="12700">
            <a:solidFill>
              <a:srgbClr val="E8F3F1"/>
            </a:solidFill>
            <a:prstDash val="solid"/>
          </a:ln>
        </p:spPr>
      </p:sp>
      <p:sp>
        <p:nvSpPr>
          <p:cNvPr id="5" name="Shape 3"/>
          <p:cNvSpPr/>
          <p:nvPr/>
        </p:nvSpPr>
        <p:spPr>
          <a:xfrm>
            <a:off x="658368" y="2331720"/>
            <a:ext cx="502920" cy="502920"/>
          </a:xfrm>
          <a:prstGeom prst="ellipse">
            <a:avLst/>
          </a:prstGeom>
          <a:solidFill>
            <a:srgbClr val="0E7C7B"/>
          </a:solidFill>
          <a:ln w="12700">
            <a:solidFill>
              <a:srgbClr val="0E7C7B"/>
            </a:solidFill>
            <a:prstDash val="solid"/>
          </a:ln>
        </p:spPr>
      </p:sp>
      <p:sp>
        <p:nvSpPr>
          <p:cNvPr id="6" name="Text 4"/>
          <p:cNvSpPr txBox="1"/>
          <p:nvPr/>
        </p:nvSpPr>
        <p:spPr>
          <a:xfrm>
            <a:off x="65836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7" name="Text 5"/>
          <p:cNvSpPr txBox="1"/>
          <p:nvPr/>
        </p:nvSpPr>
        <p:spPr>
          <a:xfrm>
            <a:off x="132588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Gửi ngay vì ChatGPT kết nối với hệ thống giao vận</a:t>
            </a:r>
            <a:endParaRPr lang="en-US" sz="1450" dirty="0"/>
          </a:p>
        </p:txBody>
      </p:sp>
      <p:sp>
        <p:nvSpPr>
          <p:cNvPr id="8" name="Shape 6"/>
          <p:cNvSpPr/>
          <p:nvPr/>
        </p:nvSpPr>
        <p:spPr>
          <a:xfrm>
            <a:off x="4663440" y="2011680"/>
            <a:ext cx="4023360" cy="1143000"/>
          </a:xfrm>
          <a:prstGeom prst="roundRect">
            <a:avLst>
              <a:gd name="adj" fmla="val 8000"/>
            </a:avLst>
          </a:prstGeom>
          <a:solidFill>
            <a:srgbClr val="E8F3F1"/>
          </a:solidFill>
          <a:ln w="12700">
            <a:solidFill>
              <a:srgbClr val="E8F3F1"/>
            </a:solidFill>
            <a:prstDash val="solid"/>
          </a:ln>
        </p:spPr>
      </p:sp>
      <p:sp>
        <p:nvSpPr>
          <p:cNvPr id="9" name="Shape 7"/>
          <p:cNvSpPr/>
          <p:nvPr/>
        </p:nvSpPr>
        <p:spPr>
          <a:xfrm>
            <a:off x="4864608" y="2331720"/>
            <a:ext cx="502920" cy="502920"/>
          </a:xfrm>
          <a:prstGeom prst="ellipse">
            <a:avLst/>
          </a:prstGeom>
          <a:solidFill>
            <a:srgbClr val="0E7C7B"/>
          </a:solidFill>
          <a:ln w="12700">
            <a:solidFill>
              <a:srgbClr val="0E7C7B"/>
            </a:solidFill>
            <a:prstDash val="solid"/>
          </a:ln>
        </p:spPr>
      </p:sp>
      <p:sp>
        <p:nvSpPr>
          <p:cNvPr id="10" name="Text 8"/>
          <p:cNvSpPr txBox="1"/>
          <p:nvPr/>
        </p:nvSpPr>
        <p:spPr>
          <a:xfrm>
            <a:off x="486460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1" name="Text 9"/>
          <p:cNvSpPr txBox="1"/>
          <p:nvPr/>
        </p:nvSpPr>
        <p:spPr>
          <a:xfrm>
            <a:off x="553212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Rất có thể là thông tin bịa, vì ChatGPT không truy cập hệ thống đơn hàng</a:t>
            </a:r>
            <a:endParaRPr lang="en-US" sz="1450" dirty="0"/>
          </a:p>
        </p:txBody>
      </p:sp>
      <p:sp>
        <p:nvSpPr>
          <p:cNvPr id="12" name="Shape 10"/>
          <p:cNvSpPr/>
          <p:nvPr/>
        </p:nvSpPr>
        <p:spPr>
          <a:xfrm>
            <a:off x="457200" y="3337560"/>
            <a:ext cx="4023360" cy="1143000"/>
          </a:xfrm>
          <a:prstGeom prst="roundRect">
            <a:avLst>
              <a:gd name="adj" fmla="val 8000"/>
            </a:avLst>
          </a:prstGeom>
          <a:solidFill>
            <a:srgbClr val="E8F3F1"/>
          </a:solidFill>
          <a:ln w="12700">
            <a:solidFill>
              <a:srgbClr val="E8F3F1"/>
            </a:solidFill>
            <a:prstDash val="solid"/>
          </a:ln>
        </p:spPr>
      </p:sp>
      <p:sp>
        <p:nvSpPr>
          <p:cNvPr id="13" name="Shape 11"/>
          <p:cNvSpPr/>
          <p:nvPr/>
        </p:nvSpPr>
        <p:spPr>
          <a:xfrm>
            <a:off x="658368" y="3657600"/>
            <a:ext cx="502920" cy="502920"/>
          </a:xfrm>
          <a:prstGeom prst="ellipse">
            <a:avLst/>
          </a:prstGeom>
          <a:solidFill>
            <a:srgbClr val="0E7C7B"/>
          </a:solidFill>
          <a:ln w="12700">
            <a:solidFill>
              <a:srgbClr val="0E7C7B"/>
            </a:solidFill>
            <a:prstDash val="solid"/>
          </a:ln>
        </p:spPr>
      </p:sp>
      <p:sp>
        <p:nvSpPr>
          <p:cNvPr id="14" name="Text 12"/>
          <p:cNvSpPr txBox="1"/>
          <p:nvPr/>
        </p:nvSpPr>
        <p:spPr>
          <a:xfrm>
            <a:off x="65836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5" name="Text 13"/>
          <p:cNvSpPr txBox="1"/>
          <p:nvPr/>
        </p:nvSpPr>
        <p:spPr>
          <a:xfrm>
            <a:off x="132588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Hỏi lại lần hai, nếu giống nhau thì là đúng</a:t>
            </a:r>
            <a:endParaRPr lang="en-US" sz="1450" dirty="0"/>
          </a:p>
        </p:txBody>
      </p:sp>
      <p:sp>
        <p:nvSpPr>
          <p:cNvPr id="16" name="Shape 14"/>
          <p:cNvSpPr/>
          <p:nvPr/>
        </p:nvSpPr>
        <p:spPr>
          <a:xfrm>
            <a:off x="4663440" y="3337560"/>
            <a:ext cx="4023360" cy="1143000"/>
          </a:xfrm>
          <a:prstGeom prst="roundRect">
            <a:avLst>
              <a:gd name="adj" fmla="val 8000"/>
            </a:avLst>
          </a:prstGeom>
          <a:solidFill>
            <a:srgbClr val="E8F3F1"/>
          </a:solidFill>
          <a:ln w="12700">
            <a:solidFill>
              <a:srgbClr val="E8F3F1"/>
            </a:solidFill>
            <a:prstDash val="solid"/>
          </a:ln>
        </p:spPr>
      </p:sp>
      <p:sp>
        <p:nvSpPr>
          <p:cNvPr id="17" name="Shape 15"/>
          <p:cNvSpPr/>
          <p:nvPr/>
        </p:nvSpPr>
        <p:spPr>
          <a:xfrm>
            <a:off x="4864608" y="3657600"/>
            <a:ext cx="502920" cy="502920"/>
          </a:xfrm>
          <a:prstGeom prst="ellipse">
            <a:avLst/>
          </a:prstGeom>
          <a:solidFill>
            <a:srgbClr val="0E7C7B"/>
          </a:solidFill>
          <a:ln w="12700">
            <a:solidFill>
              <a:srgbClr val="0E7C7B"/>
            </a:solidFill>
            <a:prstDash val="solid"/>
          </a:ln>
        </p:spPr>
      </p:sp>
      <p:sp>
        <p:nvSpPr>
          <p:cNvPr id="18" name="Text 16"/>
          <p:cNvSpPr txBox="1"/>
          <p:nvPr/>
        </p:nvSpPr>
        <p:spPr>
          <a:xfrm>
            <a:off x="486460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19" name="Text 17"/>
          <p:cNvSpPr txBox="1"/>
          <p:nvPr/>
        </p:nvSpPr>
        <p:spPr>
          <a:xfrm>
            <a:off x="553212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Đúng nếu câu trả lời viết lịch sự</a:t>
            </a:r>
            <a:endParaRPr lang="en-US" sz="1450" dirty="0"/>
          </a:p>
        </p:txBody>
      </p:sp>
      <p:sp>
        <p:nvSpPr>
          <p:cNvPr id="20" name="Text 18"/>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1</a:t>
            </a:r>
            <a:endParaRPr lang="en-US" sz="900" dirty="0"/>
          </a:p>
        </p:txBody>
      </p:sp>
      <p:sp>
        <p:nvSpPr>
          <p:cNvPr id="21" name="Text 19"/>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KIỂM TRA NHANH #1 · CÂU 2</a:t>
            </a:r>
            <a:endParaRPr lang="en-US" sz="1050" dirty="0"/>
          </a:p>
        </p:txBody>
      </p:sp>
      <p:sp>
        <p:nvSpPr>
          <p:cNvPr id="3" name="Text 1"/>
          <p:cNvSpPr txBox="1"/>
          <p:nvPr/>
        </p:nvSpPr>
        <p:spPr>
          <a:xfrm>
            <a:off x="457200" y="594360"/>
            <a:ext cx="8229600" cy="1234440"/>
          </a:xfrm>
          <a:prstGeom prst="rect">
            <a:avLst/>
          </a:prstGeom>
          <a:noFill/>
          <a:ln/>
        </p:spPr>
        <p:txBody>
          <a:bodyPr wrap="square" lIns="0" tIns="0" rIns="0" bIns="0" rtlCol="0" anchor="ctr">
            <a:normAutofit/>
          </a:bodyPr>
          <a:lstStyle/>
          <a:p>
            <a:pPr indent="0" marL="0">
              <a:buNone/>
            </a:pPr>
            <a:r>
              <a:rPr lang="en-US" sz="2100" b="1" dirty="0">
                <a:solidFill>
                  <a:srgbClr val="0B3B45"/>
                </a:solidFill>
                <a:latin typeface="Cambria" pitchFamily="34" charset="0"/>
                <a:ea typeface="Cambria" pitchFamily="34" charset="-122"/>
                <a:cs typeface="Cambria" pitchFamily="34" charset="-120"/>
              </a:rPr>
              <a:t>Đoạn nào đã được </a:t>
            </a:r>
            <a:pPr indent="0" marL="0">
              <a:buNone/>
            </a:pPr>
            <a:r>
              <a:rPr lang="en-US" sz="2100" b="1" dirty="0">
                <a:solidFill>
                  <a:srgbClr val="0B3B45"/>
                </a:solidFill>
                <a:latin typeface="Cambria" pitchFamily="34" charset="0"/>
                <a:ea typeface="Cambria" pitchFamily="34" charset="-122"/>
                <a:cs typeface="Cambria" pitchFamily="34" charset="-120"/>
              </a:rPr>
              <a:t>che</a:t>
            </a:r>
            <a:pPr indent="0" marL="0">
              <a:buNone/>
            </a:pPr>
            <a:r>
              <a:rPr lang="en-US" sz="2100" b="1" dirty="0">
                <a:solidFill>
                  <a:srgbClr val="0B3B45"/>
                </a:solidFill>
                <a:latin typeface="Cambria" pitchFamily="34" charset="0"/>
                <a:ea typeface="Cambria" pitchFamily="34" charset="-122"/>
                <a:cs typeface="Cambria" pitchFamily="34" charset="-120"/>
              </a:rPr>
              <a:t> đúng cách trước khi dán vào AI?</a:t>
            </a:r>
            <a:endParaRPr lang="en-US" sz="2100" dirty="0"/>
          </a:p>
        </p:txBody>
      </p:sp>
      <p:sp>
        <p:nvSpPr>
          <p:cNvPr id="4" name="Shape 2"/>
          <p:cNvSpPr/>
          <p:nvPr/>
        </p:nvSpPr>
        <p:spPr>
          <a:xfrm>
            <a:off x="457200" y="2011680"/>
            <a:ext cx="4023360" cy="1143000"/>
          </a:xfrm>
          <a:prstGeom prst="roundRect">
            <a:avLst>
              <a:gd name="adj" fmla="val 8000"/>
            </a:avLst>
          </a:prstGeom>
          <a:solidFill>
            <a:srgbClr val="E8F3F1"/>
          </a:solidFill>
          <a:ln w="12700">
            <a:solidFill>
              <a:srgbClr val="E8F3F1"/>
            </a:solidFill>
            <a:prstDash val="solid"/>
          </a:ln>
        </p:spPr>
      </p:sp>
      <p:sp>
        <p:nvSpPr>
          <p:cNvPr id="5" name="Shape 3"/>
          <p:cNvSpPr/>
          <p:nvPr/>
        </p:nvSpPr>
        <p:spPr>
          <a:xfrm>
            <a:off x="658368" y="2331720"/>
            <a:ext cx="502920" cy="502920"/>
          </a:xfrm>
          <a:prstGeom prst="ellipse">
            <a:avLst/>
          </a:prstGeom>
          <a:solidFill>
            <a:srgbClr val="0E7C7B"/>
          </a:solidFill>
          <a:ln w="12700">
            <a:solidFill>
              <a:srgbClr val="0E7C7B"/>
            </a:solidFill>
            <a:prstDash val="solid"/>
          </a:ln>
        </p:spPr>
      </p:sp>
      <p:sp>
        <p:nvSpPr>
          <p:cNvPr id="6" name="Text 4"/>
          <p:cNvSpPr txBox="1"/>
          <p:nvPr/>
        </p:nvSpPr>
        <p:spPr>
          <a:xfrm>
            <a:off x="65836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7" name="Text 5"/>
          <p:cNvSpPr txBox="1"/>
          <p:nvPr/>
        </p:nvSpPr>
        <p:spPr>
          <a:xfrm>
            <a:off x="132588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"Anh Trần Văn Nam, 0987 654 321, đơn SN2410012 giao nhầm màu"</a:t>
            </a:r>
            <a:endParaRPr lang="en-US" sz="1450" dirty="0"/>
          </a:p>
        </p:txBody>
      </p:sp>
      <p:sp>
        <p:nvSpPr>
          <p:cNvPr id="8" name="Shape 6"/>
          <p:cNvSpPr/>
          <p:nvPr/>
        </p:nvSpPr>
        <p:spPr>
          <a:xfrm>
            <a:off x="4663440" y="2011680"/>
            <a:ext cx="4023360" cy="1143000"/>
          </a:xfrm>
          <a:prstGeom prst="roundRect">
            <a:avLst>
              <a:gd name="adj" fmla="val 8000"/>
            </a:avLst>
          </a:prstGeom>
          <a:solidFill>
            <a:srgbClr val="E8F3F1"/>
          </a:solidFill>
          <a:ln w="12700">
            <a:solidFill>
              <a:srgbClr val="E8F3F1"/>
            </a:solidFill>
            <a:prstDash val="solid"/>
          </a:ln>
        </p:spPr>
      </p:sp>
      <p:sp>
        <p:nvSpPr>
          <p:cNvPr id="9" name="Shape 7"/>
          <p:cNvSpPr/>
          <p:nvPr/>
        </p:nvSpPr>
        <p:spPr>
          <a:xfrm>
            <a:off x="4864608" y="2331720"/>
            <a:ext cx="502920" cy="502920"/>
          </a:xfrm>
          <a:prstGeom prst="ellipse">
            <a:avLst/>
          </a:prstGeom>
          <a:solidFill>
            <a:srgbClr val="0E7C7B"/>
          </a:solidFill>
          <a:ln w="12700">
            <a:solidFill>
              <a:srgbClr val="0E7C7B"/>
            </a:solidFill>
            <a:prstDash val="solid"/>
          </a:ln>
        </p:spPr>
      </p:sp>
      <p:sp>
        <p:nvSpPr>
          <p:cNvPr id="10" name="Text 8"/>
          <p:cNvSpPr txBox="1"/>
          <p:nvPr/>
        </p:nvSpPr>
        <p:spPr>
          <a:xfrm>
            <a:off x="486460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1" name="Text 9"/>
          <p:cNvSpPr txBox="1"/>
          <p:nvPr/>
        </p:nvSpPr>
        <p:spPr>
          <a:xfrm>
            <a:off x="553212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"Anh Nam, SĐT đuôi 321, đơn SN2410012 giao nhầm màu"</a:t>
            </a:r>
            <a:endParaRPr lang="en-US" sz="1450" dirty="0"/>
          </a:p>
        </p:txBody>
      </p:sp>
      <p:sp>
        <p:nvSpPr>
          <p:cNvPr id="12" name="Shape 10"/>
          <p:cNvSpPr/>
          <p:nvPr/>
        </p:nvSpPr>
        <p:spPr>
          <a:xfrm>
            <a:off x="457200" y="3337560"/>
            <a:ext cx="4023360" cy="1143000"/>
          </a:xfrm>
          <a:prstGeom prst="roundRect">
            <a:avLst>
              <a:gd name="adj" fmla="val 8000"/>
            </a:avLst>
          </a:prstGeom>
          <a:solidFill>
            <a:srgbClr val="E8F3F1"/>
          </a:solidFill>
          <a:ln w="12700">
            <a:solidFill>
              <a:srgbClr val="E8F3F1"/>
            </a:solidFill>
            <a:prstDash val="solid"/>
          </a:ln>
        </p:spPr>
      </p:sp>
      <p:sp>
        <p:nvSpPr>
          <p:cNvPr id="13" name="Shape 11"/>
          <p:cNvSpPr/>
          <p:nvPr/>
        </p:nvSpPr>
        <p:spPr>
          <a:xfrm>
            <a:off x="658368" y="3657600"/>
            <a:ext cx="502920" cy="502920"/>
          </a:xfrm>
          <a:prstGeom prst="ellipse">
            <a:avLst/>
          </a:prstGeom>
          <a:solidFill>
            <a:srgbClr val="0E7C7B"/>
          </a:solidFill>
          <a:ln w="12700">
            <a:solidFill>
              <a:srgbClr val="0E7C7B"/>
            </a:solidFill>
            <a:prstDash val="solid"/>
          </a:ln>
        </p:spPr>
      </p:sp>
      <p:sp>
        <p:nvSpPr>
          <p:cNvPr id="14" name="Text 12"/>
          <p:cNvSpPr txBox="1"/>
          <p:nvPr/>
        </p:nvSpPr>
        <p:spPr>
          <a:xfrm>
            <a:off x="65836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5" name="Text 13"/>
          <p:cNvSpPr txBox="1"/>
          <p:nvPr/>
        </p:nvSpPr>
        <p:spPr>
          <a:xfrm>
            <a:off x="132588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"Khách [TÊN KH], SĐT [SĐT], đơn [MÃ ĐƠN] giao nhầm màu"</a:t>
            </a:r>
            <a:endParaRPr lang="en-US" sz="1450" dirty="0"/>
          </a:p>
        </p:txBody>
      </p:sp>
      <p:sp>
        <p:nvSpPr>
          <p:cNvPr id="16" name="Shape 14"/>
          <p:cNvSpPr/>
          <p:nvPr/>
        </p:nvSpPr>
        <p:spPr>
          <a:xfrm>
            <a:off x="4663440" y="3337560"/>
            <a:ext cx="4023360" cy="1143000"/>
          </a:xfrm>
          <a:prstGeom prst="roundRect">
            <a:avLst>
              <a:gd name="adj" fmla="val 8000"/>
            </a:avLst>
          </a:prstGeom>
          <a:solidFill>
            <a:srgbClr val="E8F3F1"/>
          </a:solidFill>
          <a:ln w="12700">
            <a:solidFill>
              <a:srgbClr val="E8F3F1"/>
            </a:solidFill>
            <a:prstDash val="solid"/>
          </a:ln>
        </p:spPr>
      </p:sp>
      <p:sp>
        <p:nvSpPr>
          <p:cNvPr id="17" name="Shape 15"/>
          <p:cNvSpPr/>
          <p:nvPr/>
        </p:nvSpPr>
        <p:spPr>
          <a:xfrm>
            <a:off x="4864608" y="3657600"/>
            <a:ext cx="502920" cy="502920"/>
          </a:xfrm>
          <a:prstGeom prst="ellipse">
            <a:avLst/>
          </a:prstGeom>
          <a:solidFill>
            <a:srgbClr val="0E7C7B"/>
          </a:solidFill>
          <a:ln w="12700">
            <a:solidFill>
              <a:srgbClr val="0E7C7B"/>
            </a:solidFill>
            <a:prstDash val="solid"/>
          </a:ln>
        </p:spPr>
      </p:sp>
      <p:sp>
        <p:nvSpPr>
          <p:cNvPr id="18" name="Text 16"/>
          <p:cNvSpPr txBox="1"/>
          <p:nvPr/>
        </p:nvSpPr>
        <p:spPr>
          <a:xfrm>
            <a:off x="486460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19" name="Text 17"/>
          <p:cNvSpPr txBox="1"/>
          <p:nvPr/>
        </p:nvSpPr>
        <p:spPr>
          <a:xfrm>
            <a:off x="553212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"Anh Nam ở Cầu Giấy, đơn bị giao nhầm màu"</a:t>
            </a:r>
            <a:endParaRPr lang="en-US" sz="1450" dirty="0"/>
          </a:p>
        </p:txBody>
      </p:sp>
      <p:sp>
        <p:nvSpPr>
          <p:cNvPr id="20" name="Text 18"/>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1</a:t>
            </a:r>
            <a:endParaRPr lang="en-US" sz="900" dirty="0"/>
          </a:p>
        </p:txBody>
      </p:sp>
      <p:sp>
        <p:nvSpPr>
          <p:cNvPr id="21" name="Text 19"/>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KIỂM TRA NHANH #1 · CÂU 3</a:t>
            </a:r>
            <a:endParaRPr lang="en-US" sz="1050" dirty="0"/>
          </a:p>
        </p:txBody>
      </p:sp>
      <p:sp>
        <p:nvSpPr>
          <p:cNvPr id="3" name="Text 1"/>
          <p:cNvSpPr txBox="1"/>
          <p:nvPr/>
        </p:nvSpPr>
        <p:spPr>
          <a:xfrm>
            <a:off x="457200" y="594360"/>
            <a:ext cx="8229600" cy="1234440"/>
          </a:xfrm>
          <a:prstGeom prst="rect">
            <a:avLst/>
          </a:prstGeom>
          <a:noFill/>
          <a:ln/>
        </p:spPr>
        <p:txBody>
          <a:bodyPr wrap="square" lIns="0" tIns="0" rIns="0" bIns="0" rtlCol="0" anchor="ctr">
            <a:normAutofit/>
          </a:bodyPr>
          <a:lstStyle/>
          <a:p>
            <a:pPr indent="0" marL="0">
              <a:buNone/>
            </a:pPr>
            <a:r>
              <a:rPr lang="en-US" sz="2100" b="1" dirty="0">
                <a:solidFill>
                  <a:srgbClr val="0B3B45"/>
                </a:solidFill>
                <a:latin typeface="Cambria" pitchFamily="34" charset="0"/>
                <a:ea typeface="Cambria" pitchFamily="34" charset="-122"/>
                <a:cs typeface="Cambria" pitchFamily="34" charset="-120"/>
              </a:rPr>
              <a:t>Tình huống nào </a:t>
            </a:r>
            <a:pPr indent="0" marL="0">
              <a:buNone/>
            </a:pPr>
            <a:r>
              <a:rPr lang="en-US" sz="2100" b="1" dirty="0">
                <a:solidFill>
                  <a:srgbClr val="0B3B45"/>
                </a:solidFill>
                <a:latin typeface="Cambria" pitchFamily="34" charset="0"/>
                <a:ea typeface="Cambria" pitchFamily="34" charset="-122"/>
                <a:cs typeface="Cambria" pitchFamily="34" charset="-120"/>
              </a:rPr>
              <a:t>không nên</a:t>
            </a:r>
            <a:pPr indent="0" marL="0">
              <a:buNone/>
            </a:pPr>
            <a:r>
              <a:rPr lang="en-US" sz="2100" b="1" dirty="0">
                <a:solidFill>
                  <a:srgbClr val="0B3B45"/>
                </a:solidFill>
                <a:latin typeface="Cambria" pitchFamily="34" charset="0"/>
                <a:ea typeface="Cambria" pitchFamily="34" charset="-122"/>
                <a:cs typeface="Cambria" pitchFamily="34" charset="-120"/>
              </a:rPr>
              <a:t> dùng AI để xử lý?</a:t>
            </a:r>
            <a:endParaRPr lang="en-US" sz="2100" dirty="0"/>
          </a:p>
        </p:txBody>
      </p:sp>
      <p:sp>
        <p:nvSpPr>
          <p:cNvPr id="4" name="Shape 2"/>
          <p:cNvSpPr/>
          <p:nvPr/>
        </p:nvSpPr>
        <p:spPr>
          <a:xfrm>
            <a:off x="457200" y="2011680"/>
            <a:ext cx="4023360" cy="1143000"/>
          </a:xfrm>
          <a:prstGeom prst="roundRect">
            <a:avLst>
              <a:gd name="adj" fmla="val 8000"/>
            </a:avLst>
          </a:prstGeom>
          <a:solidFill>
            <a:srgbClr val="E8F3F1"/>
          </a:solidFill>
          <a:ln w="12700">
            <a:solidFill>
              <a:srgbClr val="E8F3F1"/>
            </a:solidFill>
            <a:prstDash val="solid"/>
          </a:ln>
        </p:spPr>
      </p:sp>
      <p:sp>
        <p:nvSpPr>
          <p:cNvPr id="5" name="Shape 3"/>
          <p:cNvSpPr/>
          <p:nvPr/>
        </p:nvSpPr>
        <p:spPr>
          <a:xfrm>
            <a:off x="658368" y="2331720"/>
            <a:ext cx="502920" cy="502920"/>
          </a:xfrm>
          <a:prstGeom prst="ellipse">
            <a:avLst/>
          </a:prstGeom>
          <a:solidFill>
            <a:srgbClr val="0E7C7B"/>
          </a:solidFill>
          <a:ln w="12700">
            <a:solidFill>
              <a:srgbClr val="0E7C7B"/>
            </a:solidFill>
            <a:prstDash val="solid"/>
          </a:ln>
        </p:spPr>
      </p:sp>
      <p:sp>
        <p:nvSpPr>
          <p:cNvPr id="6" name="Text 4"/>
          <p:cNvSpPr txBox="1"/>
          <p:nvPr/>
        </p:nvSpPr>
        <p:spPr>
          <a:xfrm>
            <a:off x="65836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7" name="Text 5"/>
          <p:cNvSpPr txBox="1"/>
          <p:nvPr/>
        </p:nvSpPr>
        <p:spPr>
          <a:xfrm>
            <a:off x="132588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Viết lại câu trả lời cho mềm mỏng hơn</a:t>
            </a:r>
            <a:endParaRPr lang="en-US" sz="1450" dirty="0"/>
          </a:p>
        </p:txBody>
      </p:sp>
      <p:sp>
        <p:nvSpPr>
          <p:cNvPr id="8" name="Shape 6"/>
          <p:cNvSpPr/>
          <p:nvPr/>
        </p:nvSpPr>
        <p:spPr>
          <a:xfrm>
            <a:off x="4663440" y="2011680"/>
            <a:ext cx="4023360" cy="1143000"/>
          </a:xfrm>
          <a:prstGeom prst="roundRect">
            <a:avLst>
              <a:gd name="adj" fmla="val 8000"/>
            </a:avLst>
          </a:prstGeom>
          <a:solidFill>
            <a:srgbClr val="E8F3F1"/>
          </a:solidFill>
          <a:ln w="12700">
            <a:solidFill>
              <a:srgbClr val="E8F3F1"/>
            </a:solidFill>
            <a:prstDash val="solid"/>
          </a:ln>
        </p:spPr>
      </p:sp>
      <p:sp>
        <p:nvSpPr>
          <p:cNvPr id="9" name="Shape 7"/>
          <p:cNvSpPr/>
          <p:nvPr/>
        </p:nvSpPr>
        <p:spPr>
          <a:xfrm>
            <a:off x="4864608" y="2331720"/>
            <a:ext cx="502920" cy="502920"/>
          </a:xfrm>
          <a:prstGeom prst="ellipse">
            <a:avLst/>
          </a:prstGeom>
          <a:solidFill>
            <a:srgbClr val="0E7C7B"/>
          </a:solidFill>
          <a:ln w="12700">
            <a:solidFill>
              <a:srgbClr val="0E7C7B"/>
            </a:solidFill>
            <a:prstDash val="solid"/>
          </a:ln>
        </p:spPr>
      </p:sp>
      <p:sp>
        <p:nvSpPr>
          <p:cNvPr id="10" name="Text 8"/>
          <p:cNvSpPr txBox="1"/>
          <p:nvPr/>
        </p:nvSpPr>
        <p:spPr>
          <a:xfrm>
            <a:off x="486460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1" name="Text 9"/>
          <p:cNvSpPr txBox="1"/>
          <p:nvPr/>
        </p:nvSpPr>
        <p:spPr>
          <a:xfrm>
            <a:off x="553212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Soạn nháp email thông báo giao hàng trễ</a:t>
            </a:r>
            <a:endParaRPr lang="en-US" sz="1450" dirty="0"/>
          </a:p>
        </p:txBody>
      </p:sp>
      <p:sp>
        <p:nvSpPr>
          <p:cNvPr id="12" name="Shape 10"/>
          <p:cNvSpPr/>
          <p:nvPr/>
        </p:nvSpPr>
        <p:spPr>
          <a:xfrm>
            <a:off x="457200" y="3337560"/>
            <a:ext cx="4023360" cy="1143000"/>
          </a:xfrm>
          <a:prstGeom prst="roundRect">
            <a:avLst>
              <a:gd name="adj" fmla="val 8000"/>
            </a:avLst>
          </a:prstGeom>
          <a:solidFill>
            <a:srgbClr val="E8F3F1"/>
          </a:solidFill>
          <a:ln w="12700">
            <a:solidFill>
              <a:srgbClr val="E8F3F1"/>
            </a:solidFill>
            <a:prstDash val="solid"/>
          </a:ln>
        </p:spPr>
      </p:sp>
      <p:sp>
        <p:nvSpPr>
          <p:cNvPr id="13" name="Shape 11"/>
          <p:cNvSpPr/>
          <p:nvPr/>
        </p:nvSpPr>
        <p:spPr>
          <a:xfrm>
            <a:off x="658368" y="3657600"/>
            <a:ext cx="502920" cy="502920"/>
          </a:xfrm>
          <a:prstGeom prst="ellipse">
            <a:avLst/>
          </a:prstGeom>
          <a:solidFill>
            <a:srgbClr val="0E7C7B"/>
          </a:solidFill>
          <a:ln w="12700">
            <a:solidFill>
              <a:srgbClr val="0E7C7B"/>
            </a:solidFill>
            <a:prstDash val="solid"/>
          </a:ln>
        </p:spPr>
      </p:sp>
      <p:sp>
        <p:nvSpPr>
          <p:cNvPr id="14" name="Text 12"/>
          <p:cNvSpPr txBox="1"/>
          <p:nvPr/>
        </p:nvSpPr>
        <p:spPr>
          <a:xfrm>
            <a:off x="65836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5" name="Text 13"/>
          <p:cNvSpPr txBox="1"/>
          <p:nvPr/>
        </p:nvSpPr>
        <p:spPr>
          <a:xfrm>
            <a:off x="132588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Khách gửi ảnh CCCD kèm sao kê ngân hàng để khiếu nại</a:t>
            </a:r>
            <a:endParaRPr lang="en-US" sz="1450" dirty="0"/>
          </a:p>
        </p:txBody>
      </p:sp>
      <p:sp>
        <p:nvSpPr>
          <p:cNvPr id="16" name="Shape 14"/>
          <p:cNvSpPr/>
          <p:nvPr/>
        </p:nvSpPr>
        <p:spPr>
          <a:xfrm>
            <a:off x="4663440" y="3337560"/>
            <a:ext cx="4023360" cy="1143000"/>
          </a:xfrm>
          <a:prstGeom prst="roundRect">
            <a:avLst>
              <a:gd name="adj" fmla="val 8000"/>
            </a:avLst>
          </a:prstGeom>
          <a:solidFill>
            <a:srgbClr val="E8F3F1"/>
          </a:solidFill>
          <a:ln w="12700">
            <a:solidFill>
              <a:srgbClr val="E8F3F1"/>
            </a:solidFill>
            <a:prstDash val="solid"/>
          </a:ln>
        </p:spPr>
      </p:sp>
      <p:sp>
        <p:nvSpPr>
          <p:cNvPr id="17" name="Shape 15"/>
          <p:cNvSpPr/>
          <p:nvPr/>
        </p:nvSpPr>
        <p:spPr>
          <a:xfrm>
            <a:off x="4864608" y="3657600"/>
            <a:ext cx="502920" cy="502920"/>
          </a:xfrm>
          <a:prstGeom prst="ellipse">
            <a:avLst/>
          </a:prstGeom>
          <a:solidFill>
            <a:srgbClr val="0E7C7B"/>
          </a:solidFill>
          <a:ln w="12700">
            <a:solidFill>
              <a:srgbClr val="0E7C7B"/>
            </a:solidFill>
            <a:prstDash val="solid"/>
          </a:ln>
        </p:spPr>
      </p:sp>
      <p:sp>
        <p:nvSpPr>
          <p:cNvPr id="18" name="Text 16"/>
          <p:cNvSpPr txBox="1"/>
          <p:nvPr/>
        </p:nvSpPr>
        <p:spPr>
          <a:xfrm>
            <a:off x="486460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19" name="Text 17"/>
          <p:cNvSpPr txBox="1"/>
          <p:nvPr/>
        </p:nvSpPr>
        <p:spPr>
          <a:xfrm>
            <a:off x="553212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Tóm tắt một đoạn chat dài đã ẩn danh</a:t>
            </a:r>
            <a:endParaRPr lang="en-US" sz="1450" dirty="0"/>
          </a:p>
        </p:txBody>
      </p:sp>
      <p:sp>
        <p:nvSpPr>
          <p:cNvPr id="20" name="Text 18"/>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1</a:t>
            </a:r>
            <a:endParaRPr lang="en-US" sz="900" dirty="0"/>
          </a:p>
        </p:txBody>
      </p:sp>
      <p:sp>
        <p:nvSpPr>
          <p:cNvPr id="21" name="Text 19"/>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3B45"/>
        </a:solidFill>
      </p:bgPr>
    </p:bg>
    <p:spTree>
      <p:nvGrpSpPr>
        <p:cNvPr id="1" name=""/>
        <p:cNvGrpSpPr/>
        <p:nvPr/>
      </p:nvGrpSpPr>
      <p:grpSpPr>
        <a:xfrm>
          <a:off x="0" y="0"/>
          <a:ext cx="0" cy="0"/>
          <a:chOff x="0" y="0"/>
          <a:chExt cx="0" cy="0"/>
        </a:xfrm>
      </p:grpSpPr>
      <p:sp>
        <p:nvSpPr>
          <p:cNvPr id="2" name="Text 0"/>
          <p:cNvSpPr txBox="1"/>
          <p:nvPr/>
        </p:nvSpPr>
        <p:spPr>
          <a:xfrm>
            <a:off x="548640" y="1097280"/>
            <a:ext cx="2743200" cy="1005840"/>
          </a:xfrm>
          <a:prstGeom prst="rect">
            <a:avLst/>
          </a:prstGeom>
          <a:noFill/>
          <a:ln/>
        </p:spPr>
        <p:txBody>
          <a:bodyPr wrap="square" lIns="0" tIns="0" rIns="0" bIns="0" rtlCol="0" anchor="t"/>
          <a:lstStyle/>
          <a:p>
            <a:pPr indent="0" marL="0">
              <a:buNone/>
            </a:pPr>
            <a:r>
              <a:rPr lang="en-US" sz="6600" b="1" dirty="0">
                <a:solidFill>
                  <a:srgbClr val="F2994A"/>
                </a:solidFill>
                <a:latin typeface="Cambria" pitchFamily="34" charset="0"/>
                <a:ea typeface="Cambria" pitchFamily="34" charset="-122"/>
                <a:cs typeface="Cambria" pitchFamily="34" charset="-120"/>
              </a:rPr>
              <a:t>03</a:t>
            </a:r>
            <a:endParaRPr lang="en-US" sz="6600" dirty="0"/>
          </a:p>
        </p:txBody>
      </p:sp>
      <p:sp>
        <p:nvSpPr>
          <p:cNvPr id="3" name="Text 1"/>
          <p:cNvSpPr txBox="1"/>
          <p:nvPr/>
        </p:nvSpPr>
        <p:spPr>
          <a:xfrm>
            <a:off x="548640" y="2148840"/>
            <a:ext cx="7315200" cy="320040"/>
          </a:xfrm>
          <a:prstGeom prst="rect">
            <a:avLst/>
          </a:prstGeom>
          <a:noFill/>
          <a:ln/>
        </p:spPr>
        <p:txBody>
          <a:bodyPr wrap="square" lIns="0" tIns="0" rIns="0" bIns="0" rtlCol="0" anchor="t"/>
          <a:lstStyle/>
          <a:p>
            <a:pPr indent="0" marL="0">
              <a:buNone/>
            </a:pPr>
            <a:r>
              <a:rPr lang="en-US" sz="1200" b="1" spc="300" kern="0" dirty="0">
                <a:solidFill>
                  <a:srgbClr val="BFE3DD"/>
                </a:solidFill>
                <a:latin typeface="Calibri" pitchFamily="34" charset="0"/>
                <a:ea typeface="Calibri" pitchFamily="34" charset="-122"/>
                <a:cs typeface="Calibri" pitchFamily="34" charset="-120"/>
              </a:rPr>
              <a:t>PHẦN 1 · BÀI 2</a:t>
            </a:r>
            <a:endParaRPr lang="en-US" sz="1200" dirty="0"/>
          </a:p>
        </p:txBody>
      </p:sp>
      <p:sp>
        <p:nvSpPr>
          <p:cNvPr id="4" name="Text 2"/>
          <p:cNvSpPr txBox="1"/>
          <p:nvPr/>
        </p:nvSpPr>
        <p:spPr>
          <a:xfrm>
            <a:off x="548640" y="2468880"/>
            <a:ext cx="6583680"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Trợ lý ảo &amp; công thức prompt</a:t>
            </a:r>
            <a:endParaRPr lang="en-US" sz="3200" dirty="0"/>
          </a:p>
        </p:txBody>
      </p:sp>
      <p:sp>
        <p:nvSpPr>
          <p:cNvPr id="5" name="Text 3"/>
          <p:cNvSpPr txBox="1"/>
          <p:nvPr/>
        </p:nvSpPr>
        <p:spPr>
          <a:xfrm>
            <a:off x="548640" y="3291840"/>
            <a:ext cx="6400800" cy="731520"/>
          </a:xfrm>
          <a:prstGeom prst="rect">
            <a:avLst/>
          </a:prstGeom>
          <a:noFill/>
          <a:ln/>
        </p:spPr>
        <p:txBody>
          <a:bodyPr wrap="square" lIns="0" tIns="0" rIns="0" bIns="0" rtlCol="0" anchor="t"/>
          <a:lstStyle/>
          <a:p>
            <a:pPr indent="0" marL="0">
              <a:buNone/>
            </a:pPr>
            <a:r>
              <a:rPr lang="en-US" sz="1500" dirty="0">
                <a:solidFill>
                  <a:srgbClr val="BFE3DD"/>
                </a:solidFill>
                <a:latin typeface="Calibri" pitchFamily="34" charset="0"/>
                <a:ea typeface="Calibri" pitchFamily="34" charset="-122"/>
                <a:cs typeface="Calibri" pitchFamily="34" charset="-120"/>
              </a:rPr>
              <a:t>Chọn trợ lý phù hợp và ra lệnh để AI viết đúng giọng một nhân viên CSKH chuyên nghiệp.</a:t>
            </a:r>
            <a:endParaRPr lang="en-US" sz="1500" dirty="0"/>
          </a:p>
        </p:txBody>
      </p:sp>
      <p:sp>
        <p:nvSpPr>
          <p:cNvPr id="6" name="Shape 4"/>
          <p:cNvSpPr/>
          <p:nvPr/>
        </p:nvSpPr>
        <p:spPr>
          <a:xfrm>
            <a:off x="7315200" y="1234440"/>
            <a:ext cx="1188720" cy="1188720"/>
          </a:xfrm>
          <a:prstGeom prst="ellipse">
            <a:avLst/>
          </a:prstGeom>
          <a:solidFill>
            <a:srgbClr val="0E7C7B"/>
          </a:solidFill>
          <a:ln w="12700">
            <a:solidFill>
              <a:srgbClr val="0E7C7B"/>
            </a:solidFill>
            <a:prstDash val="solid"/>
          </a:ln>
        </p:spPr>
      </p:sp>
      <p:pic>
        <p:nvPicPr>
          <p:cNvPr id="7" name="Image 0" descr="preencoded.png">    </p:cNvPr>
          <p:cNvPicPr>
            <a:picLocks noChangeAspect="1"/>
          </p:cNvPicPr>
          <p:nvPr/>
        </p:nvPicPr>
        <p:blipFill>
          <a:blip r:embed="rId1"/>
          <a:stretch>
            <a:fillRect/>
          </a:stretch>
        </p:blipFill>
        <p:spPr>
          <a:xfrm>
            <a:off x="7624267" y="1543507"/>
            <a:ext cx="570586" cy="57058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LÀM QUEN</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Bốn trợ lý ảo phổ biến</a:t>
            </a:r>
            <a:endParaRPr lang="en-US" sz="25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188720"/>
                <a:gridCol w="1097280"/>
                <a:gridCol w="2011680"/>
                <a:gridCol w="393192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Trợ lý</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Công ty</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Truy cập</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Điểm đáng chú ý</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ChatGPT</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OpenAI</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chatgpt.com, app</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Phổ biến nhất; có thể tải file, ảnh lên để hỏi</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Gemini</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Google</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gemini.google.com, app</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Đăng nhập bằng tài khoản Google; gắn với Gmail, Docs tùy gói</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Claude</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Anthropic</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claude.ai, app</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Viết văn tự nhiên, đọc tài liệu dài tốt</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Grok</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xAI</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grok.com, trong X</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Có thể tham khảo nội dung đang thảo luận trên X</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4315968"/>
            <a:ext cx="8229600" cy="365760"/>
          </a:xfrm>
          <a:prstGeom prst="rect">
            <a:avLst/>
          </a:prstGeom>
          <a:noFill/>
          <a:ln/>
        </p:spPr>
        <p:txBody>
          <a:bodyPr wrap="square" lIns="0" tIns="0" rIns="0" bIns="0" rtlCol="0" anchor="b"/>
          <a:lstStyle/>
          <a:p>
            <a:pPr indent="0" marL="0">
              <a:buNone/>
            </a:pPr>
            <a:r>
              <a:rPr lang="en-US" sz="1250" i="1" dirty="0">
                <a:solidFill>
                  <a:srgbClr val="5B6B73"/>
                </a:solidFill>
                <a:latin typeface="Calibri" pitchFamily="34" charset="0"/>
                <a:ea typeface="Calibri" pitchFamily="34" charset="-122"/>
                <a:cs typeface="Calibri" pitchFamily="34" charset="-120"/>
              </a:rPr>
              <a:t>Tính năng và giới hạn gói miễn phí thay đổi thường xuyên: kiểm tra trang chính thức. Buổi 3 sẽ so sánh cả 4 trên cùng một ticket.</a:t>
            </a:r>
            <a:endParaRPr lang="en-US" sz="1250" dirty="0"/>
          </a:p>
        </p:txBody>
      </p:sp>
      <p:sp>
        <p:nvSpPr>
          <p:cNvPr id="6" name="Text 3"/>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1</a:t>
            </a:r>
            <a:endParaRPr lang="en-US" sz="900" dirty="0"/>
          </a:p>
        </p:txBody>
      </p:sp>
      <p:sp>
        <p:nvSpPr>
          <p:cNvPr id="7" name="Text 4"/>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CÔNG THỨC PROMPT</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V-B-N-Đ-G: năm chữ, năm câu hỏi</a:t>
            </a:r>
            <a:endParaRPr lang="en-US" sz="2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640080"/>
                <a:gridCol w="1463040"/>
                <a:gridCol w="612648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Chữ</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Thành phần</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Ví dụ trong call center</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V</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Vai trò</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"Bạn là nhân viên CSKH của ShopNhanh, 3 năm kinh nghiệm xử lý khiếu nại"</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B</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Bối cảnh</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"Đơn [MÃ ĐƠN] trễ 3 ngày, khách nhắn lần hai và đang bực. Không có bồi thường tiền mặt."</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N</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Nhiệm vụ</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"Viết tin nhắn trả lời khách qua fanpage"</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Đ</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Định dạng</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"Tối đa 4 câu, không gạch đầu dòng, kết thúc bằng câu hỏi xác nhận"</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G</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Giọng điệu</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"Chân thành, đồng cảm, xưng em gọi anh/chị, không sáo rỗng"</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bl>
          </a:graphicData>
        </a:graphic>
      </p:graphicFrame>
      <p:sp>
        <p:nvSpPr>
          <p:cNvPr id="5" name="Text 2"/>
          <p:cNvSpPr txBox="1"/>
          <p:nvPr/>
        </p:nvSpPr>
        <p:spPr>
          <a:xfrm>
            <a:off x="457200" y="4315968"/>
            <a:ext cx="8229600" cy="365760"/>
          </a:xfrm>
          <a:prstGeom prst="rect">
            <a:avLst/>
          </a:prstGeom>
          <a:noFill/>
          <a:ln/>
        </p:spPr>
        <p:txBody>
          <a:bodyPr wrap="square" lIns="0" tIns="0" rIns="0" bIns="0" rtlCol="0" anchor="b"/>
          <a:lstStyle/>
          <a:p>
            <a:pPr indent="0" marL="0">
              <a:buNone/>
            </a:pPr>
            <a:r>
              <a:rPr lang="en-US" sz="1250" i="1" dirty="0">
                <a:solidFill>
                  <a:srgbClr val="5B6B73"/>
                </a:solidFill>
                <a:latin typeface="Calibri" pitchFamily="34" charset="0"/>
                <a:ea typeface="Calibri" pitchFamily="34" charset="-122"/>
                <a:cs typeface="Calibri" pitchFamily="34" charset="-120"/>
              </a:rPr>
              <a:t>Kết quả chưa ưng? Tự hỏi: mình đã thiếu chữ nào? Thường là </a:t>
            </a:r>
            <a:pPr indent="0" marL="0">
              <a:buNone/>
            </a:pPr>
            <a:r>
              <a:rPr lang="en-US" sz="1250" b="1" i="1" dirty="0">
                <a:solidFill>
                  <a:srgbClr val="5B6B73"/>
                </a:solidFill>
                <a:latin typeface="Calibri" pitchFamily="34" charset="0"/>
                <a:ea typeface="Calibri" pitchFamily="34" charset="-122"/>
                <a:cs typeface="Calibri" pitchFamily="34" charset="-120"/>
              </a:rPr>
              <a:t>B</a:t>
            </a:r>
            <a:pPr indent="0" marL="0">
              <a:buNone/>
            </a:pPr>
            <a:r>
              <a:rPr lang="en-US" sz="1250" i="1" dirty="0">
                <a:solidFill>
                  <a:srgbClr val="5B6B73"/>
                </a:solidFill>
                <a:latin typeface="Calibri" pitchFamily="34" charset="0"/>
                <a:ea typeface="Calibri" pitchFamily="34" charset="-122"/>
                <a:cs typeface="Calibri" pitchFamily="34" charset="-120"/>
              </a:rPr>
              <a:t> hoặc </a:t>
            </a:r>
            <a:pPr indent="0" marL="0">
              <a:buNone/>
            </a:pPr>
            <a:r>
              <a:rPr lang="en-US" sz="1250" b="1" i="1" dirty="0">
                <a:solidFill>
                  <a:srgbClr val="5B6B73"/>
                </a:solidFill>
                <a:latin typeface="Calibri" pitchFamily="34" charset="0"/>
                <a:ea typeface="Calibri" pitchFamily="34" charset="-122"/>
                <a:cs typeface="Calibri" pitchFamily="34" charset="-120"/>
              </a:rPr>
              <a:t>Đ</a:t>
            </a:r>
            <a:pPr indent="0" marL="0">
              <a:buNone/>
            </a:pPr>
            <a:r>
              <a:rPr lang="en-US" sz="1250" i="1" dirty="0">
                <a:solidFill>
                  <a:srgbClr val="5B6B73"/>
                </a:solidFill>
                <a:latin typeface="Calibri" pitchFamily="34" charset="0"/>
                <a:ea typeface="Calibri" pitchFamily="34" charset="-122"/>
                <a:cs typeface="Calibri" pitchFamily="34" charset="-120"/>
              </a:rPr>
              <a:t>.</a:t>
            </a:r>
            <a:endParaRPr lang="en-US" sz="1250" dirty="0"/>
          </a:p>
        </p:txBody>
      </p:sp>
      <p:sp>
        <p:nvSpPr>
          <p:cNvPr id="6" name="Text 3"/>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1</a:t>
            </a:r>
            <a:endParaRPr lang="en-US" sz="900" dirty="0"/>
          </a:p>
        </p:txBody>
      </p:sp>
      <p:sp>
        <p:nvSpPr>
          <p:cNvPr id="7" name="Text 4"/>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PROMPT MỘT DÒNG VS ĐỦ 5 THÀNH PHẦN</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Cùng một tình huống, hai kết quả</a:t>
            </a:r>
            <a:endParaRPr lang="en-US" sz="2500" dirty="0"/>
          </a:p>
        </p:txBody>
      </p:sp>
      <p:sp>
        <p:nvSpPr>
          <p:cNvPr id="4" name="Shape 2"/>
          <p:cNvSpPr/>
          <p:nvPr/>
        </p:nvSpPr>
        <p:spPr>
          <a:xfrm>
            <a:off x="457200" y="1371600"/>
            <a:ext cx="3977640" cy="2697480"/>
          </a:xfrm>
          <a:prstGeom prst="roundRect">
            <a:avLst>
              <a:gd name="adj" fmla="val 3390"/>
            </a:avLst>
          </a:prstGeom>
          <a:solidFill>
            <a:srgbClr val="FBEAE8"/>
          </a:solidFill>
          <a:ln w="12700">
            <a:solidFill>
              <a:srgbClr val="FBEAE8"/>
            </a:solidFill>
            <a:prstDash val="solid"/>
          </a:ln>
        </p:spPr>
      </p:sp>
      <p:sp>
        <p:nvSpPr>
          <p:cNvPr id="5" name="Shape 3"/>
          <p:cNvSpPr/>
          <p:nvPr/>
        </p:nvSpPr>
        <p:spPr>
          <a:xfrm>
            <a:off x="658368" y="1554480"/>
            <a:ext cx="420624" cy="420624"/>
          </a:xfrm>
          <a:prstGeom prst="ellipse">
            <a:avLst/>
          </a:prstGeom>
          <a:solidFill>
            <a:srgbClr val="C0392B"/>
          </a:solidFill>
          <a:ln w="12700">
            <a:solidFill>
              <a:srgbClr val="C0392B"/>
            </a:solidFill>
            <a:prstDash val="solid"/>
          </a:ln>
        </p:spPr>
      </p:sp>
      <p:pic>
        <p:nvPicPr>
          <p:cNvPr id="6" name="Image 0" descr="preencoded.png">    </p:cNvPr>
          <p:cNvPicPr>
            <a:picLocks noChangeAspect="1"/>
          </p:cNvPicPr>
          <p:nvPr/>
        </p:nvPicPr>
        <p:blipFill>
          <a:blip r:embed="rId1"/>
          <a:stretch>
            <a:fillRect/>
          </a:stretch>
        </p:blipFill>
        <p:spPr>
          <a:xfrm>
            <a:off x="767730" y="1663842"/>
            <a:ext cx="201900" cy="201900"/>
          </a:xfrm>
          <a:prstGeom prst="rect">
            <a:avLst/>
          </a:prstGeom>
        </p:spPr>
      </p:pic>
      <p:sp>
        <p:nvSpPr>
          <p:cNvPr id="7" name="Text 4"/>
          <p:cNvSpPr txBox="1"/>
          <p:nvPr/>
        </p:nvSpPr>
        <p:spPr>
          <a:xfrm>
            <a:off x="1188720" y="1554480"/>
            <a:ext cx="3063240" cy="420624"/>
          </a:xfrm>
          <a:prstGeom prst="rect">
            <a:avLst/>
          </a:prstGeom>
          <a:noFill/>
          <a:ln/>
        </p:spPr>
        <p:txBody>
          <a:bodyPr wrap="square" lIns="0" tIns="0" rIns="0" bIns="0" rtlCol="0" anchor="ctr"/>
          <a:lstStyle/>
          <a:p>
            <a:pPr indent="0" marL="0">
              <a:buNone/>
            </a:pPr>
            <a:r>
              <a:rPr lang="en-US" sz="1450" b="1" dirty="0">
                <a:solidFill>
                  <a:srgbClr val="C0392B"/>
                </a:solidFill>
                <a:latin typeface="Calibri" pitchFamily="34" charset="0"/>
                <a:ea typeface="Calibri" pitchFamily="34" charset="-122"/>
                <a:cs typeface="Calibri" pitchFamily="34" charset="-120"/>
              </a:rPr>
              <a:t>Prompt một dòng</a:t>
            </a:r>
            <a:endParaRPr lang="en-US" sz="1450" dirty="0"/>
          </a:p>
        </p:txBody>
      </p:sp>
      <p:sp>
        <p:nvSpPr>
          <p:cNvPr id="8" name="Text 5"/>
          <p:cNvSpPr txBox="1"/>
          <p:nvPr/>
        </p:nvSpPr>
        <p:spPr>
          <a:xfrm>
            <a:off x="685800" y="2103120"/>
            <a:ext cx="3520440" cy="182880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"Trả lời khách bị giao hàng trễ."</a:t>
            </a:r>
            <a:endParaRPr lang="en-US" sz="1400" dirty="0"/>
          </a:p>
          <a:p>
            <a:pPr indent="0" marL="0">
              <a:buNone/>
            </a:pPr>
            <a:endParaRPr lang="en-US" sz="1400" dirty="0"/>
          </a:p>
          <a:p>
            <a:pPr indent="0" marL="0">
              <a:buNone/>
            </a:pPr>
            <a:r>
              <a:rPr lang="en-US" sz="1400" dirty="0">
                <a:solidFill>
                  <a:srgbClr val="1F2A30"/>
                </a:solidFill>
                <a:latin typeface="Calibri" pitchFamily="34" charset="0"/>
                <a:ea typeface="Calibri" pitchFamily="34" charset="-122"/>
                <a:cs typeface="Calibri" pitchFamily="34" charset="-120"/>
              </a:rPr>
              <a:t>Kết quả: 150 chữ kiểu "Kính gửi Quý khách, chúng tôi vô cùng lấy làm tiếc...", có khi </a:t>
            </a:r>
            <a:endParaRPr lang="en-US" sz="1400" dirty="0"/>
          </a:p>
          <a:p>
            <a:pPr indent="0" marL="0">
              <a:buNone/>
            </a:pPr>
            <a:r>
              <a:rPr lang="en-US" sz="1400" b="1" dirty="0">
                <a:solidFill>
                  <a:srgbClr val="1F2A30"/>
                </a:solidFill>
                <a:latin typeface="Calibri" pitchFamily="34" charset="0"/>
                <a:ea typeface="Calibri" pitchFamily="34" charset="-122"/>
                <a:cs typeface="Calibri" pitchFamily="34" charset="-120"/>
              </a:rPr>
              <a:t>tự hứa tặng voucher 100.000đ</a:t>
            </a:r>
            <a:pPr indent="0" marL="0">
              <a:buNone/>
            </a:pPr>
            <a:r>
              <a:rPr lang="en-US" sz="1400" dirty="0">
                <a:solidFill>
                  <a:srgbClr val="1F2A30"/>
                </a:solidFill>
                <a:latin typeface="Calibri" pitchFamily="34" charset="0"/>
                <a:ea typeface="Calibri" pitchFamily="34" charset="-122"/>
                <a:cs typeface="Calibri" pitchFamily="34" charset="-120"/>
              </a:rPr>
              <a:t> mà công ty không có.</a:t>
            </a:r>
            <a:endParaRPr lang="en-US" sz="1400" dirty="0"/>
          </a:p>
        </p:txBody>
      </p:sp>
      <p:sp>
        <p:nvSpPr>
          <p:cNvPr id="9" name="Shape 6"/>
          <p:cNvSpPr/>
          <p:nvPr/>
        </p:nvSpPr>
        <p:spPr>
          <a:xfrm>
            <a:off x="4709160" y="1371600"/>
            <a:ext cx="3977640" cy="2697480"/>
          </a:xfrm>
          <a:prstGeom prst="roundRect">
            <a:avLst>
              <a:gd name="adj" fmla="val 3390"/>
            </a:avLst>
          </a:prstGeom>
          <a:solidFill>
            <a:srgbClr val="E8F3F1"/>
          </a:solidFill>
          <a:ln w="12700">
            <a:solidFill>
              <a:srgbClr val="E8F3F1"/>
            </a:solidFill>
            <a:prstDash val="solid"/>
          </a:ln>
        </p:spPr>
      </p:sp>
      <p:sp>
        <p:nvSpPr>
          <p:cNvPr id="10" name="Shape 7"/>
          <p:cNvSpPr/>
          <p:nvPr/>
        </p:nvSpPr>
        <p:spPr>
          <a:xfrm>
            <a:off x="4910328" y="1554480"/>
            <a:ext cx="420624" cy="420624"/>
          </a:xfrm>
          <a:prstGeom prst="ellipse">
            <a:avLst/>
          </a:prstGeom>
          <a:solidFill>
            <a:srgbClr val="0E7C7B"/>
          </a:solidFill>
          <a:ln w="12700">
            <a:solidFill>
              <a:srgbClr val="0E7C7B"/>
            </a:solidFill>
            <a:prstDash val="solid"/>
          </a:ln>
        </p:spPr>
      </p:sp>
      <p:pic>
        <p:nvPicPr>
          <p:cNvPr id="11" name="Image 1" descr="preencoded.png">    </p:cNvPr>
          <p:cNvPicPr>
            <a:picLocks noChangeAspect="1"/>
          </p:cNvPicPr>
          <p:nvPr/>
        </p:nvPicPr>
        <p:blipFill>
          <a:blip r:embed="rId2"/>
          <a:stretch>
            <a:fillRect/>
          </a:stretch>
        </p:blipFill>
        <p:spPr>
          <a:xfrm>
            <a:off x="5019690" y="1663842"/>
            <a:ext cx="201900" cy="201900"/>
          </a:xfrm>
          <a:prstGeom prst="rect">
            <a:avLst/>
          </a:prstGeom>
        </p:spPr>
      </p:pic>
      <p:sp>
        <p:nvSpPr>
          <p:cNvPr id="12" name="Text 8"/>
          <p:cNvSpPr txBox="1"/>
          <p:nvPr/>
        </p:nvSpPr>
        <p:spPr>
          <a:xfrm>
            <a:off x="5440680" y="1554480"/>
            <a:ext cx="3063240" cy="420624"/>
          </a:xfrm>
          <a:prstGeom prst="rect">
            <a:avLst/>
          </a:prstGeom>
          <a:noFill/>
          <a:ln/>
        </p:spPr>
        <p:txBody>
          <a:bodyPr wrap="square" lIns="0" tIns="0" rIns="0" bIns="0" rtlCol="0" anchor="ctr"/>
          <a:lstStyle/>
          <a:p>
            <a:pPr indent="0" marL="0">
              <a:buNone/>
            </a:pPr>
            <a:r>
              <a:rPr lang="en-US" sz="1450" b="1" dirty="0">
                <a:solidFill>
                  <a:srgbClr val="0E7C7B"/>
                </a:solidFill>
                <a:latin typeface="Calibri" pitchFamily="34" charset="0"/>
                <a:ea typeface="Calibri" pitchFamily="34" charset="-122"/>
                <a:cs typeface="Calibri" pitchFamily="34" charset="-120"/>
              </a:rPr>
              <a:t>Prompt đủ V-B-N-Đ-G</a:t>
            </a:r>
            <a:endParaRPr lang="en-US" sz="1450" dirty="0"/>
          </a:p>
        </p:txBody>
      </p:sp>
      <p:sp>
        <p:nvSpPr>
          <p:cNvPr id="13" name="Text 9"/>
          <p:cNvSpPr txBox="1"/>
          <p:nvPr/>
        </p:nvSpPr>
        <p:spPr>
          <a:xfrm>
            <a:off x="4937760" y="2103120"/>
            <a:ext cx="3520440" cy="182880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"Dạ em thành thật xin lỗi anh/chị [TÊN KH] vì đơn [MÃ ĐƠN] đã trễ 3 ngày... Đơn dự kiến giao trong 1 đến 2 ngày tới. ShopNhanh xin miễn phí vận chuyển cho đơn tiếp theo. Anh/chị còn cần em hỗ trợ gì không ạ?"</a:t>
            </a:r>
            <a:endParaRPr lang="en-US" sz="1400" dirty="0"/>
          </a:p>
        </p:txBody>
      </p:sp>
      <p:sp>
        <p:nvSpPr>
          <p:cNvPr id="14" name="Shape 10"/>
          <p:cNvSpPr/>
          <p:nvPr/>
        </p:nvSpPr>
        <p:spPr>
          <a:xfrm>
            <a:off x="457200" y="4206240"/>
            <a:ext cx="347472" cy="347472"/>
          </a:xfrm>
          <a:prstGeom prst="ellipse">
            <a:avLst/>
          </a:prstGeom>
          <a:solidFill>
            <a:srgbClr val="F2994A"/>
          </a:solidFill>
          <a:ln w="12700">
            <a:solidFill>
              <a:srgbClr val="F2994A"/>
            </a:solidFill>
            <a:prstDash val="solid"/>
          </a:ln>
        </p:spPr>
      </p:sp>
      <p:pic>
        <p:nvPicPr>
          <p:cNvPr id="15" name="Image 2" descr="preencoded.png">    </p:cNvPr>
          <p:cNvPicPr>
            <a:picLocks noChangeAspect="1"/>
          </p:cNvPicPr>
          <p:nvPr/>
        </p:nvPicPr>
        <p:blipFill>
          <a:blip r:embed="rId3"/>
          <a:stretch>
            <a:fillRect/>
          </a:stretch>
        </p:blipFill>
        <p:spPr>
          <a:xfrm>
            <a:off x="547543" y="4296583"/>
            <a:ext cx="166787" cy="166787"/>
          </a:xfrm>
          <a:prstGeom prst="rect">
            <a:avLst/>
          </a:prstGeom>
        </p:spPr>
      </p:pic>
      <p:sp>
        <p:nvSpPr>
          <p:cNvPr id="16" name="Text 11"/>
          <p:cNvSpPr txBox="1"/>
          <p:nvPr/>
        </p:nvSpPr>
        <p:spPr>
          <a:xfrm>
            <a:off x="914400" y="4160520"/>
            <a:ext cx="7772400" cy="438912"/>
          </a:xfrm>
          <a:prstGeom prst="rect">
            <a:avLst/>
          </a:prstGeom>
          <a:noFill/>
          <a:ln/>
        </p:spPr>
        <p:txBody>
          <a:bodyPr wrap="square" lIns="0" tIns="0" rIns="0" bIns="0" rtlCol="0" anchor="ctr"/>
          <a:lstStyle/>
          <a:p>
            <a:pPr indent="0" marL="0">
              <a:buNone/>
            </a:pPr>
            <a:r>
              <a:rPr lang="en-US" sz="1200" dirty="0">
                <a:solidFill>
                  <a:srgbClr val="1F2A30"/>
                </a:solidFill>
                <a:latin typeface="Calibri" pitchFamily="34" charset="0"/>
                <a:ea typeface="Calibri" pitchFamily="34" charset="-122"/>
                <a:cs typeface="Calibri" pitchFamily="34" charset="-120"/>
              </a:rPr>
              <a:t>Vẫn phải </a:t>
            </a:r>
            <a:pPr indent="0" marL="0">
              <a:buNone/>
            </a:pPr>
            <a:r>
              <a:rPr lang="en-US" sz="1200" b="1" dirty="0">
                <a:solidFill>
                  <a:srgbClr val="1F2A30"/>
                </a:solidFill>
                <a:latin typeface="Calibri" pitchFamily="34" charset="0"/>
                <a:ea typeface="Calibri" pitchFamily="34" charset="-122"/>
                <a:cs typeface="Calibri" pitchFamily="34" charset="-120"/>
              </a:rPr>
              <a:t>Kiểm</a:t>
            </a:r>
            <a:pPr indent="0" marL="0">
              <a:buNone/>
            </a:pPr>
            <a:r>
              <a:rPr lang="en-US" sz="1200" dirty="0">
                <a:solidFill>
                  <a:srgbClr val="1F2A30"/>
                </a:solidFill>
                <a:latin typeface="Calibri" pitchFamily="34" charset="0"/>
                <a:ea typeface="Calibri" pitchFamily="34" charset="-122"/>
                <a:cs typeface="Calibri" pitchFamily="34" charset="-120"/>
              </a:rPr>
              <a:t>: "1 đến 2 ngày" và "miễn phí ship" có khớp với những gì bạn đưa vào không?</a:t>
            </a:r>
            <a:endParaRPr lang="en-US" sz="1200" dirty="0"/>
          </a:p>
        </p:txBody>
      </p:sp>
      <p:sp>
        <p:nvSpPr>
          <p:cNvPr id="17" name="Text 12"/>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1</a:t>
            </a:r>
            <a:endParaRPr lang="en-US" sz="900" dirty="0"/>
          </a:p>
        </p:txBody>
      </p:sp>
      <p:sp>
        <p:nvSpPr>
          <p:cNvPr id="18" name="Text 13"/>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PROMPT MẪU</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Prompt đầy đủ V-B-N-Đ-G</a:t>
            </a:r>
            <a:endParaRPr lang="en-US" sz="2500" dirty="0"/>
          </a:p>
        </p:txBody>
      </p:sp>
      <p:sp>
        <p:nvSpPr>
          <p:cNvPr id="4" name="Shape 2"/>
          <p:cNvSpPr/>
          <p:nvPr/>
        </p:nvSpPr>
        <p:spPr>
          <a:xfrm>
            <a:off x="457200" y="1280160"/>
            <a:ext cx="8229600" cy="2852928"/>
          </a:xfrm>
          <a:prstGeom prst="roundRect">
            <a:avLst>
              <a:gd name="adj" fmla="val 2564"/>
            </a:avLst>
          </a:prstGeom>
          <a:solidFill>
            <a:srgbClr val="17262C"/>
          </a:solidFill>
          <a:ln w="12700">
            <a:solidFill>
              <a:srgbClr val="17262C"/>
            </a:solidFill>
            <a:prstDash val="solid"/>
          </a:ln>
        </p:spPr>
      </p:sp>
      <p:sp>
        <p:nvSpPr>
          <p:cNvPr id="5" name="Text 3"/>
          <p:cNvSpPr txBox="1"/>
          <p:nvPr/>
        </p:nvSpPr>
        <p:spPr>
          <a:xfrm>
            <a:off x="685800" y="1417320"/>
            <a:ext cx="7772400" cy="2578608"/>
          </a:xfrm>
          <a:prstGeom prst="rect">
            <a:avLst/>
          </a:prstGeom>
          <a:noFill/>
          <a:ln/>
        </p:spPr>
        <p:txBody>
          <a:bodyPr wrap="square" lIns="0" tIns="0" rIns="0" bIns="0" rtlCol="0" anchor="t"/>
          <a:lstStyle/>
          <a:p>
            <a:pPr indent="0" marL="0">
              <a:lnSpc>
                <a:spcPct val="105000"/>
              </a:lnSpc>
              <a:buNone/>
            </a:pPr>
            <a:r>
              <a:rPr lang="en-US" sz="1100" dirty="0">
                <a:solidFill>
                  <a:srgbClr val="E6F1EF"/>
                </a:solidFill>
                <a:latin typeface="Courier New" pitchFamily="34" charset="0"/>
                <a:ea typeface="Courier New" pitchFamily="34" charset="-122"/>
                <a:cs typeface="Courier New" pitchFamily="34" charset="-120"/>
              </a:rPr>
              <a:t>[V] Bạn là nhân viên CSKH của ShopNhanh, có kinh nghiệm xử lý khiếu nại giao hàng.</a:t>
            </a:r>
            <a:endParaRPr lang="en-US" sz="1100" dirty="0"/>
          </a:p>
          <a:p>
            <a:pPr indent="0" marL="0">
              <a:lnSpc>
                <a:spcPct val="105000"/>
              </a:lnSpc>
              <a:buNone/>
            </a:pPr>
            <a:endParaRPr lang="en-US" sz="1100" dirty="0"/>
          </a:p>
          <a:p>
            <a:pPr indent="0" marL="0">
              <a:lnSpc>
                <a:spcPct val="105000"/>
              </a:lnSpc>
              <a:buNone/>
            </a:pPr>
            <a:r>
              <a:rPr lang="en-US" sz="1100" dirty="0">
                <a:solidFill>
                  <a:srgbClr val="E6F1EF"/>
                </a:solidFill>
                <a:latin typeface="Courier New" pitchFamily="34" charset="0"/>
                <a:ea typeface="Courier New" pitchFamily="34" charset="-122"/>
                <a:cs typeface="Courier New" pitchFamily="34" charset="-120"/>
              </a:rPr>
              <a:t>[B] Khách [TÊN KH] đặt đơn [MÃ ĐƠN], cam kết giao ngày [NGÀY] nhưng đã trễ 3 ngày.</a:t>
            </a:r>
            <a:endParaRPr lang="en-US" sz="1100" dirty="0"/>
          </a:p>
          <a:p>
            <a:pPr indent="0" marL="0">
              <a:lnSpc>
                <a:spcPct val="105000"/>
              </a:lnSpc>
              <a:buNone/>
            </a:pPr>
            <a:r>
              <a:rPr lang="en-US" sz="1100" dirty="0">
                <a:solidFill>
                  <a:srgbClr val="E6F1EF"/>
                </a:solidFill>
                <a:latin typeface="Courier New" pitchFamily="34" charset="0"/>
                <a:ea typeface="Courier New" pitchFamily="34" charset="-122"/>
                <a:cs typeface="Courier New" pitchFamily="34" charset="-120"/>
              </a:rPr>
              <a:t>    Khách nhắn lần thứ hai, lời lẽ bực bội. Đơn đang ở kho trung chuyển, dự kiến</a:t>
            </a:r>
            <a:endParaRPr lang="en-US" sz="1100" dirty="0"/>
          </a:p>
          <a:p>
            <a:pPr indent="0" marL="0">
              <a:lnSpc>
                <a:spcPct val="105000"/>
              </a:lnSpc>
              <a:buNone/>
            </a:pPr>
            <a:r>
              <a:rPr lang="en-US" sz="1100" dirty="0">
                <a:solidFill>
                  <a:srgbClr val="E6F1EF"/>
                </a:solidFill>
                <a:latin typeface="Courier New" pitchFamily="34" charset="0"/>
                <a:ea typeface="Courier New" pitchFamily="34" charset="-122"/>
                <a:cs typeface="Courier New" pitchFamily="34" charset="-120"/>
              </a:rPr>
              <a:t>    giao trong 1-2 ngày. Chính sách: KHÔNG bồi thường tiền mặt; được miễn phí</a:t>
            </a:r>
            <a:endParaRPr lang="en-US" sz="1100" dirty="0"/>
          </a:p>
          <a:p>
            <a:pPr indent="0" marL="0">
              <a:lnSpc>
                <a:spcPct val="105000"/>
              </a:lnSpc>
              <a:buNone/>
            </a:pPr>
            <a:r>
              <a:rPr lang="en-US" sz="1100" dirty="0">
                <a:solidFill>
                  <a:srgbClr val="E6F1EF"/>
                </a:solidFill>
                <a:latin typeface="Courier New" pitchFamily="34" charset="0"/>
                <a:ea typeface="Courier New" pitchFamily="34" charset="-122"/>
                <a:cs typeface="Courier New" pitchFamily="34" charset="-120"/>
              </a:rPr>
              <a:t>    ship cho đơn kế tiếp.</a:t>
            </a:r>
            <a:endParaRPr lang="en-US" sz="1100" dirty="0"/>
          </a:p>
          <a:p>
            <a:pPr indent="0" marL="0">
              <a:lnSpc>
                <a:spcPct val="105000"/>
              </a:lnSpc>
              <a:buNone/>
            </a:pPr>
            <a:endParaRPr lang="en-US" sz="1100" dirty="0"/>
          </a:p>
          <a:p>
            <a:pPr indent="0" marL="0">
              <a:lnSpc>
                <a:spcPct val="105000"/>
              </a:lnSpc>
              <a:buNone/>
            </a:pPr>
            <a:r>
              <a:rPr lang="en-US" sz="1100" dirty="0">
                <a:solidFill>
                  <a:srgbClr val="E6F1EF"/>
                </a:solidFill>
                <a:latin typeface="Courier New" pitchFamily="34" charset="0"/>
                <a:ea typeface="Courier New" pitchFamily="34" charset="-122"/>
                <a:cs typeface="Courier New" pitchFamily="34" charset="-120"/>
              </a:rPr>
              <a:t>[N] Viết tin nhắn trả lời khách trên fanpage.</a:t>
            </a:r>
            <a:endParaRPr lang="en-US" sz="1100" dirty="0"/>
          </a:p>
          <a:p>
            <a:pPr indent="0" marL="0">
              <a:lnSpc>
                <a:spcPct val="105000"/>
              </a:lnSpc>
              <a:buNone/>
            </a:pPr>
            <a:endParaRPr lang="en-US" sz="1100" dirty="0"/>
          </a:p>
          <a:p>
            <a:pPr indent="0" marL="0">
              <a:lnSpc>
                <a:spcPct val="105000"/>
              </a:lnSpc>
              <a:buNone/>
            </a:pPr>
            <a:r>
              <a:rPr lang="en-US" sz="1100" dirty="0">
                <a:solidFill>
                  <a:srgbClr val="E6F1EF"/>
                </a:solidFill>
                <a:latin typeface="Courier New" pitchFamily="34" charset="0"/>
                <a:ea typeface="Courier New" pitchFamily="34" charset="-122"/>
                <a:cs typeface="Courier New" pitchFamily="34" charset="-120"/>
              </a:rPr>
              <a:t>[Đ] Tối đa 4 câu, không gạch đầu dòng. Mở đầu bằng lời xin lỗi, kết thúc bằng</a:t>
            </a:r>
            <a:endParaRPr lang="en-US" sz="1100" dirty="0"/>
          </a:p>
          <a:p>
            <a:pPr indent="0" marL="0">
              <a:lnSpc>
                <a:spcPct val="105000"/>
              </a:lnSpc>
              <a:buNone/>
            </a:pPr>
            <a:r>
              <a:rPr lang="en-US" sz="1100" dirty="0">
                <a:solidFill>
                  <a:srgbClr val="E6F1EF"/>
                </a:solidFill>
                <a:latin typeface="Courier New" pitchFamily="34" charset="0"/>
                <a:ea typeface="Courier New" pitchFamily="34" charset="-122"/>
                <a:cs typeface="Courier New" pitchFamily="34" charset="-120"/>
              </a:rPr>
              <a:t>    câu hỏi xác nhận. Giữ nguyên các nhãn trong ngoặc vuông.</a:t>
            </a:r>
            <a:endParaRPr lang="en-US" sz="1100" dirty="0"/>
          </a:p>
          <a:p>
            <a:pPr indent="0" marL="0">
              <a:lnSpc>
                <a:spcPct val="105000"/>
              </a:lnSpc>
              <a:buNone/>
            </a:pPr>
            <a:endParaRPr lang="en-US" sz="1100" dirty="0"/>
          </a:p>
          <a:p>
            <a:pPr indent="0" marL="0">
              <a:lnSpc>
                <a:spcPct val="105000"/>
              </a:lnSpc>
              <a:buNone/>
            </a:pPr>
            <a:r>
              <a:rPr lang="en-US" sz="1100" dirty="0">
                <a:solidFill>
                  <a:srgbClr val="E6F1EF"/>
                </a:solidFill>
                <a:latin typeface="Courier New" pitchFamily="34" charset="0"/>
                <a:ea typeface="Courier New" pitchFamily="34" charset="-122"/>
                <a:cs typeface="Courier New" pitchFamily="34" charset="-120"/>
              </a:rPr>
              <a:t>[G] Chân thành, đồng cảm, xưng "em" gọi "anh/chị", không đổ lỗi cho bên vận chuyển.</a:t>
            </a:r>
            <a:endParaRPr lang="en-US" sz="1100" dirty="0"/>
          </a:p>
        </p:txBody>
      </p:sp>
      <p:sp>
        <p:nvSpPr>
          <p:cNvPr id="6" name="Shape 4"/>
          <p:cNvSpPr/>
          <p:nvPr/>
        </p:nvSpPr>
        <p:spPr>
          <a:xfrm>
            <a:off x="457200" y="4242816"/>
            <a:ext cx="329184" cy="329184"/>
          </a:xfrm>
          <a:prstGeom prst="ellipse">
            <a:avLst/>
          </a:prstGeom>
          <a:solidFill>
            <a:srgbClr val="F2994A"/>
          </a:solidFill>
          <a:ln w="12700">
            <a:solidFill>
              <a:srgbClr val="F2994A"/>
            </a:solidFill>
            <a:prstDash val="solid"/>
          </a:ln>
        </p:spPr>
      </p:sp>
      <p:pic>
        <p:nvPicPr>
          <p:cNvPr id="7" name="Image 0" descr="preencoded.png">    </p:cNvPr>
          <p:cNvPicPr>
            <a:picLocks noChangeAspect="1"/>
          </p:cNvPicPr>
          <p:nvPr/>
        </p:nvPicPr>
        <p:blipFill>
          <a:blip r:embed="rId1"/>
          <a:stretch>
            <a:fillRect/>
          </a:stretch>
        </p:blipFill>
        <p:spPr>
          <a:xfrm>
            <a:off x="542788" y="4328404"/>
            <a:ext cx="158008" cy="158008"/>
          </a:xfrm>
          <a:prstGeom prst="rect">
            <a:avLst/>
          </a:prstGeom>
        </p:spPr>
      </p:pic>
      <p:sp>
        <p:nvSpPr>
          <p:cNvPr id="8" name="Text 5"/>
          <p:cNvSpPr txBox="1"/>
          <p:nvPr/>
        </p:nvSpPr>
        <p:spPr>
          <a:xfrm>
            <a:off x="896112" y="4206240"/>
            <a:ext cx="7772400" cy="411480"/>
          </a:xfrm>
          <a:prstGeom prst="rect">
            <a:avLst/>
          </a:prstGeom>
          <a:noFill/>
          <a:ln/>
        </p:spPr>
        <p:txBody>
          <a:bodyPr wrap="square" lIns="0" tIns="0" rIns="0" bIns="0" rtlCol="0" anchor="ctr"/>
          <a:lstStyle/>
          <a:p>
            <a:pPr indent="0" marL="0">
              <a:buNone/>
            </a:pPr>
            <a:r>
              <a:rPr lang="en-US" sz="1150" dirty="0">
                <a:solidFill>
                  <a:srgbClr val="1F2A30"/>
                </a:solidFill>
                <a:latin typeface="Calibri" pitchFamily="34" charset="0"/>
                <a:ea typeface="Calibri" pitchFamily="34" charset="-122"/>
                <a:cs typeface="Calibri" pitchFamily="34" charset="-120"/>
              </a:rPr>
              <a:t>Prompt tốt thì </a:t>
            </a:r>
            <a:pPr indent="0" marL="0">
              <a:buNone/>
            </a:pPr>
            <a:r>
              <a:rPr lang="en-US" sz="1150" b="1" dirty="0">
                <a:solidFill>
                  <a:srgbClr val="1F2A30"/>
                </a:solidFill>
                <a:latin typeface="Calibri" pitchFamily="34" charset="0"/>
                <a:ea typeface="Calibri" pitchFamily="34" charset="-122"/>
                <a:cs typeface="Calibri" pitchFamily="34" charset="-120"/>
              </a:rPr>
              <a:t>lưu lại thành mẫu</a:t>
            </a:r>
            <a:pPr indent="0" marL="0">
              <a:buNone/>
            </a:pPr>
            <a:r>
              <a:rPr lang="en-US" sz="1150" dirty="0">
                <a:solidFill>
                  <a:srgbClr val="1F2A30"/>
                </a:solidFill>
                <a:latin typeface="Calibri" pitchFamily="34" charset="0"/>
                <a:ea typeface="Calibri" pitchFamily="34" charset="-122"/>
                <a:cs typeface="Calibri" pitchFamily="34" charset="-120"/>
              </a:rPr>
              <a:t>: thay phần cụ thể bằng chỗ trống để dùng cho lần sau.</a:t>
            </a:r>
            <a:endParaRPr lang="en-US" sz="1150" dirty="0"/>
          </a:p>
        </p:txBody>
      </p:sp>
      <p:sp>
        <p:nvSpPr>
          <p:cNvPr id="9" name="Text 6"/>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1</a:t>
            </a:r>
            <a:endParaRPr lang="en-US" sz="900" dirty="0"/>
          </a:p>
        </p:txBody>
      </p:sp>
      <p:sp>
        <p:nvSpPr>
          <p:cNvPr id="10" name="Text 7"/>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BÀI LAB · 15 PHÚT</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Lab 1 · Viết lại câu trả lời cộc lốc</a:t>
            </a:r>
            <a:endParaRPr lang="en-US" sz="2500" dirty="0"/>
          </a:p>
        </p:txBody>
      </p:sp>
      <p:sp>
        <p:nvSpPr>
          <p:cNvPr id="4" name="Shape 2"/>
          <p:cNvSpPr/>
          <p:nvPr/>
        </p:nvSpPr>
        <p:spPr>
          <a:xfrm>
            <a:off x="457200" y="1371600"/>
            <a:ext cx="2743200" cy="3200400"/>
          </a:xfrm>
          <a:prstGeom prst="roundRect">
            <a:avLst>
              <a:gd name="adj" fmla="val 3333"/>
            </a:avLst>
          </a:prstGeom>
          <a:solidFill>
            <a:srgbClr val="0B3B45"/>
          </a:solidFill>
          <a:ln w="12700">
            <a:solidFill>
              <a:srgbClr val="0B3B45"/>
            </a:solidFill>
            <a:prstDash val="solid"/>
          </a:ln>
        </p:spPr>
      </p:sp>
      <p:sp>
        <p:nvSpPr>
          <p:cNvPr id="5" name="Shape 3"/>
          <p:cNvSpPr/>
          <p:nvPr/>
        </p:nvSpPr>
        <p:spPr>
          <a:xfrm>
            <a:off x="685800" y="1572768"/>
            <a:ext cx="530352" cy="530352"/>
          </a:xfrm>
          <a:prstGeom prst="ellipse">
            <a:avLst/>
          </a:prstGeom>
          <a:solidFill>
            <a:srgbClr val="F2994A"/>
          </a:solidFill>
          <a:ln w="12700">
            <a:solidFill>
              <a:srgbClr val="F2994A"/>
            </a:solidFill>
            <a:prstDash val="solid"/>
          </a:ln>
        </p:spPr>
      </p:sp>
      <p:pic>
        <p:nvPicPr>
          <p:cNvPr id="6" name="Image 0" descr="preencoded.png">    </p:cNvPr>
          <p:cNvPicPr>
            <a:picLocks noChangeAspect="1"/>
          </p:cNvPicPr>
          <p:nvPr/>
        </p:nvPicPr>
        <p:blipFill>
          <a:blip r:embed="rId1"/>
          <a:stretch>
            <a:fillRect/>
          </a:stretch>
        </p:blipFill>
        <p:spPr>
          <a:xfrm>
            <a:off x="823692" y="1710660"/>
            <a:ext cx="254569" cy="254569"/>
          </a:xfrm>
          <a:prstGeom prst="rect">
            <a:avLst/>
          </a:prstGeom>
        </p:spPr>
      </p:pic>
      <p:sp>
        <p:nvSpPr>
          <p:cNvPr id="7" name="Text 4"/>
          <p:cNvSpPr txBox="1"/>
          <p:nvPr/>
        </p:nvSpPr>
        <p:spPr>
          <a:xfrm>
            <a:off x="685800" y="2240280"/>
            <a:ext cx="2286000" cy="274320"/>
          </a:xfrm>
          <a:prstGeom prst="rect">
            <a:avLst/>
          </a:prstGeom>
          <a:noFill/>
          <a:ln/>
        </p:spPr>
        <p:txBody>
          <a:bodyPr wrap="square" lIns="0" tIns="0" rIns="0" bIns="0" rtlCol="0" anchor="t"/>
          <a:lstStyle/>
          <a:p>
            <a:pPr indent="0" marL="0">
              <a:buNone/>
            </a:pPr>
            <a:r>
              <a:rPr lang="en-US" sz="1050" b="1" spc="200" kern="0" dirty="0">
                <a:solidFill>
                  <a:srgbClr val="F2994A"/>
                </a:solidFill>
                <a:latin typeface="Calibri" pitchFamily="34" charset="0"/>
                <a:ea typeface="Calibri" pitchFamily="34" charset="-122"/>
                <a:cs typeface="Calibri" pitchFamily="34" charset="-120"/>
              </a:rPr>
              <a:t>MỤC TIÊU</a:t>
            </a:r>
            <a:endParaRPr lang="en-US" sz="1050" dirty="0"/>
          </a:p>
        </p:txBody>
      </p:sp>
      <p:sp>
        <p:nvSpPr>
          <p:cNvPr id="8" name="Text 5"/>
          <p:cNvSpPr txBox="1"/>
          <p:nvPr/>
        </p:nvSpPr>
        <p:spPr>
          <a:xfrm>
            <a:off x="685800" y="2542032"/>
            <a:ext cx="2331720" cy="123444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Biến 3 câu trả lời cộc lốc (fanpage, chat, email) thành câu lịch sự, đồng cảm, đúng chính sách.</a:t>
            </a:r>
            <a:endParaRPr lang="en-US" sz="1350" dirty="0"/>
          </a:p>
        </p:txBody>
      </p:sp>
      <p:sp>
        <p:nvSpPr>
          <p:cNvPr id="9" name="Text 6"/>
          <p:cNvSpPr txBox="1"/>
          <p:nvPr/>
        </p:nvSpPr>
        <p:spPr>
          <a:xfrm>
            <a:off x="685800" y="3749040"/>
            <a:ext cx="2286000" cy="256032"/>
          </a:xfrm>
          <a:prstGeom prst="rect">
            <a:avLst/>
          </a:prstGeom>
          <a:noFill/>
          <a:ln/>
        </p:spPr>
        <p:txBody>
          <a:bodyPr wrap="square" lIns="0" tIns="0" rIns="0" bIns="0" rtlCol="0" anchor="t"/>
          <a:lstStyle/>
          <a:p>
            <a:pPr indent="0" marL="0">
              <a:buNone/>
            </a:pPr>
            <a:r>
              <a:rPr lang="en-US" sz="1050" b="1" spc="200" kern="0" dirty="0">
                <a:solidFill>
                  <a:srgbClr val="F2994A"/>
                </a:solidFill>
                <a:latin typeface="Calibri" pitchFamily="34" charset="0"/>
                <a:ea typeface="Calibri" pitchFamily="34" charset="-122"/>
                <a:cs typeface="Calibri" pitchFamily="34" charset="-120"/>
              </a:rPr>
              <a:t>SẢN PHẨM</a:t>
            </a:r>
            <a:endParaRPr lang="en-US" sz="1050" dirty="0"/>
          </a:p>
        </p:txBody>
      </p:sp>
      <p:sp>
        <p:nvSpPr>
          <p:cNvPr id="10" name="Text 7"/>
          <p:cNvSpPr txBox="1"/>
          <p:nvPr/>
        </p:nvSpPr>
        <p:spPr>
          <a:xfrm>
            <a:off x="685800" y="4005072"/>
            <a:ext cx="2331720" cy="502920"/>
          </a:xfrm>
          <a:prstGeom prst="rect">
            <a:avLst/>
          </a:prstGeom>
          <a:noFill/>
          <a:ln/>
        </p:spPr>
        <p:txBody>
          <a:bodyPr wrap="square" lIns="0" tIns="0" rIns="0" bIns="0" rtlCol="0" anchor="t"/>
          <a:lstStyle/>
          <a:p>
            <a:pPr indent="0" marL="0">
              <a:buNone/>
            </a:pPr>
            <a:r>
              <a:rPr lang="en-US" sz="1150" b="1" dirty="0">
                <a:solidFill>
                  <a:srgbClr val="BFE3DD"/>
                </a:solidFill>
                <a:latin typeface="Calibri" pitchFamily="34" charset="0"/>
                <a:ea typeface="Calibri" pitchFamily="34" charset="-122"/>
                <a:cs typeface="Calibri" pitchFamily="34" charset="-120"/>
              </a:rPr>
              <a:t>Prompt 1</a:t>
            </a:r>
            <a:pPr indent="0" marL="0">
              <a:buNone/>
            </a:pPr>
            <a:r>
              <a:rPr lang="en-US" sz="1150" dirty="0">
                <a:solidFill>
                  <a:srgbClr val="BFE3DD"/>
                </a:solidFill>
                <a:latin typeface="Calibri" pitchFamily="34" charset="0"/>
                <a:ea typeface="Calibri" pitchFamily="34" charset="-122"/>
                <a:cs typeface="Calibri" pitchFamily="34" charset="-120"/>
              </a:rPr>
              <a:t> trong Thư viện prompt v1</a:t>
            </a:r>
            <a:endParaRPr lang="en-US" sz="1150" dirty="0"/>
          </a:p>
        </p:txBody>
      </p:sp>
      <p:sp>
        <p:nvSpPr>
          <p:cNvPr id="11" name="Shape 8"/>
          <p:cNvSpPr/>
          <p:nvPr/>
        </p:nvSpPr>
        <p:spPr>
          <a:xfrm>
            <a:off x="3520440" y="1464564"/>
            <a:ext cx="347472" cy="347472"/>
          </a:xfrm>
          <a:prstGeom prst="ellipse">
            <a:avLst/>
          </a:prstGeom>
          <a:solidFill>
            <a:srgbClr val="0E7C7B"/>
          </a:solidFill>
          <a:ln w="12700">
            <a:solidFill>
              <a:srgbClr val="0E7C7B"/>
            </a:solidFill>
            <a:prstDash val="solid"/>
          </a:ln>
        </p:spPr>
      </p:sp>
      <p:sp>
        <p:nvSpPr>
          <p:cNvPr id="12" name="Text 9"/>
          <p:cNvSpPr txBox="1"/>
          <p:nvPr/>
        </p:nvSpPr>
        <p:spPr>
          <a:xfrm>
            <a:off x="3520440" y="14645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0"/>
          <p:cNvSpPr txBox="1"/>
          <p:nvPr/>
        </p:nvSpPr>
        <p:spPr>
          <a:xfrm>
            <a:off x="4023360" y="1371600"/>
            <a:ext cx="4663440" cy="533400"/>
          </a:xfrm>
          <a:prstGeom prst="rect">
            <a:avLst/>
          </a:prstGeom>
          <a:noFill/>
          <a:ln/>
        </p:spPr>
        <p:txBody>
          <a:bodyPr wrap="square" lIns="0" tIns="0" rIns="0" bIns="0" rtlCol="0" anchor="ctr"/>
          <a:lstStyle/>
          <a:p>
            <a:pPr indent="0" marL="0">
              <a:buNone/>
            </a:pPr>
            <a:r>
              <a:rPr lang="en-US" sz="1400" dirty="0">
                <a:solidFill>
                  <a:srgbClr val="1F2A30"/>
                </a:solidFill>
                <a:latin typeface="Calibri" pitchFamily="34" charset="0"/>
                <a:ea typeface="Calibri" pitchFamily="34" charset="-122"/>
                <a:cs typeface="Calibri" pitchFamily="34" charset="-120"/>
              </a:rPr>
              <a:t>Mở trợ lý AI, tạo </a:t>
            </a:r>
            <a:pPr indent="0" marL="0">
              <a:buNone/>
            </a:pPr>
            <a:r>
              <a:rPr lang="en-US" sz="1400" b="1" dirty="0">
                <a:solidFill>
                  <a:srgbClr val="1F2A30"/>
                </a:solidFill>
                <a:latin typeface="Calibri" pitchFamily="34" charset="0"/>
                <a:ea typeface="Calibri" pitchFamily="34" charset="-122"/>
                <a:cs typeface="Calibri" pitchFamily="34" charset="-120"/>
              </a:rPr>
              <a:t>hội thoại mới</a:t>
            </a:r>
            <a:pPr indent="0" marL="0">
              <a:buNone/>
            </a:pPr>
            <a:r>
              <a:rPr lang="en-US" sz="1400" dirty="0">
                <a:solidFill>
                  <a:srgbClr val="1F2A30"/>
                </a:solidFill>
                <a:latin typeface="Calibri" pitchFamily="34" charset="0"/>
                <a:ea typeface="Calibri" pitchFamily="34" charset="-122"/>
                <a:cs typeface="Calibri" pitchFamily="34" charset="-120"/>
              </a:rPr>
              <a:t>.</a:t>
            </a:r>
            <a:endParaRPr lang="en-US" sz="1400" dirty="0"/>
          </a:p>
        </p:txBody>
      </p:sp>
      <p:sp>
        <p:nvSpPr>
          <p:cNvPr id="14" name="Shape 11"/>
          <p:cNvSpPr/>
          <p:nvPr/>
        </p:nvSpPr>
        <p:spPr>
          <a:xfrm>
            <a:off x="3520440" y="1997964"/>
            <a:ext cx="347472" cy="347472"/>
          </a:xfrm>
          <a:prstGeom prst="ellipse">
            <a:avLst/>
          </a:prstGeom>
          <a:solidFill>
            <a:srgbClr val="0E7C7B"/>
          </a:solidFill>
          <a:ln w="12700">
            <a:solidFill>
              <a:srgbClr val="0E7C7B"/>
            </a:solidFill>
            <a:prstDash val="solid"/>
          </a:ln>
        </p:spPr>
      </p:sp>
      <p:sp>
        <p:nvSpPr>
          <p:cNvPr id="15" name="Text 12"/>
          <p:cNvSpPr txBox="1"/>
          <p:nvPr/>
        </p:nvSpPr>
        <p:spPr>
          <a:xfrm>
            <a:off x="3520440" y="19979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3"/>
          <p:cNvSpPr txBox="1"/>
          <p:nvPr/>
        </p:nvSpPr>
        <p:spPr>
          <a:xfrm>
            <a:off x="4023360" y="1905000"/>
            <a:ext cx="4663440" cy="533400"/>
          </a:xfrm>
          <a:prstGeom prst="rect">
            <a:avLst/>
          </a:prstGeom>
          <a:noFill/>
          <a:ln/>
        </p:spPr>
        <p:txBody>
          <a:bodyPr wrap="square" lIns="0" tIns="0" rIns="0" bIns="0" rtlCol="0" anchor="ctr"/>
          <a:lstStyle/>
          <a:p>
            <a:pPr indent="0" marL="0">
              <a:buNone/>
            </a:pPr>
            <a:r>
              <a:rPr lang="en-US" sz="1400" dirty="0">
                <a:solidFill>
                  <a:srgbClr val="1F2A30"/>
                </a:solidFill>
                <a:latin typeface="Calibri" pitchFamily="34" charset="0"/>
                <a:ea typeface="Calibri" pitchFamily="34" charset="-122"/>
                <a:cs typeface="Calibri" pitchFamily="34" charset="-120"/>
              </a:rPr>
              <a:t>Dán prompt V-B-N-Đ-G cho </a:t>
            </a:r>
            <a:pPr indent="0" marL="0">
              <a:buNone/>
            </a:pPr>
            <a:r>
              <a:rPr lang="en-US" sz="1400" b="1" dirty="0">
                <a:solidFill>
                  <a:srgbClr val="1F2A30"/>
                </a:solidFill>
                <a:latin typeface="Calibri" pitchFamily="34" charset="0"/>
                <a:ea typeface="Calibri" pitchFamily="34" charset="-122"/>
                <a:cs typeface="Calibri" pitchFamily="34" charset="-120"/>
              </a:rPr>
              <a:t>Tình huống 1</a:t>
            </a:r>
            <a:pPr indent="0" marL="0">
              <a:buNone/>
            </a:pPr>
            <a:r>
              <a:rPr lang="en-US" sz="1400" dirty="0">
                <a:solidFill>
                  <a:srgbClr val="1F2A30"/>
                </a:solidFill>
                <a:latin typeface="Calibri" pitchFamily="34" charset="0"/>
                <a:ea typeface="Calibri" pitchFamily="34" charset="-122"/>
                <a:cs typeface="Calibri" pitchFamily="34" charset="-120"/>
              </a:rPr>
              <a:t> (fanpage) từ ebook.</a:t>
            </a:r>
            <a:endParaRPr lang="en-US" sz="1400" dirty="0"/>
          </a:p>
        </p:txBody>
      </p:sp>
      <p:sp>
        <p:nvSpPr>
          <p:cNvPr id="17" name="Shape 14"/>
          <p:cNvSpPr/>
          <p:nvPr/>
        </p:nvSpPr>
        <p:spPr>
          <a:xfrm>
            <a:off x="3520440" y="2531364"/>
            <a:ext cx="347472" cy="347472"/>
          </a:xfrm>
          <a:prstGeom prst="ellipse">
            <a:avLst/>
          </a:prstGeom>
          <a:solidFill>
            <a:srgbClr val="0E7C7B"/>
          </a:solidFill>
          <a:ln w="12700">
            <a:solidFill>
              <a:srgbClr val="0E7C7B"/>
            </a:solidFill>
            <a:prstDash val="solid"/>
          </a:ln>
        </p:spPr>
      </p:sp>
      <p:sp>
        <p:nvSpPr>
          <p:cNvPr id="18" name="Text 15"/>
          <p:cNvSpPr txBox="1"/>
          <p:nvPr/>
        </p:nvSpPr>
        <p:spPr>
          <a:xfrm>
            <a:off x="3520440" y="25313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6"/>
          <p:cNvSpPr txBox="1"/>
          <p:nvPr/>
        </p:nvSpPr>
        <p:spPr>
          <a:xfrm>
            <a:off x="4023360" y="2438400"/>
            <a:ext cx="4663440" cy="533400"/>
          </a:xfrm>
          <a:prstGeom prst="rect">
            <a:avLst/>
          </a:prstGeom>
          <a:noFill/>
          <a:ln/>
        </p:spPr>
        <p:txBody>
          <a:bodyPr wrap="square" lIns="0" tIns="0" rIns="0" bIns="0" rtlCol="0" anchor="ctr"/>
          <a:lstStyle/>
          <a:p>
            <a:pPr indent="0" marL="0">
              <a:buNone/>
            </a:pPr>
            <a:r>
              <a:rPr lang="en-US" sz="1400" b="1" dirty="0">
                <a:solidFill>
                  <a:srgbClr val="1F2A30"/>
                </a:solidFill>
                <a:latin typeface="Calibri" pitchFamily="34" charset="0"/>
                <a:ea typeface="Calibri" pitchFamily="34" charset="-122"/>
                <a:cs typeface="Calibri" pitchFamily="34" charset="-120"/>
              </a:rPr>
              <a:t>Kiểm</a:t>
            </a:r>
            <a:pPr indent="0" marL="0">
              <a:buNone/>
            </a:pPr>
            <a:r>
              <a:rPr lang="en-US" sz="1400" dirty="0">
                <a:solidFill>
                  <a:srgbClr val="1F2A30"/>
                </a:solidFill>
                <a:latin typeface="Calibri" pitchFamily="34" charset="0"/>
                <a:ea typeface="Calibri" pitchFamily="34" charset="-122"/>
                <a:cs typeface="Calibri" pitchFamily="34" charset="-120"/>
              </a:rPr>
              <a:t> kết quả: đúng sự thật? có tự hứa? đủ ngắn? đúng giọng?</a:t>
            </a:r>
            <a:endParaRPr lang="en-US" sz="1400" dirty="0"/>
          </a:p>
        </p:txBody>
      </p:sp>
      <p:sp>
        <p:nvSpPr>
          <p:cNvPr id="20" name="Shape 17"/>
          <p:cNvSpPr/>
          <p:nvPr/>
        </p:nvSpPr>
        <p:spPr>
          <a:xfrm>
            <a:off x="3520440" y="3064764"/>
            <a:ext cx="347472" cy="347472"/>
          </a:xfrm>
          <a:prstGeom prst="ellipse">
            <a:avLst/>
          </a:prstGeom>
          <a:solidFill>
            <a:srgbClr val="0E7C7B"/>
          </a:solidFill>
          <a:ln w="12700">
            <a:solidFill>
              <a:srgbClr val="0E7C7B"/>
            </a:solidFill>
            <a:prstDash val="solid"/>
          </a:ln>
        </p:spPr>
      </p:sp>
      <p:sp>
        <p:nvSpPr>
          <p:cNvPr id="21" name="Text 18"/>
          <p:cNvSpPr txBox="1"/>
          <p:nvPr/>
        </p:nvSpPr>
        <p:spPr>
          <a:xfrm>
            <a:off x="3520440" y="30647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19"/>
          <p:cNvSpPr txBox="1"/>
          <p:nvPr/>
        </p:nvSpPr>
        <p:spPr>
          <a:xfrm>
            <a:off x="4023360" y="2971800"/>
            <a:ext cx="4663440" cy="533400"/>
          </a:xfrm>
          <a:prstGeom prst="rect">
            <a:avLst/>
          </a:prstGeom>
          <a:noFill/>
          <a:ln/>
        </p:spPr>
        <p:txBody>
          <a:bodyPr wrap="square" lIns="0" tIns="0" rIns="0" bIns="0" rtlCol="0" anchor="ctr"/>
          <a:lstStyle/>
          <a:p>
            <a:pPr indent="0" marL="0">
              <a:buNone/>
            </a:pPr>
            <a:r>
              <a:rPr lang="en-US" sz="1400" b="1" dirty="0">
                <a:solidFill>
                  <a:srgbClr val="1F2A30"/>
                </a:solidFill>
                <a:latin typeface="Calibri" pitchFamily="34" charset="0"/>
                <a:ea typeface="Calibri" pitchFamily="34" charset="-122"/>
                <a:cs typeface="Calibri" pitchFamily="34" charset="-120"/>
              </a:rPr>
              <a:t>Tinh chỉnh</a:t>
            </a:r>
            <a:pPr indent="0" marL="0">
              <a:buNone/>
            </a:pPr>
            <a:r>
              <a:rPr lang="en-US" sz="1400" dirty="0">
                <a:solidFill>
                  <a:srgbClr val="1F2A30"/>
                </a:solidFill>
                <a:latin typeface="Calibri" pitchFamily="34" charset="0"/>
                <a:ea typeface="Calibri" pitchFamily="34" charset="-122"/>
                <a:cs typeface="Calibri" pitchFamily="34" charset="-120"/>
              </a:rPr>
              <a:t> ít nhất 1 lượt ("ngắn hơn", "bớt sáo rỗng"...).</a:t>
            </a:r>
            <a:endParaRPr lang="en-US" sz="1400" dirty="0"/>
          </a:p>
        </p:txBody>
      </p:sp>
      <p:sp>
        <p:nvSpPr>
          <p:cNvPr id="23" name="Shape 20"/>
          <p:cNvSpPr/>
          <p:nvPr/>
        </p:nvSpPr>
        <p:spPr>
          <a:xfrm>
            <a:off x="3520440" y="3598164"/>
            <a:ext cx="347472" cy="347472"/>
          </a:xfrm>
          <a:prstGeom prst="ellipse">
            <a:avLst/>
          </a:prstGeom>
          <a:solidFill>
            <a:srgbClr val="0E7C7B"/>
          </a:solidFill>
          <a:ln w="12700">
            <a:solidFill>
              <a:srgbClr val="0E7C7B"/>
            </a:solidFill>
            <a:prstDash val="solid"/>
          </a:ln>
        </p:spPr>
      </p:sp>
      <p:sp>
        <p:nvSpPr>
          <p:cNvPr id="24" name="Text 21"/>
          <p:cNvSpPr txBox="1"/>
          <p:nvPr/>
        </p:nvSpPr>
        <p:spPr>
          <a:xfrm>
            <a:off x="3520440" y="35981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txBox="1"/>
          <p:nvPr/>
        </p:nvSpPr>
        <p:spPr>
          <a:xfrm>
            <a:off x="4023360" y="3505200"/>
            <a:ext cx="4663440" cy="533400"/>
          </a:xfrm>
          <a:prstGeom prst="rect">
            <a:avLst/>
          </a:prstGeom>
          <a:noFill/>
          <a:ln/>
        </p:spPr>
        <p:txBody>
          <a:bodyPr wrap="square" lIns="0" tIns="0" rIns="0" bIns="0" rtlCol="0" anchor="ctr"/>
          <a:lstStyle/>
          <a:p>
            <a:pPr indent="0" marL="0">
              <a:buNone/>
            </a:pPr>
            <a:r>
              <a:rPr lang="en-US" sz="1400" dirty="0">
                <a:solidFill>
                  <a:srgbClr val="1F2A30"/>
                </a:solidFill>
                <a:latin typeface="Calibri" pitchFamily="34" charset="0"/>
                <a:ea typeface="Calibri" pitchFamily="34" charset="-122"/>
                <a:cs typeface="Calibri" pitchFamily="34" charset="-120"/>
              </a:rPr>
              <a:t>Làm tiếp Tình huống 2 (chat) và 3 (email, có chữ ký [TÊN NV]).</a:t>
            </a:r>
            <a:endParaRPr lang="en-US" sz="1400" dirty="0"/>
          </a:p>
        </p:txBody>
      </p:sp>
      <p:sp>
        <p:nvSpPr>
          <p:cNvPr id="26" name="Shape 23"/>
          <p:cNvSpPr/>
          <p:nvPr/>
        </p:nvSpPr>
        <p:spPr>
          <a:xfrm>
            <a:off x="3520440" y="4131564"/>
            <a:ext cx="347472" cy="347472"/>
          </a:xfrm>
          <a:prstGeom prst="ellipse">
            <a:avLst/>
          </a:prstGeom>
          <a:solidFill>
            <a:srgbClr val="0E7C7B"/>
          </a:solidFill>
          <a:ln w="12700">
            <a:solidFill>
              <a:srgbClr val="0E7C7B"/>
            </a:solidFill>
            <a:prstDash val="solid"/>
          </a:ln>
        </p:spPr>
      </p:sp>
      <p:sp>
        <p:nvSpPr>
          <p:cNvPr id="27" name="Text 24"/>
          <p:cNvSpPr txBox="1"/>
          <p:nvPr/>
        </p:nvSpPr>
        <p:spPr>
          <a:xfrm>
            <a:off x="3520440" y="41315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8" name="Text 25"/>
          <p:cNvSpPr txBox="1"/>
          <p:nvPr/>
        </p:nvSpPr>
        <p:spPr>
          <a:xfrm>
            <a:off x="4023360" y="4038600"/>
            <a:ext cx="4663440" cy="533400"/>
          </a:xfrm>
          <a:prstGeom prst="rect">
            <a:avLst/>
          </a:prstGeom>
          <a:noFill/>
          <a:ln/>
        </p:spPr>
        <p:txBody>
          <a:bodyPr wrap="square" lIns="0" tIns="0" rIns="0" bIns="0" rtlCol="0" anchor="ctr"/>
          <a:lstStyle/>
          <a:p>
            <a:pPr indent="0" marL="0">
              <a:buNone/>
            </a:pPr>
            <a:r>
              <a:rPr lang="en-US" sz="1400" dirty="0">
                <a:solidFill>
                  <a:srgbClr val="1F2A30"/>
                </a:solidFill>
                <a:latin typeface="Calibri" pitchFamily="34" charset="0"/>
                <a:ea typeface="Calibri" pitchFamily="34" charset="-122"/>
                <a:cs typeface="Calibri" pitchFamily="34" charset="-120"/>
              </a:rPr>
              <a:t>Thay phần cụ thể bằng chỗ trống, lưu thành </a:t>
            </a:r>
            <a:pPr indent="0" marL="0">
              <a:buNone/>
            </a:pPr>
            <a:r>
              <a:rPr lang="en-US" sz="1400" b="1" dirty="0">
                <a:solidFill>
                  <a:srgbClr val="1F2A30"/>
                </a:solidFill>
                <a:latin typeface="Calibri" pitchFamily="34" charset="0"/>
                <a:ea typeface="Calibri" pitchFamily="34" charset="-122"/>
                <a:cs typeface="Calibri" pitchFamily="34" charset="-120"/>
              </a:rPr>
              <a:t>Prompt 1</a:t>
            </a:r>
            <a:pPr indent="0" marL="0">
              <a:buNone/>
            </a:pPr>
            <a:r>
              <a:rPr lang="en-US" sz="1400" dirty="0">
                <a:solidFill>
                  <a:srgbClr val="1F2A30"/>
                </a:solidFill>
                <a:latin typeface="Calibri" pitchFamily="34" charset="0"/>
                <a:ea typeface="Calibri" pitchFamily="34" charset="-122"/>
                <a:cs typeface="Calibri" pitchFamily="34" charset="-120"/>
              </a:rPr>
              <a:t>.</a:t>
            </a:r>
            <a:endParaRPr lang="en-US" sz="1400" dirty="0"/>
          </a:p>
        </p:txBody>
      </p:sp>
      <p:sp>
        <p:nvSpPr>
          <p:cNvPr id="29" name="Text 26"/>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1</a:t>
            </a:r>
            <a:endParaRPr lang="en-US" sz="900" dirty="0"/>
          </a:p>
        </p:txBody>
      </p:sp>
      <p:sp>
        <p:nvSpPr>
          <p:cNvPr id="30" name="Text 27"/>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8F3F1"/>
        </a:solidFill>
      </p:bgPr>
    </p:bg>
    <p:spTree>
      <p:nvGrpSpPr>
        <p:cNvPr id="1" name=""/>
        <p:cNvGrpSpPr/>
        <p:nvPr/>
      </p:nvGrpSpPr>
      <p:grpSpPr>
        <a:xfrm>
          <a:off x="0" y="0"/>
          <a:ext cx="0" cy="0"/>
          <a:chOff x="0" y="0"/>
          <a:chExt cx="0" cy="0"/>
        </a:xfrm>
      </p:grpSpPr>
      <p:sp>
        <p:nvSpPr>
          <p:cNvPr id="2" name="Shape 0"/>
          <p:cNvSpPr/>
          <p:nvPr/>
        </p:nvSpPr>
        <p:spPr>
          <a:xfrm>
            <a:off x="548640" y="1097280"/>
            <a:ext cx="822960" cy="822960"/>
          </a:xfrm>
          <a:prstGeom prst="ellipse">
            <a:avLst/>
          </a:prstGeom>
          <a:solidFill>
            <a:srgbClr val="F2994A"/>
          </a:solidFill>
          <a:ln w="12700">
            <a:solidFill>
              <a:srgbClr val="F2994A"/>
            </a:solidFill>
            <a:prstDash val="solid"/>
          </a:ln>
        </p:spPr>
      </p:sp>
      <p:pic>
        <p:nvPicPr>
          <p:cNvPr id="3" name="Image 0" descr="preencoded.png">    </p:cNvPr>
          <p:cNvPicPr>
            <a:picLocks noChangeAspect="1"/>
          </p:cNvPicPr>
          <p:nvPr/>
        </p:nvPicPr>
        <p:blipFill>
          <a:blip r:embed="rId1"/>
          <a:stretch>
            <a:fillRect/>
          </a:stretch>
        </p:blipFill>
        <p:spPr>
          <a:xfrm>
            <a:off x="762610" y="1311250"/>
            <a:ext cx="395021" cy="395021"/>
          </a:xfrm>
          <a:prstGeom prst="rect">
            <a:avLst/>
          </a:prstGeom>
        </p:spPr>
      </p:pic>
      <p:sp>
        <p:nvSpPr>
          <p:cNvPr id="4" name="Text 1"/>
          <p:cNvSpPr txBox="1"/>
          <p:nvPr/>
        </p:nvSpPr>
        <p:spPr>
          <a:xfrm>
            <a:off x="1600200" y="1143000"/>
            <a:ext cx="6858000" cy="274320"/>
          </a:xfrm>
          <a:prstGeom prst="rect">
            <a:avLst/>
          </a:prstGeom>
          <a:noFill/>
          <a:ln/>
        </p:spPr>
        <p:txBody>
          <a:bodyPr wrap="square" lIns="0" tIns="0" rIns="0" bIns="0" rtlCol="0" anchor="t"/>
          <a:lstStyle/>
          <a:p>
            <a:pPr indent="0" marL="0">
              <a:buNone/>
            </a:pPr>
            <a:r>
              <a:rPr lang="en-US" sz="1100" b="1" spc="200" kern="0" dirty="0">
                <a:solidFill>
                  <a:srgbClr val="0E7C7B"/>
                </a:solidFill>
                <a:latin typeface="Calibri" pitchFamily="34" charset="0"/>
                <a:ea typeface="Calibri" pitchFamily="34" charset="-122"/>
                <a:cs typeface="Calibri" pitchFamily="34" charset="-120"/>
              </a:rPr>
              <a:t>NGHỈ GIẢI LAO · 5 PHÚT</a:t>
            </a:r>
            <a:endParaRPr lang="en-US" sz="1100" dirty="0"/>
          </a:p>
        </p:txBody>
      </p:sp>
      <p:sp>
        <p:nvSpPr>
          <p:cNvPr id="5" name="Text 2"/>
          <p:cNvSpPr txBox="1"/>
          <p:nvPr/>
        </p:nvSpPr>
        <p:spPr>
          <a:xfrm>
            <a:off x="1600200" y="1463040"/>
            <a:ext cx="6949440" cy="1280160"/>
          </a:xfrm>
          <a:prstGeom prst="rect">
            <a:avLst/>
          </a:prstGeom>
          <a:noFill/>
          <a:ln/>
        </p:spPr>
        <p:txBody>
          <a:bodyPr wrap="square" lIns="0" tIns="0" rIns="0" bIns="0" rtlCol="0" anchor="t">
            <a:normAutofit/>
          </a:bodyPr>
          <a:lstStyle/>
          <a:p>
            <a:pPr indent="0" marL="0">
              <a:buNone/>
            </a:pPr>
            <a:r>
              <a:rPr lang="en-US" sz="2800" b="1" dirty="0">
                <a:solidFill>
                  <a:srgbClr val="0B3B45"/>
                </a:solidFill>
                <a:latin typeface="Cambria" pitchFamily="34" charset="0"/>
                <a:ea typeface="Cambria" pitchFamily="34" charset="-122"/>
                <a:cs typeface="Cambria" pitchFamily="34" charset="-120"/>
              </a:rPr>
              <a:t>Đứng dậy, uống nước, quay lại lúc 1:06</a:t>
            </a:r>
            <a:endParaRPr lang="en-US" sz="2800" dirty="0"/>
          </a:p>
        </p:txBody>
      </p:sp>
      <p:sp>
        <p:nvSpPr>
          <p:cNvPr id="6" name="Text 3"/>
          <p:cNvSpPr txBox="1"/>
          <p:nvPr/>
        </p:nvSpPr>
        <p:spPr>
          <a:xfrm>
            <a:off x="1600200" y="2606040"/>
            <a:ext cx="6858000" cy="1554480"/>
          </a:xfrm>
          <a:prstGeom prst="rect">
            <a:avLst/>
          </a:prstGeom>
          <a:noFill/>
          <a:ln/>
        </p:spPr>
        <p:txBody>
          <a:bodyPr wrap="square" lIns="0" tIns="0" rIns="0" bIns="0" rtlCol="0" anchor="t"/>
          <a:lstStyle/>
          <a:p>
            <a:pPr indent="0" marL="0">
              <a:buNone/>
            </a:pPr>
            <a:r>
              <a:rPr lang="en-US" sz="1600" dirty="0">
                <a:solidFill>
                  <a:srgbClr val="1F2A30"/>
                </a:solidFill>
                <a:latin typeface="Calibri" pitchFamily="34" charset="0"/>
                <a:ea typeface="Calibri" pitchFamily="34" charset="-122"/>
                <a:cs typeface="Calibri" pitchFamily="34" charset="-120"/>
              </a:rPr>
              <a:t>Sau giờ nghỉ: xử lý khách nóng giận với LEAST và HEARD.</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3B45"/>
        </a:solidFill>
      </p:bgPr>
    </p:bg>
    <p:spTree>
      <p:nvGrpSpPr>
        <p:cNvPr id="1" name=""/>
        <p:cNvGrpSpPr/>
        <p:nvPr/>
      </p:nvGrpSpPr>
      <p:grpSpPr>
        <a:xfrm>
          <a:off x="0" y="0"/>
          <a:ext cx="0" cy="0"/>
          <a:chOff x="0" y="0"/>
          <a:chExt cx="0" cy="0"/>
        </a:xfrm>
      </p:grpSpPr>
      <p:sp>
        <p:nvSpPr>
          <p:cNvPr id="2" name="Text 0"/>
          <p:cNvSpPr txBox="1"/>
          <p:nvPr/>
        </p:nvSpPr>
        <p:spPr>
          <a:xfrm>
            <a:off x="548640" y="1097280"/>
            <a:ext cx="2743200" cy="1005840"/>
          </a:xfrm>
          <a:prstGeom prst="rect">
            <a:avLst/>
          </a:prstGeom>
          <a:noFill/>
          <a:ln/>
        </p:spPr>
        <p:txBody>
          <a:bodyPr wrap="square" lIns="0" tIns="0" rIns="0" bIns="0" rtlCol="0" anchor="t"/>
          <a:lstStyle/>
          <a:p>
            <a:pPr indent="0" marL="0">
              <a:buNone/>
            </a:pPr>
            <a:r>
              <a:rPr lang="en-US" sz="6600" b="1" dirty="0">
                <a:solidFill>
                  <a:srgbClr val="F2994A"/>
                </a:solidFill>
                <a:latin typeface="Cambria" pitchFamily="34" charset="0"/>
                <a:ea typeface="Cambria" pitchFamily="34" charset="-122"/>
                <a:cs typeface="Cambria" pitchFamily="34" charset="-120"/>
              </a:rPr>
              <a:t>04</a:t>
            </a:r>
            <a:endParaRPr lang="en-US" sz="6600" dirty="0"/>
          </a:p>
        </p:txBody>
      </p:sp>
      <p:sp>
        <p:nvSpPr>
          <p:cNvPr id="3" name="Text 1"/>
          <p:cNvSpPr txBox="1"/>
          <p:nvPr/>
        </p:nvSpPr>
        <p:spPr>
          <a:xfrm>
            <a:off x="548640" y="2148840"/>
            <a:ext cx="7315200" cy="320040"/>
          </a:xfrm>
          <a:prstGeom prst="rect">
            <a:avLst/>
          </a:prstGeom>
          <a:noFill/>
          <a:ln/>
        </p:spPr>
        <p:txBody>
          <a:bodyPr wrap="square" lIns="0" tIns="0" rIns="0" bIns="0" rtlCol="0" anchor="t"/>
          <a:lstStyle/>
          <a:p>
            <a:pPr indent="0" marL="0">
              <a:buNone/>
            </a:pPr>
            <a:r>
              <a:rPr lang="en-US" sz="1200" b="1" spc="300" kern="0" dirty="0">
                <a:solidFill>
                  <a:srgbClr val="BFE3DD"/>
                </a:solidFill>
                <a:latin typeface="Calibri" pitchFamily="34" charset="0"/>
                <a:ea typeface="Calibri" pitchFamily="34" charset="-122"/>
                <a:cs typeface="Calibri" pitchFamily="34" charset="-120"/>
              </a:rPr>
              <a:t>PHẦN 1 · BÀI 2</a:t>
            </a:r>
            <a:endParaRPr lang="en-US" sz="1200" dirty="0"/>
          </a:p>
        </p:txBody>
      </p:sp>
      <p:sp>
        <p:nvSpPr>
          <p:cNvPr id="4" name="Text 2"/>
          <p:cNvSpPr txBox="1"/>
          <p:nvPr/>
        </p:nvSpPr>
        <p:spPr>
          <a:xfrm>
            <a:off x="548640" y="2468880"/>
            <a:ext cx="6583680" cy="68580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Xử lý khiếu nại cùng AI</a:t>
            </a:r>
            <a:endParaRPr lang="en-US" sz="3200" dirty="0"/>
          </a:p>
        </p:txBody>
      </p:sp>
      <p:sp>
        <p:nvSpPr>
          <p:cNvPr id="5" name="Text 3"/>
          <p:cNvSpPr txBox="1"/>
          <p:nvPr/>
        </p:nvSpPr>
        <p:spPr>
          <a:xfrm>
            <a:off x="548640" y="3291840"/>
            <a:ext cx="6400800" cy="731520"/>
          </a:xfrm>
          <a:prstGeom prst="rect">
            <a:avLst/>
          </a:prstGeom>
          <a:noFill/>
          <a:ln/>
        </p:spPr>
        <p:txBody>
          <a:bodyPr wrap="square" lIns="0" tIns="0" rIns="0" bIns="0" rtlCol="0" anchor="t"/>
          <a:lstStyle/>
          <a:p>
            <a:pPr indent="0" marL="0">
              <a:buNone/>
            </a:pPr>
            <a:r>
              <a:rPr lang="en-US" sz="1500" dirty="0">
                <a:solidFill>
                  <a:srgbClr val="BFE3DD"/>
                </a:solidFill>
                <a:latin typeface="Calibri" pitchFamily="34" charset="0"/>
                <a:ea typeface="Calibri" pitchFamily="34" charset="-122"/>
                <a:cs typeface="Calibri" pitchFamily="34" charset="-120"/>
              </a:rPr>
              <a:t>Đưa mô hình LEAST và HEARD vào prompt để AI soạn đúng trình tự đồng cảm trước, giải pháp sau.</a:t>
            </a:r>
            <a:endParaRPr lang="en-US" sz="1500" dirty="0"/>
          </a:p>
        </p:txBody>
      </p:sp>
      <p:sp>
        <p:nvSpPr>
          <p:cNvPr id="6" name="Shape 4"/>
          <p:cNvSpPr/>
          <p:nvPr/>
        </p:nvSpPr>
        <p:spPr>
          <a:xfrm>
            <a:off x="7315200" y="1234440"/>
            <a:ext cx="1188720" cy="1188720"/>
          </a:xfrm>
          <a:prstGeom prst="ellipse">
            <a:avLst/>
          </a:prstGeom>
          <a:solidFill>
            <a:srgbClr val="0E7C7B"/>
          </a:solidFill>
          <a:ln w="12700">
            <a:solidFill>
              <a:srgbClr val="0E7C7B"/>
            </a:solidFill>
            <a:prstDash val="solid"/>
          </a:ln>
        </p:spPr>
      </p:sp>
      <p:pic>
        <p:nvPicPr>
          <p:cNvPr id="7" name="Image 0" descr="preencoded.png">    </p:cNvPr>
          <p:cNvPicPr>
            <a:picLocks noChangeAspect="1"/>
          </p:cNvPicPr>
          <p:nvPr/>
        </p:nvPicPr>
        <p:blipFill>
          <a:blip r:embed="rId1"/>
          <a:stretch>
            <a:fillRect/>
          </a:stretch>
        </p:blipFill>
        <p:spPr>
          <a:xfrm>
            <a:off x="7624267" y="1543507"/>
            <a:ext cx="570586" cy="57058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MÔ HÌNH LEAST</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Lắng nghe, Đồng cảm, Xin lỗi, Giải quyết, Cảm ơn</a:t>
            </a:r>
            <a:endParaRPr lang="en-US" sz="25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554480"/>
                <a:gridCol w="2834640"/>
                <a:gridCol w="384048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Bước</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Việc cần làm</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Câu mẫu</a:t>
                      </a:r>
                      <a:endParaRPr lang="en-US" sz="1400" dirty="0">
                        <a:latin typeface="Calibri" charset="0"/>
                        <a:ea typeface="Calibri" charset="0"/>
                        <a:cs typeface="Calibri" charset="0"/>
                      </a:endParaRPr>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0E7C7B"/>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L</a:t>
                      </a:r>
                      <a:pPr indent="0" marL="0">
                        <a:buNone/>
                      </a:pPr>
                      <a:r>
                        <a:rPr lang="en-US" sz="1400" dirty="0">
                          <a:solidFill>
                            <a:srgbClr val="1F2A30"/>
                          </a:solidFill>
                          <a:latin typeface="Calibri" pitchFamily="34" charset="0"/>
                          <a:ea typeface="Calibri" pitchFamily="34" charset="-122"/>
                          <a:cs typeface="Calibri" pitchFamily="34" charset="-120"/>
                        </a:rPr>
                        <a:t> Listen</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Để khách nói hết, không ngắt lời</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"Dạ, anh/chị cứ chia sẻ, em đang nghe ạ."</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E</a:t>
                      </a:r>
                      <a:pPr indent="0" marL="0">
                        <a:buNone/>
                      </a:pPr>
                      <a:r>
                        <a:rPr lang="en-US" sz="1400" dirty="0">
                          <a:solidFill>
                            <a:srgbClr val="1F2A30"/>
                          </a:solidFill>
                          <a:latin typeface="Calibri" pitchFamily="34" charset="0"/>
                          <a:ea typeface="Calibri" pitchFamily="34" charset="-122"/>
                          <a:cs typeface="Calibri" pitchFamily="34" charset="-120"/>
                        </a:rPr>
                        <a:t> Empathize</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Thừa nhận cảm xúc của khách</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"Em hiểu chờ 3 ngày mà không có tin gì thật sự rất khó chịu."</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A</a:t>
                      </a:r>
                      <a:pPr indent="0" marL="0">
                        <a:buNone/>
                      </a:pPr>
                      <a:r>
                        <a:rPr lang="en-US" sz="1400" dirty="0">
                          <a:solidFill>
                            <a:srgbClr val="1F2A30"/>
                          </a:solidFill>
                          <a:latin typeface="Calibri" pitchFamily="34" charset="0"/>
                          <a:ea typeface="Calibri" pitchFamily="34" charset="-122"/>
                          <a:cs typeface="Calibri" pitchFamily="34" charset="-120"/>
                        </a:rPr>
                        <a:t> Apologize</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Xin lỗi chân thành về trải nghiệm</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"Em thành thật xin lỗi vì sự chậm trễ này."</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S</a:t>
                      </a:r>
                      <a:pPr indent="0" marL="0">
                        <a:buNone/>
                      </a:pPr>
                      <a:r>
                        <a:rPr lang="en-US" sz="1400" dirty="0">
                          <a:solidFill>
                            <a:srgbClr val="1F2A30"/>
                          </a:solidFill>
                          <a:latin typeface="Calibri" pitchFamily="34" charset="0"/>
                          <a:ea typeface="Calibri" pitchFamily="34" charset="-122"/>
                          <a:cs typeface="Calibri" pitchFamily="34" charset="-120"/>
                        </a:rPr>
                        <a:t> Solve</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Giải pháp cụ thể, có mốc thời gian</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"Đơn sẽ tới trước 17h ngày mai."</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FFFFFF"/>
                    </a:solidFill>
                  </a:tcPr>
                </a:tc>
              </a:tr>
              <a:tr h="457200">
                <a:tc>
                  <a:txBody>
                    <a:bodyPr/>
                    <a:lstStyle/>
                    <a:p>
                      <a:pPr indent="0" marL="0">
                        <a:buNone/>
                      </a:pPr>
                      <a:r>
                        <a:rPr lang="en-US" sz="1400" b="1" dirty="0">
                          <a:solidFill>
                            <a:srgbClr val="1F2A30"/>
                          </a:solidFill>
                          <a:latin typeface="Calibri" pitchFamily="34" charset="0"/>
                          <a:ea typeface="Calibri" pitchFamily="34" charset="-122"/>
                          <a:cs typeface="Calibri" pitchFamily="34" charset="-120"/>
                        </a:rPr>
                        <a:t>T</a:t>
                      </a:r>
                      <a:pPr indent="0" marL="0">
                        <a:buNone/>
                      </a:pPr>
                      <a:r>
                        <a:rPr lang="en-US" sz="1400" dirty="0">
                          <a:solidFill>
                            <a:srgbClr val="1F2A30"/>
                          </a:solidFill>
                          <a:latin typeface="Calibri" pitchFamily="34" charset="0"/>
                          <a:ea typeface="Calibri" pitchFamily="34" charset="-122"/>
                          <a:cs typeface="Calibri" pitchFamily="34" charset="-120"/>
                        </a:rPr>
                        <a:t> Thank</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Cảm ơn khách đã kiên nhẫn</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c>
                  <a:txBody>
                    <a:bodyPr/>
                    <a:lstStyle/>
                    <a:p>
                      <a:pPr indent="0" marL="0">
                        <a:buNone/>
                      </a:pPr>
                      <a:r>
                        <a:rPr lang="en-US" sz="1400" dirty="0">
                          <a:solidFill>
                            <a:srgbClr val="1F2A30"/>
                          </a:solidFill>
                          <a:latin typeface="Calibri" pitchFamily="34" charset="0"/>
                          <a:ea typeface="Calibri" pitchFamily="34" charset="-122"/>
                          <a:cs typeface="Calibri" pitchFamily="34" charset="-120"/>
                        </a:rPr>
                        <a:t>"Cảm ơn anh/chị đã báo cho em biết."</a:t>
                      </a:r>
                      <a:endParaRPr lang="en-US" sz="1400" dirty="0"/>
                    </a:p>
                  </a:txBody>
                  <a:tcPr marL="76200" marR="76200" marT="50800" marB="50800" anchor="ctr">
                    <a:lnL w="6350" cap="flat" cmpd="sng" algn="ctr">
                      <a:solidFill>
                        <a:srgbClr val="D3EAE6"/>
                      </a:solidFill>
                      <a:prstDash val="solid"/>
                      <a:round/>
                      <a:headEnd type="none" w="med" len="med"/>
                      <a:tailEnd type="none" w="med" len="med"/>
                    </a:lnL>
                    <a:lnR w="6350" cap="flat" cmpd="sng" algn="ctr">
                      <a:solidFill>
                        <a:srgbClr val="D3EAE6"/>
                      </a:solidFill>
                      <a:prstDash val="solid"/>
                      <a:round/>
                      <a:headEnd type="none" w="med" len="med"/>
                      <a:tailEnd type="none" w="med" len="med"/>
                    </a:lnR>
                    <a:lnT w="6350" cap="flat" cmpd="sng" algn="ctr">
                      <a:solidFill>
                        <a:srgbClr val="D3EAE6"/>
                      </a:solidFill>
                      <a:prstDash val="solid"/>
                      <a:round/>
                      <a:headEnd type="none" w="med" len="med"/>
                      <a:tailEnd type="none" w="med" len="med"/>
                    </a:lnT>
                    <a:lnB w="6350" cap="flat" cmpd="sng" algn="ctr">
                      <a:solidFill>
                        <a:srgbClr val="D3EAE6"/>
                      </a:solidFill>
                      <a:prstDash val="solid"/>
                      <a:round/>
                      <a:headEnd type="none" w="med" len="med"/>
                      <a:tailEnd type="none" w="med" len="med"/>
                    </a:lnB>
                    <a:solidFill>
                      <a:srgbClr val="E8F3F1"/>
                    </a:solidFill>
                  </a:tcPr>
                </a:tc>
              </a:tr>
            </a:tbl>
          </a:graphicData>
        </a:graphic>
      </p:graphicFrame>
      <p:sp>
        <p:nvSpPr>
          <p:cNvPr id="5" name="Text 2"/>
          <p:cNvSpPr txBox="1"/>
          <p:nvPr/>
        </p:nvSpPr>
        <p:spPr>
          <a:xfrm>
            <a:off x="457200" y="4315968"/>
            <a:ext cx="8229600" cy="365760"/>
          </a:xfrm>
          <a:prstGeom prst="rect">
            <a:avLst/>
          </a:prstGeom>
          <a:noFill/>
          <a:ln/>
        </p:spPr>
        <p:txBody>
          <a:bodyPr wrap="square" lIns="0" tIns="0" rIns="0" bIns="0" rtlCol="0" anchor="b"/>
          <a:lstStyle/>
          <a:p>
            <a:pPr indent="0" marL="0">
              <a:buNone/>
            </a:pPr>
            <a:r>
              <a:rPr lang="en-US" sz="1250" b="1" i="1" dirty="0">
                <a:solidFill>
                  <a:srgbClr val="5B6B73"/>
                </a:solidFill>
                <a:latin typeface="Calibri" pitchFamily="34" charset="0"/>
                <a:ea typeface="Calibri" pitchFamily="34" charset="-122"/>
                <a:cs typeface="Calibri" pitchFamily="34" charset="-120"/>
              </a:rPr>
              <a:t>HEARD</a:t>
            </a:r>
            <a:pPr indent="0" marL="0">
              <a:buNone/>
            </a:pPr>
            <a:r>
              <a:rPr lang="en-US" sz="1250" i="1" dirty="0">
                <a:solidFill>
                  <a:srgbClr val="5B6B73"/>
                </a:solidFill>
                <a:latin typeface="Calibri" pitchFamily="34" charset="0"/>
                <a:ea typeface="Calibri" pitchFamily="34" charset="-122"/>
                <a:cs typeface="Calibri" pitchFamily="34" charset="-120"/>
              </a:rPr>
              <a:t> = Hear, Empathize, Apologize, Resolve, </a:t>
            </a:r>
            <a:pPr indent="0" marL="0">
              <a:buNone/>
            </a:pPr>
            <a:r>
              <a:rPr lang="en-US" sz="1250" b="1" i="1" dirty="0">
                <a:solidFill>
                  <a:srgbClr val="5B6B73"/>
                </a:solidFill>
                <a:latin typeface="Calibri" pitchFamily="34" charset="0"/>
                <a:ea typeface="Calibri" pitchFamily="34" charset="-122"/>
                <a:cs typeface="Calibri" pitchFamily="34" charset="-120"/>
              </a:rPr>
              <a:t>Diagnose</a:t>
            </a:r>
            <a:pPr indent="0" marL="0">
              <a:buNone/>
            </a:pPr>
            <a:r>
              <a:rPr lang="en-US" sz="1250" i="1" dirty="0">
                <a:solidFill>
                  <a:srgbClr val="5B6B73"/>
                </a:solidFill>
                <a:latin typeface="Calibri" pitchFamily="34" charset="0"/>
                <a:ea typeface="Calibri" pitchFamily="34" charset="-122"/>
                <a:cs typeface="Calibri" pitchFamily="34" charset="-120"/>
              </a:rPr>
              <a:t>: thêm bước tìm nguyên nhân gốc và báo cáo nội bộ.</a:t>
            </a:r>
            <a:endParaRPr lang="en-US" sz="1250" dirty="0"/>
          </a:p>
        </p:txBody>
      </p:sp>
      <p:sp>
        <p:nvSpPr>
          <p:cNvPr id="6" name="Text 3"/>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1</a:t>
            </a:r>
            <a:endParaRPr lang="en-US" sz="900" dirty="0"/>
          </a:p>
        </p:txBody>
      </p:sp>
      <p:sp>
        <p:nvSpPr>
          <p:cNvPr id="7" name="Text 4"/>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SOÁT KỸ</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Những lỗi AI hay mắc khi viết lời xin lỗi</a:t>
            </a:r>
            <a:endParaRPr lang="en-US" sz="2500" dirty="0"/>
          </a:p>
        </p:txBody>
      </p:sp>
      <p:sp>
        <p:nvSpPr>
          <p:cNvPr id="4" name="Shape 2"/>
          <p:cNvSpPr/>
          <p:nvPr/>
        </p:nvSpPr>
        <p:spPr>
          <a:xfrm>
            <a:off x="457200" y="1371600"/>
            <a:ext cx="4000500" cy="1485900"/>
          </a:xfrm>
          <a:prstGeom prst="roundRect">
            <a:avLst>
              <a:gd name="adj" fmla="val 6154"/>
            </a:avLst>
          </a:prstGeom>
          <a:solidFill>
            <a:srgbClr val="FBEAE8"/>
          </a:solidFill>
          <a:ln w="12700">
            <a:solidFill>
              <a:srgbClr val="FBEAE8"/>
            </a:solidFill>
            <a:prstDash val="solid"/>
          </a:ln>
        </p:spPr>
      </p:sp>
      <p:sp>
        <p:nvSpPr>
          <p:cNvPr id="5" name="Shape 3"/>
          <p:cNvSpPr/>
          <p:nvPr/>
        </p:nvSpPr>
        <p:spPr>
          <a:xfrm>
            <a:off x="640080" y="1554480"/>
            <a:ext cx="457200" cy="457200"/>
          </a:xfrm>
          <a:prstGeom prst="ellipse">
            <a:avLst/>
          </a:prstGeom>
          <a:solidFill>
            <a:srgbClr val="C0392B"/>
          </a:solidFill>
          <a:ln w="12700">
            <a:solidFill>
              <a:srgbClr val="C0392B"/>
            </a:solidFill>
            <a:prstDash val="solid"/>
          </a:ln>
        </p:spPr>
      </p:sp>
      <p:pic>
        <p:nvPicPr>
          <p:cNvPr id="6" name="Image 0" descr="preencoded.png">    </p:cNvPr>
          <p:cNvPicPr>
            <a:picLocks noChangeAspect="1"/>
          </p:cNvPicPr>
          <p:nvPr/>
        </p:nvPicPr>
        <p:blipFill>
          <a:blip r:embed="rId1"/>
          <a:stretch>
            <a:fillRect/>
          </a:stretch>
        </p:blipFill>
        <p:spPr>
          <a:xfrm>
            <a:off x="758952" y="1673352"/>
            <a:ext cx="219456" cy="219456"/>
          </a:xfrm>
          <a:prstGeom prst="rect">
            <a:avLst/>
          </a:prstGeom>
        </p:spPr>
      </p:pic>
      <p:sp>
        <p:nvSpPr>
          <p:cNvPr id="7" name="Text 4"/>
          <p:cNvSpPr txBox="1"/>
          <p:nvPr/>
        </p:nvSpPr>
        <p:spPr>
          <a:xfrm>
            <a:off x="1234440" y="15270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Tự hứa bồi thường</a:t>
            </a:r>
            <a:endParaRPr lang="en-US" sz="1400" dirty="0"/>
          </a:p>
        </p:txBody>
      </p:sp>
      <p:sp>
        <p:nvSpPr>
          <p:cNvPr id="8" name="Text 5"/>
          <p:cNvSpPr txBox="1"/>
          <p:nvPr/>
        </p:nvSpPr>
        <p:spPr>
          <a:xfrm>
            <a:off x="1234440" y="19202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Thêm voucher, hoàn tiền, quà tặng </a:t>
            </a:r>
            <a:pPr indent="0" marL="0">
              <a:buNone/>
            </a:pPr>
            <a:r>
              <a:rPr lang="en-US" sz="1300" b="1" dirty="0">
                <a:solidFill>
                  <a:srgbClr val="1F2A30"/>
                </a:solidFill>
                <a:latin typeface="Calibri" pitchFamily="34" charset="0"/>
                <a:ea typeface="Calibri" pitchFamily="34" charset="-122"/>
                <a:cs typeface="Calibri" pitchFamily="34" charset="-120"/>
              </a:rPr>
              <a:t>không có trong chính sách</a:t>
            </a:r>
            <a:pPr indent="0" marL="0">
              <a:buNone/>
            </a:pPr>
            <a:r>
              <a:rPr lang="en-US" sz="1300" dirty="0">
                <a:solidFill>
                  <a:srgbClr val="1F2A30"/>
                </a:solidFill>
                <a:latin typeface="Calibri" pitchFamily="34" charset="0"/>
                <a:ea typeface="Calibri" pitchFamily="34" charset="-122"/>
                <a:cs typeface="Calibri" pitchFamily="34" charset="-120"/>
              </a:rPr>
              <a:t>.</a:t>
            </a:r>
            <a:endParaRPr lang="en-US" sz="1300" dirty="0"/>
          </a:p>
        </p:txBody>
      </p:sp>
      <p:sp>
        <p:nvSpPr>
          <p:cNvPr id="9" name="Shape 6"/>
          <p:cNvSpPr/>
          <p:nvPr/>
        </p:nvSpPr>
        <p:spPr>
          <a:xfrm>
            <a:off x="4686300" y="1371600"/>
            <a:ext cx="4000500" cy="1485900"/>
          </a:xfrm>
          <a:prstGeom prst="roundRect">
            <a:avLst>
              <a:gd name="adj" fmla="val 6154"/>
            </a:avLst>
          </a:prstGeom>
          <a:solidFill>
            <a:srgbClr val="FBEAE8"/>
          </a:solidFill>
          <a:ln w="12700">
            <a:solidFill>
              <a:srgbClr val="FBEAE8"/>
            </a:solidFill>
            <a:prstDash val="solid"/>
          </a:ln>
        </p:spPr>
      </p:sp>
      <p:sp>
        <p:nvSpPr>
          <p:cNvPr id="10" name="Shape 7"/>
          <p:cNvSpPr/>
          <p:nvPr/>
        </p:nvSpPr>
        <p:spPr>
          <a:xfrm>
            <a:off x="4869180" y="1554480"/>
            <a:ext cx="457200" cy="457200"/>
          </a:xfrm>
          <a:prstGeom prst="ellipse">
            <a:avLst/>
          </a:prstGeom>
          <a:solidFill>
            <a:srgbClr val="C0392B"/>
          </a:solidFill>
          <a:ln w="12700">
            <a:solidFill>
              <a:srgbClr val="C0392B"/>
            </a:solidFill>
            <a:prstDash val="solid"/>
          </a:ln>
        </p:spPr>
      </p:sp>
      <p:pic>
        <p:nvPicPr>
          <p:cNvPr id="11" name="Image 1" descr="preencoded.png">    </p:cNvPr>
          <p:cNvPicPr>
            <a:picLocks noChangeAspect="1"/>
          </p:cNvPicPr>
          <p:nvPr/>
        </p:nvPicPr>
        <p:blipFill>
          <a:blip r:embed="rId2"/>
          <a:stretch>
            <a:fillRect/>
          </a:stretch>
        </p:blipFill>
        <p:spPr>
          <a:xfrm>
            <a:off x="4988052" y="1673352"/>
            <a:ext cx="219456" cy="219456"/>
          </a:xfrm>
          <a:prstGeom prst="rect">
            <a:avLst/>
          </a:prstGeom>
        </p:spPr>
      </p:pic>
      <p:sp>
        <p:nvSpPr>
          <p:cNvPr id="12" name="Text 8"/>
          <p:cNvSpPr txBox="1"/>
          <p:nvPr/>
        </p:nvSpPr>
        <p:spPr>
          <a:xfrm>
            <a:off x="5463540" y="15270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Quá dài, sáo rỗng</a:t>
            </a:r>
            <a:endParaRPr lang="en-US" sz="1400" dirty="0"/>
          </a:p>
        </p:txBody>
      </p:sp>
      <p:sp>
        <p:nvSpPr>
          <p:cNvPr id="13" name="Text 9"/>
          <p:cNvSpPr txBox="1"/>
          <p:nvPr/>
        </p:nvSpPr>
        <p:spPr>
          <a:xfrm>
            <a:off x="5463540" y="19202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"Vô cùng lấy làm tiếc", "Quý khách kính mến"... lặp nhiều lần.</a:t>
            </a:r>
            <a:endParaRPr lang="en-US" sz="1300" dirty="0"/>
          </a:p>
        </p:txBody>
      </p:sp>
      <p:sp>
        <p:nvSpPr>
          <p:cNvPr id="14" name="Shape 10"/>
          <p:cNvSpPr/>
          <p:nvPr/>
        </p:nvSpPr>
        <p:spPr>
          <a:xfrm>
            <a:off x="457200" y="3086100"/>
            <a:ext cx="4000500" cy="1485900"/>
          </a:xfrm>
          <a:prstGeom prst="roundRect">
            <a:avLst>
              <a:gd name="adj" fmla="val 6154"/>
            </a:avLst>
          </a:prstGeom>
          <a:solidFill>
            <a:srgbClr val="FBEAE8"/>
          </a:solidFill>
          <a:ln w="12700">
            <a:solidFill>
              <a:srgbClr val="FBEAE8"/>
            </a:solidFill>
            <a:prstDash val="solid"/>
          </a:ln>
        </p:spPr>
      </p:sp>
      <p:sp>
        <p:nvSpPr>
          <p:cNvPr id="15" name="Shape 11"/>
          <p:cNvSpPr/>
          <p:nvPr/>
        </p:nvSpPr>
        <p:spPr>
          <a:xfrm>
            <a:off x="640080" y="3268980"/>
            <a:ext cx="457200" cy="457200"/>
          </a:xfrm>
          <a:prstGeom prst="ellipse">
            <a:avLst/>
          </a:prstGeom>
          <a:solidFill>
            <a:srgbClr val="C0392B"/>
          </a:solidFill>
          <a:ln w="12700">
            <a:solidFill>
              <a:srgbClr val="C0392B"/>
            </a:solidFill>
            <a:prstDash val="solid"/>
          </a:ln>
        </p:spPr>
      </p:sp>
      <p:pic>
        <p:nvPicPr>
          <p:cNvPr id="16" name="Image 2" descr="preencoded.png">    </p:cNvPr>
          <p:cNvPicPr>
            <a:picLocks noChangeAspect="1"/>
          </p:cNvPicPr>
          <p:nvPr/>
        </p:nvPicPr>
        <p:blipFill>
          <a:blip r:embed="rId3"/>
          <a:stretch>
            <a:fillRect/>
          </a:stretch>
        </p:blipFill>
        <p:spPr>
          <a:xfrm>
            <a:off x="758952" y="3387852"/>
            <a:ext cx="219456" cy="219456"/>
          </a:xfrm>
          <a:prstGeom prst="rect">
            <a:avLst/>
          </a:prstGeom>
        </p:spPr>
      </p:pic>
      <p:sp>
        <p:nvSpPr>
          <p:cNvPr id="17" name="Text 12"/>
          <p:cNvSpPr txBox="1"/>
          <p:nvPr/>
        </p:nvSpPr>
        <p:spPr>
          <a:xfrm>
            <a:off x="1234440" y="32415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Đổ lỗi bên thứ ba</a:t>
            </a:r>
            <a:endParaRPr lang="en-US" sz="1400" dirty="0"/>
          </a:p>
        </p:txBody>
      </p:sp>
      <p:sp>
        <p:nvSpPr>
          <p:cNvPr id="18" name="Text 13"/>
          <p:cNvSpPr txBox="1"/>
          <p:nvPr/>
        </p:nvSpPr>
        <p:spPr>
          <a:xfrm>
            <a:off x="1234440" y="36347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Đẩy trách nhiệm cho đơn vị vận chuyển hoặc cho chính khách.</a:t>
            </a:r>
            <a:endParaRPr lang="en-US" sz="1300" dirty="0"/>
          </a:p>
        </p:txBody>
      </p:sp>
      <p:sp>
        <p:nvSpPr>
          <p:cNvPr id="19" name="Shape 14"/>
          <p:cNvSpPr/>
          <p:nvPr/>
        </p:nvSpPr>
        <p:spPr>
          <a:xfrm>
            <a:off x="4686300" y="3086100"/>
            <a:ext cx="4000500" cy="1485900"/>
          </a:xfrm>
          <a:prstGeom prst="roundRect">
            <a:avLst>
              <a:gd name="adj" fmla="val 6154"/>
            </a:avLst>
          </a:prstGeom>
          <a:solidFill>
            <a:srgbClr val="FBEAE8"/>
          </a:solidFill>
          <a:ln w="12700">
            <a:solidFill>
              <a:srgbClr val="FBEAE8"/>
            </a:solidFill>
            <a:prstDash val="solid"/>
          </a:ln>
        </p:spPr>
      </p:sp>
      <p:sp>
        <p:nvSpPr>
          <p:cNvPr id="20" name="Shape 15"/>
          <p:cNvSpPr/>
          <p:nvPr/>
        </p:nvSpPr>
        <p:spPr>
          <a:xfrm>
            <a:off x="4869180" y="3268980"/>
            <a:ext cx="457200" cy="457200"/>
          </a:xfrm>
          <a:prstGeom prst="ellipse">
            <a:avLst/>
          </a:prstGeom>
          <a:solidFill>
            <a:srgbClr val="C0392B"/>
          </a:solidFill>
          <a:ln w="12700">
            <a:solidFill>
              <a:srgbClr val="C0392B"/>
            </a:solidFill>
            <a:prstDash val="solid"/>
          </a:ln>
        </p:spPr>
      </p:sp>
      <p:pic>
        <p:nvPicPr>
          <p:cNvPr id="21" name="Image 3" descr="preencoded.png">    </p:cNvPr>
          <p:cNvPicPr>
            <a:picLocks noChangeAspect="1"/>
          </p:cNvPicPr>
          <p:nvPr/>
        </p:nvPicPr>
        <p:blipFill>
          <a:blip r:embed="rId4"/>
          <a:stretch>
            <a:fillRect/>
          </a:stretch>
        </p:blipFill>
        <p:spPr>
          <a:xfrm>
            <a:off x="4988052" y="3387852"/>
            <a:ext cx="219456" cy="219456"/>
          </a:xfrm>
          <a:prstGeom prst="rect">
            <a:avLst/>
          </a:prstGeom>
        </p:spPr>
      </p:pic>
      <p:sp>
        <p:nvSpPr>
          <p:cNvPr id="22" name="Text 16"/>
          <p:cNvSpPr txBox="1"/>
          <p:nvPr/>
        </p:nvSpPr>
        <p:spPr>
          <a:xfrm>
            <a:off x="5463540" y="3241548"/>
            <a:ext cx="3040380" cy="365760"/>
          </a:xfrm>
          <a:prstGeom prst="rect">
            <a:avLst/>
          </a:prstGeom>
          <a:noFill/>
          <a:ln/>
        </p:spPr>
        <p:txBody>
          <a:bodyPr wrap="square" lIns="0" tIns="0" rIns="0" bIns="0" rtlCol="0" anchor="ctr"/>
          <a:lstStyle/>
          <a:p>
            <a:pPr indent="0" marL="0">
              <a:buNone/>
            </a:pPr>
            <a:r>
              <a:rPr lang="en-US" sz="1400" b="1" dirty="0">
                <a:solidFill>
                  <a:srgbClr val="0B3B45"/>
                </a:solidFill>
                <a:latin typeface="Calibri" pitchFamily="34" charset="0"/>
                <a:ea typeface="Calibri" pitchFamily="34" charset="-122"/>
                <a:cs typeface="Calibri" pitchFamily="34" charset="-120"/>
              </a:rPr>
              <a:t>Hứa mốc thời gian mơ hồ</a:t>
            </a:r>
            <a:endParaRPr lang="en-US" sz="1400" dirty="0"/>
          </a:p>
        </p:txBody>
      </p:sp>
      <p:sp>
        <p:nvSpPr>
          <p:cNvPr id="23" name="Text 17"/>
          <p:cNvSpPr txBox="1"/>
          <p:nvPr/>
        </p:nvSpPr>
        <p:spPr>
          <a:xfrm>
            <a:off x="5463540" y="3634740"/>
            <a:ext cx="3040380" cy="80010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"Sớm nhất có thể" thay vì mốc cụ thể đã kiểm chứng.</a:t>
            </a:r>
            <a:endParaRPr lang="en-US" sz="1300" dirty="0"/>
          </a:p>
        </p:txBody>
      </p:sp>
      <p:sp>
        <p:nvSpPr>
          <p:cNvPr id="24" name="Text 18"/>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1</a:t>
            </a:r>
            <a:endParaRPr lang="en-US" sz="900" dirty="0"/>
          </a:p>
        </p:txBody>
      </p:sp>
      <p:sp>
        <p:nvSpPr>
          <p:cNvPr id="25" name="Text 19"/>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BÀI LAB · 20 PHÚT</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Lab 2 · Email xin lỗi &amp; kịch bản khách nóng giận</a:t>
            </a:r>
            <a:endParaRPr lang="en-US" sz="2500" dirty="0"/>
          </a:p>
        </p:txBody>
      </p:sp>
      <p:sp>
        <p:nvSpPr>
          <p:cNvPr id="4" name="Shape 2"/>
          <p:cNvSpPr/>
          <p:nvPr/>
        </p:nvSpPr>
        <p:spPr>
          <a:xfrm>
            <a:off x="457200" y="1371600"/>
            <a:ext cx="2743200" cy="3200400"/>
          </a:xfrm>
          <a:prstGeom prst="roundRect">
            <a:avLst>
              <a:gd name="adj" fmla="val 3333"/>
            </a:avLst>
          </a:prstGeom>
          <a:solidFill>
            <a:srgbClr val="0B3B45"/>
          </a:solidFill>
          <a:ln w="12700">
            <a:solidFill>
              <a:srgbClr val="0B3B45"/>
            </a:solidFill>
            <a:prstDash val="solid"/>
          </a:ln>
        </p:spPr>
      </p:sp>
      <p:sp>
        <p:nvSpPr>
          <p:cNvPr id="5" name="Shape 3"/>
          <p:cNvSpPr/>
          <p:nvPr/>
        </p:nvSpPr>
        <p:spPr>
          <a:xfrm>
            <a:off x="685800" y="1572768"/>
            <a:ext cx="530352" cy="530352"/>
          </a:xfrm>
          <a:prstGeom prst="ellipse">
            <a:avLst/>
          </a:prstGeom>
          <a:solidFill>
            <a:srgbClr val="F2994A"/>
          </a:solidFill>
          <a:ln w="12700">
            <a:solidFill>
              <a:srgbClr val="F2994A"/>
            </a:solidFill>
            <a:prstDash val="solid"/>
          </a:ln>
        </p:spPr>
      </p:sp>
      <p:pic>
        <p:nvPicPr>
          <p:cNvPr id="6" name="Image 0" descr="preencoded.png">    </p:cNvPr>
          <p:cNvPicPr>
            <a:picLocks noChangeAspect="1"/>
          </p:cNvPicPr>
          <p:nvPr/>
        </p:nvPicPr>
        <p:blipFill>
          <a:blip r:embed="rId1"/>
          <a:stretch>
            <a:fillRect/>
          </a:stretch>
        </p:blipFill>
        <p:spPr>
          <a:xfrm>
            <a:off x="823692" y="1710660"/>
            <a:ext cx="254569" cy="254569"/>
          </a:xfrm>
          <a:prstGeom prst="rect">
            <a:avLst/>
          </a:prstGeom>
        </p:spPr>
      </p:pic>
      <p:sp>
        <p:nvSpPr>
          <p:cNvPr id="7" name="Text 4"/>
          <p:cNvSpPr txBox="1"/>
          <p:nvPr/>
        </p:nvSpPr>
        <p:spPr>
          <a:xfrm>
            <a:off x="685800" y="2240280"/>
            <a:ext cx="2286000" cy="274320"/>
          </a:xfrm>
          <a:prstGeom prst="rect">
            <a:avLst/>
          </a:prstGeom>
          <a:noFill/>
          <a:ln/>
        </p:spPr>
        <p:txBody>
          <a:bodyPr wrap="square" lIns="0" tIns="0" rIns="0" bIns="0" rtlCol="0" anchor="t"/>
          <a:lstStyle/>
          <a:p>
            <a:pPr indent="0" marL="0">
              <a:buNone/>
            </a:pPr>
            <a:r>
              <a:rPr lang="en-US" sz="1050" b="1" spc="200" kern="0" dirty="0">
                <a:solidFill>
                  <a:srgbClr val="F2994A"/>
                </a:solidFill>
                <a:latin typeface="Calibri" pitchFamily="34" charset="0"/>
                <a:ea typeface="Calibri" pitchFamily="34" charset="-122"/>
                <a:cs typeface="Calibri" pitchFamily="34" charset="-120"/>
              </a:rPr>
              <a:t>MỤC TIÊU</a:t>
            </a:r>
            <a:endParaRPr lang="en-US" sz="1050" dirty="0"/>
          </a:p>
        </p:txBody>
      </p:sp>
      <p:sp>
        <p:nvSpPr>
          <p:cNvPr id="8" name="Text 5"/>
          <p:cNvSpPr txBox="1"/>
          <p:nvPr/>
        </p:nvSpPr>
        <p:spPr>
          <a:xfrm>
            <a:off x="685800" y="2542032"/>
            <a:ext cx="2331720" cy="1234440"/>
          </a:xfrm>
          <a:prstGeom prst="rect">
            <a:avLst/>
          </a:prstGeom>
          <a:noFill/>
          <a:ln/>
        </p:spPr>
        <p:txBody>
          <a:bodyPr wrap="square" lIns="0" tIns="0" rIns="0" bIns="0" rtlCol="0" anchor="t"/>
          <a:lstStyle/>
          <a:p>
            <a:pPr indent="0" marL="0">
              <a:buNone/>
            </a:pPr>
            <a:r>
              <a:rPr lang="en-US" sz="1350" dirty="0">
                <a:solidFill>
                  <a:srgbClr val="FFFFFF"/>
                </a:solidFill>
                <a:latin typeface="Calibri" pitchFamily="34" charset="0"/>
                <a:ea typeface="Calibri" pitchFamily="34" charset="-122"/>
                <a:cs typeface="Calibri" pitchFamily="34" charset="-120"/>
              </a:rPr>
              <a:t>Dùng LEAST/HEARD để soạn email xin lỗi giao trễ và kịch bản gọi lại khách đang bực, có nhánh rẽ.</a:t>
            </a:r>
            <a:endParaRPr lang="en-US" sz="1350" dirty="0"/>
          </a:p>
        </p:txBody>
      </p:sp>
      <p:sp>
        <p:nvSpPr>
          <p:cNvPr id="9" name="Text 6"/>
          <p:cNvSpPr txBox="1"/>
          <p:nvPr/>
        </p:nvSpPr>
        <p:spPr>
          <a:xfrm>
            <a:off x="685800" y="3749040"/>
            <a:ext cx="2286000" cy="256032"/>
          </a:xfrm>
          <a:prstGeom prst="rect">
            <a:avLst/>
          </a:prstGeom>
          <a:noFill/>
          <a:ln/>
        </p:spPr>
        <p:txBody>
          <a:bodyPr wrap="square" lIns="0" tIns="0" rIns="0" bIns="0" rtlCol="0" anchor="t"/>
          <a:lstStyle/>
          <a:p>
            <a:pPr indent="0" marL="0">
              <a:buNone/>
            </a:pPr>
            <a:r>
              <a:rPr lang="en-US" sz="1050" b="1" spc="200" kern="0" dirty="0">
                <a:solidFill>
                  <a:srgbClr val="F2994A"/>
                </a:solidFill>
                <a:latin typeface="Calibri" pitchFamily="34" charset="0"/>
                <a:ea typeface="Calibri" pitchFamily="34" charset="-122"/>
                <a:cs typeface="Calibri" pitchFamily="34" charset="-120"/>
              </a:rPr>
              <a:t>SẢN PHẨM</a:t>
            </a:r>
            <a:endParaRPr lang="en-US" sz="1050" dirty="0"/>
          </a:p>
        </p:txBody>
      </p:sp>
      <p:sp>
        <p:nvSpPr>
          <p:cNvPr id="10" name="Text 7"/>
          <p:cNvSpPr txBox="1"/>
          <p:nvPr/>
        </p:nvSpPr>
        <p:spPr>
          <a:xfrm>
            <a:off x="685800" y="4005072"/>
            <a:ext cx="2331720" cy="502920"/>
          </a:xfrm>
          <a:prstGeom prst="rect">
            <a:avLst/>
          </a:prstGeom>
          <a:noFill/>
          <a:ln/>
        </p:spPr>
        <p:txBody>
          <a:bodyPr wrap="square" lIns="0" tIns="0" rIns="0" bIns="0" rtlCol="0" anchor="t"/>
          <a:lstStyle/>
          <a:p>
            <a:pPr indent="0" marL="0">
              <a:buNone/>
            </a:pPr>
            <a:r>
              <a:rPr lang="en-US" sz="1150" b="1" dirty="0">
                <a:solidFill>
                  <a:srgbClr val="BFE3DD"/>
                </a:solidFill>
                <a:latin typeface="Calibri" pitchFamily="34" charset="0"/>
                <a:ea typeface="Calibri" pitchFamily="34" charset="-122"/>
                <a:cs typeface="Calibri" pitchFamily="34" charset="-120"/>
              </a:rPr>
              <a:t>Prompt 2</a:t>
            </a:r>
            <a:pPr indent="0" marL="0">
              <a:buNone/>
            </a:pPr>
            <a:r>
              <a:rPr lang="en-US" sz="1150" dirty="0">
                <a:solidFill>
                  <a:srgbClr val="BFE3DD"/>
                </a:solidFill>
                <a:latin typeface="Calibri" pitchFamily="34" charset="0"/>
                <a:ea typeface="Calibri" pitchFamily="34" charset="-122"/>
                <a:cs typeface="Calibri" pitchFamily="34" charset="-120"/>
              </a:rPr>
              <a:t> và </a:t>
            </a:r>
            <a:pPr indent="0" marL="0">
              <a:buNone/>
            </a:pPr>
            <a:r>
              <a:rPr lang="en-US" sz="1150" b="1" dirty="0">
                <a:solidFill>
                  <a:srgbClr val="BFE3DD"/>
                </a:solidFill>
                <a:latin typeface="Calibri" pitchFamily="34" charset="0"/>
                <a:ea typeface="Calibri" pitchFamily="34" charset="-122"/>
                <a:cs typeface="Calibri" pitchFamily="34" charset="-120"/>
              </a:rPr>
              <a:t>Prompt 3</a:t>
            </a:r>
            <a:pPr indent="0" marL="0">
              <a:buNone/>
            </a:pPr>
            <a:r>
              <a:rPr lang="en-US" sz="1150" dirty="0">
                <a:solidFill>
                  <a:srgbClr val="BFE3DD"/>
                </a:solidFill>
                <a:latin typeface="Calibri" pitchFamily="34" charset="0"/>
                <a:ea typeface="Calibri" pitchFamily="34" charset="-122"/>
                <a:cs typeface="Calibri" pitchFamily="34" charset="-120"/>
              </a:rPr>
              <a:t> trong Thư viện prompt v1</a:t>
            </a:r>
            <a:endParaRPr lang="en-US" sz="1150" dirty="0"/>
          </a:p>
        </p:txBody>
      </p:sp>
      <p:sp>
        <p:nvSpPr>
          <p:cNvPr id="11" name="Shape 8"/>
          <p:cNvSpPr/>
          <p:nvPr/>
        </p:nvSpPr>
        <p:spPr>
          <a:xfrm>
            <a:off x="3520440" y="1464564"/>
            <a:ext cx="347472" cy="347472"/>
          </a:xfrm>
          <a:prstGeom prst="ellipse">
            <a:avLst/>
          </a:prstGeom>
          <a:solidFill>
            <a:srgbClr val="0E7C7B"/>
          </a:solidFill>
          <a:ln w="12700">
            <a:solidFill>
              <a:srgbClr val="0E7C7B"/>
            </a:solidFill>
            <a:prstDash val="solid"/>
          </a:ln>
        </p:spPr>
      </p:sp>
      <p:sp>
        <p:nvSpPr>
          <p:cNvPr id="12" name="Text 9"/>
          <p:cNvSpPr txBox="1"/>
          <p:nvPr/>
        </p:nvSpPr>
        <p:spPr>
          <a:xfrm>
            <a:off x="3520440" y="14645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0"/>
          <p:cNvSpPr txBox="1"/>
          <p:nvPr/>
        </p:nvSpPr>
        <p:spPr>
          <a:xfrm>
            <a:off x="4023360" y="1371600"/>
            <a:ext cx="4663440" cy="533400"/>
          </a:xfrm>
          <a:prstGeom prst="rect">
            <a:avLst/>
          </a:prstGeom>
          <a:noFill/>
          <a:ln/>
        </p:spPr>
        <p:txBody>
          <a:bodyPr wrap="square" lIns="0" tIns="0" rIns="0" bIns="0" rtlCol="0" anchor="ctr"/>
          <a:lstStyle/>
          <a:p>
            <a:pPr indent="0" marL="0">
              <a:buNone/>
            </a:pPr>
            <a:r>
              <a:rPr lang="en-US" sz="1400" b="1" dirty="0">
                <a:solidFill>
                  <a:srgbClr val="1F2A30"/>
                </a:solidFill>
                <a:latin typeface="Calibri" pitchFamily="34" charset="0"/>
                <a:ea typeface="Calibri" pitchFamily="34" charset="-122"/>
                <a:cs typeface="Calibri" pitchFamily="34" charset="-120"/>
              </a:rPr>
              <a:t>Phần 1 (8′):</a:t>
            </a:r>
            <a:pPr indent="0" marL="0">
              <a:buNone/>
            </a:pPr>
            <a:r>
              <a:rPr lang="en-US" sz="1400" dirty="0">
                <a:solidFill>
                  <a:srgbClr val="1F2A30"/>
                </a:solidFill>
                <a:latin typeface="Calibri" pitchFamily="34" charset="0"/>
                <a:ea typeface="Calibri" pitchFamily="34" charset="-122"/>
                <a:cs typeface="Calibri" pitchFamily="34" charset="-120"/>
              </a:rPr>
              <a:t> dán prompt email xin lỗi theo LEAST với dữ liệu mẫu.</a:t>
            </a:r>
            <a:endParaRPr lang="en-US" sz="1400" dirty="0"/>
          </a:p>
        </p:txBody>
      </p:sp>
      <p:sp>
        <p:nvSpPr>
          <p:cNvPr id="14" name="Shape 11"/>
          <p:cNvSpPr/>
          <p:nvPr/>
        </p:nvSpPr>
        <p:spPr>
          <a:xfrm>
            <a:off x="3520440" y="1997964"/>
            <a:ext cx="347472" cy="347472"/>
          </a:xfrm>
          <a:prstGeom prst="ellipse">
            <a:avLst/>
          </a:prstGeom>
          <a:solidFill>
            <a:srgbClr val="0E7C7B"/>
          </a:solidFill>
          <a:ln w="12700">
            <a:solidFill>
              <a:srgbClr val="0E7C7B"/>
            </a:solidFill>
            <a:prstDash val="solid"/>
          </a:ln>
        </p:spPr>
      </p:sp>
      <p:sp>
        <p:nvSpPr>
          <p:cNvPr id="15" name="Text 12"/>
          <p:cNvSpPr txBox="1"/>
          <p:nvPr/>
        </p:nvSpPr>
        <p:spPr>
          <a:xfrm>
            <a:off x="3520440" y="19979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3"/>
          <p:cNvSpPr txBox="1"/>
          <p:nvPr/>
        </p:nvSpPr>
        <p:spPr>
          <a:xfrm>
            <a:off x="4023360" y="1905000"/>
            <a:ext cx="4663440" cy="533400"/>
          </a:xfrm>
          <a:prstGeom prst="rect">
            <a:avLst/>
          </a:prstGeom>
          <a:noFill/>
          <a:ln/>
        </p:spPr>
        <p:txBody>
          <a:bodyPr wrap="square" lIns="0" tIns="0" rIns="0" bIns="0" rtlCol="0" anchor="ctr"/>
          <a:lstStyle/>
          <a:p>
            <a:pPr indent="0" marL="0">
              <a:buNone/>
            </a:pPr>
            <a:r>
              <a:rPr lang="en-US" sz="1400" dirty="0">
                <a:solidFill>
                  <a:srgbClr val="1F2A30"/>
                </a:solidFill>
                <a:latin typeface="Calibri" pitchFamily="34" charset="0"/>
                <a:ea typeface="Calibri" pitchFamily="34" charset="-122"/>
                <a:cs typeface="Calibri" pitchFamily="34" charset="-120"/>
              </a:rPr>
              <a:t>Kiểm email theo checklist, tinh chỉnh 1 lượt, lưu </a:t>
            </a:r>
            <a:pPr indent="0" marL="0">
              <a:buNone/>
            </a:pPr>
            <a:r>
              <a:rPr lang="en-US" sz="1400" b="1" dirty="0">
                <a:solidFill>
                  <a:srgbClr val="1F2A30"/>
                </a:solidFill>
                <a:latin typeface="Calibri" pitchFamily="34" charset="0"/>
                <a:ea typeface="Calibri" pitchFamily="34" charset="-122"/>
                <a:cs typeface="Calibri" pitchFamily="34" charset="-120"/>
              </a:rPr>
              <a:t>Prompt 2</a:t>
            </a:r>
            <a:pPr indent="0" marL="0">
              <a:buNone/>
            </a:pPr>
            <a:r>
              <a:rPr lang="en-US" sz="1400" dirty="0">
                <a:solidFill>
                  <a:srgbClr val="1F2A30"/>
                </a:solidFill>
                <a:latin typeface="Calibri" pitchFamily="34" charset="0"/>
                <a:ea typeface="Calibri" pitchFamily="34" charset="-122"/>
                <a:cs typeface="Calibri" pitchFamily="34" charset="-120"/>
              </a:rPr>
              <a:t>.</a:t>
            </a:r>
            <a:endParaRPr lang="en-US" sz="1400" dirty="0"/>
          </a:p>
        </p:txBody>
      </p:sp>
      <p:sp>
        <p:nvSpPr>
          <p:cNvPr id="17" name="Shape 14"/>
          <p:cNvSpPr/>
          <p:nvPr/>
        </p:nvSpPr>
        <p:spPr>
          <a:xfrm>
            <a:off x="3520440" y="2531364"/>
            <a:ext cx="347472" cy="347472"/>
          </a:xfrm>
          <a:prstGeom prst="ellipse">
            <a:avLst/>
          </a:prstGeom>
          <a:solidFill>
            <a:srgbClr val="0E7C7B"/>
          </a:solidFill>
          <a:ln w="12700">
            <a:solidFill>
              <a:srgbClr val="0E7C7B"/>
            </a:solidFill>
            <a:prstDash val="solid"/>
          </a:ln>
        </p:spPr>
      </p:sp>
      <p:sp>
        <p:nvSpPr>
          <p:cNvPr id="18" name="Text 15"/>
          <p:cNvSpPr txBox="1"/>
          <p:nvPr/>
        </p:nvSpPr>
        <p:spPr>
          <a:xfrm>
            <a:off x="3520440" y="25313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6"/>
          <p:cNvSpPr txBox="1"/>
          <p:nvPr/>
        </p:nvSpPr>
        <p:spPr>
          <a:xfrm>
            <a:off x="4023360" y="2438400"/>
            <a:ext cx="4663440" cy="533400"/>
          </a:xfrm>
          <a:prstGeom prst="rect">
            <a:avLst/>
          </a:prstGeom>
          <a:noFill/>
          <a:ln/>
        </p:spPr>
        <p:txBody>
          <a:bodyPr wrap="square" lIns="0" tIns="0" rIns="0" bIns="0" rtlCol="0" anchor="ctr"/>
          <a:lstStyle/>
          <a:p>
            <a:pPr indent="0" marL="0">
              <a:buNone/>
            </a:pPr>
            <a:r>
              <a:rPr lang="en-US" sz="1400" b="1" dirty="0">
                <a:solidFill>
                  <a:srgbClr val="1F2A30"/>
                </a:solidFill>
                <a:latin typeface="Calibri" pitchFamily="34" charset="0"/>
                <a:ea typeface="Calibri" pitchFamily="34" charset="-122"/>
                <a:cs typeface="Calibri" pitchFamily="34" charset="-120"/>
              </a:rPr>
              <a:t>Phần 2 (12′):</a:t>
            </a:r>
            <a:pPr indent="0" marL="0">
              <a:buNone/>
            </a:pPr>
            <a:r>
              <a:rPr lang="en-US" sz="1400" dirty="0">
                <a:solidFill>
                  <a:srgbClr val="1F2A30"/>
                </a:solidFill>
                <a:latin typeface="Calibri" pitchFamily="34" charset="0"/>
                <a:ea typeface="Calibri" pitchFamily="34" charset="-122"/>
                <a:cs typeface="Calibri" pitchFamily="34" charset="-120"/>
              </a:rPr>
              <a:t> nhờ AI phân tích lỗi của nhân viên trong transcript mẫu.</a:t>
            </a:r>
            <a:endParaRPr lang="en-US" sz="1400" dirty="0"/>
          </a:p>
        </p:txBody>
      </p:sp>
      <p:sp>
        <p:nvSpPr>
          <p:cNvPr id="20" name="Shape 17"/>
          <p:cNvSpPr/>
          <p:nvPr/>
        </p:nvSpPr>
        <p:spPr>
          <a:xfrm>
            <a:off x="3520440" y="3064764"/>
            <a:ext cx="347472" cy="347472"/>
          </a:xfrm>
          <a:prstGeom prst="ellipse">
            <a:avLst/>
          </a:prstGeom>
          <a:solidFill>
            <a:srgbClr val="0E7C7B"/>
          </a:solidFill>
          <a:ln w="12700">
            <a:solidFill>
              <a:srgbClr val="0E7C7B"/>
            </a:solidFill>
            <a:prstDash val="solid"/>
          </a:ln>
        </p:spPr>
      </p:sp>
      <p:sp>
        <p:nvSpPr>
          <p:cNvPr id="21" name="Text 18"/>
          <p:cNvSpPr txBox="1"/>
          <p:nvPr/>
        </p:nvSpPr>
        <p:spPr>
          <a:xfrm>
            <a:off x="3520440" y="30647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19"/>
          <p:cNvSpPr txBox="1"/>
          <p:nvPr/>
        </p:nvSpPr>
        <p:spPr>
          <a:xfrm>
            <a:off x="4023360" y="2971800"/>
            <a:ext cx="4663440" cy="533400"/>
          </a:xfrm>
          <a:prstGeom prst="rect">
            <a:avLst/>
          </a:prstGeom>
          <a:noFill/>
          <a:ln/>
        </p:spPr>
        <p:txBody>
          <a:bodyPr wrap="square" lIns="0" tIns="0" rIns="0" bIns="0" rtlCol="0" anchor="ctr"/>
          <a:lstStyle/>
          <a:p>
            <a:pPr indent="0" marL="0">
              <a:buNone/>
            </a:pPr>
            <a:r>
              <a:rPr lang="en-US" sz="1400" dirty="0">
                <a:solidFill>
                  <a:srgbClr val="1F2A30"/>
                </a:solidFill>
                <a:latin typeface="Calibri" pitchFamily="34" charset="0"/>
                <a:ea typeface="Calibri" pitchFamily="34" charset="-122"/>
                <a:cs typeface="Calibri" pitchFamily="34" charset="-120"/>
              </a:rPr>
              <a:t>Nhờ AI viết kịch bản gọi lại theo LEAST hoặc HEARD, có nhánh rẽ.</a:t>
            </a:r>
            <a:endParaRPr lang="en-US" sz="1400" dirty="0"/>
          </a:p>
        </p:txBody>
      </p:sp>
      <p:sp>
        <p:nvSpPr>
          <p:cNvPr id="23" name="Shape 20"/>
          <p:cNvSpPr/>
          <p:nvPr/>
        </p:nvSpPr>
        <p:spPr>
          <a:xfrm>
            <a:off x="3520440" y="3598164"/>
            <a:ext cx="347472" cy="347472"/>
          </a:xfrm>
          <a:prstGeom prst="ellipse">
            <a:avLst/>
          </a:prstGeom>
          <a:solidFill>
            <a:srgbClr val="0E7C7B"/>
          </a:solidFill>
          <a:ln w="12700">
            <a:solidFill>
              <a:srgbClr val="0E7C7B"/>
            </a:solidFill>
            <a:prstDash val="solid"/>
          </a:ln>
        </p:spPr>
      </p:sp>
      <p:sp>
        <p:nvSpPr>
          <p:cNvPr id="24" name="Text 21"/>
          <p:cNvSpPr txBox="1"/>
          <p:nvPr/>
        </p:nvSpPr>
        <p:spPr>
          <a:xfrm>
            <a:off x="3520440" y="35981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txBox="1"/>
          <p:nvPr/>
        </p:nvSpPr>
        <p:spPr>
          <a:xfrm>
            <a:off x="4023360" y="3505200"/>
            <a:ext cx="4663440" cy="533400"/>
          </a:xfrm>
          <a:prstGeom prst="rect">
            <a:avLst/>
          </a:prstGeom>
          <a:noFill/>
          <a:ln/>
        </p:spPr>
        <p:txBody>
          <a:bodyPr wrap="square" lIns="0" tIns="0" rIns="0" bIns="0" rtlCol="0" anchor="ctr"/>
          <a:lstStyle/>
          <a:p>
            <a:pPr indent="0" marL="0">
              <a:buNone/>
            </a:pPr>
            <a:r>
              <a:rPr lang="en-US" sz="1400" b="1" dirty="0">
                <a:solidFill>
                  <a:srgbClr val="1F2A30"/>
                </a:solidFill>
                <a:latin typeface="Calibri" pitchFamily="34" charset="0"/>
                <a:ea typeface="Calibri" pitchFamily="34" charset="-122"/>
                <a:cs typeface="Calibri" pitchFamily="34" charset="-120"/>
              </a:rPr>
              <a:t>Đọc to</a:t>
            </a:r>
            <a:pPr indent="0" marL="0">
              <a:buNone/>
            </a:pPr>
            <a:r>
              <a:rPr lang="en-US" sz="1400" dirty="0">
                <a:solidFill>
                  <a:srgbClr val="1F2A30"/>
                </a:solidFill>
                <a:latin typeface="Calibri" pitchFamily="34" charset="0"/>
                <a:ea typeface="Calibri" pitchFamily="34" charset="-122"/>
                <a:cs typeface="Calibri" pitchFamily="34" charset="-120"/>
              </a:rPr>
              <a:t> kịch bản; câu nào nghe như robot thì yêu cầu viết lại.</a:t>
            </a:r>
            <a:endParaRPr lang="en-US" sz="1400" dirty="0"/>
          </a:p>
        </p:txBody>
      </p:sp>
      <p:sp>
        <p:nvSpPr>
          <p:cNvPr id="26" name="Shape 23"/>
          <p:cNvSpPr/>
          <p:nvPr/>
        </p:nvSpPr>
        <p:spPr>
          <a:xfrm>
            <a:off x="3520440" y="4131564"/>
            <a:ext cx="347472" cy="347472"/>
          </a:xfrm>
          <a:prstGeom prst="ellipse">
            <a:avLst/>
          </a:prstGeom>
          <a:solidFill>
            <a:srgbClr val="0E7C7B"/>
          </a:solidFill>
          <a:ln w="12700">
            <a:solidFill>
              <a:srgbClr val="0E7C7B"/>
            </a:solidFill>
            <a:prstDash val="solid"/>
          </a:ln>
        </p:spPr>
      </p:sp>
      <p:sp>
        <p:nvSpPr>
          <p:cNvPr id="27" name="Text 24"/>
          <p:cNvSpPr txBox="1"/>
          <p:nvPr/>
        </p:nvSpPr>
        <p:spPr>
          <a:xfrm>
            <a:off x="3520440" y="41315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8" name="Text 25"/>
          <p:cNvSpPr txBox="1"/>
          <p:nvPr/>
        </p:nvSpPr>
        <p:spPr>
          <a:xfrm>
            <a:off x="4023360" y="4038600"/>
            <a:ext cx="4663440" cy="533400"/>
          </a:xfrm>
          <a:prstGeom prst="rect">
            <a:avLst/>
          </a:prstGeom>
          <a:noFill/>
          <a:ln/>
        </p:spPr>
        <p:txBody>
          <a:bodyPr wrap="square" lIns="0" tIns="0" rIns="0" bIns="0" rtlCol="0" anchor="ctr"/>
          <a:lstStyle/>
          <a:p>
            <a:pPr indent="0" marL="0">
              <a:buNone/>
            </a:pPr>
            <a:r>
              <a:rPr lang="en-US" sz="1400" dirty="0">
                <a:solidFill>
                  <a:srgbClr val="1F2A30"/>
                </a:solidFill>
                <a:latin typeface="Calibri" pitchFamily="34" charset="0"/>
                <a:ea typeface="Calibri" pitchFamily="34" charset="-122"/>
                <a:cs typeface="Calibri" pitchFamily="34" charset="-120"/>
              </a:rPr>
              <a:t>Lưu </a:t>
            </a:r>
            <a:pPr indent="0" marL="0">
              <a:buNone/>
            </a:pPr>
            <a:r>
              <a:rPr lang="en-US" sz="1400" b="1" dirty="0">
                <a:solidFill>
                  <a:srgbClr val="1F2A30"/>
                </a:solidFill>
                <a:latin typeface="Calibri" pitchFamily="34" charset="0"/>
                <a:ea typeface="Calibri" pitchFamily="34" charset="-122"/>
                <a:cs typeface="Calibri" pitchFamily="34" charset="-120"/>
              </a:rPr>
              <a:t>Prompt 3: Kịch bản gọi lại khách nóng giận</a:t>
            </a:r>
            <a:pPr indent="0" marL="0">
              <a:buNone/>
            </a:pPr>
            <a:r>
              <a:rPr lang="en-US" sz="1400" dirty="0">
                <a:solidFill>
                  <a:srgbClr val="1F2A30"/>
                </a:solidFill>
                <a:latin typeface="Calibri" pitchFamily="34" charset="0"/>
                <a:ea typeface="Calibri" pitchFamily="34" charset="-122"/>
                <a:cs typeface="Calibri" pitchFamily="34" charset="-120"/>
              </a:rPr>
              <a:t>.</a:t>
            </a:r>
            <a:endParaRPr lang="en-US" sz="1400" dirty="0"/>
          </a:p>
        </p:txBody>
      </p:sp>
      <p:sp>
        <p:nvSpPr>
          <p:cNvPr id="29" name="Text 26"/>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1</a:t>
            </a:r>
            <a:endParaRPr lang="en-US" sz="900" dirty="0"/>
          </a:p>
        </p:txBody>
      </p:sp>
      <p:sp>
        <p:nvSpPr>
          <p:cNvPr id="30" name="Text 27"/>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KIỂM TRA NHANH #2 · CÂU 1</a:t>
            </a:r>
            <a:endParaRPr lang="en-US" sz="1050" dirty="0"/>
          </a:p>
        </p:txBody>
      </p:sp>
      <p:sp>
        <p:nvSpPr>
          <p:cNvPr id="3" name="Text 1"/>
          <p:cNvSpPr txBox="1"/>
          <p:nvPr/>
        </p:nvSpPr>
        <p:spPr>
          <a:xfrm>
            <a:off x="457200" y="594360"/>
            <a:ext cx="8229600" cy="1234440"/>
          </a:xfrm>
          <a:prstGeom prst="rect">
            <a:avLst/>
          </a:prstGeom>
          <a:noFill/>
          <a:ln/>
        </p:spPr>
        <p:txBody>
          <a:bodyPr wrap="square" lIns="0" tIns="0" rIns="0" bIns="0" rtlCol="0" anchor="ctr">
            <a:normAutofit/>
          </a:bodyPr>
          <a:lstStyle/>
          <a:p>
            <a:pPr indent="0" marL="0">
              <a:buNone/>
            </a:pPr>
            <a:r>
              <a:rPr lang="en-US" sz="2100" b="1" dirty="0">
                <a:solidFill>
                  <a:srgbClr val="0B3B45"/>
                </a:solidFill>
                <a:latin typeface="Cambria" pitchFamily="34" charset="0"/>
                <a:ea typeface="Cambria" pitchFamily="34" charset="-122"/>
                <a:cs typeface="Cambria" pitchFamily="34" charset="-120"/>
              </a:rPr>
              <a:t>Prompt: "Bạn là nhân viên CSKH của ShopNhanh. Viết tin nhắn trả lời khách hỏi đổi size, giọng thân thiện." Kết quả dài và tự hứa đổi miễn phí 30 ngày. Thiếu gì?</a:t>
            </a:r>
            <a:endParaRPr lang="en-US" sz="2100" dirty="0"/>
          </a:p>
        </p:txBody>
      </p:sp>
      <p:sp>
        <p:nvSpPr>
          <p:cNvPr id="4" name="Shape 2"/>
          <p:cNvSpPr/>
          <p:nvPr/>
        </p:nvSpPr>
        <p:spPr>
          <a:xfrm>
            <a:off x="457200" y="2011680"/>
            <a:ext cx="4023360" cy="1143000"/>
          </a:xfrm>
          <a:prstGeom prst="roundRect">
            <a:avLst>
              <a:gd name="adj" fmla="val 8000"/>
            </a:avLst>
          </a:prstGeom>
          <a:solidFill>
            <a:srgbClr val="E8F3F1"/>
          </a:solidFill>
          <a:ln w="12700">
            <a:solidFill>
              <a:srgbClr val="E8F3F1"/>
            </a:solidFill>
            <a:prstDash val="solid"/>
          </a:ln>
        </p:spPr>
      </p:sp>
      <p:sp>
        <p:nvSpPr>
          <p:cNvPr id="5" name="Shape 3"/>
          <p:cNvSpPr/>
          <p:nvPr/>
        </p:nvSpPr>
        <p:spPr>
          <a:xfrm>
            <a:off x="658368" y="2331720"/>
            <a:ext cx="502920" cy="502920"/>
          </a:xfrm>
          <a:prstGeom prst="ellipse">
            <a:avLst/>
          </a:prstGeom>
          <a:solidFill>
            <a:srgbClr val="0E7C7B"/>
          </a:solidFill>
          <a:ln w="12700">
            <a:solidFill>
              <a:srgbClr val="0E7C7B"/>
            </a:solidFill>
            <a:prstDash val="solid"/>
          </a:ln>
        </p:spPr>
      </p:sp>
      <p:sp>
        <p:nvSpPr>
          <p:cNvPr id="6" name="Text 4"/>
          <p:cNvSpPr txBox="1"/>
          <p:nvPr/>
        </p:nvSpPr>
        <p:spPr>
          <a:xfrm>
            <a:off x="65836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7" name="Text 5"/>
          <p:cNvSpPr txBox="1"/>
          <p:nvPr/>
        </p:nvSpPr>
        <p:spPr>
          <a:xfrm>
            <a:off x="132588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Vai trò và Giọng điệu</a:t>
            </a:r>
            <a:endParaRPr lang="en-US" sz="1450" dirty="0"/>
          </a:p>
        </p:txBody>
      </p:sp>
      <p:sp>
        <p:nvSpPr>
          <p:cNvPr id="8" name="Shape 6"/>
          <p:cNvSpPr/>
          <p:nvPr/>
        </p:nvSpPr>
        <p:spPr>
          <a:xfrm>
            <a:off x="4663440" y="2011680"/>
            <a:ext cx="4023360" cy="1143000"/>
          </a:xfrm>
          <a:prstGeom prst="roundRect">
            <a:avLst>
              <a:gd name="adj" fmla="val 8000"/>
            </a:avLst>
          </a:prstGeom>
          <a:solidFill>
            <a:srgbClr val="E8F3F1"/>
          </a:solidFill>
          <a:ln w="12700">
            <a:solidFill>
              <a:srgbClr val="E8F3F1"/>
            </a:solidFill>
            <a:prstDash val="solid"/>
          </a:ln>
        </p:spPr>
      </p:sp>
      <p:sp>
        <p:nvSpPr>
          <p:cNvPr id="9" name="Shape 7"/>
          <p:cNvSpPr/>
          <p:nvPr/>
        </p:nvSpPr>
        <p:spPr>
          <a:xfrm>
            <a:off x="4864608" y="2331720"/>
            <a:ext cx="502920" cy="502920"/>
          </a:xfrm>
          <a:prstGeom prst="ellipse">
            <a:avLst/>
          </a:prstGeom>
          <a:solidFill>
            <a:srgbClr val="0E7C7B"/>
          </a:solidFill>
          <a:ln w="12700">
            <a:solidFill>
              <a:srgbClr val="0E7C7B"/>
            </a:solidFill>
            <a:prstDash val="solid"/>
          </a:ln>
        </p:spPr>
      </p:sp>
      <p:sp>
        <p:nvSpPr>
          <p:cNvPr id="10" name="Text 8"/>
          <p:cNvSpPr txBox="1"/>
          <p:nvPr/>
        </p:nvSpPr>
        <p:spPr>
          <a:xfrm>
            <a:off x="486460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1" name="Text 9"/>
          <p:cNvSpPr txBox="1"/>
          <p:nvPr/>
        </p:nvSpPr>
        <p:spPr>
          <a:xfrm>
            <a:off x="553212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Bối cảnh và Định dạng</a:t>
            </a:r>
            <a:endParaRPr lang="en-US" sz="1450" dirty="0"/>
          </a:p>
        </p:txBody>
      </p:sp>
      <p:sp>
        <p:nvSpPr>
          <p:cNvPr id="12" name="Shape 10"/>
          <p:cNvSpPr/>
          <p:nvPr/>
        </p:nvSpPr>
        <p:spPr>
          <a:xfrm>
            <a:off x="457200" y="3337560"/>
            <a:ext cx="4023360" cy="1143000"/>
          </a:xfrm>
          <a:prstGeom prst="roundRect">
            <a:avLst>
              <a:gd name="adj" fmla="val 8000"/>
            </a:avLst>
          </a:prstGeom>
          <a:solidFill>
            <a:srgbClr val="E8F3F1"/>
          </a:solidFill>
          <a:ln w="12700">
            <a:solidFill>
              <a:srgbClr val="E8F3F1"/>
            </a:solidFill>
            <a:prstDash val="solid"/>
          </a:ln>
        </p:spPr>
      </p:sp>
      <p:sp>
        <p:nvSpPr>
          <p:cNvPr id="13" name="Shape 11"/>
          <p:cNvSpPr/>
          <p:nvPr/>
        </p:nvSpPr>
        <p:spPr>
          <a:xfrm>
            <a:off x="658368" y="3657600"/>
            <a:ext cx="502920" cy="502920"/>
          </a:xfrm>
          <a:prstGeom prst="ellipse">
            <a:avLst/>
          </a:prstGeom>
          <a:solidFill>
            <a:srgbClr val="0E7C7B"/>
          </a:solidFill>
          <a:ln w="12700">
            <a:solidFill>
              <a:srgbClr val="0E7C7B"/>
            </a:solidFill>
            <a:prstDash val="solid"/>
          </a:ln>
        </p:spPr>
      </p:sp>
      <p:sp>
        <p:nvSpPr>
          <p:cNvPr id="14" name="Text 12"/>
          <p:cNvSpPr txBox="1"/>
          <p:nvPr/>
        </p:nvSpPr>
        <p:spPr>
          <a:xfrm>
            <a:off x="65836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5" name="Text 13"/>
          <p:cNvSpPr txBox="1"/>
          <p:nvPr/>
        </p:nvSpPr>
        <p:spPr>
          <a:xfrm>
            <a:off x="132588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Nhiệm vụ và Vai trò</a:t>
            </a:r>
            <a:endParaRPr lang="en-US" sz="1450" dirty="0"/>
          </a:p>
        </p:txBody>
      </p:sp>
      <p:sp>
        <p:nvSpPr>
          <p:cNvPr id="16" name="Shape 14"/>
          <p:cNvSpPr/>
          <p:nvPr/>
        </p:nvSpPr>
        <p:spPr>
          <a:xfrm>
            <a:off x="4663440" y="3337560"/>
            <a:ext cx="4023360" cy="1143000"/>
          </a:xfrm>
          <a:prstGeom prst="roundRect">
            <a:avLst>
              <a:gd name="adj" fmla="val 8000"/>
            </a:avLst>
          </a:prstGeom>
          <a:solidFill>
            <a:srgbClr val="E8F3F1"/>
          </a:solidFill>
          <a:ln w="12700">
            <a:solidFill>
              <a:srgbClr val="E8F3F1"/>
            </a:solidFill>
            <a:prstDash val="solid"/>
          </a:ln>
        </p:spPr>
      </p:sp>
      <p:sp>
        <p:nvSpPr>
          <p:cNvPr id="17" name="Shape 15"/>
          <p:cNvSpPr/>
          <p:nvPr/>
        </p:nvSpPr>
        <p:spPr>
          <a:xfrm>
            <a:off x="4864608" y="3657600"/>
            <a:ext cx="502920" cy="502920"/>
          </a:xfrm>
          <a:prstGeom prst="ellipse">
            <a:avLst/>
          </a:prstGeom>
          <a:solidFill>
            <a:srgbClr val="0E7C7B"/>
          </a:solidFill>
          <a:ln w="12700">
            <a:solidFill>
              <a:srgbClr val="0E7C7B"/>
            </a:solidFill>
            <a:prstDash val="solid"/>
          </a:ln>
        </p:spPr>
      </p:sp>
      <p:sp>
        <p:nvSpPr>
          <p:cNvPr id="18" name="Text 16"/>
          <p:cNvSpPr txBox="1"/>
          <p:nvPr/>
        </p:nvSpPr>
        <p:spPr>
          <a:xfrm>
            <a:off x="486460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19" name="Text 17"/>
          <p:cNvSpPr txBox="1"/>
          <p:nvPr/>
        </p:nvSpPr>
        <p:spPr>
          <a:xfrm>
            <a:off x="553212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Giọng điệu và Nhiệm vụ</a:t>
            </a:r>
            <a:endParaRPr lang="en-US" sz="1450" dirty="0"/>
          </a:p>
        </p:txBody>
      </p:sp>
      <p:sp>
        <p:nvSpPr>
          <p:cNvPr id="20" name="Text 18"/>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1</a:t>
            </a:r>
            <a:endParaRPr lang="en-US" sz="900" dirty="0"/>
          </a:p>
        </p:txBody>
      </p:sp>
      <p:sp>
        <p:nvSpPr>
          <p:cNvPr id="21" name="Text 19"/>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KIỂM TRA NHANH #2 · CÂU 2</a:t>
            </a:r>
            <a:endParaRPr lang="en-US" sz="1050" dirty="0"/>
          </a:p>
        </p:txBody>
      </p:sp>
      <p:sp>
        <p:nvSpPr>
          <p:cNvPr id="3" name="Text 1"/>
          <p:cNvSpPr txBox="1"/>
          <p:nvPr/>
        </p:nvSpPr>
        <p:spPr>
          <a:xfrm>
            <a:off x="457200" y="594360"/>
            <a:ext cx="8229600" cy="1234440"/>
          </a:xfrm>
          <a:prstGeom prst="rect">
            <a:avLst/>
          </a:prstGeom>
          <a:noFill/>
          <a:ln/>
        </p:spPr>
        <p:txBody>
          <a:bodyPr wrap="square" lIns="0" tIns="0" rIns="0" bIns="0" rtlCol="0" anchor="ctr">
            <a:normAutofit/>
          </a:bodyPr>
          <a:lstStyle/>
          <a:p>
            <a:pPr indent="0" marL="0">
              <a:buNone/>
            </a:pPr>
            <a:r>
              <a:rPr lang="en-US" sz="2100" b="1" dirty="0">
                <a:solidFill>
                  <a:srgbClr val="0B3B45"/>
                </a:solidFill>
                <a:latin typeface="Cambria" pitchFamily="34" charset="0"/>
                <a:ea typeface="Cambria" pitchFamily="34" charset="-122"/>
                <a:cs typeface="Cambria" pitchFamily="34" charset="-120"/>
              </a:rPr>
              <a:t>Trong mô hình </a:t>
            </a:r>
            <a:pPr indent="0" marL="0">
              <a:buNone/>
            </a:pPr>
            <a:r>
              <a:rPr lang="en-US" sz="2100" b="1" dirty="0">
                <a:solidFill>
                  <a:srgbClr val="0B3B45"/>
                </a:solidFill>
                <a:latin typeface="Cambria" pitchFamily="34" charset="0"/>
                <a:ea typeface="Cambria" pitchFamily="34" charset="-122"/>
                <a:cs typeface="Cambria" pitchFamily="34" charset="-120"/>
              </a:rPr>
              <a:t>LEAST</a:t>
            </a:r>
            <a:pPr indent="0" marL="0">
              <a:buNone/>
            </a:pPr>
            <a:r>
              <a:rPr lang="en-US" sz="2100" b="1" dirty="0">
                <a:solidFill>
                  <a:srgbClr val="0B3B45"/>
                </a:solidFill>
                <a:latin typeface="Cambria" pitchFamily="34" charset="0"/>
                <a:ea typeface="Cambria" pitchFamily="34" charset="-122"/>
                <a:cs typeface="Cambria" pitchFamily="34" charset="-120"/>
              </a:rPr>
              <a:t>, bước nào nên diễn ra </a:t>
            </a:r>
            <a:pPr indent="0" marL="0">
              <a:buNone/>
            </a:pPr>
            <a:r>
              <a:rPr lang="en-US" sz="2100" b="1" dirty="0">
                <a:solidFill>
                  <a:srgbClr val="0B3B45"/>
                </a:solidFill>
                <a:latin typeface="Cambria" pitchFamily="34" charset="0"/>
                <a:ea typeface="Cambria" pitchFamily="34" charset="-122"/>
                <a:cs typeface="Cambria" pitchFamily="34" charset="-120"/>
              </a:rPr>
              <a:t>trước</a:t>
            </a:r>
            <a:pPr indent="0" marL="0">
              <a:buNone/>
            </a:pPr>
            <a:r>
              <a:rPr lang="en-US" sz="2100" b="1" dirty="0">
                <a:solidFill>
                  <a:srgbClr val="0B3B45"/>
                </a:solidFill>
                <a:latin typeface="Cambria" pitchFamily="34" charset="0"/>
                <a:ea typeface="Cambria" pitchFamily="34" charset="-122"/>
                <a:cs typeface="Cambria" pitchFamily="34" charset="-120"/>
              </a:rPr>
              <a:t> khi đưa giải pháp cho khách?</a:t>
            </a:r>
            <a:endParaRPr lang="en-US" sz="2100" dirty="0"/>
          </a:p>
        </p:txBody>
      </p:sp>
      <p:sp>
        <p:nvSpPr>
          <p:cNvPr id="4" name="Shape 2"/>
          <p:cNvSpPr/>
          <p:nvPr/>
        </p:nvSpPr>
        <p:spPr>
          <a:xfrm>
            <a:off x="457200" y="2011680"/>
            <a:ext cx="4023360" cy="1143000"/>
          </a:xfrm>
          <a:prstGeom prst="roundRect">
            <a:avLst>
              <a:gd name="adj" fmla="val 8000"/>
            </a:avLst>
          </a:prstGeom>
          <a:solidFill>
            <a:srgbClr val="E8F3F1"/>
          </a:solidFill>
          <a:ln w="12700">
            <a:solidFill>
              <a:srgbClr val="E8F3F1"/>
            </a:solidFill>
            <a:prstDash val="solid"/>
          </a:ln>
        </p:spPr>
      </p:sp>
      <p:sp>
        <p:nvSpPr>
          <p:cNvPr id="5" name="Shape 3"/>
          <p:cNvSpPr/>
          <p:nvPr/>
        </p:nvSpPr>
        <p:spPr>
          <a:xfrm>
            <a:off x="658368" y="2331720"/>
            <a:ext cx="502920" cy="502920"/>
          </a:xfrm>
          <a:prstGeom prst="ellipse">
            <a:avLst/>
          </a:prstGeom>
          <a:solidFill>
            <a:srgbClr val="0E7C7B"/>
          </a:solidFill>
          <a:ln w="12700">
            <a:solidFill>
              <a:srgbClr val="0E7C7B"/>
            </a:solidFill>
            <a:prstDash val="solid"/>
          </a:ln>
        </p:spPr>
      </p:sp>
      <p:sp>
        <p:nvSpPr>
          <p:cNvPr id="6" name="Text 4"/>
          <p:cNvSpPr txBox="1"/>
          <p:nvPr/>
        </p:nvSpPr>
        <p:spPr>
          <a:xfrm>
            <a:off x="65836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7" name="Text 5"/>
          <p:cNvSpPr txBox="1"/>
          <p:nvPr/>
        </p:nvSpPr>
        <p:spPr>
          <a:xfrm>
            <a:off x="132588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Thank</a:t>
            </a:r>
            <a:endParaRPr lang="en-US" sz="1450" dirty="0"/>
          </a:p>
        </p:txBody>
      </p:sp>
      <p:sp>
        <p:nvSpPr>
          <p:cNvPr id="8" name="Shape 6"/>
          <p:cNvSpPr/>
          <p:nvPr/>
        </p:nvSpPr>
        <p:spPr>
          <a:xfrm>
            <a:off x="4663440" y="2011680"/>
            <a:ext cx="4023360" cy="1143000"/>
          </a:xfrm>
          <a:prstGeom prst="roundRect">
            <a:avLst>
              <a:gd name="adj" fmla="val 8000"/>
            </a:avLst>
          </a:prstGeom>
          <a:solidFill>
            <a:srgbClr val="E8F3F1"/>
          </a:solidFill>
          <a:ln w="12700">
            <a:solidFill>
              <a:srgbClr val="E8F3F1"/>
            </a:solidFill>
            <a:prstDash val="solid"/>
          </a:ln>
        </p:spPr>
      </p:sp>
      <p:sp>
        <p:nvSpPr>
          <p:cNvPr id="9" name="Shape 7"/>
          <p:cNvSpPr/>
          <p:nvPr/>
        </p:nvSpPr>
        <p:spPr>
          <a:xfrm>
            <a:off x="4864608" y="2331720"/>
            <a:ext cx="502920" cy="502920"/>
          </a:xfrm>
          <a:prstGeom prst="ellipse">
            <a:avLst/>
          </a:prstGeom>
          <a:solidFill>
            <a:srgbClr val="0E7C7B"/>
          </a:solidFill>
          <a:ln w="12700">
            <a:solidFill>
              <a:srgbClr val="0E7C7B"/>
            </a:solidFill>
            <a:prstDash val="solid"/>
          </a:ln>
        </p:spPr>
      </p:sp>
      <p:sp>
        <p:nvSpPr>
          <p:cNvPr id="10" name="Text 8"/>
          <p:cNvSpPr txBox="1"/>
          <p:nvPr/>
        </p:nvSpPr>
        <p:spPr>
          <a:xfrm>
            <a:off x="486460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1" name="Text 9"/>
          <p:cNvSpPr txBox="1"/>
          <p:nvPr/>
        </p:nvSpPr>
        <p:spPr>
          <a:xfrm>
            <a:off x="553212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Diagnose</a:t>
            </a:r>
            <a:endParaRPr lang="en-US" sz="1450" dirty="0"/>
          </a:p>
        </p:txBody>
      </p:sp>
      <p:sp>
        <p:nvSpPr>
          <p:cNvPr id="12" name="Shape 10"/>
          <p:cNvSpPr/>
          <p:nvPr/>
        </p:nvSpPr>
        <p:spPr>
          <a:xfrm>
            <a:off x="457200" y="3337560"/>
            <a:ext cx="4023360" cy="1143000"/>
          </a:xfrm>
          <a:prstGeom prst="roundRect">
            <a:avLst>
              <a:gd name="adj" fmla="val 8000"/>
            </a:avLst>
          </a:prstGeom>
          <a:solidFill>
            <a:srgbClr val="E8F3F1"/>
          </a:solidFill>
          <a:ln w="12700">
            <a:solidFill>
              <a:srgbClr val="E8F3F1"/>
            </a:solidFill>
            <a:prstDash val="solid"/>
          </a:ln>
        </p:spPr>
      </p:sp>
      <p:sp>
        <p:nvSpPr>
          <p:cNvPr id="13" name="Shape 11"/>
          <p:cNvSpPr/>
          <p:nvPr/>
        </p:nvSpPr>
        <p:spPr>
          <a:xfrm>
            <a:off x="658368" y="3657600"/>
            <a:ext cx="502920" cy="502920"/>
          </a:xfrm>
          <a:prstGeom prst="ellipse">
            <a:avLst/>
          </a:prstGeom>
          <a:solidFill>
            <a:srgbClr val="0E7C7B"/>
          </a:solidFill>
          <a:ln w="12700">
            <a:solidFill>
              <a:srgbClr val="0E7C7B"/>
            </a:solidFill>
            <a:prstDash val="solid"/>
          </a:ln>
        </p:spPr>
      </p:sp>
      <p:sp>
        <p:nvSpPr>
          <p:cNvPr id="14" name="Text 12"/>
          <p:cNvSpPr txBox="1"/>
          <p:nvPr/>
        </p:nvSpPr>
        <p:spPr>
          <a:xfrm>
            <a:off x="65836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5" name="Text 13"/>
          <p:cNvSpPr txBox="1"/>
          <p:nvPr/>
        </p:nvSpPr>
        <p:spPr>
          <a:xfrm>
            <a:off x="132588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Empathize và Apologize</a:t>
            </a:r>
            <a:endParaRPr lang="en-US" sz="1450" dirty="0"/>
          </a:p>
        </p:txBody>
      </p:sp>
      <p:sp>
        <p:nvSpPr>
          <p:cNvPr id="16" name="Shape 14"/>
          <p:cNvSpPr/>
          <p:nvPr/>
        </p:nvSpPr>
        <p:spPr>
          <a:xfrm>
            <a:off x="4663440" y="3337560"/>
            <a:ext cx="4023360" cy="1143000"/>
          </a:xfrm>
          <a:prstGeom prst="roundRect">
            <a:avLst>
              <a:gd name="adj" fmla="val 8000"/>
            </a:avLst>
          </a:prstGeom>
          <a:solidFill>
            <a:srgbClr val="E8F3F1"/>
          </a:solidFill>
          <a:ln w="12700">
            <a:solidFill>
              <a:srgbClr val="E8F3F1"/>
            </a:solidFill>
            <a:prstDash val="solid"/>
          </a:ln>
        </p:spPr>
      </p:sp>
      <p:sp>
        <p:nvSpPr>
          <p:cNvPr id="17" name="Shape 15"/>
          <p:cNvSpPr/>
          <p:nvPr/>
        </p:nvSpPr>
        <p:spPr>
          <a:xfrm>
            <a:off x="4864608" y="3657600"/>
            <a:ext cx="502920" cy="502920"/>
          </a:xfrm>
          <a:prstGeom prst="ellipse">
            <a:avLst/>
          </a:prstGeom>
          <a:solidFill>
            <a:srgbClr val="0E7C7B"/>
          </a:solidFill>
          <a:ln w="12700">
            <a:solidFill>
              <a:srgbClr val="0E7C7B"/>
            </a:solidFill>
            <a:prstDash val="solid"/>
          </a:ln>
        </p:spPr>
      </p:sp>
      <p:sp>
        <p:nvSpPr>
          <p:cNvPr id="18" name="Text 16"/>
          <p:cNvSpPr txBox="1"/>
          <p:nvPr/>
        </p:nvSpPr>
        <p:spPr>
          <a:xfrm>
            <a:off x="486460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19" name="Text 17"/>
          <p:cNvSpPr txBox="1"/>
          <p:nvPr/>
        </p:nvSpPr>
        <p:spPr>
          <a:xfrm>
            <a:off x="553212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Không cần, đưa giải pháp càng sớm càng tốt</a:t>
            </a:r>
            <a:endParaRPr lang="en-US" sz="1450" dirty="0"/>
          </a:p>
        </p:txBody>
      </p:sp>
      <p:sp>
        <p:nvSpPr>
          <p:cNvPr id="20" name="Text 18"/>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1</a:t>
            </a:r>
            <a:endParaRPr lang="en-US" sz="900" dirty="0"/>
          </a:p>
        </p:txBody>
      </p:sp>
      <p:sp>
        <p:nvSpPr>
          <p:cNvPr id="21" name="Text 19"/>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KIỂM TRA NHANH #2 · CÂU 3</a:t>
            </a:r>
            <a:endParaRPr lang="en-US" sz="1050" dirty="0"/>
          </a:p>
        </p:txBody>
      </p:sp>
      <p:sp>
        <p:nvSpPr>
          <p:cNvPr id="3" name="Text 1"/>
          <p:cNvSpPr txBox="1"/>
          <p:nvPr/>
        </p:nvSpPr>
        <p:spPr>
          <a:xfrm>
            <a:off x="457200" y="594360"/>
            <a:ext cx="8229600" cy="1234440"/>
          </a:xfrm>
          <a:prstGeom prst="rect">
            <a:avLst/>
          </a:prstGeom>
          <a:noFill/>
          <a:ln/>
        </p:spPr>
        <p:txBody>
          <a:bodyPr wrap="square" lIns="0" tIns="0" rIns="0" bIns="0" rtlCol="0" anchor="ctr">
            <a:normAutofit/>
          </a:bodyPr>
          <a:lstStyle/>
          <a:p>
            <a:pPr indent="0" marL="0">
              <a:buNone/>
            </a:pPr>
            <a:r>
              <a:rPr lang="en-US" sz="2100" b="1" dirty="0">
                <a:solidFill>
                  <a:srgbClr val="0B3B45"/>
                </a:solidFill>
                <a:latin typeface="Cambria" pitchFamily="34" charset="0"/>
                <a:ea typeface="Cambria" pitchFamily="34" charset="-122"/>
                <a:cs typeface="Cambria" pitchFamily="34" charset="-120"/>
              </a:rPr>
              <a:t>Điểm khác biệt chính của </a:t>
            </a:r>
            <a:pPr indent="0" marL="0">
              <a:buNone/>
            </a:pPr>
            <a:r>
              <a:rPr lang="en-US" sz="2100" b="1" dirty="0">
                <a:solidFill>
                  <a:srgbClr val="0B3B45"/>
                </a:solidFill>
                <a:latin typeface="Cambria" pitchFamily="34" charset="0"/>
                <a:ea typeface="Cambria" pitchFamily="34" charset="-122"/>
                <a:cs typeface="Cambria" pitchFamily="34" charset="-120"/>
              </a:rPr>
              <a:t>HEARD</a:t>
            </a:r>
            <a:pPr indent="0" marL="0">
              <a:buNone/>
            </a:pPr>
            <a:r>
              <a:rPr lang="en-US" sz="2100" b="1" dirty="0">
                <a:solidFill>
                  <a:srgbClr val="0B3B45"/>
                </a:solidFill>
                <a:latin typeface="Cambria" pitchFamily="34" charset="0"/>
                <a:ea typeface="Cambria" pitchFamily="34" charset="-122"/>
                <a:cs typeface="Cambria" pitchFamily="34" charset="-120"/>
              </a:rPr>
              <a:t> so với LEAST là gì?</a:t>
            </a:r>
            <a:endParaRPr lang="en-US" sz="2100" dirty="0"/>
          </a:p>
        </p:txBody>
      </p:sp>
      <p:sp>
        <p:nvSpPr>
          <p:cNvPr id="4" name="Shape 2"/>
          <p:cNvSpPr/>
          <p:nvPr/>
        </p:nvSpPr>
        <p:spPr>
          <a:xfrm>
            <a:off x="457200" y="2011680"/>
            <a:ext cx="4023360" cy="1143000"/>
          </a:xfrm>
          <a:prstGeom prst="roundRect">
            <a:avLst>
              <a:gd name="adj" fmla="val 8000"/>
            </a:avLst>
          </a:prstGeom>
          <a:solidFill>
            <a:srgbClr val="E8F3F1"/>
          </a:solidFill>
          <a:ln w="12700">
            <a:solidFill>
              <a:srgbClr val="E8F3F1"/>
            </a:solidFill>
            <a:prstDash val="solid"/>
          </a:ln>
        </p:spPr>
      </p:sp>
      <p:sp>
        <p:nvSpPr>
          <p:cNvPr id="5" name="Shape 3"/>
          <p:cNvSpPr/>
          <p:nvPr/>
        </p:nvSpPr>
        <p:spPr>
          <a:xfrm>
            <a:off x="658368" y="2331720"/>
            <a:ext cx="502920" cy="502920"/>
          </a:xfrm>
          <a:prstGeom prst="ellipse">
            <a:avLst/>
          </a:prstGeom>
          <a:solidFill>
            <a:srgbClr val="0E7C7B"/>
          </a:solidFill>
          <a:ln w="12700">
            <a:solidFill>
              <a:srgbClr val="0E7C7B"/>
            </a:solidFill>
            <a:prstDash val="solid"/>
          </a:ln>
        </p:spPr>
      </p:sp>
      <p:sp>
        <p:nvSpPr>
          <p:cNvPr id="6" name="Text 4"/>
          <p:cNvSpPr txBox="1"/>
          <p:nvPr/>
        </p:nvSpPr>
        <p:spPr>
          <a:xfrm>
            <a:off x="65836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a:t>
            </a:r>
            <a:endParaRPr lang="en-US" sz="1600" dirty="0"/>
          </a:p>
        </p:txBody>
      </p:sp>
      <p:sp>
        <p:nvSpPr>
          <p:cNvPr id="7" name="Text 5"/>
          <p:cNvSpPr txBox="1"/>
          <p:nvPr/>
        </p:nvSpPr>
        <p:spPr>
          <a:xfrm>
            <a:off x="132588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HEARD không có bước xin lỗi</a:t>
            </a:r>
            <a:endParaRPr lang="en-US" sz="1450" dirty="0"/>
          </a:p>
        </p:txBody>
      </p:sp>
      <p:sp>
        <p:nvSpPr>
          <p:cNvPr id="8" name="Shape 6"/>
          <p:cNvSpPr/>
          <p:nvPr/>
        </p:nvSpPr>
        <p:spPr>
          <a:xfrm>
            <a:off x="4663440" y="2011680"/>
            <a:ext cx="4023360" cy="1143000"/>
          </a:xfrm>
          <a:prstGeom prst="roundRect">
            <a:avLst>
              <a:gd name="adj" fmla="val 8000"/>
            </a:avLst>
          </a:prstGeom>
          <a:solidFill>
            <a:srgbClr val="E8F3F1"/>
          </a:solidFill>
          <a:ln w="12700">
            <a:solidFill>
              <a:srgbClr val="E8F3F1"/>
            </a:solidFill>
            <a:prstDash val="solid"/>
          </a:ln>
        </p:spPr>
      </p:sp>
      <p:sp>
        <p:nvSpPr>
          <p:cNvPr id="9" name="Shape 7"/>
          <p:cNvSpPr/>
          <p:nvPr/>
        </p:nvSpPr>
        <p:spPr>
          <a:xfrm>
            <a:off x="4864608" y="2331720"/>
            <a:ext cx="502920" cy="502920"/>
          </a:xfrm>
          <a:prstGeom prst="ellipse">
            <a:avLst/>
          </a:prstGeom>
          <a:solidFill>
            <a:srgbClr val="0E7C7B"/>
          </a:solidFill>
          <a:ln w="12700">
            <a:solidFill>
              <a:srgbClr val="0E7C7B"/>
            </a:solidFill>
            <a:prstDash val="solid"/>
          </a:ln>
        </p:spPr>
      </p:sp>
      <p:sp>
        <p:nvSpPr>
          <p:cNvPr id="10" name="Text 8"/>
          <p:cNvSpPr txBox="1"/>
          <p:nvPr/>
        </p:nvSpPr>
        <p:spPr>
          <a:xfrm>
            <a:off x="4864608" y="23317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B</a:t>
            </a:r>
            <a:endParaRPr lang="en-US" sz="1600" dirty="0"/>
          </a:p>
        </p:txBody>
      </p:sp>
      <p:sp>
        <p:nvSpPr>
          <p:cNvPr id="11" name="Text 9"/>
          <p:cNvSpPr txBox="1"/>
          <p:nvPr/>
        </p:nvSpPr>
        <p:spPr>
          <a:xfrm>
            <a:off x="5532120" y="210312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HEARD có bước Diagnose: tìm nguyên nhân gốc</a:t>
            </a:r>
            <a:endParaRPr lang="en-US" sz="1450" dirty="0"/>
          </a:p>
        </p:txBody>
      </p:sp>
      <p:sp>
        <p:nvSpPr>
          <p:cNvPr id="12" name="Shape 10"/>
          <p:cNvSpPr/>
          <p:nvPr/>
        </p:nvSpPr>
        <p:spPr>
          <a:xfrm>
            <a:off x="457200" y="3337560"/>
            <a:ext cx="4023360" cy="1143000"/>
          </a:xfrm>
          <a:prstGeom prst="roundRect">
            <a:avLst>
              <a:gd name="adj" fmla="val 8000"/>
            </a:avLst>
          </a:prstGeom>
          <a:solidFill>
            <a:srgbClr val="E8F3F1"/>
          </a:solidFill>
          <a:ln w="12700">
            <a:solidFill>
              <a:srgbClr val="E8F3F1"/>
            </a:solidFill>
            <a:prstDash val="solid"/>
          </a:ln>
        </p:spPr>
      </p:sp>
      <p:sp>
        <p:nvSpPr>
          <p:cNvPr id="13" name="Shape 11"/>
          <p:cNvSpPr/>
          <p:nvPr/>
        </p:nvSpPr>
        <p:spPr>
          <a:xfrm>
            <a:off x="658368" y="3657600"/>
            <a:ext cx="502920" cy="502920"/>
          </a:xfrm>
          <a:prstGeom prst="ellipse">
            <a:avLst/>
          </a:prstGeom>
          <a:solidFill>
            <a:srgbClr val="0E7C7B"/>
          </a:solidFill>
          <a:ln w="12700">
            <a:solidFill>
              <a:srgbClr val="0E7C7B"/>
            </a:solidFill>
            <a:prstDash val="solid"/>
          </a:ln>
        </p:spPr>
      </p:sp>
      <p:sp>
        <p:nvSpPr>
          <p:cNvPr id="14" name="Text 12"/>
          <p:cNvSpPr txBox="1"/>
          <p:nvPr/>
        </p:nvSpPr>
        <p:spPr>
          <a:xfrm>
            <a:off x="65836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t>
            </a:r>
            <a:endParaRPr lang="en-US" sz="1600" dirty="0"/>
          </a:p>
        </p:txBody>
      </p:sp>
      <p:sp>
        <p:nvSpPr>
          <p:cNvPr id="15" name="Text 13"/>
          <p:cNvSpPr txBox="1"/>
          <p:nvPr/>
        </p:nvSpPr>
        <p:spPr>
          <a:xfrm>
            <a:off x="132588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HEARD chỉ dùng cho email</a:t>
            </a:r>
            <a:endParaRPr lang="en-US" sz="1450" dirty="0"/>
          </a:p>
        </p:txBody>
      </p:sp>
      <p:sp>
        <p:nvSpPr>
          <p:cNvPr id="16" name="Shape 14"/>
          <p:cNvSpPr/>
          <p:nvPr/>
        </p:nvSpPr>
        <p:spPr>
          <a:xfrm>
            <a:off x="4663440" y="3337560"/>
            <a:ext cx="4023360" cy="1143000"/>
          </a:xfrm>
          <a:prstGeom prst="roundRect">
            <a:avLst>
              <a:gd name="adj" fmla="val 8000"/>
            </a:avLst>
          </a:prstGeom>
          <a:solidFill>
            <a:srgbClr val="E8F3F1"/>
          </a:solidFill>
          <a:ln w="12700">
            <a:solidFill>
              <a:srgbClr val="E8F3F1"/>
            </a:solidFill>
            <a:prstDash val="solid"/>
          </a:ln>
        </p:spPr>
      </p:sp>
      <p:sp>
        <p:nvSpPr>
          <p:cNvPr id="17" name="Shape 15"/>
          <p:cNvSpPr/>
          <p:nvPr/>
        </p:nvSpPr>
        <p:spPr>
          <a:xfrm>
            <a:off x="4864608" y="3657600"/>
            <a:ext cx="502920" cy="502920"/>
          </a:xfrm>
          <a:prstGeom prst="ellipse">
            <a:avLst/>
          </a:prstGeom>
          <a:solidFill>
            <a:srgbClr val="0E7C7B"/>
          </a:solidFill>
          <a:ln w="12700">
            <a:solidFill>
              <a:srgbClr val="0E7C7B"/>
            </a:solidFill>
            <a:prstDash val="solid"/>
          </a:ln>
        </p:spPr>
      </p:sp>
      <p:sp>
        <p:nvSpPr>
          <p:cNvPr id="18" name="Text 16"/>
          <p:cNvSpPr txBox="1"/>
          <p:nvPr/>
        </p:nvSpPr>
        <p:spPr>
          <a:xfrm>
            <a:off x="4864608" y="36576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D</a:t>
            </a:r>
            <a:endParaRPr lang="en-US" sz="1600" dirty="0"/>
          </a:p>
        </p:txBody>
      </p:sp>
      <p:sp>
        <p:nvSpPr>
          <p:cNvPr id="19" name="Text 17"/>
          <p:cNvSpPr txBox="1"/>
          <p:nvPr/>
        </p:nvSpPr>
        <p:spPr>
          <a:xfrm>
            <a:off x="5532120" y="3429000"/>
            <a:ext cx="3017520" cy="960120"/>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HEARD bỏ qua bước lắng nghe</a:t>
            </a:r>
            <a:endParaRPr lang="en-US" sz="1450" dirty="0"/>
          </a:p>
        </p:txBody>
      </p:sp>
      <p:sp>
        <p:nvSpPr>
          <p:cNvPr id="20" name="Text 18"/>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1</a:t>
            </a:r>
            <a:endParaRPr lang="en-US" sz="900" dirty="0"/>
          </a:p>
        </p:txBody>
      </p:sp>
      <p:sp>
        <p:nvSpPr>
          <p:cNvPr id="21" name="Text 19"/>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BÀI TẬP · SẢN PHẨM BUỔI 1</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Hoàn thiện trước Buổi 2</a:t>
            </a:r>
            <a:endParaRPr lang="en-US" sz="2500" dirty="0"/>
          </a:p>
        </p:txBody>
      </p:sp>
      <p:sp>
        <p:nvSpPr>
          <p:cNvPr id="4" name="Shape 2"/>
          <p:cNvSpPr/>
          <p:nvPr/>
        </p:nvSpPr>
        <p:spPr>
          <a:xfrm>
            <a:off x="457200" y="1371600"/>
            <a:ext cx="2590800" cy="3200400"/>
          </a:xfrm>
          <a:prstGeom prst="roundRect">
            <a:avLst>
              <a:gd name="adj" fmla="val 3529"/>
            </a:avLst>
          </a:prstGeom>
          <a:solidFill>
            <a:srgbClr val="E8F3F1"/>
          </a:solidFill>
          <a:ln w="12700">
            <a:solidFill>
              <a:srgbClr val="E8F3F1"/>
            </a:solidFill>
            <a:prstDash val="solid"/>
          </a:ln>
        </p:spPr>
      </p:sp>
      <p:sp>
        <p:nvSpPr>
          <p:cNvPr id="5" name="Shape 3"/>
          <p:cNvSpPr/>
          <p:nvPr/>
        </p:nvSpPr>
        <p:spPr>
          <a:xfrm>
            <a:off x="658368" y="1572768"/>
            <a:ext cx="475488" cy="475488"/>
          </a:xfrm>
          <a:prstGeom prst="ellipse">
            <a:avLst/>
          </a:prstGeom>
          <a:solidFill>
            <a:srgbClr val="0E7C7B"/>
          </a:solidFill>
          <a:ln w="12700">
            <a:solidFill>
              <a:srgbClr val="0E7C7B"/>
            </a:solidFill>
            <a:prstDash val="solid"/>
          </a:ln>
        </p:spPr>
      </p:sp>
      <p:pic>
        <p:nvPicPr>
          <p:cNvPr id="6" name="Image 0" descr="preencoded.png">    </p:cNvPr>
          <p:cNvPicPr>
            <a:picLocks noChangeAspect="1"/>
          </p:cNvPicPr>
          <p:nvPr/>
        </p:nvPicPr>
        <p:blipFill>
          <a:blip r:embed="rId1"/>
          <a:stretch>
            <a:fillRect/>
          </a:stretch>
        </p:blipFill>
        <p:spPr>
          <a:xfrm>
            <a:off x="781995" y="1696395"/>
            <a:ext cx="228234" cy="228234"/>
          </a:xfrm>
          <a:prstGeom prst="rect">
            <a:avLst/>
          </a:prstGeom>
        </p:spPr>
      </p:pic>
      <p:sp>
        <p:nvSpPr>
          <p:cNvPr id="7" name="Text 4"/>
          <p:cNvSpPr txBox="1"/>
          <p:nvPr/>
        </p:nvSpPr>
        <p:spPr>
          <a:xfrm>
            <a:off x="658368" y="2148840"/>
            <a:ext cx="2188464" cy="411480"/>
          </a:xfrm>
          <a:prstGeom prst="rect">
            <a:avLst/>
          </a:prstGeom>
          <a:noFill/>
          <a:ln/>
        </p:spPr>
        <p:txBody>
          <a:bodyPr wrap="square" lIns="0" tIns="0" rIns="0" bIns="0" rtlCol="0" anchor="ctr"/>
          <a:lstStyle/>
          <a:p>
            <a:pPr indent="0" marL="0">
              <a:buNone/>
            </a:pPr>
            <a:r>
              <a:rPr lang="en-US" sz="1450" b="1" dirty="0">
                <a:solidFill>
                  <a:srgbClr val="0B3B45"/>
                </a:solidFill>
                <a:latin typeface="Calibri" pitchFamily="34" charset="0"/>
                <a:ea typeface="Calibri" pitchFamily="34" charset="-122"/>
                <a:cs typeface="Calibri" pitchFamily="34" charset="-120"/>
              </a:rPr>
              <a:t>Thư viện prompt v1</a:t>
            </a:r>
            <a:endParaRPr lang="en-US" sz="1450" dirty="0"/>
          </a:p>
        </p:txBody>
      </p:sp>
      <p:sp>
        <p:nvSpPr>
          <p:cNvPr id="8" name="Text 5"/>
          <p:cNvSpPr txBox="1"/>
          <p:nvPr/>
        </p:nvSpPr>
        <p:spPr>
          <a:xfrm>
            <a:off x="658368" y="2587752"/>
            <a:ext cx="2188464" cy="1874520"/>
          </a:xfrm>
          <a:prstGeom prst="rect">
            <a:avLst/>
          </a:prstGeom>
          <a:noFill/>
          <a:ln/>
        </p:spPr>
        <p:txBody>
          <a:bodyPr wrap="square" lIns="0" tIns="0" rIns="0" bIns="0" rtlCol="0" anchor="t"/>
          <a:lstStyle/>
          <a:p>
            <a:pPr indent="0" marL="0">
              <a:buNone/>
            </a:pPr>
            <a:r>
              <a:rPr lang="en-US" sz="1400" b="1" dirty="0">
                <a:solidFill>
                  <a:srgbClr val="1F2A30"/>
                </a:solidFill>
                <a:latin typeface="Calibri" pitchFamily="34" charset="0"/>
                <a:ea typeface="Calibri" pitchFamily="34" charset="-122"/>
                <a:cs typeface="Calibri" pitchFamily="34" charset="-120"/>
              </a:rPr>
              <a:t>5 prompt</a:t>
            </a:r>
            <a:pPr indent="0" marL="0">
              <a:buNone/>
            </a:pPr>
            <a:r>
              <a:rPr lang="en-US" sz="1400" dirty="0">
                <a:solidFill>
                  <a:srgbClr val="1F2A30"/>
                </a:solidFill>
                <a:latin typeface="Calibri" pitchFamily="34" charset="0"/>
                <a:ea typeface="Calibri" pitchFamily="34" charset="-122"/>
                <a:cs typeface="Calibri" pitchFamily="34" charset="-120"/>
              </a:rPr>
              <a:t> V-B-N-Đ-G cho 5 tình huống bạn gặp nhiều nhất. Đã có Prompt 1–3 từ lab, viết thêm 2.</a:t>
            </a:r>
            <a:endParaRPr lang="en-US" sz="1400" dirty="0"/>
          </a:p>
        </p:txBody>
      </p:sp>
      <p:sp>
        <p:nvSpPr>
          <p:cNvPr id="9" name="Shape 6"/>
          <p:cNvSpPr/>
          <p:nvPr/>
        </p:nvSpPr>
        <p:spPr>
          <a:xfrm>
            <a:off x="3276600" y="1371600"/>
            <a:ext cx="2590800" cy="3200400"/>
          </a:xfrm>
          <a:prstGeom prst="roundRect">
            <a:avLst>
              <a:gd name="adj" fmla="val 3529"/>
            </a:avLst>
          </a:prstGeom>
          <a:solidFill>
            <a:srgbClr val="E8F3F1"/>
          </a:solidFill>
          <a:ln w="12700">
            <a:solidFill>
              <a:srgbClr val="E8F3F1"/>
            </a:solidFill>
            <a:prstDash val="solid"/>
          </a:ln>
        </p:spPr>
      </p:sp>
      <p:sp>
        <p:nvSpPr>
          <p:cNvPr id="10" name="Shape 7"/>
          <p:cNvSpPr/>
          <p:nvPr/>
        </p:nvSpPr>
        <p:spPr>
          <a:xfrm>
            <a:off x="3477768" y="1572768"/>
            <a:ext cx="475488" cy="475488"/>
          </a:xfrm>
          <a:prstGeom prst="ellipse">
            <a:avLst/>
          </a:prstGeom>
          <a:solidFill>
            <a:srgbClr val="0E7C7B"/>
          </a:solidFill>
          <a:ln w="12700">
            <a:solidFill>
              <a:srgbClr val="0E7C7B"/>
            </a:solidFill>
            <a:prstDash val="solid"/>
          </a:ln>
        </p:spPr>
      </p:sp>
      <p:pic>
        <p:nvPicPr>
          <p:cNvPr id="11" name="Image 1" descr="preencoded.png">    </p:cNvPr>
          <p:cNvPicPr>
            <a:picLocks noChangeAspect="1"/>
          </p:cNvPicPr>
          <p:nvPr/>
        </p:nvPicPr>
        <p:blipFill>
          <a:blip r:embed="rId2"/>
          <a:stretch>
            <a:fillRect/>
          </a:stretch>
        </p:blipFill>
        <p:spPr>
          <a:xfrm>
            <a:off x="3601395" y="1696395"/>
            <a:ext cx="228234" cy="228234"/>
          </a:xfrm>
          <a:prstGeom prst="rect">
            <a:avLst/>
          </a:prstGeom>
        </p:spPr>
      </p:pic>
      <p:sp>
        <p:nvSpPr>
          <p:cNvPr id="12" name="Text 8"/>
          <p:cNvSpPr txBox="1"/>
          <p:nvPr/>
        </p:nvSpPr>
        <p:spPr>
          <a:xfrm>
            <a:off x="3477768" y="2148840"/>
            <a:ext cx="2188464" cy="411480"/>
          </a:xfrm>
          <a:prstGeom prst="rect">
            <a:avLst/>
          </a:prstGeom>
          <a:noFill/>
          <a:ln/>
        </p:spPr>
        <p:txBody>
          <a:bodyPr wrap="square" lIns="0" tIns="0" rIns="0" bIns="0" rtlCol="0" anchor="ctr"/>
          <a:lstStyle/>
          <a:p>
            <a:pPr indent="0" marL="0">
              <a:buNone/>
            </a:pPr>
            <a:r>
              <a:rPr lang="en-US" sz="1450" b="1" dirty="0">
                <a:solidFill>
                  <a:srgbClr val="0B3B45"/>
                </a:solidFill>
                <a:latin typeface="Calibri" pitchFamily="34" charset="0"/>
                <a:ea typeface="Calibri" pitchFamily="34" charset="-122"/>
                <a:cs typeface="Calibri" pitchFamily="34" charset="-120"/>
              </a:rPr>
              <a:t>Checklist bảo mật cá nhân</a:t>
            </a:r>
            <a:endParaRPr lang="en-US" sz="1450" dirty="0"/>
          </a:p>
        </p:txBody>
      </p:sp>
      <p:sp>
        <p:nvSpPr>
          <p:cNvPr id="13" name="Text 9"/>
          <p:cNvSpPr txBox="1"/>
          <p:nvPr/>
        </p:nvSpPr>
        <p:spPr>
          <a:xfrm>
            <a:off x="3477768" y="2587752"/>
            <a:ext cx="2188464" cy="187452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Những gì bạn </a:t>
            </a:r>
            <a:pPr indent="0" marL="0">
              <a:buNone/>
            </a:pPr>
            <a:r>
              <a:rPr lang="en-US" sz="1400" b="1" dirty="0">
                <a:solidFill>
                  <a:srgbClr val="1F2A30"/>
                </a:solidFill>
                <a:latin typeface="Calibri" pitchFamily="34" charset="0"/>
                <a:ea typeface="Calibri" pitchFamily="34" charset="-122"/>
                <a:cs typeface="Calibri" pitchFamily="34" charset="-120"/>
              </a:rPr>
              <a:t>phải kiểm tra</a:t>
            </a:r>
            <a:pPr indent="0" marL="0">
              <a:buNone/>
            </a:pPr>
            <a:r>
              <a:rPr lang="en-US" sz="1400" dirty="0">
                <a:solidFill>
                  <a:srgbClr val="1F2A30"/>
                </a:solidFill>
                <a:latin typeface="Calibri" pitchFamily="34" charset="0"/>
                <a:ea typeface="Calibri" pitchFamily="34" charset="-122"/>
                <a:cs typeface="Calibri" pitchFamily="34" charset="-120"/>
              </a:rPr>
              <a:t> trước khi dán bất cứ thứ gì vào AI. Tham khảo Phụ lục của ebook.</a:t>
            </a:r>
            <a:endParaRPr lang="en-US" sz="1400" dirty="0"/>
          </a:p>
        </p:txBody>
      </p:sp>
      <p:sp>
        <p:nvSpPr>
          <p:cNvPr id="14" name="Shape 10"/>
          <p:cNvSpPr/>
          <p:nvPr/>
        </p:nvSpPr>
        <p:spPr>
          <a:xfrm>
            <a:off x="6096000" y="1371600"/>
            <a:ext cx="2590800" cy="3200400"/>
          </a:xfrm>
          <a:prstGeom prst="roundRect">
            <a:avLst>
              <a:gd name="adj" fmla="val 3529"/>
            </a:avLst>
          </a:prstGeom>
          <a:solidFill>
            <a:srgbClr val="E8F3F1"/>
          </a:solidFill>
          <a:ln w="12700">
            <a:solidFill>
              <a:srgbClr val="E8F3F1"/>
            </a:solidFill>
            <a:prstDash val="solid"/>
          </a:ln>
        </p:spPr>
      </p:sp>
      <p:sp>
        <p:nvSpPr>
          <p:cNvPr id="15" name="Shape 11"/>
          <p:cNvSpPr/>
          <p:nvPr/>
        </p:nvSpPr>
        <p:spPr>
          <a:xfrm>
            <a:off x="6297168" y="1572768"/>
            <a:ext cx="475488" cy="475488"/>
          </a:xfrm>
          <a:prstGeom prst="ellipse">
            <a:avLst/>
          </a:prstGeom>
          <a:solidFill>
            <a:srgbClr val="F2994A"/>
          </a:solidFill>
          <a:ln w="12700">
            <a:solidFill>
              <a:srgbClr val="F2994A"/>
            </a:solidFill>
            <a:prstDash val="solid"/>
          </a:ln>
        </p:spPr>
      </p:sp>
      <p:pic>
        <p:nvPicPr>
          <p:cNvPr id="16" name="Image 2" descr="preencoded.png">    </p:cNvPr>
          <p:cNvPicPr>
            <a:picLocks noChangeAspect="1"/>
          </p:cNvPicPr>
          <p:nvPr/>
        </p:nvPicPr>
        <p:blipFill>
          <a:blip r:embed="rId3"/>
          <a:stretch>
            <a:fillRect/>
          </a:stretch>
        </p:blipFill>
        <p:spPr>
          <a:xfrm>
            <a:off x="6420795" y="1696395"/>
            <a:ext cx="228234" cy="228234"/>
          </a:xfrm>
          <a:prstGeom prst="rect">
            <a:avLst/>
          </a:prstGeom>
        </p:spPr>
      </p:pic>
      <p:sp>
        <p:nvSpPr>
          <p:cNvPr id="17" name="Text 12"/>
          <p:cNvSpPr txBox="1"/>
          <p:nvPr/>
        </p:nvSpPr>
        <p:spPr>
          <a:xfrm>
            <a:off x="6297168" y="2148840"/>
            <a:ext cx="2188464" cy="411480"/>
          </a:xfrm>
          <a:prstGeom prst="rect">
            <a:avLst/>
          </a:prstGeom>
          <a:noFill/>
          <a:ln/>
        </p:spPr>
        <p:txBody>
          <a:bodyPr wrap="square" lIns="0" tIns="0" rIns="0" bIns="0" rtlCol="0" anchor="ctr"/>
          <a:lstStyle/>
          <a:p>
            <a:pPr indent="0" marL="0">
              <a:buNone/>
            </a:pPr>
            <a:r>
              <a:rPr lang="en-US" sz="1450" b="1" dirty="0">
                <a:solidFill>
                  <a:srgbClr val="0B3B45"/>
                </a:solidFill>
                <a:latin typeface="Calibri" pitchFamily="34" charset="0"/>
                <a:ea typeface="Calibri" pitchFamily="34" charset="-122"/>
                <a:cs typeface="Calibri" pitchFamily="34" charset="-120"/>
              </a:rPr>
              <a:t>Nền móng cho ASM 1</a:t>
            </a:r>
            <a:endParaRPr lang="en-US" sz="1450" dirty="0"/>
          </a:p>
        </p:txBody>
      </p:sp>
      <p:sp>
        <p:nvSpPr>
          <p:cNvPr id="18" name="Text 13"/>
          <p:cNvSpPr txBox="1"/>
          <p:nvPr/>
        </p:nvSpPr>
        <p:spPr>
          <a:xfrm>
            <a:off x="6297168" y="2587752"/>
            <a:ext cx="2188464" cy="187452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Thư viện prompt là phần đầu của </a:t>
            </a:r>
            <a:pPr indent="0" marL="0">
              <a:buNone/>
            </a:pPr>
            <a:r>
              <a:rPr lang="en-US" sz="1400" b="1" dirty="0">
                <a:solidFill>
                  <a:srgbClr val="1F2A30"/>
                </a:solidFill>
                <a:latin typeface="Calibri" pitchFamily="34" charset="0"/>
                <a:ea typeface="Calibri" pitchFamily="34" charset="-122"/>
                <a:cs typeface="Calibri" pitchFamily="34" charset="-120"/>
              </a:rPr>
              <a:t>ASM 1</a:t>
            </a:r>
            <a:pPr indent="0" marL="0">
              <a:buNone/>
            </a:pPr>
            <a:r>
              <a:rPr lang="en-US" sz="1400" dirty="0">
                <a:solidFill>
                  <a:srgbClr val="1F2A30"/>
                </a:solidFill>
                <a:latin typeface="Calibri" pitchFamily="34" charset="0"/>
                <a:ea typeface="Calibri" pitchFamily="34" charset="-122"/>
                <a:cs typeface="Calibri" pitchFamily="34" charset="-120"/>
              </a:rPr>
              <a:t> (nộp sau Buổi 2) và của Bộ công cụ AI ca trực.</a:t>
            </a:r>
            <a:endParaRPr lang="en-US" sz="1400" dirty="0"/>
          </a:p>
        </p:txBody>
      </p:sp>
      <p:sp>
        <p:nvSpPr>
          <p:cNvPr id="19" name="Text 14"/>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1</a:t>
            </a:r>
            <a:endParaRPr lang="en-US" sz="900" dirty="0"/>
          </a:p>
        </p:txBody>
      </p:sp>
      <p:sp>
        <p:nvSpPr>
          <p:cNvPr id="20" name="Text 15"/>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ROLE PLAY VỚI CÔ GIÁO AI · 10 PHÚT</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Luyện prompt cùng "Cô Hạnh"</a:t>
            </a:r>
            <a:endParaRPr lang="en-US" sz="2500" dirty="0"/>
          </a:p>
        </p:txBody>
      </p:sp>
      <p:sp>
        <p:nvSpPr>
          <p:cNvPr id="4" name="Shape 2"/>
          <p:cNvSpPr/>
          <p:nvPr/>
        </p:nvSpPr>
        <p:spPr>
          <a:xfrm>
            <a:off x="457200" y="1280160"/>
            <a:ext cx="8229600" cy="2852928"/>
          </a:xfrm>
          <a:prstGeom prst="roundRect">
            <a:avLst>
              <a:gd name="adj" fmla="val 2564"/>
            </a:avLst>
          </a:prstGeom>
          <a:solidFill>
            <a:srgbClr val="17262C"/>
          </a:solidFill>
          <a:ln w="12700">
            <a:solidFill>
              <a:srgbClr val="17262C"/>
            </a:solidFill>
            <a:prstDash val="solid"/>
          </a:ln>
        </p:spPr>
      </p:sp>
      <p:sp>
        <p:nvSpPr>
          <p:cNvPr id="5" name="Text 3"/>
          <p:cNvSpPr txBox="1"/>
          <p:nvPr/>
        </p:nvSpPr>
        <p:spPr>
          <a:xfrm>
            <a:off x="685800" y="1417320"/>
            <a:ext cx="7772400" cy="2578608"/>
          </a:xfrm>
          <a:prstGeom prst="rect">
            <a:avLst/>
          </a:prstGeom>
          <a:noFill/>
          <a:ln/>
        </p:spPr>
        <p:txBody>
          <a:bodyPr wrap="square" lIns="0" tIns="0" rIns="0" bIns="0" rtlCol="0" anchor="t"/>
          <a:lstStyle/>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Bạn là "Cô Hạnh", trưởng nhóm QA 10 năm kinh nghiệm, đang dạy nhân viên tổng đài</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viết prompt theo công thức V-B-N-Đ-G (Vai trò, Bối cảnh, Nhiệm vụ, Định dạng,</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Giọng điệu). Hãy đóng vai này suốt cuộc trò chuyện.</a:t>
            </a:r>
            <a:endParaRPr lang="en-US" sz="1250" dirty="0"/>
          </a:p>
          <a:p>
            <a:pPr indent="0" marL="0">
              <a:lnSpc>
                <a:spcPct val="105000"/>
              </a:lnSpc>
              <a:buNone/>
            </a:pP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1. Đưa tôi một tình huống khách hàng (đã ẩn danh).</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2. Yêu cầu tôi viết prompt cho tình huống đó.</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3. Chấm từng thành phần V-B-N-Đ-G (đạt / thiếu), kiểm tra tôi đã che dữ liệu chưa.</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4. Gợi ý cách sửa nhưng KHÔNG viết hộ; để tôi tự sửa rồi chấm lại.</a:t>
            </a:r>
            <a:endParaRPr lang="en-US" sz="1250" dirty="0"/>
          </a:p>
          <a:p>
            <a:pPr indent="0" marL="0">
              <a:lnSpc>
                <a:spcPct val="105000"/>
              </a:lnSpc>
              <a:buNone/>
            </a:pPr>
            <a:r>
              <a:rPr lang="en-US" sz="1250" dirty="0">
                <a:solidFill>
                  <a:srgbClr val="E6F1EF"/>
                </a:solidFill>
                <a:latin typeface="Courier New" pitchFamily="34" charset="0"/>
                <a:ea typeface="Courier New" pitchFamily="34" charset="-122"/>
                <a:cs typeface="Courier New" pitchFamily="34" charset="-120"/>
              </a:rPr>
              <a:t>5. Sau 3 vòng, tổng kết 3 điểm tôi cần cải thiện nhất.</a:t>
            </a:r>
            <a:endParaRPr lang="en-US" sz="1250" dirty="0"/>
          </a:p>
        </p:txBody>
      </p:sp>
      <p:sp>
        <p:nvSpPr>
          <p:cNvPr id="6" name="Shape 4"/>
          <p:cNvSpPr/>
          <p:nvPr/>
        </p:nvSpPr>
        <p:spPr>
          <a:xfrm>
            <a:off x="457200" y="4242816"/>
            <a:ext cx="329184" cy="329184"/>
          </a:xfrm>
          <a:prstGeom prst="ellipse">
            <a:avLst/>
          </a:prstGeom>
          <a:solidFill>
            <a:srgbClr val="F2994A"/>
          </a:solidFill>
          <a:ln w="12700">
            <a:solidFill>
              <a:srgbClr val="F2994A"/>
            </a:solidFill>
            <a:prstDash val="solid"/>
          </a:ln>
        </p:spPr>
      </p:sp>
      <p:pic>
        <p:nvPicPr>
          <p:cNvPr id="7" name="Image 0" descr="preencoded.png">    </p:cNvPr>
          <p:cNvPicPr>
            <a:picLocks noChangeAspect="1"/>
          </p:cNvPicPr>
          <p:nvPr/>
        </p:nvPicPr>
        <p:blipFill>
          <a:blip r:embed="rId1"/>
          <a:stretch>
            <a:fillRect/>
          </a:stretch>
        </p:blipFill>
        <p:spPr>
          <a:xfrm>
            <a:off x="542788" y="4328404"/>
            <a:ext cx="158008" cy="158008"/>
          </a:xfrm>
          <a:prstGeom prst="rect">
            <a:avLst/>
          </a:prstGeom>
        </p:spPr>
      </p:pic>
      <p:sp>
        <p:nvSpPr>
          <p:cNvPr id="8" name="Text 5"/>
          <p:cNvSpPr txBox="1"/>
          <p:nvPr/>
        </p:nvSpPr>
        <p:spPr>
          <a:xfrm>
            <a:off x="896112" y="4206240"/>
            <a:ext cx="7772400" cy="411480"/>
          </a:xfrm>
          <a:prstGeom prst="rect">
            <a:avLst/>
          </a:prstGeom>
          <a:noFill/>
          <a:ln/>
        </p:spPr>
        <p:txBody>
          <a:bodyPr wrap="square" lIns="0" tIns="0" rIns="0" bIns="0" rtlCol="0" anchor="ctr"/>
          <a:lstStyle/>
          <a:p>
            <a:pPr indent="0" marL="0">
              <a:buNone/>
            </a:pPr>
            <a:r>
              <a:rPr lang="en-US" sz="1150" dirty="0">
                <a:solidFill>
                  <a:srgbClr val="1F2A30"/>
                </a:solidFill>
                <a:latin typeface="Calibri" pitchFamily="34" charset="0"/>
                <a:ea typeface="Calibri" pitchFamily="34" charset="-122"/>
                <a:cs typeface="Calibri" pitchFamily="34" charset="-120"/>
              </a:rPr>
              <a:t>Prompt đầy đủ và kịch bản 3 vòng nằm trong trang </a:t>
            </a:r>
            <a:pPr indent="0" marL="0">
              <a:buNone/>
            </a:pPr>
            <a:r>
              <a:rPr lang="en-US" sz="1150" b="1" dirty="0">
                <a:solidFill>
                  <a:srgbClr val="1F2A30"/>
                </a:solidFill>
                <a:latin typeface="Calibri" pitchFamily="34" charset="0"/>
                <a:ea typeface="Calibri" pitchFamily="34" charset="-122"/>
                <a:cs typeface="Calibri" pitchFamily="34" charset="-120"/>
              </a:rPr>
              <a:t>Role play</a:t>
            </a:r>
            <a:pPr indent="0" marL="0">
              <a:buNone/>
            </a:pPr>
            <a:r>
              <a:rPr lang="en-US" sz="1150" dirty="0">
                <a:solidFill>
                  <a:srgbClr val="1F2A30"/>
                </a:solidFill>
                <a:latin typeface="Calibri" pitchFamily="34" charset="0"/>
                <a:ea typeface="Calibri" pitchFamily="34" charset="-122"/>
                <a:cs typeface="Calibri" pitchFamily="34" charset="-120"/>
              </a:rPr>
              <a:t> của ebook.</a:t>
            </a:r>
            <a:endParaRPr lang="en-US" sz="1150" dirty="0"/>
          </a:p>
        </p:txBody>
      </p:sp>
      <p:sp>
        <p:nvSpPr>
          <p:cNvPr id="9" name="Text 6"/>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1</a:t>
            </a:r>
            <a:endParaRPr lang="en-US" sz="900" dirty="0"/>
          </a:p>
        </p:txBody>
      </p:sp>
      <p:sp>
        <p:nvSpPr>
          <p:cNvPr id="10" name="Text 7"/>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92608"/>
            <a:ext cx="8229600" cy="256032"/>
          </a:xfrm>
          <a:prstGeom prst="rect">
            <a:avLst/>
          </a:prstGeom>
          <a:noFill/>
          <a:ln/>
        </p:spPr>
        <p:txBody>
          <a:bodyPr wrap="square" lIns="0" tIns="0" rIns="0" bIns="0" rtlCol="0" anchor="t"/>
          <a:lstStyle/>
          <a:p>
            <a:pPr indent="0" marL="0">
              <a:buNone/>
            </a:pPr>
            <a:r>
              <a:rPr lang="en-US" sz="1050" b="1" spc="200" kern="0" dirty="0">
                <a:solidFill>
                  <a:srgbClr val="0E7C7B"/>
                </a:solidFill>
                <a:latin typeface="Calibri" pitchFamily="34" charset="0"/>
                <a:ea typeface="Calibri" pitchFamily="34" charset="-122"/>
                <a:cs typeface="Calibri" pitchFamily="34" charset="-120"/>
              </a:rPr>
              <a:t>TỔNG KẾT</a:t>
            </a:r>
            <a:endParaRPr lang="en-US" sz="1050" dirty="0"/>
          </a:p>
        </p:txBody>
      </p:sp>
      <p:sp>
        <p:nvSpPr>
          <p:cNvPr id="3" name="Text 1"/>
          <p:cNvSpPr txBox="1"/>
          <p:nvPr/>
        </p:nvSpPr>
        <p:spPr>
          <a:xfrm>
            <a:off x="457200" y="548640"/>
            <a:ext cx="8229600" cy="658368"/>
          </a:xfrm>
          <a:prstGeom prst="rect">
            <a:avLst/>
          </a:prstGeom>
          <a:noFill/>
          <a:ln/>
        </p:spPr>
        <p:txBody>
          <a:bodyPr wrap="square" lIns="0" tIns="0" rIns="0" bIns="0" rtlCol="0" anchor="ctr">
            <a:normAutofit/>
          </a:bodyPr>
          <a:lstStyle/>
          <a:p>
            <a:pPr indent="0" marL="0">
              <a:buNone/>
            </a:pPr>
            <a:r>
              <a:rPr lang="en-US" sz="2500" b="1" dirty="0">
                <a:solidFill>
                  <a:srgbClr val="0B3B45"/>
                </a:solidFill>
                <a:latin typeface="Cambria" pitchFamily="34" charset="0"/>
                <a:ea typeface="Cambria" pitchFamily="34" charset="-122"/>
                <a:cs typeface="Cambria" pitchFamily="34" charset="-120"/>
              </a:rPr>
              <a:t>Bạn đã học được gì</a:t>
            </a:r>
            <a:endParaRPr lang="en-US" sz="2500" dirty="0"/>
          </a:p>
        </p:txBody>
      </p:sp>
      <p:sp>
        <p:nvSpPr>
          <p:cNvPr id="4" name="Shape 2"/>
          <p:cNvSpPr/>
          <p:nvPr/>
        </p:nvSpPr>
        <p:spPr>
          <a:xfrm>
            <a:off x="457200" y="1490472"/>
            <a:ext cx="329184" cy="329184"/>
          </a:xfrm>
          <a:prstGeom prst="ellipse">
            <a:avLst/>
          </a:prstGeom>
          <a:solidFill>
            <a:srgbClr val="0E7C7B"/>
          </a:solidFill>
          <a:ln w="12700">
            <a:solidFill>
              <a:srgbClr val="0E7C7B"/>
            </a:solidFill>
            <a:prstDash val="solid"/>
          </a:ln>
        </p:spPr>
      </p:sp>
      <p:pic>
        <p:nvPicPr>
          <p:cNvPr id="5" name="Image 0" descr="preencoded.png">    </p:cNvPr>
          <p:cNvPicPr>
            <a:picLocks noChangeAspect="1"/>
          </p:cNvPicPr>
          <p:nvPr/>
        </p:nvPicPr>
        <p:blipFill>
          <a:blip r:embed="rId1"/>
          <a:stretch>
            <a:fillRect/>
          </a:stretch>
        </p:blipFill>
        <p:spPr>
          <a:xfrm>
            <a:off x="542788" y="1576060"/>
            <a:ext cx="158008" cy="158008"/>
          </a:xfrm>
          <a:prstGeom prst="rect">
            <a:avLst/>
          </a:prstGeom>
        </p:spPr>
      </p:pic>
      <p:sp>
        <p:nvSpPr>
          <p:cNvPr id="6" name="Text 3"/>
          <p:cNvSpPr txBox="1"/>
          <p:nvPr/>
        </p:nvSpPr>
        <p:spPr>
          <a:xfrm>
            <a:off x="914400" y="1371600"/>
            <a:ext cx="4754880" cy="566928"/>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GenAI </a:t>
            </a:r>
            <a:pPr indent="0" marL="0">
              <a:buNone/>
            </a:pPr>
            <a:r>
              <a:rPr lang="en-US" sz="1450" b="1" dirty="0">
                <a:solidFill>
                  <a:srgbClr val="1F2A30"/>
                </a:solidFill>
                <a:latin typeface="Calibri" pitchFamily="34" charset="0"/>
                <a:ea typeface="Calibri" pitchFamily="34" charset="-122"/>
                <a:cs typeface="Calibri" pitchFamily="34" charset="-120"/>
              </a:rPr>
              <a:t>đoán chữ tiếp theo</a:t>
            </a:r>
            <a:pPr indent="0" marL="0">
              <a:buNone/>
            </a:pPr>
            <a:r>
              <a:rPr lang="en-US" sz="1450" dirty="0">
                <a:solidFill>
                  <a:srgbClr val="1F2A30"/>
                </a:solidFill>
                <a:latin typeface="Calibri" pitchFamily="34" charset="0"/>
                <a:ea typeface="Calibri" pitchFamily="34" charset="-122"/>
                <a:cs typeface="Calibri" pitchFamily="34" charset="-120"/>
              </a:rPr>
              <a:t>: mạnh nhưng có thể bịa, luôn kiểm chứng.</a:t>
            </a:r>
            <a:endParaRPr lang="en-US" sz="1450" dirty="0"/>
          </a:p>
        </p:txBody>
      </p:sp>
      <p:sp>
        <p:nvSpPr>
          <p:cNvPr id="7" name="Shape 4"/>
          <p:cNvSpPr/>
          <p:nvPr/>
        </p:nvSpPr>
        <p:spPr>
          <a:xfrm>
            <a:off x="457200" y="2057400"/>
            <a:ext cx="329184" cy="329184"/>
          </a:xfrm>
          <a:prstGeom prst="ellipse">
            <a:avLst/>
          </a:prstGeom>
          <a:solidFill>
            <a:srgbClr val="0E7C7B"/>
          </a:solidFill>
          <a:ln w="12700">
            <a:solidFill>
              <a:srgbClr val="0E7C7B"/>
            </a:solidFill>
            <a:prstDash val="solid"/>
          </a:ln>
        </p:spPr>
      </p:sp>
      <p:pic>
        <p:nvPicPr>
          <p:cNvPr id="8" name="Image 1" descr="preencoded.png">    </p:cNvPr>
          <p:cNvPicPr>
            <a:picLocks noChangeAspect="1"/>
          </p:cNvPicPr>
          <p:nvPr/>
        </p:nvPicPr>
        <p:blipFill>
          <a:blip r:embed="rId2"/>
          <a:stretch>
            <a:fillRect/>
          </a:stretch>
        </p:blipFill>
        <p:spPr>
          <a:xfrm>
            <a:off x="542788" y="2142988"/>
            <a:ext cx="158008" cy="158008"/>
          </a:xfrm>
          <a:prstGeom prst="rect">
            <a:avLst/>
          </a:prstGeom>
        </p:spPr>
      </p:pic>
      <p:sp>
        <p:nvSpPr>
          <p:cNvPr id="9" name="Text 5"/>
          <p:cNvSpPr txBox="1"/>
          <p:nvPr/>
        </p:nvSpPr>
        <p:spPr>
          <a:xfrm>
            <a:off x="914400" y="1938528"/>
            <a:ext cx="4754880" cy="566928"/>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Quy tắc </a:t>
            </a:r>
            <a:pPr indent="0" marL="0">
              <a:buNone/>
            </a:pPr>
            <a:r>
              <a:rPr lang="en-US" sz="1450" b="1" dirty="0">
                <a:solidFill>
                  <a:srgbClr val="1F2A30"/>
                </a:solidFill>
                <a:latin typeface="Calibri" pitchFamily="34" charset="0"/>
                <a:ea typeface="Calibri" pitchFamily="34" charset="-122"/>
                <a:cs typeface="Calibri" pitchFamily="34" charset="-120"/>
              </a:rPr>
              <a:t>Che, Kiểm, Chịu trách nhiệm</a:t>
            </a:r>
            <a:pPr indent="0" marL="0">
              <a:buNone/>
            </a:pPr>
            <a:r>
              <a:rPr lang="en-US" sz="1450" dirty="0">
                <a:solidFill>
                  <a:srgbClr val="1F2A30"/>
                </a:solidFill>
                <a:latin typeface="Calibri" pitchFamily="34" charset="0"/>
                <a:ea typeface="Calibri" pitchFamily="34" charset="-122"/>
                <a:cs typeface="Calibri" pitchFamily="34" charset="-120"/>
              </a:rPr>
              <a:t> trước mỗi lần dùng AI.</a:t>
            </a:r>
            <a:endParaRPr lang="en-US" sz="1450" dirty="0"/>
          </a:p>
        </p:txBody>
      </p:sp>
      <p:sp>
        <p:nvSpPr>
          <p:cNvPr id="10" name="Shape 6"/>
          <p:cNvSpPr/>
          <p:nvPr/>
        </p:nvSpPr>
        <p:spPr>
          <a:xfrm>
            <a:off x="457200" y="2624328"/>
            <a:ext cx="329184" cy="329184"/>
          </a:xfrm>
          <a:prstGeom prst="ellipse">
            <a:avLst/>
          </a:prstGeom>
          <a:solidFill>
            <a:srgbClr val="0E7C7B"/>
          </a:solidFill>
          <a:ln w="12700">
            <a:solidFill>
              <a:srgbClr val="0E7C7B"/>
            </a:solidFill>
            <a:prstDash val="solid"/>
          </a:ln>
        </p:spPr>
      </p:sp>
      <p:pic>
        <p:nvPicPr>
          <p:cNvPr id="11" name="Image 2" descr="preencoded.png">    </p:cNvPr>
          <p:cNvPicPr>
            <a:picLocks noChangeAspect="1"/>
          </p:cNvPicPr>
          <p:nvPr/>
        </p:nvPicPr>
        <p:blipFill>
          <a:blip r:embed="rId3"/>
          <a:stretch>
            <a:fillRect/>
          </a:stretch>
        </p:blipFill>
        <p:spPr>
          <a:xfrm>
            <a:off x="542788" y="2709916"/>
            <a:ext cx="158008" cy="158008"/>
          </a:xfrm>
          <a:prstGeom prst="rect">
            <a:avLst/>
          </a:prstGeom>
        </p:spPr>
      </p:pic>
      <p:sp>
        <p:nvSpPr>
          <p:cNvPr id="12" name="Text 7"/>
          <p:cNvSpPr txBox="1"/>
          <p:nvPr/>
        </p:nvSpPr>
        <p:spPr>
          <a:xfrm>
            <a:off x="914400" y="2505456"/>
            <a:ext cx="4754880" cy="566928"/>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Biết khi nào </a:t>
            </a:r>
            <a:pPr indent="0" marL="0">
              <a:buNone/>
            </a:pPr>
            <a:r>
              <a:rPr lang="en-US" sz="1450" b="1" dirty="0">
                <a:solidFill>
                  <a:srgbClr val="1F2A30"/>
                </a:solidFill>
                <a:latin typeface="Calibri" pitchFamily="34" charset="0"/>
                <a:ea typeface="Calibri" pitchFamily="34" charset="-122"/>
                <a:cs typeface="Calibri" pitchFamily="34" charset="-120"/>
              </a:rPr>
              <a:t>không</a:t>
            </a:r>
            <a:pPr indent="0" marL="0">
              <a:buNone/>
            </a:pPr>
            <a:r>
              <a:rPr lang="en-US" sz="1450" dirty="0">
                <a:solidFill>
                  <a:srgbClr val="1F2A30"/>
                </a:solidFill>
                <a:latin typeface="Calibri" pitchFamily="34" charset="0"/>
                <a:ea typeface="Calibri" pitchFamily="34" charset="-122"/>
                <a:cs typeface="Calibri" pitchFamily="34" charset="-120"/>
              </a:rPr>
              <a:t> dùng AI: giấy tờ, tài chính, pháp lý.</a:t>
            </a:r>
            <a:endParaRPr lang="en-US" sz="1450" dirty="0"/>
          </a:p>
        </p:txBody>
      </p:sp>
      <p:sp>
        <p:nvSpPr>
          <p:cNvPr id="13" name="Shape 8"/>
          <p:cNvSpPr/>
          <p:nvPr/>
        </p:nvSpPr>
        <p:spPr>
          <a:xfrm>
            <a:off x="457200" y="3191256"/>
            <a:ext cx="329184" cy="329184"/>
          </a:xfrm>
          <a:prstGeom prst="ellipse">
            <a:avLst/>
          </a:prstGeom>
          <a:solidFill>
            <a:srgbClr val="0E7C7B"/>
          </a:solidFill>
          <a:ln w="12700">
            <a:solidFill>
              <a:srgbClr val="0E7C7B"/>
            </a:solidFill>
            <a:prstDash val="solid"/>
          </a:ln>
        </p:spPr>
      </p:sp>
      <p:pic>
        <p:nvPicPr>
          <p:cNvPr id="14" name="Image 3" descr="preencoded.png">    </p:cNvPr>
          <p:cNvPicPr>
            <a:picLocks noChangeAspect="1"/>
          </p:cNvPicPr>
          <p:nvPr/>
        </p:nvPicPr>
        <p:blipFill>
          <a:blip r:embed="rId4"/>
          <a:stretch>
            <a:fillRect/>
          </a:stretch>
        </p:blipFill>
        <p:spPr>
          <a:xfrm>
            <a:off x="542788" y="3276844"/>
            <a:ext cx="158008" cy="158008"/>
          </a:xfrm>
          <a:prstGeom prst="rect">
            <a:avLst/>
          </a:prstGeom>
        </p:spPr>
      </p:pic>
      <p:sp>
        <p:nvSpPr>
          <p:cNvPr id="15" name="Text 9"/>
          <p:cNvSpPr txBox="1"/>
          <p:nvPr/>
        </p:nvSpPr>
        <p:spPr>
          <a:xfrm>
            <a:off x="914400" y="3072384"/>
            <a:ext cx="4754880" cy="566928"/>
          </a:xfrm>
          <a:prstGeom prst="rect">
            <a:avLst/>
          </a:prstGeom>
          <a:noFill/>
          <a:ln/>
        </p:spPr>
        <p:txBody>
          <a:bodyPr wrap="square" lIns="0" tIns="0" rIns="0" bIns="0" rtlCol="0" anchor="ctr"/>
          <a:lstStyle/>
          <a:p>
            <a:pPr indent="0" marL="0">
              <a:buNone/>
            </a:pPr>
            <a:r>
              <a:rPr lang="en-US" sz="1450" dirty="0">
                <a:solidFill>
                  <a:srgbClr val="1F2A30"/>
                </a:solidFill>
                <a:latin typeface="Calibri" pitchFamily="34" charset="0"/>
                <a:ea typeface="Calibri" pitchFamily="34" charset="-122"/>
                <a:cs typeface="Calibri" pitchFamily="34" charset="-120"/>
              </a:rPr>
              <a:t>Prompt </a:t>
            </a:r>
            <a:pPr indent="0" marL="0">
              <a:buNone/>
            </a:pPr>
            <a:r>
              <a:rPr lang="en-US" sz="1450" b="1" dirty="0">
                <a:solidFill>
                  <a:srgbClr val="1F2A30"/>
                </a:solidFill>
                <a:latin typeface="Calibri" pitchFamily="34" charset="0"/>
                <a:ea typeface="Calibri" pitchFamily="34" charset="-122"/>
                <a:cs typeface="Calibri" pitchFamily="34" charset="-120"/>
              </a:rPr>
              <a:t>V-B-N-Đ-G</a:t>
            </a:r>
            <a:pPr indent="0" marL="0">
              <a:buNone/>
            </a:pPr>
            <a:r>
              <a:rPr lang="en-US" sz="1450" dirty="0">
                <a:solidFill>
                  <a:srgbClr val="1F2A30"/>
                </a:solidFill>
                <a:latin typeface="Calibri" pitchFamily="34" charset="0"/>
                <a:ea typeface="Calibri" pitchFamily="34" charset="-122"/>
                <a:cs typeface="Calibri" pitchFamily="34" charset="-120"/>
              </a:rPr>
              <a:t>; Bối cảnh và Định dạng hay bị thiếu nhất.</a:t>
            </a:r>
            <a:endParaRPr lang="en-US" sz="1450" dirty="0"/>
          </a:p>
        </p:txBody>
      </p:sp>
      <p:sp>
        <p:nvSpPr>
          <p:cNvPr id="16" name="Shape 10"/>
          <p:cNvSpPr/>
          <p:nvPr/>
        </p:nvSpPr>
        <p:spPr>
          <a:xfrm>
            <a:off x="457200" y="3758184"/>
            <a:ext cx="329184" cy="329184"/>
          </a:xfrm>
          <a:prstGeom prst="ellipse">
            <a:avLst/>
          </a:prstGeom>
          <a:solidFill>
            <a:srgbClr val="0E7C7B"/>
          </a:solidFill>
          <a:ln w="12700">
            <a:solidFill>
              <a:srgbClr val="0E7C7B"/>
            </a:solidFill>
            <a:prstDash val="solid"/>
          </a:ln>
        </p:spPr>
      </p:sp>
      <p:pic>
        <p:nvPicPr>
          <p:cNvPr id="17" name="Image 4" descr="preencoded.png">    </p:cNvPr>
          <p:cNvPicPr>
            <a:picLocks noChangeAspect="1"/>
          </p:cNvPicPr>
          <p:nvPr/>
        </p:nvPicPr>
        <p:blipFill>
          <a:blip r:embed="rId5"/>
          <a:stretch>
            <a:fillRect/>
          </a:stretch>
        </p:blipFill>
        <p:spPr>
          <a:xfrm>
            <a:off x="542788" y="3843772"/>
            <a:ext cx="158008" cy="158008"/>
          </a:xfrm>
          <a:prstGeom prst="rect">
            <a:avLst/>
          </a:prstGeom>
        </p:spPr>
      </p:pic>
      <p:sp>
        <p:nvSpPr>
          <p:cNvPr id="18" name="Text 11"/>
          <p:cNvSpPr txBox="1"/>
          <p:nvPr/>
        </p:nvSpPr>
        <p:spPr>
          <a:xfrm>
            <a:off x="914400" y="3639312"/>
            <a:ext cx="4754880" cy="566928"/>
          </a:xfrm>
          <a:prstGeom prst="rect">
            <a:avLst/>
          </a:prstGeom>
          <a:noFill/>
          <a:ln/>
        </p:spPr>
        <p:txBody>
          <a:bodyPr wrap="square" lIns="0" tIns="0" rIns="0" bIns="0" rtlCol="0" anchor="ctr"/>
          <a:lstStyle/>
          <a:p>
            <a:pPr indent="0" marL="0">
              <a:buNone/>
            </a:pPr>
            <a:r>
              <a:rPr lang="en-US" sz="1450" b="1" dirty="0">
                <a:solidFill>
                  <a:srgbClr val="1F2A30"/>
                </a:solidFill>
                <a:latin typeface="Calibri" pitchFamily="34" charset="0"/>
                <a:ea typeface="Calibri" pitchFamily="34" charset="-122"/>
                <a:cs typeface="Calibri" pitchFamily="34" charset="-120"/>
              </a:rPr>
              <a:t>LEAST / HEARD</a:t>
            </a:r>
            <a:pPr indent="0" marL="0">
              <a:buNone/>
            </a:pPr>
            <a:r>
              <a:rPr lang="en-US" sz="1450" dirty="0">
                <a:solidFill>
                  <a:srgbClr val="1F2A30"/>
                </a:solidFill>
                <a:latin typeface="Calibri" pitchFamily="34" charset="0"/>
                <a:ea typeface="Calibri" pitchFamily="34" charset="-122"/>
                <a:cs typeface="Calibri" pitchFamily="34" charset="-120"/>
              </a:rPr>
              <a:t>: đồng cảm và xin lỗi trước, giải pháp sau.</a:t>
            </a:r>
            <a:endParaRPr lang="en-US" sz="1450" dirty="0"/>
          </a:p>
        </p:txBody>
      </p:sp>
      <p:sp>
        <p:nvSpPr>
          <p:cNvPr id="19" name="Shape 12"/>
          <p:cNvSpPr/>
          <p:nvPr/>
        </p:nvSpPr>
        <p:spPr>
          <a:xfrm>
            <a:off x="5897880" y="1371600"/>
            <a:ext cx="2788920" cy="3154680"/>
          </a:xfrm>
          <a:prstGeom prst="roundRect">
            <a:avLst>
              <a:gd name="adj" fmla="val 3279"/>
            </a:avLst>
          </a:prstGeom>
          <a:solidFill>
            <a:srgbClr val="0B3B45"/>
          </a:solidFill>
          <a:ln w="12700">
            <a:solidFill>
              <a:srgbClr val="0B3B45"/>
            </a:solidFill>
            <a:prstDash val="solid"/>
          </a:ln>
        </p:spPr>
      </p:sp>
      <p:sp>
        <p:nvSpPr>
          <p:cNvPr id="20" name="Shape 13"/>
          <p:cNvSpPr/>
          <p:nvPr/>
        </p:nvSpPr>
        <p:spPr>
          <a:xfrm>
            <a:off x="6126480" y="1572768"/>
            <a:ext cx="502920" cy="502920"/>
          </a:xfrm>
          <a:prstGeom prst="ellipse">
            <a:avLst/>
          </a:prstGeom>
          <a:solidFill>
            <a:srgbClr val="F2994A"/>
          </a:solidFill>
          <a:ln w="12700">
            <a:solidFill>
              <a:srgbClr val="F2994A"/>
            </a:solidFill>
            <a:prstDash val="solid"/>
          </a:ln>
        </p:spPr>
      </p:sp>
      <p:pic>
        <p:nvPicPr>
          <p:cNvPr id="21" name="Image 5" descr="preencoded.png">    </p:cNvPr>
          <p:cNvPicPr>
            <a:picLocks noChangeAspect="1"/>
          </p:cNvPicPr>
          <p:nvPr/>
        </p:nvPicPr>
        <p:blipFill>
          <a:blip r:embed="rId6"/>
          <a:stretch>
            <a:fillRect/>
          </a:stretch>
        </p:blipFill>
        <p:spPr>
          <a:xfrm>
            <a:off x="6257239" y="1703527"/>
            <a:ext cx="241402" cy="241402"/>
          </a:xfrm>
          <a:prstGeom prst="rect">
            <a:avLst/>
          </a:prstGeom>
        </p:spPr>
      </p:pic>
      <p:sp>
        <p:nvSpPr>
          <p:cNvPr id="22" name="Text 14"/>
          <p:cNvSpPr txBox="1"/>
          <p:nvPr/>
        </p:nvSpPr>
        <p:spPr>
          <a:xfrm>
            <a:off x="6126480" y="2194560"/>
            <a:ext cx="2377440" cy="274320"/>
          </a:xfrm>
          <a:prstGeom prst="rect">
            <a:avLst/>
          </a:prstGeom>
          <a:noFill/>
          <a:ln/>
        </p:spPr>
        <p:txBody>
          <a:bodyPr wrap="square" lIns="0" tIns="0" rIns="0" bIns="0" rtlCol="0" anchor="t"/>
          <a:lstStyle/>
          <a:p>
            <a:pPr indent="0" marL="0">
              <a:buNone/>
            </a:pPr>
            <a:r>
              <a:rPr lang="en-US" sz="1050" b="1" spc="200" kern="0" dirty="0">
                <a:solidFill>
                  <a:srgbClr val="F2994A"/>
                </a:solidFill>
                <a:latin typeface="Calibri" pitchFamily="34" charset="0"/>
                <a:ea typeface="Calibri" pitchFamily="34" charset="-122"/>
                <a:cs typeface="Calibri" pitchFamily="34" charset="-120"/>
              </a:rPr>
              <a:t>TIẾP THEO</a:t>
            </a:r>
            <a:endParaRPr lang="en-US" sz="1050" dirty="0"/>
          </a:p>
        </p:txBody>
      </p:sp>
      <p:sp>
        <p:nvSpPr>
          <p:cNvPr id="23" name="Text 15"/>
          <p:cNvSpPr txBox="1"/>
          <p:nvPr/>
        </p:nvSpPr>
        <p:spPr>
          <a:xfrm>
            <a:off x="6126480" y="2514600"/>
            <a:ext cx="2377440" cy="18745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Buổi 2:</a:t>
            </a:r>
            <a:pPr indent="0" marL="0">
              <a:buNone/>
            </a:pPr>
            <a:r>
              <a:rPr lang="en-US" sz="1400" dirty="0">
                <a:solidFill>
                  <a:srgbClr val="FFFFFF"/>
                </a:solidFill>
                <a:latin typeface="Calibri" pitchFamily="34" charset="0"/>
                <a:ea typeface="Calibri" pitchFamily="34" charset="-122"/>
                <a:cs typeface="Calibri" pitchFamily="34" charset="-120"/>
              </a:rPr>
              <a:t> dựng trợ lý tra cứu FAQ bằng NotebookLM, chuyển ghi âm cuộc gọi thành bản tóm tắt chuẩn CRM. Nộp </a:t>
            </a:r>
            <a:pPr indent="0" marL="0">
              <a:buNone/>
            </a:pPr>
            <a:r>
              <a:rPr lang="en-US" sz="1400" b="1" dirty="0">
                <a:solidFill>
                  <a:srgbClr val="FFFFFF"/>
                </a:solidFill>
                <a:latin typeface="Calibri" pitchFamily="34" charset="0"/>
                <a:ea typeface="Calibri" pitchFamily="34" charset="-122"/>
                <a:cs typeface="Calibri" pitchFamily="34" charset="-120"/>
              </a:rPr>
              <a:t>ASM 1</a:t>
            </a:r>
            <a:pPr indent="0" marL="0">
              <a:buNone/>
            </a:pPr>
            <a:r>
              <a:rPr lang="en-US" sz="1400" dirty="0">
                <a:solidFill>
                  <a:srgbClr val="FFFFFF"/>
                </a:solidFill>
                <a:latin typeface="Calibri" pitchFamily="34" charset="0"/>
                <a:ea typeface="Calibri" pitchFamily="34" charset="-122"/>
                <a:cs typeface="Calibri" pitchFamily="34" charset="-120"/>
              </a:rPr>
              <a:t>.</a:t>
            </a:r>
            <a:endParaRPr lang="en-US" sz="1400" dirty="0"/>
          </a:p>
        </p:txBody>
      </p:sp>
      <p:sp>
        <p:nvSpPr>
          <p:cNvPr id="24" name="Text 16"/>
          <p:cNvSpPr txBox="1"/>
          <p:nvPr/>
        </p:nvSpPr>
        <p:spPr>
          <a:xfrm>
            <a:off x="457200" y="4754880"/>
            <a:ext cx="4572000" cy="228600"/>
          </a:xfrm>
          <a:prstGeom prst="rect">
            <a:avLst/>
          </a:prstGeom>
          <a:noFill/>
          <a:ln/>
        </p:spPr>
        <p:txBody>
          <a:bodyPr wrap="square" lIns="0" tIns="0" rIns="0" bIns="0" rtlCol="0" anchor="t"/>
          <a:lstStyle/>
          <a:p>
            <a:pPr indent="0" marL="0">
              <a:buNone/>
            </a:pPr>
            <a:r>
              <a:rPr lang="en-US" sz="900" dirty="0">
                <a:solidFill>
                  <a:srgbClr val="5B6B73"/>
                </a:solidFill>
                <a:latin typeface="Calibri" pitchFamily="34" charset="0"/>
                <a:ea typeface="Calibri" pitchFamily="34" charset="-122"/>
                <a:cs typeface="Calibri" pitchFamily="34" charset="-120"/>
              </a:rPr>
              <a:t>GenAI cho Call Center · Buổi 1</a:t>
            </a:r>
            <a:endParaRPr lang="en-US" sz="900" dirty="0"/>
          </a:p>
        </p:txBody>
      </p:sp>
      <p:sp>
        <p:nvSpPr>
          <p:cNvPr id="25" name="Text 17"/>
          <p:cNvSpPr txBox="1"/>
          <p:nvPr/>
        </p:nvSpPr>
        <p:spPr>
          <a:xfrm>
            <a:off x="7772400" y="4754880"/>
            <a:ext cx="914400" cy="228600"/>
          </a:xfrm>
          <a:prstGeom prst="rect">
            <a:avLst/>
          </a:prstGeom>
          <a:noFill/>
          <a:ln/>
        </p:spPr>
        <p:txBody>
          <a:bodyPr wrap="square" lIns="0" tIns="0" rIns="0" bIns="0" rtlCol="0" anchor="t"/>
          <a:lstStyle/>
          <a:p>
            <a:pPr algn="r" indent="0" marL="0">
              <a:buNone/>
            </a:pPr>
            <a:r>
              <a:rPr lang="en-US" sz="900" dirty="0">
                <a:solidFill>
                  <a:srgbClr val="5B6B73"/>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B3B45"/>
        </a:solidFill>
      </p:bgPr>
    </p:bg>
    <p:spTree>
      <p:nvGrpSpPr>
        <p:cNvPr id="1" name=""/>
        <p:cNvGrpSpPr/>
        <p:nvPr/>
      </p:nvGrpSpPr>
      <p:grpSpPr>
        <a:xfrm>
          <a:off x="0" y="0"/>
          <a:ext cx="0" cy="0"/>
          <a:chOff x="0" y="0"/>
          <a:chExt cx="0" cy="0"/>
        </a:xfrm>
      </p:grpSpPr>
      <p:sp>
        <p:nvSpPr>
          <p:cNvPr id="2" name="Shape 0"/>
          <p:cNvSpPr/>
          <p:nvPr/>
        </p:nvSpPr>
        <p:spPr>
          <a:xfrm>
            <a:off x="-1097280" y="2926080"/>
            <a:ext cx="3657600" cy="3657600"/>
          </a:xfrm>
          <a:prstGeom prst="ellipse">
            <a:avLst/>
          </a:prstGeom>
          <a:solidFill>
            <a:srgbClr val="0E7C7B">
              <a:alpha val="40000"/>
            </a:srgbClr>
          </a:solidFill>
          <a:ln w="12700">
            <a:solidFill>
              <a:srgbClr val="0E7C7B">
                <a:alpha val="0"/>
              </a:srgbClr>
            </a:solidFill>
            <a:prstDash val="solid"/>
          </a:ln>
        </p:spPr>
      </p:sp>
      <p:sp>
        <p:nvSpPr>
          <p:cNvPr id="3" name="Text 1"/>
          <p:cNvSpPr txBox="1"/>
          <p:nvPr/>
        </p:nvSpPr>
        <p:spPr>
          <a:xfrm>
            <a:off x="548640" y="822960"/>
            <a:ext cx="8046720" cy="82296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Cảm ơn bạn!</a:t>
            </a:r>
            <a:endParaRPr lang="en-US" sz="3600" dirty="0"/>
          </a:p>
        </p:txBody>
      </p:sp>
      <p:sp>
        <p:nvSpPr>
          <p:cNvPr id="4" name="Text 2"/>
          <p:cNvSpPr txBox="1"/>
          <p:nvPr/>
        </p:nvSpPr>
        <p:spPr>
          <a:xfrm>
            <a:off x="548640" y="1645920"/>
            <a:ext cx="8046720" cy="457200"/>
          </a:xfrm>
          <a:prstGeom prst="rect">
            <a:avLst/>
          </a:prstGeom>
          <a:noFill/>
          <a:ln/>
        </p:spPr>
        <p:txBody>
          <a:bodyPr wrap="square" lIns="0" tIns="0" rIns="0" bIns="0" rtlCol="0" anchor="t"/>
          <a:lstStyle/>
          <a:p>
            <a:pPr indent="0" marL="0">
              <a:buNone/>
            </a:pPr>
            <a:r>
              <a:rPr lang="en-US" sz="1500" dirty="0">
                <a:solidFill>
                  <a:srgbClr val="BFE3DD"/>
                </a:solidFill>
                <a:latin typeface="Calibri" pitchFamily="34" charset="0"/>
                <a:ea typeface="Calibri" pitchFamily="34" charset="-122"/>
                <a:cs typeface="Calibri" pitchFamily="34" charset="-120"/>
              </a:rPr>
              <a:t>Hẹn gặp lại ở Buổi 2 · Tra cứu tài liệu &amp; Âm thanh cuộc gọi</a:t>
            </a:r>
            <a:endParaRPr lang="en-US" sz="1500" dirty="0"/>
          </a:p>
        </p:txBody>
      </p:sp>
      <p:sp>
        <p:nvSpPr>
          <p:cNvPr id="5" name="Text 3"/>
          <p:cNvSpPr txBox="1"/>
          <p:nvPr/>
        </p:nvSpPr>
        <p:spPr>
          <a:xfrm>
            <a:off x="3291840" y="2423160"/>
            <a:ext cx="5486400" cy="274320"/>
          </a:xfrm>
          <a:prstGeom prst="rect">
            <a:avLst/>
          </a:prstGeom>
          <a:noFill/>
          <a:ln/>
        </p:spPr>
        <p:txBody>
          <a:bodyPr wrap="square" lIns="0" tIns="0" rIns="0" bIns="0" rtlCol="0" anchor="t"/>
          <a:lstStyle/>
          <a:p>
            <a:pPr indent="0" marL="0">
              <a:buNone/>
            </a:pPr>
            <a:r>
              <a:rPr lang="en-US" sz="1100" b="1" spc="200" kern="0" dirty="0">
                <a:solidFill>
                  <a:srgbClr val="F2994A"/>
                </a:solidFill>
                <a:latin typeface="Calibri" pitchFamily="34" charset="0"/>
                <a:ea typeface="Calibri" pitchFamily="34" charset="-122"/>
                <a:cs typeface="Calibri" pitchFamily="34" charset="-120"/>
              </a:rPr>
              <a:t>VIỆC CẦN LÀM TRƯỚC BUỔI SAU</a:t>
            </a:r>
            <a:endParaRPr lang="en-US" sz="1100" dirty="0"/>
          </a:p>
        </p:txBody>
      </p:sp>
      <p:sp>
        <p:nvSpPr>
          <p:cNvPr id="6" name="Text 4"/>
          <p:cNvSpPr txBox="1"/>
          <p:nvPr/>
        </p:nvSpPr>
        <p:spPr>
          <a:xfrm>
            <a:off x="3291840" y="2743200"/>
            <a:ext cx="5394960" cy="1828800"/>
          </a:xfrm>
          <a:prstGeom prst="rect">
            <a:avLst/>
          </a:prstGeom>
          <a:noFill/>
          <a:ln/>
        </p:spPr>
        <p:txBody>
          <a:bodyPr wrap="square" lIns="0" tIns="0" rIns="0" bIns="0" rtlCol="0" anchor="t"/>
          <a:lstStyle/>
          <a:p>
            <a:pPr marL="177800" indent="-177800">
              <a:spcAft>
                <a:spcPts val="800"/>
              </a:spcAft>
              <a:buSzPct val="100000"/>
              <a:buChar char="•"/>
            </a:pPr>
            <a:r>
              <a:rPr lang="en-US" sz="1550" dirty="0">
                <a:solidFill>
                  <a:srgbClr val="FFFFFF"/>
                </a:solidFill>
                <a:latin typeface="Calibri" pitchFamily="34" charset="0"/>
                <a:ea typeface="Calibri" pitchFamily="34" charset="-122"/>
                <a:cs typeface="Calibri" pitchFamily="34" charset="-120"/>
              </a:rPr>
              <a:t>Hoàn thiện </a:t>
            </a:r>
            <a:pPr indent="0" marL="0">
              <a:spcAft>
                <a:spcPts val="800"/>
              </a:spcAft>
              <a:buNone/>
            </a:pPr>
            <a:r>
              <a:rPr lang="en-US" sz="1550" b="1" dirty="0">
                <a:solidFill>
                  <a:srgbClr val="FFFFFF"/>
                </a:solidFill>
                <a:latin typeface="Calibri" pitchFamily="34" charset="0"/>
                <a:ea typeface="Calibri" pitchFamily="34" charset="-122"/>
                <a:cs typeface="Calibri" pitchFamily="34" charset="-120"/>
              </a:rPr>
              <a:t>Thư viện prompt v1</a:t>
            </a:r>
            <a:pPr indent="0" marL="0">
              <a:spcAft>
                <a:spcPts val="800"/>
              </a:spcAft>
              <a:buNone/>
            </a:pPr>
            <a:r>
              <a:rPr lang="en-US" sz="1550" dirty="0">
                <a:solidFill>
                  <a:srgbClr val="FFFFFF"/>
                </a:solidFill>
                <a:latin typeface="Calibri" pitchFamily="34" charset="0"/>
                <a:ea typeface="Calibri" pitchFamily="34" charset="-122"/>
                <a:cs typeface="Calibri" pitchFamily="34" charset="-120"/>
              </a:rPr>
              <a:t> (5 prompt)</a:t>
            </a:r>
            <a:endParaRPr lang="en-US" sz="1550" dirty="0"/>
          </a:p>
          <a:p>
            <a:pPr marL="177800" indent="-177800">
              <a:spcAft>
                <a:spcPts val="800"/>
              </a:spcAft>
              <a:buSzPct val="100000"/>
              <a:buChar char="•"/>
            </a:pPr>
            <a:r>
              <a:rPr lang="en-US" sz="1550" dirty="0">
                <a:solidFill>
                  <a:srgbClr val="FFFFFF"/>
                </a:solidFill>
                <a:latin typeface="Calibri" pitchFamily="34" charset="0"/>
                <a:ea typeface="Calibri" pitchFamily="34" charset="-122"/>
                <a:cs typeface="Calibri" pitchFamily="34" charset="-120"/>
              </a:rPr>
              <a:t>Viết </a:t>
            </a:r>
            <a:pPr indent="0" marL="0">
              <a:spcAft>
                <a:spcPts val="800"/>
              </a:spcAft>
              <a:buNone/>
            </a:pPr>
            <a:r>
              <a:rPr lang="en-US" sz="1550" b="1" dirty="0">
                <a:solidFill>
                  <a:srgbClr val="FFFFFF"/>
                </a:solidFill>
                <a:latin typeface="Calibri" pitchFamily="34" charset="0"/>
                <a:ea typeface="Calibri" pitchFamily="34" charset="-122"/>
                <a:cs typeface="Calibri" pitchFamily="34" charset="-120"/>
              </a:rPr>
              <a:t>checklist bảo mật</a:t>
            </a:r>
            <a:pPr indent="0" marL="0">
              <a:spcAft>
                <a:spcPts val="800"/>
              </a:spcAft>
              <a:buNone/>
            </a:pPr>
            <a:r>
              <a:rPr lang="en-US" sz="1550" dirty="0">
                <a:solidFill>
                  <a:srgbClr val="FFFFFF"/>
                </a:solidFill>
                <a:latin typeface="Calibri" pitchFamily="34" charset="0"/>
                <a:ea typeface="Calibri" pitchFamily="34" charset="-122"/>
                <a:cs typeface="Calibri" pitchFamily="34" charset="-120"/>
              </a:rPr>
              <a:t> cá nhân</a:t>
            </a:r>
            <a:endParaRPr lang="en-US" sz="1550" dirty="0"/>
          </a:p>
          <a:p>
            <a:pPr marL="177800" indent="-177800">
              <a:spcAft>
                <a:spcPts val="800"/>
              </a:spcAft>
              <a:buSzPct val="100000"/>
              <a:buChar char="•"/>
            </a:pPr>
            <a:r>
              <a:rPr lang="en-US" sz="1550" dirty="0">
                <a:solidFill>
                  <a:srgbClr val="FFFFFF"/>
                </a:solidFill>
                <a:latin typeface="Calibri" pitchFamily="34" charset="0"/>
                <a:ea typeface="Calibri" pitchFamily="34" charset="-122"/>
                <a:cs typeface="Calibri" pitchFamily="34" charset="-120"/>
              </a:rPr>
              <a:t>Làm </a:t>
            </a:r>
            <a:pPr indent="0" marL="0">
              <a:spcAft>
                <a:spcPts val="800"/>
              </a:spcAft>
              <a:buNone/>
            </a:pPr>
            <a:r>
              <a:rPr lang="en-US" sz="1550" b="1" dirty="0">
                <a:solidFill>
                  <a:srgbClr val="FFFFFF"/>
                </a:solidFill>
                <a:latin typeface="Calibri" pitchFamily="34" charset="0"/>
                <a:ea typeface="Calibri" pitchFamily="34" charset="-122"/>
                <a:cs typeface="Calibri" pitchFamily="34" charset="-120"/>
              </a:rPr>
              <a:t>Quiz Buổi 1</a:t>
            </a:r>
            <a:pPr indent="0" marL="0">
              <a:spcAft>
                <a:spcPts val="800"/>
              </a:spcAft>
              <a:buNone/>
            </a:pPr>
            <a:r>
              <a:rPr lang="en-US" sz="1550" dirty="0">
                <a:solidFill>
                  <a:srgbClr val="FFFFFF"/>
                </a:solidFill>
                <a:latin typeface="Calibri" pitchFamily="34" charset="0"/>
                <a:ea typeface="Calibri" pitchFamily="34" charset="-122"/>
                <a:cs typeface="Calibri" pitchFamily="34" charset="-120"/>
              </a:rPr>
              <a:t> trong ebook</a:t>
            </a:r>
            <a:endParaRPr lang="en-US" sz="1550" dirty="0"/>
          </a:p>
          <a:p>
            <a:pPr marL="177800" indent="-177800">
              <a:spcAft>
                <a:spcPts val="800"/>
              </a:spcAft>
              <a:buSzPct val="100000"/>
              <a:buChar char="•"/>
            </a:pPr>
            <a:r>
              <a:rPr lang="en-US" sz="1550" dirty="0">
                <a:solidFill>
                  <a:srgbClr val="FFFFFF"/>
                </a:solidFill>
                <a:latin typeface="Calibri" pitchFamily="34" charset="0"/>
                <a:ea typeface="Calibri" pitchFamily="34" charset="-122"/>
                <a:cs typeface="Calibri" pitchFamily="34" charset="-120"/>
              </a:rPr>
              <a:t>Để lại </a:t>
            </a:r>
            <a:pPr indent="0" marL="0">
              <a:spcAft>
                <a:spcPts val="800"/>
              </a:spcAft>
              <a:buNone/>
            </a:pPr>
            <a:r>
              <a:rPr lang="en-US" sz="1550" b="1" dirty="0">
                <a:solidFill>
                  <a:srgbClr val="FFFFFF"/>
                </a:solidFill>
                <a:latin typeface="Calibri" pitchFamily="34" charset="0"/>
                <a:ea typeface="Calibri" pitchFamily="34" charset="-122"/>
                <a:cs typeface="Calibri" pitchFamily="34" charset="-120"/>
              </a:rPr>
              <a:t>feedback</a:t>
            </a:r>
            <a:pPr indent="0" marL="0">
              <a:spcAft>
                <a:spcPts val="800"/>
              </a:spcAft>
              <a:buNone/>
            </a:pPr>
            <a:r>
              <a:rPr lang="en-US" sz="1550" dirty="0">
                <a:solidFill>
                  <a:srgbClr val="FFFFFF"/>
                </a:solidFill>
                <a:latin typeface="Calibri" pitchFamily="34" charset="0"/>
                <a:ea typeface="Calibri" pitchFamily="34" charset="-122"/>
                <a:cs typeface="Calibri" pitchFamily="34" charset="-120"/>
              </a:rPr>
              <a:t> cho buổi học</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Buổi 1 · AI có trách nhiệm &amp; Trợ lý ảo cho CSKH</dc:title>
  <dc:subject>PptxGenJS Presentation</dc:subject>
  <dc:creator>GenAI cho Call Center</dc:creator>
  <cp:lastModifiedBy>GenAI cho Call Center</cp:lastModifiedBy>
  <cp:revision>1</cp:revision>
  <dcterms:created xsi:type="dcterms:W3CDTF">2026-09-30T06:37:15Z</dcterms:created>
  <dcterms:modified xsi:type="dcterms:W3CDTF">2026-09-30T06:37:15Z</dcterms:modified>
</cp:coreProperties>
</file>