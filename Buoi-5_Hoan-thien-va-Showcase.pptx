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cuối khóa. Nhấn mạnh: hôm nay không học công cụ mới, mà biến những gì đã làm thành sản phẩm dùng được từ ca trực ngày mai. Nhắc lớp mở sẵn thư mục bài nộp và đề cương đã chốt ở Buổi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câu chuyện Lan ở Buổi 1 để lớp thấy chặng đường đã đi. Hỏi nhanh: bạn đã có bao nhiêu trong 4 thứ Lan đang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Bấm giờ nghiêm ngặt. Phần showcase dễ lố giờ nhất: chia nhóm song song nếu lớp đông để ai cũng được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Gói nộp đặt tên ASM2_[HọTên]_BoCongCuAI, gồm file 00 giới thiệu 1 trang và 01–05 cho từng thành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giờ to mỗi mốc: phút 5, 35, 45. Lập danh sách gọi coaching theo thứ tự, ưu tiên bạn đang thiếu nhiều thành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mentor hay hỏi: Nhân viên mới dùng được thư viện này mà không cần hỏi em không? Bước nào dễ lộ dữ liệu nhất, em chặn thế nào? Số "sau" đo trong điều kiện nào, có công bằng với số "trước"? AI trả lời sai chính sách thì ai phát hiện, ở bước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đây không phải lỗi trình bày, mà là đúng rủi ro khóa học muốn học viên tránh trong công việc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mentor dùng khi chấm: Tuần tới em dùng phần này bao nhiêu lần? Điều gì là của riêng em? Nhân viên mới tự dùng được không? Con số đo thế nào, bao nhiêu lần? Chỉ cho tôi bước em che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Ngưỡng đạt và điều kiện cấp chứng nhận theo quy định chương trình: thông báo tại lớp. Học viên không đăng ký chứng nhận vẫn được góp ý và chấm đầy đủ.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Điều phối: cử một người bấm giờ mỗi nhóm, giơ thẻ ở phút 4 và phút 5, hết 5 phút là dừng. Mentor đi vòng, hỏi 1–2 câu vấn đáp mỗi bạn (tính vào phần 40%). Nhóm 6 người mất khoảng 42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học viên nhờ AI soạn khung bài nói bằng prompt V-B-N-Đ-G trong trang Showcase của ebook, rồi tự tập 1 lần trước khi vào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Rủi ro bảo mật: nói riêng với bạn đó hoặc mentor, không nêu công khai chi tiết dữ liệu. Phát phiếu (hoặc link) trước khi bắt đầu nhóm. Mỗi người điền cho ít nhất 2 bạn trong 2 phút hỏi đáp sau mỗi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Bấm giờ 15 phút cho cả 5 câu: khoảng 2 phút mỗi câu, cho lớp chọn trước rồi mới lật đáp án. Câu sai ôn lại Buổi 1 (GenAI, đạo đức).
ĐÁP ÁN: B. AI tối ưu để nghe hợp lý, không phải đúng sự thật (hallucination). Trợ lý công cộng không kết nối dữ liệu nội bộ. Cách phòng: NotebookLM có trích dẫn và luôn Kiểm.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C. Định dạng quy định hình thức đầu ra. Thông tin khách thuộc Bối cảnh; chấm điểm là Nhiệm vụ; "đúng 100%" không phải thành phần và không thể đảm bảo bằng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C. Khử ồn giúp chuyển văn bản chính xác; che dữ liệu đứng trước bước đưa vào AI; đối chiếu cuối cùng là Chịu trách nhiệm. Câu sai ôn Buổi 2, Tóm tắt cuộc gọi.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B. Đúng quy tắc Che, Kiểm, Chịu trách nhiệm. AI không cần CCCD hay số thẻ để soạn câu trả lời; xác minh thuộc hệ thống nội bộ. D bỏ rơi khách dù vẫn có cách an toàn.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câu 5, hỏi lớp sai câu nào nhiều nhất và chỉ bài cần ôn trước phần vấn đáp: câu 1, 4, 5 ôn Buổi 1; câu 2 ôn V-B-N-Đ-G; câu 3 ôn Buổi 2.
ĐÁP ÁN: C. Quyết định có hệ quả tài chính, pháp lý, uy tín cần người có thẩm quyền. AI chỉ giúp tóm tắt để báo cáo lên. A, B, D là việc AI hỗ trợ tốt nếu người duyệt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5 điều cần mang theo sau khóa. Mời 2–3 học viên chọn điều mình thấy quan trọng nhất và nói vì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lớp 2 phút điền template cam kết trong ebook (2–3 việc, mục tiêu đo được, nguyên tắc giữ), gửi cho Team Leader hoặc một bạn đồng hành. Mời vài bạn dán 1 dòng cam kết lên kênh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hướng học tiếp trong ebook: nâng cấp prompt, tri thức nội bộ, QA &amp; đào tạo, phân tích dữ liệu CSKH, tự động hóa (hỏi IT trước). Cảm ơn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45"/>
        </a:solidFill>
      </p:bgPr>
    </p:bg>
    <p:spTree>
      <p:nvGrpSpPr>
        <p:cNvPr id="1" name=""/>
        <p:cNvGrpSpPr/>
        <p:nvPr/>
      </p:nvGrpSpPr>
      <p:grpSpPr>
        <a:xfrm>
          <a:off x="0" y="0"/>
          <a:ext cx="0" cy="0"/>
          <a:chOff x="0" y="0"/>
          <a:chExt cx="0" cy="0"/>
        </a:xfrm>
      </p:grpSpPr>
      <p:sp>
        <p:nvSpPr>
          <p:cNvPr id="2" name="Shape 0"/>
          <p:cNvSpPr/>
          <p:nvPr/>
        </p:nvSpPr>
        <p:spPr>
          <a:xfrm>
            <a:off x="5760720" y="-822960"/>
            <a:ext cx="4572000" cy="4572000"/>
          </a:xfrm>
          <a:prstGeom prst="ellipse">
            <a:avLst/>
          </a:prstGeom>
          <a:solidFill>
            <a:srgbClr val="0E7C7B">
              <a:alpha val="45000"/>
            </a:srgbClr>
          </a:solidFill>
          <a:ln w="12700">
            <a:solidFill>
              <a:srgbClr val="0E7C7B">
                <a:alpha val="0"/>
              </a:srgbClr>
            </a:solidFill>
            <a:prstDash val="solid"/>
          </a:ln>
        </p:spPr>
      </p:sp>
      <p:sp>
        <p:nvSpPr>
          <p:cNvPr id="3" name="Shape 1"/>
          <p:cNvSpPr/>
          <p:nvPr/>
        </p:nvSpPr>
        <p:spPr>
          <a:xfrm>
            <a:off x="5989320" y="3429000"/>
            <a:ext cx="640080" cy="640080"/>
          </a:xfrm>
          <a:prstGeom prst="ellipse">
            <a:avLst/>
          </a:prstGeom>
          <a:solidFill>
            <a:srgbClr val="F2994A"/>
          </a:solidFill>
          <a:ln w="12700">
            <a:solidFill>
              <a:srgbClr val="F2994A"/>
            </a:solidFill>
            <a:prstDash val="solid"/>
          </a:ln>
        </p:spPr>
      </p:sp>
      <p:sp>
        <p:nvSpPr>
          <p:cNvPr id="4" name="Shape 2"/>
          <p:cNvSpPr/>
          <p:nvPr/>
        </p:nvSpPr>
        <p:spPr>
          <a:xfrm>
            <a:off x="6720840" y="1188720"/>
            <a:ext cx="1737360" cy="1737360"/>
          </a:xfrm>
          <a:prstGeom prst="ellipse">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7172554" y="1640434"/>
            <a:ext cx="833933" cy="833933"/>
          </a:xfrm>
          <a:prstGeom prst="rect">
            <a:avLst/>
          </a:prstGeom>
        </p:spPr>
      </p:pic>
      <p:sp>
        <p:nvSpPr>
          <p:cNvPr id="6" name="Text 3"/>
          <p:cNvSpPr txBox="1"/>
          <p:nvPr/>
        </p:nvSpPr>
        <p:spPr>
          <a:xfrm>
            <a:off x="548640" y="914400"/>
            <a:ext cx="5486400" cy="320040"/>
          </a:xfrm>
          <a:prstGeom prst="rect">
            <a:avLst/>
          </a:prstGeom>
          <a:noFill/>
          <a:ln/>
        </p:spPr>
        <p:txBody>
          <a:bodyPr wrap="square" lIns="0" tIns="0" rIns="0" bIns="0" rtlCol="0" anchor="t"/>
          <a:lstStyle/>
          <a:p>
            <a:pPr indent="0" marL="0">
              <a:buNone/>
            </a:pPr>
            <a:r>
              <a:rPr lang="en-US" sz="1300" b="1" spc="300" kern="0" dirty="0">
                <a:solidFill>
                  <a:srgbClr val="F2994A"/>
                </a:solidFill>
                <a:latin typeface="Calibri" pitchFamily="34" charset="0"/>
                <a:ea typeface="Calibri" pitchFamily="34" charset="-122"/>
                <a:cs typeface="Calibri" pitchFamily="34" charset="-120"/>
              </a:rPr>
              <a:t>BUỔI 5 / 5  ·  120 PHÚT</a:t>
            </a:r>
            <a:endParaRPr lang="en-US" sz="1300" dirty="0"/>
          </a:p>
        </p:txBody>
      </p:sp>
      <p:sp>
        <p:nvSpPr>
          <p:cNvPr id="7" name="Text 4"/>
          <p:cNvSpPr txBox="1"/>
          <p:nvPr/>
        </p:nvSpPr>
        <p:spPr>
          <a:xfrm>
            <a:off x="548640" y="1325880"/>
            <a:ext cx="576072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mbria" pitchFamily="34" charset="0"/>
                <a:ea typeface="Cambria" pitchFamily="34" charset="-122"/>
                <a:cs typeface="Cambria" pitchFamily="34" charset="-120"/>
              </a:rPr>
              <a:t>Hoàn thiện &amp; Showcase</a:t>
            </a:r>
            <a:endParaRPr lang="en-US" sz="3600" dirty="0"/>
          </a:p>
        </p:txBody>
      </p:sp>
      <p:sp>
        <p:nvSpPr>
          <p:cNvPr id="8" name="Text 5"/>
          <p:cNvSpPr txBox="1"/>
          <p:nvPr/>
        </p:nvSpPr>
        <p:spPr>
          <a:xfrm>
            <a:off x="548640" y="2880360"/>
            <a:ext cx="5669280" cy="82296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Gom 4 buổi thành Bộ công cụ AI ca trực, chứng minh bằng số liệu, trình bày 5 phút và cam kết 30 ngày.</a:t>
            </a:r>
            <a:endParaRPr lang="en-US" sz="1500" dirty="0"/>
          </a:p>
        </p:txBody>
      </p:sp>
      <p:sp>
        <p:nvSpPr>
          <p:cNvPr id="9" name="Text 6"/>
          <p:cNvSpPr txBox="1"/>
          <p:nvPr/>
        </p:nvSpPr>
        <p:spPr>
          <a:xfrm>
            <a:off x="548640" y="4434840"/>
            <a:ext cx="6400800" cy="274320"/>
          </a:xfrm>
          <a:prstGeom prst="rect">
            <a:avLst/>
          </a:prstGeom>
          <a:noFill/>
          <a:ln/>
        </p:spPr>
        <p:txBody>
          <a:bodyPr wrap="square" lIns="0" tIns="0" rIns="0" bIns="0" rtlCol="0" anchor="t"/>
          <a:lstStyle/>
          <a:p>
            <a:pPr indent="0" marL="0">
              <a:buNone/>
            </a:pPr>
            <a:r>
              <a:rPr lang="en-US" sz="1000" dirty="0">
                <a:solidFill>
                  <a:srgbClr val="BFE3DD"/>
                </a:solidFill>
                <a:latin typeface="Calibri" pitchFamily="34" charset="0"/>
                <a:ea typeface="Calibri" pitchFamily="34" charset="-122"/>
                <a:cs typeface="Calibri" pitchFamily="34" charset="-120"/>
              </a:rPr>
              <a:t>Ứng dụng GenAI cho nhân viên support Call Center  ·  Chuyển thể AIE102x.1.0_VN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CÂU CHUYỆN MỞ ĐẦU</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Bốn tuần sau của Lan</a:t>
            </a:r>
            <a:endParaRPr lang="en-US" sz="2500" dirty="0"/>
          </a:p>
        </p:txBody>
      </p:sp>
      <p:sp>
        <p:nvSpPr>
          <p:cNvPr id="4" name="Text 2"/>
          <p:cNvSpPr txBox="1"/>
          <p:nvPr/>
        </p:nvSpPr>
        <p:spPr>
          <a:xfrm>
            <a:off x="457200" y="1371600"/>
            <a:ext cx="4846320" cy="3200400"/>
          </a:xfrm>
          <a:prstGeom prst="rect">
            <a:avLst/>
          </a:prstGeom>
          <a:noFill/>
          <a:ln/>
        </p:spPr>
        <p:txBody>
          <a:bodyPr wrap="square" lIns="0" tIns="0" rIns="0" bIns="0" rtlCol="0" anchor="t"/>
          <a:lstStyle/>
          <a:p>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Buổi đầu, Lan trả lời khách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cộc lốc</a:t>
            </a:r>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 vì quá tải, mất gần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5 phút</a:t>
            </a:r>
            <a:pPr indent="0" marL="0">
              <a:lnSpc>
                <a:spcPct val="108000"/>
              </a:lnSpc>
              <a:spcAft>
                <a:spcPts val="800"/>
              </a:spcAft>
              <a:buNone/>
            </a:pPr>
            <a:r>
              <a:rPr lang="en-US" sz="1500" dirty="0">
                <a:solidFill>
                  <a:srgbClr val="1F2A30"/>
                </a:solidFill>
                <a:latin typeface="Calibri" pitchFamily="34" charset="0"/>
                <a:ea typeface="Calibri" pitchFamily="34" charset="-122"/>
                <a:cs typeface="Calibri" pitchFamily="34" charset="-120"/>
              </a:rPr>
              <a:t> ghi chú CRM mỗi cuộc gọi, và suýt dán số CCCD của khách vào AI cá nhân.</a:t>
            </a:r>
            <a:endParaRPr lang="en-US" sz="1500" dirty="0"/>
          </a:p>
          <a:p>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Giờ Lan có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thư viện 12 prompt</a:t>
            </a:r>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 sổ tay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NotebookLM</a:t>
            </a:r>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 có trích dẫn, quy trình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4 bước</a:t>
            </a:r>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 ghi âm → CRM và một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video 75 giây</a:t>
            </a:r>
            <a:pPr indent="0" marL="0">
              <a:lnSpc>
                <a:spcPct val="108000"/>
              </a:lnSpc>
              <a:spcAft>
                <a:spcPts val="800"/>
              </a:spcAft>
              <a:buNone/>
            </a:pPr>
            <a:r>
              <a:rPr lang="en-US" sz="1500" dirty="0">
                <a:solidFill>
                  <a:srgbClr val="1F2A30"/>
                </a:solidFill>
                <a:latin typeface="Calibri" pitchFamily="34" charset="0"/>
                <a:ea typeface="Calibri" pitchFamily="34" charset="-122"/>
                <a:cs typeface="Calibri" pitchFamily="34" charset="-120"/>
              </a:rPr>
              <a:t> có phụ đề.</a:t>
            </a:r>
            <a:endParaRPr lang="en-US" sz="1500" dirty="0"/>
          </a:p>
          <a:p>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Chỉ còn một việc: gom lại thành bộ công cụ gọn gàng, chứng minh bằng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số liệu</a:t>
            </a:r>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 rồi trình bày trước nhóm trong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5 phút</a:t>
            </a:r>
            <a:pPr indent="0" marL="0">
              <a:lnSpc>
                <a:spcPct val="108000"/>
              </a:lnSpc>
              <a:spcAft>
                <a:spcPts val="800"/>
              </a:spcAft>
              <a:buNone/>
            </a:pPr>
            <a:r>
              <a:rPr lang="en-US" sz="1500" dirty="0">
                <a:solidFill>
                  <a:srgbClr val="1F2A30"/>
                </a:solidFill>
                <a:latin typeface="Calibri" pitchFamily="34" charset="0"/>
                <a:ea typeface="Calibri" pitchFamily="34" charset="-122"/>
                <a:cs typeface="Calibri" pitchFamily="34" charset="-120"/>
              </a:rPr>
              <a:t>.</a:t>
            </a:r>
            <a:endParaRPr lang="en-US" sz="1500" dirty="0"/>
          </a:p>
        </p:txBody>
      </p:sp>
      <p:sp>
        <p:nvSpPr>
          <p:cNvPr id="5" name="Shape 3"/>
          <p:cNvSpPr/>
          <p:nvPr/>
        </p:nvSpPr>
        <p:spPr>
          <a:xfrm>
            <a:off x="5623560" y="1371600"/>
            <a:ext cx="3063240" cy="3154680"/>
          </a:xfrm>
          <a:prstGeom prst="roundRect">
            <a:avLst>
              <a:gd name="adj" fmla="val 3582"/>
            </a:avLst>
          </a:prstGeom>
          <a:solidFill>
            <a:srgbClr val="E8F3F1"/>
          </a:solidFill>
          <a:ln w="12700">
            <a:solidFill>
              <a:srgbClr val="E8F3F1"/>
            </a:solidFill>
            <a:prstDash val="solid"/>
          </a:ln>
        </p:spPr>
      </p:sp>
      <p:sp>
        <p:nvSpPr>
          <p:cNvPr id="6" name="Shape 4"/>
          <p:cNvSpPr/>
          <p:nvPr/>
        </p:nvSpPr>
        <p:spPr>
          <a:xfrm>
            <a:off x="5897880" y="1627632"/>
            <a:ext cx="566928" cy="566928"/>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6045281" y="1775033"/>
            <a:ext cx="272125" cy="272125"/>
          </a:xfrm>
          <a:prstGeom prst="rect">
            <a:avLst/>
          </a:prstGeom>
        </p:spPr>
      </p:pic>
      <p:sp>
        <p:nvSpPr>
          <p:cNvPr id="8" name="Text 5"/>
          <p:cNvSpPr txBox="1"/>
          <p:nvPr/>
        </p:nvSpPr>
        <p:spPr>
          <a:xfrm>
            <a:off x="5897880" y="2331720"/>
            <a:ext cx="2560320" cy="2011680"/>
          </a:xfrm>
          <a:prstGeom prst="rect">
            <a:avLst/>
          </a:prstGeom>
          <a:noFill/>
          <a:ln/>
        </p:spPr>
        <p:txBody>
          <a:bodyPr wrap="square" lIns="0" tIns="0" rIns="0" bIns="0" rtlCol="0" anchor="t"/>
          <a:lstStyle/>
          <a:p>
            <a:pPr indent="0" marL="0">
              <a:buNone/>
            </a:pPr>
            <a:r>
              <a:rPr lang="en-US" sz="1500" i="1" dirty="0">
                <a:solidFill>
                  <a:srgbClr val="0B3B45"/>
                </a:solidFill>
                <a:latin typeface="Cambria" pitchFamily="34" charset="0"/>
                <a:ea typeface="Cambria" pitchFamily="34" charset="-122"/>
                <a:cs typeface="Cambria" pitchFamily="34" charset="-120"/>
              </a:rPr>
              <a:t>"Không học thêm công cụ mới, mà biến những gì đã làm thành sản phẩm dùng được ngay từ ca trực ngày mai."</a:t>
            </a:r>
            <a:endParaRPr lang="en-US" sz="150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MỤC TIÊU BUỔI HỌC</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Sau buổi này, bạn có thể</a:t>
            </a:r>
            <a:endParaRPr lang="en-US" sz="2500" dirty="0"/>
          </a:p>
        </p:txBody>
      </p:sp>
      <p:sp>
        <p:nvSpPr>
          <p:cNvPr id="4" name="Shape 2"/>
          <p:cNvSpPr/>
          <p:nvPr/>
        </p:nvSpPr>
        <p:spPr>
          <a:xfrm>
            <a:off x="457200" y="1485900"/>
            <a:ext cx="420624" cy="420624"/>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566562" y="1595262"/>
            <a:ext cx="201900" cy="201900"/>
          </a:xfrm>
          <a:prstGeom prst="rect">
            <a:avLst/>
          </a:prstGeom>
        </p:spPr>
      </p:pic>
      <p:sp>
        <p:nvSpPr>
          <p:cNvPr id="6" name="Text 3"/>
          <p:cNvSpPr txBox="1"/>
          <p:nvPr/>
        </p:nvSpPr>
        <p:spPr>
          <a:xfrm>
            <a:off x="1051560" y="1371600"/>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Hoàn thiện và nộp </a:t>
            </a:r>
            <a:pPr indent="0" marL="0">
              <a:buNone/>
            </a:pPr>
            <a:r>
              <a:rPr lang="en-US" sz="1450" b="1" dirty="0">
                <a:solidFill>
                  <a:srgbClr val="1F2A30"/>
                </a:solidFill>
                <a:latin typeface="Calibri" pitchFamily="34" charset="0"/>
                <a:ea typeface="Calibri" pitchFamily="34" charset="-122"/>
                <a:cs typeface="Calibri" pitchFamily="34" charset="-120"/>
              </a:rPr>
              <a:t>ASM 2: Bộ công cụ AI ca trực</a:t>
            </a:r>
            <a:pPr indent="0" marL="0">
              <a:buNone/>
            </a:pPr>
            <a:r>
              <a:rPr lang="en-US" sz="1450" dirty="0">
                <a:solidFill>
                  <a:srgbClr val="1F2A30"/>
                </a:solidFill>
                <a:latin typeface="Calibri" pitchFamily="34" charset="0"/>
                <a:ea typeface="Calibri" pitchFamily="34" charset="-122"/>
                <a:cs typeface="Calibri" pitchFamily="34" charset="-120"/>
              </a:rPr>
              <a:t> đủ 5 thành phần.</a:t>
            </a:r>
            <a:endParaRPr lang="en-US" sz="1450" dirty="0"/>
          </a:p>
        </p:txBody>
      </p:sp>
      <p:sp>
        <p:nvSpPr>
          <p:cNvPr id="7" name="Shape 4"/>
          <p:cNvSpPr/>
          <p:nvPr/>
        </p:nvSpPr>
        <p:spPr>
          <a:xfrm>
            <a:off x="457200" y="2135124"/>
            <a:ext cx="420624" cy="420624"/>
          </a:xfrm>
          <a:prstGeom prst="ellipse">
            <a:avLst/>
          </a:prstGeom>
          <a:solidFill>
            <a:srgbClr val="0E7C7B"/>
          </a:solidFill>
          <a:ln w="12700">
            <a:solidFill>
              <a:srgbClr val="0E7C7B"/>
            </a:solidFill>
            <a:prstDash val="solid"/>
          </a:ln>
        </p:spPr>
      </p:sp>
      <p:pic>
        <p:nvPicPr>
          <p:cNvPr id="8" name="Image 1" descr="preencoded.png">    </p:cNvPr>
          <p:cNvPicPr>
            <a:picLocks noChangeAspect="1"/>
          </p:cNvPicPr>
          <p:nvPr/>
        </p:nvPicPr>
        <p:blipFill>
          <a:blip r:embed="rId2"/>
          <a:stretch>
            <a:fillRect/>
          </a:stretch>
        </p:blipFill>
        <p:spPr>
          <a:xfrm>
            <a:off x="566562" y="2244486"/>
            <a:ext cx="201900" cy="201900"/>
          </a:xfrm>
          <a:prstGeom prst="rect">
            <a:avLst/>
          </a:prstGeom>
        </p:spPr>
      </p:pic>
      <p:sp>
        <p:nvSpPr>
          <p:cNvPr id="9" name="Text 5"/>
          <p:cNvSpPr txBox="1"/>
          <p:nvPr/>
        </p:nvSpPr>
        <p:spPr>
          <a:xfrm>
            <a:off x="1051560" y="2020824"/>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Chứng minh hiệu quả bằng </a:t>
            </a:r>
            <a:pPr indent="0" marL="0">
              <a:buNone/>
            </a:pPr>
            <a:r>
              <a:rPr lang="en-US" sz="1450" b="1" dirty="0">
                <a:solidFill>
                  <a:srgbClr val="1F2A30"/>
                </a:solidFill>
                <a:latin typeface="Calibri" pitchFamily="34" charset="0"/>
                <a:ea typeface="Calibri" pitchFamily="34" charset="-122"/>
                <a:cs typeface="Calibri" pitchFamily="34" charset="-120"/>
              </a:rPr>
              <a:t>số liệu trước và sau</a:t>
            </a:r>
            <a:pPr indent="0" marL="0">
              <a:buNone/>
            </a:pPr>
            <a:r>
              <a:rPr lang="en-US" sz="1450" dirty="0">
                <a:solidFill>
                  <a:srgbClr val="1F2A30"/>
                </a:solidFill>
                <a:latin typeface="Calibri" pitchFamily="34" charset="0"/>
                <a:ea typeface="Calibri" pitchFamily="34" charset="-122"/>
                <a:cs typeface="Calibri" pitchFamily="34" charset="-120"/>
              </a:rPr>
              <a:t> khi dùng AI.</a:t>
            </a:r>
            <a:endParaRPr lang="en-US" sz="1450" dirty="0"/>
          </a:p>
        </p:txBody>
      </p:sp>
      <p:sp>
        <p:nvSpPr>
          <p:cNvPr id="10" name="Shape 6"/>
          <p:cNvSpPr/>
          <p:nvPr/>
        </p:nvSpPr>
        <p:spPr>
          <a:xfrm>
            <a:off x="457200" y="2784348"/>
            <a:ext cx="420624" cy="420624"/>
          </a:xfrm>
          <a:prstGeom prst="ellipse">
            <a:avLst/>
          </a:prstGeom>
          <a:solidFill>
            <a:srgbClr val="0E7C7B"/>
          </a:solidFill>
          <a:ln w="12700">
            <a:solidFill>
              <a:srgbClr val="0E7C7B"/>
            </a:solidFill>
            <a:prstDash val="solid"/>
          </a:ln>
        </p:spPr>
      </p:sp>
      <p:pic>
        <p:nvPicPr>
          <p:cNvPr id="11" name="Image 2" descr="preencoded.png">    </p:cNvPr>
          <p:cNvPicPr>
            <a:picLocks noChangeAspect="1"/>
          </p:cNvPicPr>
          <p:nvPr/>
        </p:nvPicPr>
        <p:blipFill>
          <a:blip r:embed="rId3"/>
          <a:stretch>
            <a:fillRect/>
          </a:stretch>
        </p:blipFill>
        <p:spPr>
          <a:xfrm>
            <a:off x="566562" y="2893710"/>
            <a:ext cx="201900" cy="201900"/>
          </a:xfrm>
          <a:prstGeom prst="rect">
            <a:avLst/>
          </a:prstGeom>
        </p:spPr>
      </p:pic>
      <p:sp>
        <p:nvSpPr>
          <p:cNvPr id="12" name="Text 7"/>
          <p:cNvSpPr txBox="1"/>
          <p:nvPr/>
        </p:nvSpPr>
        <p:spPr>
          <a:xfrm>
            <a:off x="1051560" y="2670048"/>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Trình bày trong </a:t>
            </a:r>
            <a:pPr indent="0" marL="0">
              <a:buNone/>
            </a:pPr>
            <a:r>
              <a:rPr lang="en-US" sz="1450" b="1" dirty="0">
                <a:solidFill>
                  <a:srgbClr val="1F2A30"/>
                </a:solidFill>
                <a:latin typeface="Calibri" pitchFamily="34" charset="0"/>
                <a:ea typeface="Calibri" pitchFamily="34" charset="-122"/>
                <a:cs typeface="Calibri" pitchFamily="34" charset="-120"/>
              </a:rPr>
              <a:t>5 phút</a:t>
            </a:r>
            <a:pPr indent="0" marL="0">
              <a:buNone/>
            </a:pPr>
            <a:r>
              <a:rPr lang="en-US" sz="1450" dirty="0">
                <a:solidFill>
                  <a:srgbClr val="1F2A30"/>
                </a:solidFill>
                <a:latin typeface="Calibri" pitchFamily="34" charset="0"/>
                <a:ea typeface="Calibri" pitchFamily="34" charset="-122"/>
                <a:cs typeface="Calibri" pitchFamily="34" charset="-120"/>
              </a:rPr>
              <a:t> và góp ý đồng nghiệp bằng </a:t>
            </a:r>
            <a:pPr indent="0" marL="0">
              <a:buNone/>
            </a:pPr>
            <a:r>
              <a:rPr lang="en-US" sz="1450" b="1" dirty="0">
                <a:solidFill>
                  <a:srgbClr val="1F2A30"/>
                </a:solidFill>
                <a:latin typeface="Calibri" pitchFamily="34" charset="0"/>
                <a:ea typeface="Calibri" pitchFamily="34" charset="-122"/>
                <a:cs typeface="Calibri" pitchFamily="34" charset="-120"/>
              </a:rPr>
              <a:t>phiếu peer review</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13" name="Shape 8"/>
          <p:cNvSpPr/>
          <p:nvPr/>
        </p:nvSpPr>
        <p:spPr>
          <a:xfrm>
            <a:off x="457200" y="3433572"/>
            <a:ext cx="420624" cy="420624"/>
          </a:xfrm>
          <a:prstGeom prst="ellipse">
            <a:avLst/>
          </a:prstGeom>
          <a:solidFill>
            <a:srgbClr val="0E7C7B"/>
          </a:solidFill>
          <a:ln w="12700">
            <a:solidFill>
              <a:srgbClr val="0E7C7B"/>
            </a:solidFill>
            <a:prstDash val="solid"/>
          </a:ln>
        </p:spPr>
      </p:sp>
      <p:pic>
        <p:nvPicPr>
          <p:cNvPr id="14" name="Image 3" descr="preencoded.png">    </p:cNvPr>
          <p:cNvPicPr>
            <a:picLocks noChangeAspect="1"/>
          </p:cNvPicPr>
          <p:nvPr/>
        </p:nvPicPr>
        <p:blipFill>
          <a:blip r:embed="rId4"/>
          <a:stretch>
            <a:fillRect/>
          </a:stretch>
        </p:blipFill>
        <p:spPr>
          <a:xfrm>
            <a:off x="566562" y="3542934"/>
            <a:ext cx="201900" cy="201900"/>
          </a:xfrm>
          <a:prstGeom prst="rect">
            <a:avLst/>
          </a:prstGeom>
        </p:spPr>
      </p:pic>
      <p:sp>
        <p:nvSpPr>
          <p:cNvPr id="15" name="Text 9"/>
          <p:cNvSpPr txBox="1"/>
          <p:nvPr/>
        </p:nvSpPr>
        <p:spPr>
          <a:xfrm>
            <a:off x="1051560" y="3319272"/>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Hệ thống lại toàn khóa qua </a:t>
            </a:r>
            <a:pPr indent="0" marL="0">
              <a:buNone/>
            </a:pPr>
            <a:r>
              <a:rPr lang="en-US" sz="1450" b="1" dirty="0">
                <a:solidFill>
                  <a:srgbClr val="1F2A30"/>
                </a:solidFill>
                <a:latin typeface="Calibri" pitchFamily="34" charset="0"/>
                <a:ea typeface="Calibri" pitchFamily="34" charset="-122"/>
                <a:cs typeface="Calibri" pitchFamily="34" charset="-120"/>
              </a:rPr>
              <a:t>quiz cuối khóa 5 câu</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16" name="Shape 10"/>
          <p:cNvSpPr/>
          <p:nvPr/>
        </p:nvSpPr>
        <p:spPr>
          <a:xfrm>
            <a:off x="457200" y="4082796"/>
            <a:ext cx="420624" cy="420624"/>
          </a:xfrm>
          <a:prstGeom prst="ellipse">
            <a:avLst/>
          </a:prstGeom>
          <a:solidFill>
            <a:srgbClr val="0E7C7B"/>
          </a:solidFill>
          <a:ln w="12700">
            <a:solidFill>
              <a:srgbClr val="0E7C7B"/>
            </a:solidFill>
            <a:prstDash val="solid"/>
          </a:ln>
        </p:spPr>
      </p:sp>
      <p:pic>
        <p:nvPicPr>
          <p:cNvPr id="17" name="Image 4" descr="preencoded.png">    </p:cNvPr>
          <p:cNvPicPr>
            <a:picLocks noChangeAspect="1"/>
          </p:cNvPicPr>
          <p:nvPr/>
        </p:nvPicPr>
        <p:blipFill>
          <a:blip r:embed="rId5"/>
          <a:stretch>
            <a:fillRect/>
          </a:stretch>
        </p:blipFill>
        <p:spPr>
          <a:xfrm>
            <a:off x="566562" y="4192158"/>
            <a:ext cx="201900" cy="201900"/>
          </a:xfrm>
          <a:prstGeom prst="rect">
            <a:avLst/>
          </a:prstGeom>
        </p:spPr>
      </p:pic>
      <p:sp>
        <p:nvSpPr>
          <p:cNvPr id="18" name="Text 11"/>
          <p:cNvSpPr txBox="1"/>
          <p:nvPr/>
        </p:nvSpPr>
        <p:spPr>
          <a:xfrm>
            <a:off x="1051560" y="3968496"/>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Lập </a:t>
            </a:r>
            <a:pPr indent="0" marL="0">
              <a:buNone/>
            </a:pPr>
            <a:r>
              <a:rPr lang="en-US" sz="1450" b="1" dirty="0">
                <a:solidFill>
                  <a:srgbClr val="1F2A30"/>
                </a:solidFill>
                <a:latin typeface="Calibri" pitchFamily="34" charset="0"/>
                <a:ea typeface="Calibri" pitchFamily="34" charset="-122"/>
                <a:cs typeface="Calibri" pitchFamily="34" charset="-120"/>
              </a:rPr>
              <a:t>kế hoạch 30 ngày</a:t>
            </a:r>
            <a:pPr indent="0" marL="0">
              <a:buNone/>
            </a:pPr>
            <a:r>
              <a:rPr lang="en-US" sz="1450" dirty="0">
                <a:solidFill>
                  <a:srgbClr val="1F2A30"/>
                </a:solidFill>
                <a:latin typeface="Calibri" pitchFamily="34" charset="0"/>
                <a:ea typeface="Calibri" pitchFamily="34" charset="-122"/>
                <a:cs typeface="Calibri" pitchFamily="34" charset="-120"/>
              </a:rPr>
              <a:t> để AI thành thói quen thật trong công việc.</a:t>
            </a:r>
            <a:endParaRPr lang="en-US" sz="1450" dirty="0"/>
          </a:p>
        </p:txBody>
      </p:sp>
      <p:sp>
        <p:nvSpPr>
          <p:cNvPr id="19"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20"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PHÂN BỔ 120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Lịch trình buổi học</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463040"/>
                <a:gridCol w="6766560"/>
              </a:tblGrid>
              <a:tr h="36576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Thời gian</a:t>
                      </a:r>
                      <a:endParaRPr lang="en-US" sz="135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Hoạt động</a:t>
                      </a:r>
                      <a:endParaRPr lang="en-US" sz="135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365760">
                <a:tc>
                  <a:txBody>
                    <a:bodyPr/>
                    <a:lstStyle/>
                    <a:p>
                      <a:pPr indent="0" marL="0">
                        <a:buNone/>
                      </a:pPr>
                      <a:r>
                        <a:rPr lang="en-US" sz="1350" dirty="0">
                          <a:solidFill>
                            <a:srgbClr val="1F2A30"/>
                          </a:solidFill>
                          <a:latin typeface="Calibri" pitchFamily="34" charset="0"/>
                          <a:ea typeface="Calibri" pitchFamily="34" charset="-122"/>
                          <a:cs typeface="Calibri" pitchFamily="34" charset="-120"/>
                        </a:rPr>
                        <a:t>0:00–0:05</a:t>
                      </a:r>
                      <a:endParaRPr lang="en-US" sz="135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350" dirty="0">
                          <a:solidFill>
                            <a:srgbClr val="1F2A30"/>
                          </a:solidFill>
                          <a:latin typeface="Calibri" pitchFamily="34" charset="0"/>
                          <a:ea typeface="Calibri" pitchFamily="34" charset="-122"/>
                          <a:cs typeface="Calibri" pitchFamily="34" charset="-120"/>
                        </a:rPr>
                        <a:t>Mở đầu, cấu trúc sản phẩm cuối khóa</a:t>
                      </a:r>
                      <a:endParaRPr lang="en-US" sz="135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65760">
                <a:tc>
                  <a:txBody>
                    <a:bodyPr/>
                    <a:lstStyle/>
                    <a:p>
                      <a:pPr indent="0" marL="0">
                        <a:buNone/>
                      </a:pPr>
                      <a:r>
                        <a:rPr lang="en-US" sz="1350" dirty="0">
                          <a:solidFill>
                            <a:srgbClr val="1F2A30"/>
                          </a:solidFill>
                          <a:latin typeface="Calibri" pitchFamily="34" charset="0"/>
                          <a:ea typeface="Calibri" pitchFamily="34" charset="-122"/>
                          <a:cs typeface="Calibri" pitchFamily="34" charset="-120"/>
                        </a:rPr>
                        <a:t>0:05–0:10</a:t>
                      </a:r>
                      <a:endParaRPr lang="en-US" sz="135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350" dirty="0">
                          <a:solidFill>
                            <a:srgbClr val="1F2A30"/>
                          </a:solidFill>
                          <a:latin typeface="Calibri" pitchFamily="34" charset="0"/>
                          <a:ea typeface="Calibri" pitchFamily="34" charset="-122"/>
                          <a:cs typeface="Calibri" pitchFamily="34" charset="-120"/>
                        </a:rPr>
                        <a:t>Rà đề cương: phần nào xong, phần nào thiếu</a:t>
                      </a:r>
                      <a:endParaRPr lang="en-US" sz="135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65760">
                <a:tc>
                  <a:txBody>
                    <a:bodyPr/>
                    <a:lstStyle/>
                    <a:p>
                      <a:pPr indent="0" marL="0">
                        <a:buNone/>
                      </a:pPr>
                      <a:r>
                        <a:rPr lang="en-US" sz="1350" dirty="0">
                          <a:solidFill>
                            <a:srgbClr val="1F2A30"/>
                          </a:solidFill>
                          <a:latin typeface="Calibri" pitchFamily="34" charset="0"/>
                          <a:ea typeface="Calibri" pitchFamily="34" charset="-122"/>
                          <a:cs typeface="Calibri" pitchFamily="34" charset="-120"/>
                        </a:rPr>
                        <a:t>0:10–0:40</a:t>
                      </a:r>
                      <a:endParaRPr lang="en-US" sz="135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350" dirty="0">
                          <a:solidFill>
                            <a:srgbClr val="1F2A30"/>
                          </a:solidFill>
                          <a:latin typeface="Calibri" pitchFamily="34" charset="0"/>
                          <a:ea typeface="Calibri" pitchFamily="34" charset="-122"/>
                          <a:cs typeface="Calibri" pitchFamily="34" charset="-120"/>
                        </a:rPr>
                        <a:t>Hoàn thiện theo 5 checklist + </a:t>
                      </a:r>
                      <a:pPr indent="0" marL="0">
                        <a:buNone/>
                      </a:pPr>
                      <a:r>
                        <a:rPr lang="en-US" sz="1350" b="1" dirty="0">
                          <a:solidFill>
                            <a:srgbClr val="1F2A30"/>
                          </a:solidFill>
                          <a:latin typeface="Calibri" pitchFamily="34" charset="0"/>
                          <a:ea typeface="Calibri" pitchFamily="34" charset="-122"/>
                          <a:cs typeface="Calibri" pitchFamily="34" charset="-120"/>
                        </a:rPr>
                        <a:t>coaching 1-1</a:t>
                      </a:r>
                      <a:endParaRPr lang="en-US" sz="135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65760">
                <a:tc>
                  <a:txBody>
                    <a:bodyPr/>
                    <a:lstStyle/>
                    <a:p>
                      <a:pPr indent="0" marL="0">
                        <a:buNone/>
                      </a:pPr>
                      <a:r>
                        <a:rPr lang="en-US" sz="1350" dirty="0">
                          <a:solidFill>
                            <a:srgbClr val="1F2A30"/>
                          </a:solidFill>
                          <a:latin typeface="Calibri" pitchFamily="34" charset="0"/>
                          <a:ea typeface="Calibri" pitchFamily="34" charset="-122"/>
                          <a:cs typeface="Calibri" pitchFamily="34" charset="-120"/>
                        </a:rPr>
                        <a:t>0:40–0:50</a:t>
                      </a:r>
                      <a:endParaRPr lang="en-US" sz="135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350" dirty="0">
                          <a:solidFill>
                            <a:srgbClr val="1F2A30"/>
                          </a:solidFill>
                          <a:latin typeface="Calibri" pitchFamily="34" charset="0"/>
                          <a:ea typeface="Calibri" pitchFamily="34" charset="-122"/>
                          <a:cs typeface="Calibri" pitchFamily="34" charset="-120"/>
                        </a:rPr>
                        <a:t>Tự chấm theo </a:t>
                      </a:r>
                      <a:pPr indent="0" marL="0">
                        <a:buNone/>
                      </a:pPr>
                      <a:r>
                        <a:rPr lang="en-US" sz="1350" b="1" dirty="0">
                          <a:solidFill>
                            <a:srgbClr val="1F2A30"/>
                          </a:solidFill>
                          <a:latin typeface="Calibri" pitchFamily="34" charset="0"/>
                          <a:ea typeface="Calibri" pitchFamily="34" charset="-122"/>
                          <a:cs typeface="Calibri" pitchFamily="34" charset="-120"/>
                        </a:rPr>
                        <a:t>rubric ASM 2</a:t>
                      </a:r>
                      <a:pPr indent="0" marL="0">
                        <a:buNone/>
                      </a:pPr>
                      <a:r>
                        <a:rPr lang="en-US" sz="1350" dirty="0">
                          <a:solidFill>
                            <a:srgbClr val="1F2A30"/>
                          </a:solidFill>
                          <a:latin typeface="Calibri" pitchFamily="34" charset="0"/>
                          <a:ea typeface="Calibri" pitchFamily="34" charset="-122"/>
                          <a:cs typeface="Calibri" pitchFamily="34" charset="-120"/>
                        </a:rPr>
                        <a:t>, chuẩn bị khung showcase</a:t>
                      </a:r>
                      <a:endParaRPr lang="en-US" sz="135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65760">
                <a:tc>
                  <a:txBody>
                    <a:bodyPr/>
                    <a:lstStyle/>
                    <a:p>
                      <a:pPr indent="0" marL="0">
                        <a:buNone/>
                      </a:pPr>
                      <a:r>
                        <a:rPr lang="en-US" sz="1350" dirty="0">
                          <a:solidFill>
                            <a:srgbClr val="1F2A30"/>
                          </a:solidFill>
                          <a:latin typeface="Calibri" pitchFamily="34" charset="0"/>
                          <a:ea typeface="Calibri" pitchFamily="34" charset="-122"/>
                          <a:cs typeface="Calibri" pitchFamily="34" charset="-120"/>
                        </a:rPr>
                        <a:t>0:50–1:40</a:t>
                      </a:r>
                      <a:endParaRPr lang="en-US" sz="135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350" b="1" dirty="0">
                          <a:solidFill>
                            <a:srgbClr val="1F2A30"/>
                          </a:solidFill>
                          <a:latin typeface="Calibri" pitchFamily="34" charset="0"/>
                          <a:ea typeface="Calibri" pitchFamily="34" charset="-122"/>
                          <a:cs typeface="Calibri" pitchFamily="34" charset="-120"/>
                        </a:rPr>
                        <a:t>Showcase</a:t>
                      </a:r>
                      <a:pPr indent="0" marL="0">
                        <a:buNone/>
                      </a:pPr>
                      <a:r>
                        <a:rPr lang="en-US" sz="1350" dirty="0">
                          <a:solidFill>
                            <a:srgbClr val="1F2A30"/>
                          </a:solidFill>
                          <a:latin typeface="Calibri" pitchFamily="34" charset="0"/>
                          <a:ea typeface="Calibri" pitchFamily="34" charset="-122"/>
                          <a:cs typeface="Calibri" pitchFamily="34" charset="-120"/>
                        </a:rPr>
                        <a:t> 5 phút/người + peer review</a:t>
                      </a:r>
                      <a:endParaRPr lang="en-US" sz="135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65760">
                <a:tc>
                  <a:txBody>
                    <a:bodyPr/>
                    <a:lstStyle/>
                    <a:p>
                      <a:pPr indent="0" marL="0">
                        <a:buNone/>
                      </a:pPr>
                      <a:r>
                        <a:rPr lang="en-US" sz="1350" dirty="0">
                          <a:solidFill>
                            <a:srgbClr val="1F2A30"/>
                          </a:solidFill>
                          <a:latin typeface="Calibri" pitchFamily="34" charset="0"/>
                          <a:ea typeface="Calibri" pitchFamily="34" charset="-122"/>
                          <a:cs typeface="Calibri" pitchFamily="34" charset="-120"/>
                        </a:rPr>
                        <a:t>1:40–1:55</a:t>
                      </a:r>
                      <a:endParaRPr lang="en-US" sz="135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350" b="1" dirty="0">
                          <a:solidFill>
                            <a:srgbClr val="1F2A30"/>
                          </a:solidFill>
                          <a:latin typeface="Calibri" pitchFamily="34" charset="0"/>
                          <a:ea typeface="Calibri" pitchFamily="34" charset="-122"/>
                          <a:cs typeface="Calibri" pitchFamily="34" charset="-120"/>
                        </a:rPr>
                        <a:t>Quiz cuối khóa</a:t>
                      </a:r>
                      <a:pPr indent="0" marL="0">
                        <a:buNone/>
                      </a:pPr>
                      <a:r>
                        <a:rPr lang="en-US" sz="1350" dirty="0">
                          <a:solidFill>
                            <a:srgbClr val="1F2A30"/>
                          </a:solidFill>
                          <a:latin typeface="Calibri" pitchFamily="34" charset="0"/>
                          <a:ea typeface="Calibri" pitchFamily="34" charset="-122"/>
                          <a:cs typeface="Calibri" pitchFamily="34" charset="-120"/>
                        </a:rPr>
                        <a:t> 5 câu</a:t>
                      </a:r>
                      <a:endParaRPr lang="en-US" sz="135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65760">
                <a:tc>
                  <a:txBody>
                    <a:bodyPr/>
                    <a:lstStyle/>
                    <a:p>
                      <a:pPr indent="0" marL="0">
                        <a:buNone/>
                      </a:pPr>
                      <a:r>
                        <a:rPr lang="en-US" sz="1350" dirty="0">
                          <a:solidFill>
                            <a:srgbClr val="1F2A30"/>
                          </a:solidFill>
                          <a:latin typeface="Calibri" pitchFamily="34" charset="0"/>
                          <a:ea typeface="Calibri" pitchFamily="34" charset="-122"/>
                          <a:cs typeface="Calibri" pitchFamily="34" charset="-120"/>
                        </a:rPr>
                        <a:t>1:55–2:00</a:t>
                      </a:r>
                      <a:endParaRPr lang="en-US" sz="135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350" dirty="0">
                          <a:solidFill>
                            <a:srgbClr val="1F2A30"/>
                          </a:solidFill>
                          <a:latin typeface="Calibri" pitchFamily="34" charset="0"/>
                          <a:ea typeface="Calibri" pitchFamily="34" charset="-122"/>
                          <a:cs typeface="Calibri" pitchFamily="34" charset="-120"/>
                        </a:rPr>
                        <a:t>Tổng kết khóa &amp; cam kết 30 ngày</a:t>
                      </a:r>
                      <a:endParaRPr lang="en-US" sz="135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5" name="Text 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6" name="Text 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NHÌN LẠI</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Hành trình 5 buổi, mỗi buổi một mảnh ghép</a:t>
            </a:r>
            <a:endParaRPr lang="en-US" sz="2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731520"/>
                <a:gridCol w="4572000"/>
                <a:gridCol w="292608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Buổi</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Bạn làm được gì</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Thành phần Bộ công cụ</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1</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Che, Kiểm, Chịu trách nhiệm; prompt </a:t>
                      </a:r>
                      <a:pPr indent="0" marL="0">
                        <a:buNone/>
                      </a:pPr>
                      <a:r>
                        <a:rPr lang="en-US" sz="1400" b="1" dirty="0">
                          <a:solidFill>
                            <a:srgbClr val="1F2A30"/>
                          </a:solidFill>
                          <a:latin typeface="Calibri" pitchFamily="34" charset="0"/>
                          <a:ea typeface="Calibri" pitchFamily="34" charset="-122"/>
                          <a:cs typeface="Calibri" pitchFamily="34" charset="-120"/>
                        </a:rPr>
                        <a:t>V-B-N-Đ-G</a:t>
                      </a:r>
                      <a:pPr indent="0" marL="0">
                        <a:buNone/>
                      </a:pPr>
                      <a:r>
                        <a:rPr lang="en-US" sz="1400" dirty="0">
                          <a:solidFill>
                            <a:srgbClr val="1F2A30"/>
                          </a:solidFill>
                          <a:latin typeface="Calibri" pitchFamily="34" charset="0"/>
                          <a:ea typeface="Calibri" pitchFamily="34" charset="-122"/>
                          <a:cs typeface="Calibri" pitchFamily="34" charset="-120"/>
                        </a:rPr>
                        <a:t>; LEAST/HEARD</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Thư viện prompt v1, checklist bảo mật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2</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NotebookLM có trích dẫn; ghi âm → văn bản → tóm tắt CRM; </a:t>
                      </a:r>
                      <a:pPr indent="0" marL="0">
                        <a:buNone/>
                      </a:pPr>
                      <a:r>
                        <a:rPr lang="en-US" sz="1400" b="1" dirty="0">
                          <a:solidFill>
                            <a:srgbClr val="1F2A30"/>
                          </a:solidFill>
                          <a:latin typeface="Calibri" pitchFamily="34" charset="0"/>
                          <a:ea typeface="Calibri" pitchFamily="34" charset="-122"/>
                          <a:cs typeface="Calibri" pitchFamily="34" charset="-120"/>
                        </a:rPr>
                        <a:t>ASM 1</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Trợ lý NotebookLM, quy trình → CRM</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3</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AI đọc ảnh; infographic Canva AI, video CapCut; so sánh 4 trợ lý</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Tài liệu hướng dẫn khách</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4</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Phân loại ticket, cảm xúc, nguy cơ rời bỏ, chấm QA, roleplay</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Đề cương sản phẩm, nguồn số liệu</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5</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Hoàn thiện, đo hiệu quả, trình bày, góp ý; </a:t>
                      </a:r>
                      <a:pPr indent="0" marL="0">
                        <a:buNone/>
                      </a:pPr>
                      <a:r>
                        <a:rPr lang="en-US" sz="1400" b="1" dirty="0">
                          <a:solidFill>
                            <a:srgbClr val="1F2A30"/>
                          </a:solidFill>
                          <a:latin typeface="Calibri" pitchFamily="34" charset="0"/>
                          <a:ea typeface="Calibri" pitchFamily="34" charset="-122"/>
                          <a:cs typeface="Calibri" pitchFamily="34" charset="-120"/>
                        </a:rPr>
                        <a:t>ASM 2</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Bộ công cụ AI ca trực hoàn chỉnh</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5" name="Text 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6" name="Text 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01</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PHẦN 1 · 45 PHÚT</a:t>
            </a:r>
            <a:endParaRPr lang="en-US" sz="1200" dirty="0"/>
          </a:p>
        </p:txBody>
      </p:sp>
      <p:sp>
        <p:nvSpPr>
          <p:cNvPr id="4" name="Text 2"/>
          <p:cNvSpPr txBox="1"/>
          <p:nvPr/>
        </p:nvSpPr>
        <p:spPr>
          <a:xfrm>
            <a:off x="548640" y="2468880"/>
            <a:ext cx="658368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Hoàn thiện Bộ công cụ</a:t>
            </a:r>
            <a:endParaRPr lang="en-US" sz="3200" dirty="0"/>
          </a:p>
        </p:txBody>
      </p:sp>
      <p:sp>
        <p:nvSpPr>
          <p:cNvPr id="5" name="Text 3"/>
          <p:cNvSpPr txBox="1"/>
          <p:nvPr/>
        </p:nvSpPr>
        <p:spPr>
          <a:xfrm>
            <a:off x="548640" y="329184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Từ "bản nháp rải rác ở 4 buổi" thành một gói nộp hoàn chỉnh, đủ 5 thành phần.</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ASM 2 · 30%</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Bộ công cụ AI ca trực gồm 5 thành phần</a:t>
            </a:r>
            <a:endParaRPr lang="en-US" sz="2500" dirty="0"/>
          </a:p>
        </p:txBody>
      </p:sp>
      <p:sp>
        <p:nvSpPr>
          <p:cNvPr id="4" name="Shape 2"/>
          <p:cNvSpPr/>
          <p:nvPr/>
        </p:nvSpPr>
        <p:spPr>
          <a:xfrm>
            <a:off x="457200" y="1371600"/>
            <a:ext cx="2590800" cy="1485900"/>
          </a:xfrm>
          <a:prstGeom prst="roundRect">
            <a:avLst>
              <a:gd name="adj" fmla="val 6154"/>
            </a:avLst>
          </a:prstGeom>
          <a:solidFill>
            <a:srgbClr val="E8F3F1"/>
          </a:solidFill>
          <a:ln w="12700">
            <a:solidFill>
              <a:srgbClr val="E8F3F1"/>
            </a:solidFill>
            <a:prstDash val="solid"/>
          </a:ln>
        </p:spPr>
      </p:sp>
      <p:sp>
        <p:nvSpPr>
          <p:cNvPr id="5" name="Shape 3"/>
          <p:cNvSpPr/>
          <p:nvPr/>
        </p:nvSpPr>
        <p:spPr>
          <a:xfrm>
            <a:off x="621792" y="1536192"/>
            <a:ext cx="402336" cy="402336"/>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726399" y="1640799"/>
            <a:ext cx="193121" cy="193121"/>
          </a:xfrm>
          <a:prstGeom prst="rect">
            <a:avLst/>
          </a:prstGeom>
        </p:spPr>
      </p:pic>
      <p:sp>
        <p:nvSpPr>
          <p:cNvPr id="7" name="Text 4"/>
          <p:cNvSpPr txBox="1"/>
          <p:nvPr/>
        </p:nvSpPr>
        <p:spPr>
          <a:xfrm>
            <a:off x="1115568" y="1517904"/>
            <a:ext cx="1786128" cy="438912"/>
          </a:xfrm>
          <a:prstGeom prst="rect">
            <a:avLst/>
          </a:prstGeom>
          <a:noFill/>
          <a:ln/>
        </p:spPr>
        <p:txBody>
          <a:bodyPr wrap="square" lIns="0" tIns="0" rIns="0" bIns="0" rtlCol="0" anchor="ctr">
            <a:normAutofit/>
          </a:bodyPr>
          <a:lstStyle/>
          <a:p>
            <a:pPr indent="0" marL="0">
              <a:buNone/>
            </a:pPr>
            <a:r>
              <a:rPr lang="en-US" sz="1350" b="1" dirty="0">
                <a:solidFill>
                  <a:srgbClr val="0B3B45"/>
                </a:solidFill>
                <a:latin typeface="Calibri" pitchFamily="34" charset="0"/>
                <a:ea typeface="Calibri" pitchFamily="34" charset="-122"/>
                <a:cs typeface="Calibri" pitchFamily="34" charset="-120"/>
              </a:rPr>
              <a:t>Thư viện prompt</a:t>
            </a:r>
            <a:endParaRPr lang="en-US" sz="1350" dirty="0"/>
          </a:p>
        </p:txBody>
      </p:sp>
      <p:sp>
        <p:nvSpPr>
          <p:cNvPr id="8" name="Text 5"/>
          <p:cNvSpPr txBox="1"/>
          <p:nvPr/>
        </p:nvSpPr>
        <p:spPr>
          <a:xfrm>
            <a:off x="640080" y="2029968"/>
            <a:ext cx="2243328" cy="754380"/>
          </a:xfrm>
          <a:prstGeom prst="rect">
            <a:avLst/>
          </a:prstGeom>
          <a:noFill/>
          <a:ln/>
        </p:spPr>
        <p:txBody>
          <a:bodyPr wrap="square" lIns="0" tIns="0" rIns="0" bIns="0" rtlCol="0" anchor="t"/>
          <a:lstStyle/>
          <a:p>
            <a:pPr indent="0" marL="0">
              <a:buNone/>
            </a:pPr>
            <a:r>
              <a:rPr lang="en-US" sz="1200" b="1" dirty="0">
                <a:solidFill>
                  <a:srgbClr val="1F2A30"/>
                </a:solidFill>
                <a:latin typeface="Calibri" pitchFamily="34" charset="0"/>
                <a:ea typeface="Calibri" pitchFamily="34" charset="-122"/>
                <a:cs typeface="Calibri" pitchFamily="34" charset="-120"/>
              </a:rPr>
              <a:t>≥ 10 prompt</a:t>
            </a:r>
            <a:pPr indent="0" marL="0">
              <a:buNone/>
            </a:pPr>
            <a:r>
              <a:rPr lang="en-US" sz="1200" dirty="0">
                <a:solidFill>
                  <a:srgbClr val="1F2A30"/>
                </a:solidFill>
                <a:latin typeface="Calibri" pitchFamily="34" charset="0"/>
                <a:ea typeface="Calibri" pitchFamily="34" charset="-122"/>
                <a:cs typeface="Calibri" pitchFamily="34" charset="-120"/>
              </a:rPr>
              <a:t>, chia 3–5 nhóm tình huống, đủ V-B-N-Đ-G.</a:t>
            </a:r>
            <a:endParaRPr lang="en-US" sz="1200" dirty="0"/>
          </a:p>
        </p:txBody>
      </p:sp>
      <p:sp>
        <p:nvSpPr>
          <p:cNvPr id="9" name="Shape 6"/>
          <p:cNvSpPr/>
          <p:nvPr/>
        </p:nvSpPr>
        <p:spPr>
          <a:xfrm>
            <a:off x="3276600" y="1371600"/>
            <a:ext cx="2590800" cy="1485900"/>
          </a:xfrm>
          <a:prstGeom prst="roundRect">
            <a:avLst>
              <a:gd name="adj" fmla="val 6154"/>
            </a:avLst>
          </a:prstGeom>
          <a:solidFill>
            <a:srgbClr val="E8F3F1"/>
          </a:solidFill>
          <a:ln w="12700">
            <a:solidFill>
              <a:srgbClr val="E8F3F1"/>
            </a:solidFill>
            <a:prstDash val="solid"/>
          </a:ln>
        </p:spPr>
      </p:sp>
      <p:sp>
        <p:nvSpPr>
          <p:cNvPr id="10" name="Shape 7"/>
          <p:cNvSpPr/>
          <p:nvPr/>
        </p:nvSpPr>
        <p:spPr>
          <a:xfrm>
            <a:off x="3441192" y="1536192"/>
            <a:ext cx="402336" cy="402336"/>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3545799" y="1640799"/>
            <a:ext cx="193121" cy="193121"/>
          </a:xfrm>
          <a:prstGeom prst="rect">
            <a:avLst/>
          </a:prstGeom>
        </p:spPr>
      </p:pic>
      <p:sp>
        <p:nvSpPr>
          <p:cNvPr id="12" name="Text 8"/>
          <p:cNvSpPr txBox="1"/>
          <p:nvPr/>
        </p:nvSpPr>
        <p:spPr>
          <a:xfrm>
            <a:off x="3934968" y="1517904"/>
            <a:ext cx="1786128" cy="438912"/>
          </a:xfrm>
          <a:prstGeom prst="rect">
            <a:avLst/>
          </a:prstGeom>
          <a:noFill/>
          <a:ln/>
        </p:spPr>
        <p:txBody>
          <a:bodyPr wrap="square" lIns="0" tIns="0" rIns="0" bIns="0" rtlCol="0" anchor="ctr">
            <a:normAutofit/>
          </a:bodyPr>
          <a:lstStyle/>
          <a:p>
            <a:pPr indent="0" marL="0">
              <a:buNone/>
            </a:pPr>
            <a:r>
              <a:rPr lang="en-US" sz="1350" b="1" dirty="0">
                <a:solidFill>
                  <a:srgbClr val="0B3B45"/>
                </a:solidFill>
                <a:latin typeface="Calibri" pitchFamily="34" charset="0"/>
                <a:ea typeface="Calibri" pitchFamily="34" charset="-122"/>
                <a:cs typeface="Calibri" pitchFamily="34" charset="-120"/>
              </a:rPr>
              <a:t>Trợ lý NotebookLM</a:t>
            </a:r>
            <a:endParaRPr lang="en-US" sz="1350" dirty="0"/>
          </a:p>
        </p:txBody>
      </p:sp>
      <p:sp>
        <p:nvSpPr>
          <p:cNvPr id="13" name="Text 9"/>
          <p:cNvSpPr txBox="1"/>
          <p:nvPr/>
        </p:nvSpPr>
        <p:spPr>
          <a:xfrm>
            <a:off x="3459480" y="2029968"/>
            <a:ext cx="2243328" cy="754380"/>
          </a:xfrm>
          <a:prstGeom prst="rect">
            <a:avLst/>
          </a:prstGeom>
          <a:noFill/>
          <a:ln/>
        </p:spPr>
        <p:txBody>
          <a:bodyPr wrap="square" lIns="0" tIns="0" rIns="0" bIns="0" rtlCol="0" anchor="t"/>
          <a:lstStyle/>
          <a:p>
            <a:pPr indent="0" marL="0">
              <a:buNone/>
            </a:pPr>
            <a:r>
              <a:rPr lang="en-US" sz="1200" dirty="0">
                <a:solidFill>
                  <a:srgbClr val="1F2A30"/>
                </a:solidFill>
                <a:latin typeface="Calibri" pitchFamily="34" charset="0"/>
                <a:ea typeface="Calibri" pitchFamily="34" charset="-122"/>
                <a:cs typeface="Calibri" pitchFamily="34" charset="-120"/>
              </a:rPr>
              <a:t>Nạp </a:t>
            </a:r>
            <a:pPr indent="0" marL="0">
              <a:buNone/>
            </a:pPr>
            <a:r>
              <a:rPr lang="en-US" sz="1200" b="1" dirty="0">
                <a:solidFill>
                  <a:srgbClr val="1F2A30"/>
                </a:solidFill>
                <a:latin typeface="Calibri" pitchFamily="34" charset="0"/>
                <a:ea typeface="Calibri" pitchFamily="34" charset="-122"/>
                <a:cs typeface="Calibri" pitchFamily="34" charset="-120"/>
              </a:rPr>
              <a:t>≥ 3 nguồn</a:t>
            </a:r>
            <a:pPr indent="0" marL="0">
              <a:buNone/>
            </a:pPr>
            <a:r>
              <a:rPr lang="en-US" sz="1200" dirty="0">
                <a:solidFill>
                  <a:srgbClr val="1F2A30"/>
                </a:solidFill>
                <a:latin typeface="Calibri" pitchFamily="34" charset="0"/>
                <a:ea typeface="Calibri" pitchFamily="34" charset="-122"/>
                <a:cs typeface="Calibri" pitchFamily="34" charset="-120"/>
              </a:rPr>
              <a:t> tài liệu bộ phận, trả lời có </a:t>
            </a:r>
            <a:pPr indent="0" marL="0">
              <a:buNone/>
            </a:pPr>
            <a:r>
              <a:rPr lang="en-US" sz="1200" b="1" dirty="0">
                <a:solidFill>
                  <a:srgbClr val="1F2A30"/>
                </a:solidFill>
                <a:latin typeface="Calibri" pitchFamily="34" charset="0"/>
                <a:ea typeface="Calibri" pitchFamily="34" charset="-122"/>
                <a:cs typeface="Calibri" pitchFamily="34" charset="-120"/>
              </a:rPr>
              <a:t>trích dẫn</a:t>
            </a:r>
            <a:pPr indent="0" marL="0">
              <a:buNone/>
            </a:pPr>
            <a:r>
              <a:rPr lang="en-US" sz="1200" dirty="0">
                <a:solidFill>
                  <a:srgbClr val="1F2A30"/>
                </a:solidFill>
                <a:latin typeface="Calibri" pitchFamily="34" charset="0"/>
                <a:ea typeface="Calibri" pitchFamily="34" charset="-122"/>
                <a:cs typeface="Calibri" pitchFamily="34" charset="-120"/>
              </a:rPr>
              <a:t>.</a:t>
            </a:r>
            <a:endParaRPr lang="en-US" sz="1200" dirty="0"/>
          </a:p>
        </p:txBody>
      </p:sp>
      <p:sp>
        <p:nvSpPr>
          <p:cNvPr id="14" name="Shape 10"/>
          <p:cNvSpPr/>
          <p:nvPr/>
        </p:nvSpPr>
        <p:spPr>
          <a:xfrm>
            <a:off x="6096000" y="1371600"/>
            <a:ext cx="2590800" cy="1485900"/>
          </a:xfrm>
          <a:prstGeom prst="roundRect">
            <a:avLst>
              <a:gd name="adj" fmla="val 6154"/>
            </a:avLst>
          </a:prstGeom>
          <a:solidFill>
            <a:srgbClr val="E8F3F1"/>
          </a:solidFill>
          <a:ln w="12700">
            <a:solidFill>
              <a:srgbClr val="E8F3F1"/>
            </a:solidFill>
            <a:prstDash val="solid"/>
          </a:ln>
        </p:spPr>
      </p:sp>
      <p:sp>
        <p:nvSpPr>
          <p:cNvPr id="15" name="Shape 11"/>
          <p:cNvSpPr/>
          <p:nvPr/>
        </p:nvSpPr>
        <p:spPr>
          <a:xfrm>
            <a:off x="6260592" y="1536192"/>
            <a:ext cx="402336" cy="402336"/>
          </a:xfrm>
          <a:prstGeom prst="ellipse">
            <a:avLst/>
          </a:prstGeom>
          <a:solidFill>
            <a:srgbClr val="0E7C7B"/>
          </a:solidFill>
          <a:ln w="12700">
            <a:solidFill>
              <a:srgbClr val="0E7C7B"/>
            </a:solidFill>
            <a:prstDash val="solid"/>
          </a:ln>
        </p:spPr>
      </p:sp>
      <p:pic>
        <p:nvPicPr>
          <p:cNvPr id="16" name="Image 2" descr="preencoded.png">    </p:cNvPr>
          <p:cNvPicPr>
            <a:picLocks noChangeAspect="1"/>
          </p:cNvPicPr>
          <p:nvPr/>
        </p:nvPicPr>
        <p:blipFill>
          <a:blip r:embed="rId3"/>
          <a:stretch>
            <a:fillRect/>
          </a:stretch>
        </p:blipFill>
        <p:spPr>
          <a:xfrm>
            <a:off x="6365199" y="1640799"/>
            <a:ext cx="193121" cy="193121"/>
          </a:xfrm>
          <a:prstGeom prst="rect">
            <a:avLst/>
          </a:prstGeom>
        </p:spPr>
      </p:pic>
      <p:sp>
        <p:nvSpPr>
          <p:cNvPr id="17" name="Text 12"/>
          <p:cNvSpPr txBox="1"/>
          <p:nvPr/>
        </p:nvSpPr>
        <p:spPr>
          <a:xfrm>
            <a:off x="6754368" y="1517904"/>
            <a:ext cx="1786128" cy="438912"/>
          </a:xfrm>
          <a:prstGeom prst="rect">
            <a:avLst/>
          </a:prstGeom>
          <a:noFill/>
          <a:ln/>
        </p:spPr>
        <p:txBody>
          <a:bodyPr wrap="square" lIns="0" tIns="0" rIns="0" bIns="0" rtlCol="0" anchor="ctr">
            <a:normAutofit/>
          </a:bodyPr>
          <a:lstStyle/>
          <a:p>
            <a:pPr indent="0" marL="0">
              <a:buNone/>
            </a:pPr>
            <a:r>
              <a:rPr lang="en-US" sz="1350" b="1" dirty="0">
                <a:solidFill>
                  <a:srgbClr val="0B3B45"/>
                </a:solidFill>
                <a:latin typeface="Calibri" pitchFamily="34" charset="0"/>
                <a:ea typeface="Calibri" pitchFamily="34" charset="-122"/>
                <a:cs typeface="Calibri" pitchFamily="34" charset="-120"/>
              </a:rPr>
              <a:t>Quy trình → CRM</a:t>
            </a:r>
            <a:endParaRPr lang="en-US" sz="1350" dirty="0"/>
          </a:p>
        </p:txBody>
      </p:sp>
      <p:sp>
        <p:nvSpPr>
          <p:cNvPr id="18" name="Text 13"/>
          <p:cNvSpPr txBox="1"/>
          <p:nvPr/>
        </p:nvSpPr>
        <p:spPr>
          <a:xfrm>
            <a:off x="6278880" y="2029968"/>
            <a:ext cx="2243328" cy="754380"/>
          </a:xfrm>
          <a:prstGeom prst="rect">
            <a:avLst/>
          </a:prstGeom>
          <a:noFill/>
          <a:ln/>
        </p:spPr>
        <p:txBody>
          <a:bodyPr wrap="square" lIns="0" tIns="0" rIns="0" bIns="0" rtlCol="0" anchor="t"/>
          <a:lstStyle/>
          <a:p>
            <a:pPr indent="0" marL="0">
              <a:buNone/>
            </a:pPr>
            <a:r>
              <a:rPr lang="en-US" sz="1200" dirty="0">
                <a:solidFill>
                  <a:srgbClr val="1F2A30"/>
                </a:solidFill>
                <a:latin typeface="Calibri" pitchFamily="34" charset="0"/>
                <a:ea typeface="Calibri" pitchFamily="34" charset="-122"/>
                <a:cs typeface="Calibri" pitchFamily="34" charset="-120"/>
              </a:rPr>
              <a:t>Ghi âm → văn bản → che dữ liệu, tóm tắt → kiểm rồi dán CRM.</a:t>
            </a:r>
            <a:endParaRPr lang="en-US" sz="1200" dirty="0"/>
          </a:p>
        </p:txBody>
      </p:sp>
      <p:sp>
        <p:nvSpPr>
          <p:cNvPr id="19" name="Shape 14"/>
          <p:cNvSpPr/>
          <p:nvPr/>
        </p:nvSpPr>
        <p:spPr>
          <a:xfrm>
            <a:off x="457200" y="3086100"/>
            <a:ext cx="2590800" cy="1485900"/>
          </a:xfrm>
          <a:prstGeom prst="roundRect">
            <a:avLst>
              <a:gd name="adj" fmla="val 6154"/>
            </a:avLst>
          </a:prstGeom>
          <a:solidFill>
            <a:srgbClr val="E8F3F1"/>
          </a:solidFill>
          <a:ln w="12700">
            <a:solidFill>
              <a:srgbClr val="E8F3F1"/>
            </a:solidFill>
            <a:prstDash val="solid"/>
          </a:ln>
        </p:spPr>
      </p:sp>
      <p:sp>
        <p:nvSpPr>
          <p:cNvPr id="20" name="Shape 15"/>
          <p:cNvSpPr/>
          <p:nvPr/>
        </p:nvSpPr>
        <p:spPr>
          <a:xfrm>
            <a:off x="621792" y="3250692"/>
            <a:ext cx="402336" cy="402336"/>
          </a:xfrm>
          <a:prstGeom prst="ellipse">
            <a:avLst/>
          </a:prstGeom>
          <a:solidFill>
            <a:srgbClr val="0E7C7B"/>
          </a:solidFill>
          <a:ln w="12700">
            <a:solidFill>
              <a:srgbClr val="0E7C7B"/>
            </a:solidFill>
            <a:prstDash val="solid"/>
          </a:ln>
        </p:spPr>
      </p:sp>
      <p:pic>
        <p:nvPicPr>
          <p:cNvPr id="21" name="Image 3" descr="preencoded.png">    </p:cNvPr>
          <p:cNvPicPr>
            <a:picLocks noChangeAspect="1"/>
          </p:cNvPicPr>
          <p:nvPr/>
        </p:nvPicPr>
        <p:blipFill>
          <a:blip r:embed="rId4"/>
          <a:stretch>
            <a:fillRect/>
          </a:stretch>
        </p:blipFill>
        <p:spPr>
          <a:xfrm>
            <a:off x="726399" y="3355299"/>
            <a:ext cx="193121" cy="193121"/>
          </a:xfrm>
          <a:prstGeom prst="rect">
            <a:avLst/>
          </a:prstGeom>
        </p:spPr>
      </p:pic>
      <p:sp>
        <p:nvSpPr>
          <p:cNvPr id="22" name="Text 16"/>
          <p:cNvSpPr txBox="1"/>
          <p:nvPr/>
        </p:nvSpPr>
        <p:spPr>
          <a:xfrm>
            <a:off x="1115568" y="3232404"/>
            <a:ext cx="1786128" cy="438912"/>
          </a:xfrm>
          <a:prstGeom prst="rect">
            <a:avLst/>
          </a:prstGeom>
          <a:noFill/>
          <a:ln/>
        </p:spPr>
        <p:txBody>
          <a:bodyPr wrap="square" lIns="0" tIns="0" rIns="0" bIns="0" rtlCol="0" anchor="ctr">
            <a:normAutofit/>
          </a:bodyPr>
          <a:lstStyle/>
          <a:p>
            <a:pPr indent="0" marL="0">
              <a:buNone/>
            </a:pPr>
            <a:r>
              <a:rPr lang="en-US" sz="1350" b="1" dirty="0">
                <a:solidFill>
                  <a:srgbClr val="0B3B45"/>
                </a:solidFill>
                <a:latin typeface="Calibri" pitchFamily="34" charset="0"/>
                <a:ea typeface="Calibri" pitchFamily="34" charset="-122"/>
                <a:cs typeface="Calibri" pitchFamily="34" charset="-120"/>
              </a:rPr>
              <a:t>Hướng dẫn khách</a:t>
            </a:r>
            <a:endParaRPr lang="en-US" sz="1350" dirty="0"/>
          </a:p>
        </p:txBody>
      </p:sp>
      <p:sp>
        <p:nvSpPr>
          <p:cNvPr id="23" name="Text 17"/>
          <p:cNvSpPr txBox="1"/>
          <p:nvPr/>
        </p:nvSpPr>
        <p:spPr>
          <a:xfrm>
            <a:off x="640080" y="3744468"/>
            <a:ext cx="2243328" cy="754380"/>
          </a:xfrm>
          <a:prstGeom prst="rect">
            <a:avLst/>
          </a:prstGeom>
          <a:noFill/>
          <a:ln/>
        </p:spPr>
        <p:txBody>
          <a:bodyPr wrap="square" lIns="0" tIns="0" rIns="0" bIns="0" rtlCol="0" anchor="t"/>
          <a:lstStyle/>
          <a:p>
            <a:pPr indent="0" marL="0">
              <a:buNone/>
            </a:pPr>
            <a:r>
              <a:rPr lang="en-US" sz="1200" b="1" dirty="0">
                <a:solidFill>
                  <a:srgbClr val="1F2A30"/>
                </a:solidFill>
                <a:latin typeface="Calibri" pitchFamily="34" charset="0"/>
                <a:ea typeface="Calibri" pitchFamily="34" charset="-122"/>
                <a:cs typeface="Calibri" pitchFamily="34" charset="-120"/>
              </a:rPr>
              <a:t>1 ảnh hoặc video</a:t>
            </a:r>
            <a:pPr indent="0" marL="0">
              <a:buNone/>
            </a:pPr>
            <a:r>
              <a:rPr lang="en-US" sz="1200" dirty="0">
                <a:solidFill>
                  <a:srgbClr val="1F2A30"/>
                </a:solidFill>
                <a:latin typeface="Calibri" pitchFamily="34" charset="0"/>
                <a:ea typeface="Calibri" pitchFamily="34" charset="-122"/>
                <a:cs typeface="Calibri" pitchFamily="34" charset="-120"/>
              </a:rPr>
              <a:t> giải quyết lỗi phổ biến nhất của bộ phận.</a:t>
            </a:r>
            <a:endParaRPr lang="en-US" sz="1200" dirty="0"/>
          </a:p>
        </p:txBody>
      </p:sp>
      <p:sp>
        <p:nvSpPr>
          <p:cNvPr id="24" name="Shape 18"/>
          <p:cNvSpPr/>
          <p:nvPr/>
        </p:nvSpPr>
        <p:spPr>
          <a:xfrm>
            <a:off x="3276600" y="3086100"/>
            <a:ext cx="2590800" cy="1485900"/>
          </a:xfrm>
          <a:prstGeom prst="roundRect">
            <a:avLst>
              <a:gd name="adj" fmla="val 6154"/>
            </a:avLst>
          </a:prstGeom>
          <a:solidFill>
            <a:srgbClr val="E8F3F1"/>
          </a:solidFill>
          <a:ln w="12700">
            <a:solidFill>
              <a:srgbClr val="E8F3F1"/>
            </a:solidFill>
            <a:prstDash val="solid"/>
          </a:ln>
        </p:spPr>
      </p:sp>
      <p:sp>
        <p:nvSpPr>
          <p:cNvPr id="25" name="Shape 19"/>
          <p:cNvSpPr/>
          <p:nvPr/>
        </p:nvSpPr>
        <p:spPr>
          <a:xfrm>
            <a:off x="3441192" y="3250692"/>
            <a:ext cx="402336" cy="402336"/>
          </a:xfrm>
          <a:prstGeom prst="ellipse">
            <a:avLst/>
          </a:prstGeom>
          <a:solidFill>
            <a:srgbClr val="F2994A"/>
          </a:solidFill>
          <a:ln w="12700">
            <a:solidFill>
              <a:srgbClr val="F2994A"/>
            </a:solidFill>
            <a:prstDash val="solid"/>
          </a:ln>
        </p:spPr>
      </p:sp>
      <p:pic>
        <p:nvPicPr>
          <p:cNvPr id="26" name="Image 4" descr="preencoded.png">    </p:cNvPr>
          <p:cNvPicPr>
            <a:picLocks noChangeAspect="1"/>
          </p:cNvPicPr>
          <p:nvPr/>
        </p:nvPicPr>
        <p:blipFill>
          <a:blip r:embed="rId5"/>
          <a:stretch>
            <a:fillRect/>
          </a:stretch>
        </p:blipFill>
        <p:spPr>
          <a:xfrm>
            <a:off x="3545799" y="3355299"/>
            <a:ext cx="193121" cy="193121"/>
          </a:xfrm>
          <a:prstGeom prst="rect">
            <a:avLst/>
          </a:prstGeom>
        </p:spPr>
      </p:pic>
      <p:sp>
        <p:nvSpPr>
          <p:cNvPr id="27" name="Text 20"/>
          <p:cNvSpPr txBox="1"/>
          <p:nvPr/>
        </p:nvSpPr>
        <p:spPr>
          <a:xfrm>
            <a:off x="3934968" y="3232404"/>
            <a:ext cx="1786128" cy="438912"/>
          </a:xfrm>
          <a:prstGeom prst="rect">
            <a:avLst/>
          </a:prstGeom>
          <a:noFill/>
          <a:ln/>
        </p:spPr>
        <p:txBody>
          <a:bodyPr wrap="square" lIns="0" tIns="0" rIns="0" bIns="0" rtlCol="0" anchor="ctr">
            <a:normAutofit/>
          </a:bodyPr>
          <a:lstStyle/>
          <a:p>
            <a:pPr indent="0" marL="0">
              <a:buNone/>
            </a:pPr>
            <a:r>
              <a:rPr lang="en-US" sz="1350" b="1" dirty="0">
                <a:solidFill>
                  <a:srgbClr val="0B3B45"/>
                </a:solidFill>
                <a:latin typeface="Calibri" pitchFamily="34" charset="0"/>
                <a:ea typeface="Calibri" pitchFamily="34" charset="-122"/>
                <a:cs typeface="Calibri" pitchFamily="34" charset="-120"/>
              </a:rPr>
              <a:t>Số liệu trước/sau</a:t>
            </a:r>
            <a:endParaRPr lang="en-US" sz="1350" dirty="0"/>
          </a:p>
        </p:txBody>
      </p:sp>
      <p:sp>
        <p:nvSpPr>
          <p:cNvPr id="28" name="Text 21"/>
          <p:cNvSpPr txBox="1"/>
          <p:nvPr/>
        </p:nvSpPr>
        <p:spPr>
          <a:xfrm>
            <a:off x="3459480" y="3744468"/>
            <a:ext cx="2243328" cy="754380"/>
          </a:xfrm>
          <a:prstGeom prst="rect">
            <a:avLst/>
          </a:prstGeom>
          <a:noFill/>
          <a:ln/>
        </p:spPr>
        <p:txBody>
          <a:bodyPr wrap="square" lIns="0" tIns="0" rIns="0" bIns="0" rtlCol="0" anchor="t"/>
          <a:lstStyle/>
          <a:p>
            <a:pPr indent="0" marL="0">
              <a:buNone/>
            </a:pPr>
            <a:r>
              <a:rPr lang="en-US" sz="1200" dirty="0">
                <a:solidFill>
                  <a:srgbClr val="1F2A30"/>
                </a:solidFill>
                <a:latin typeface="Calibri" pitchFamily="34" charset="0"/>
                <a:ea typeface="Calibri" pitchFamily="34" charset="-122"/>
                <a:cs typeface="Calibri" pitchFamily="34" charset="-120"/>
              </a:rPr>
              <a:t>2–3 chỉ số, </a:t>
            </a:r>
            <a:pPr indent="0" marL="0">
              <a:buNone/>
            </a:pPr>
            <a:r>
              <a:rPr lang="en-US" sz="1200" b="1" dirty="0">
                <a:solidFill>
                  <a:srgbClr val="1F2A30"/>
                </a:solidFill>
                <a:latin typeface="Calibri" pitchFamily="34" charset="0"/>
                <a:ea typeface="Calibri" pitchFamily="34" charset="-122"/>
                <a:cs typeface="Calibri" pitchFamily="34" charset="-120"/>
              </a:rPr>
              <a:t>cùng cách đo</a:t>
            </a:r>
            <a:pPr indent="0" marL="0">
              <a:buNone/>
            </a:pPr>
            <a:r>
              <a:rPr lang="en-US" sz="1200" dirty="0">
                <a:solidFill>
                  <a:srgbClr val="1F2A30"/>
                </a:solidFill>
                <a:latin typeface="Calibri" pitchFamily="34" charset="0"/>
                <a:ea typeface="Calibri" pitchFamily="34" charset="-122"/>
                <a:cs typeface="Calibri" pitchFamily="34" charset="-120"/>
              </a:rPr>
              <a:t>. Hay bị bỏ quên nhất.</a:t>
            </a:r>
            <a:endParaRPr lang="en-US" sz="1200" dirty="0"/>
          </a:p>
        </p:txBody>
      </p:sp>
      <p:sp>
        <p:nvSpPr>
          <p:cNvPr id="29" name="Text 2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30" name="Text 2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CÁCH LÀM VIỆC</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45 phút hoàn thiện, chia thành 4 nhịp</a:t>
            </a:r>
            <a:endParaRPr lang="en-US" sz="2500" dirty="0"/>
          </a:p>
        </p:txBody>
      </p:sp>
      <p:sp>
        <p:nvSpPr>
          <p:cNvPr id="4" name="Shape 2"/>
          <p:cNvSpPr/>
          <p:nvPr/>
        </p:nvSpPr>
        <p:spPr>
          <a:xfrm>
            <a:off x="1485900" y="1783080"/>
            <a:ext cx="6172200" cy="0"/>
          </a:xfrm>
          <a:prstGeom prst="line">
            <a:avLst/>
          </a:prstGeom>
          <a:noFill/>
          <a:ln w="31750">
            <a:solidFill>
              <a:srgbClr val="D3EAE6"/>
            </a:solidFill>
            <a:prstDash val="solid"/>
          </a:ln>
        </p:spPr>
      </p:sp>
      <p:sp>
        <p:nvSpPr>
          <p:cNvPr id="5" name="Shape 3"/>
          <p:cNvSpPr/>
          <p:nvPr/>
        </p:nvSpPr>
        <p:spPr>
          <a:xfrm>
            <a:off x="1184148" y="1481328"/>
            <a:ext cx="603504" cy="603504"/>
          </a:xfrm>
          <a:prstGeom prst="ellipse">
            <a:avLst/>
          </a:prstGeom>
          <a:solidFill>
            <a:srgbClr val="0E7C7B"/>
          </a:solidFill>
          <a:ln w="25400">
            <a:solidFill>
              <a:srgbClr val="FFFFFF"/>
            </a:solidFill>
            <a:prstDash val="solid"/>
          </a:ln>
        </p:spPr>
      </p:sp>
      <p:sp>
        <p:nvSpPr>
          <p:cNvPr id="6" name="Text 4"/>
          <p:cNvSpPr txBox="1"/>
          <p:nvPr/>
        </p:nvSpPr>
        <p:spPr>
          <a:xfrm>
            <a:off x="11841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530352" y="2240280"/>
            <a:ext cx="19110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Phút 0–5</a:t>
            </a:r>
            <a:endParaRPr lang="en-US" sz="1450" dirty="0"/>
          </a:p>
        </p:txBody>
      </p:sp>
      <p:sp>
        <p:nvSpPr>
          <p:cNvPr id="8" name="Text 6"/>
          <p:cNvSpPr txBox="1"/>
          <p:nvPr/>
        </p:nvSpPr>
        <p:spPr>
          <a:xfrm>
            <a:off x="548640" y="2788920"/>
            <a:ext cx="18745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Mở đề cương Buổi 4, đánh dấu thành phần </a:t>
            </a:r>
            <a:pPr algn="ctr" indent="0" marL="0">
              <a:buNone/>
            </a:pPr>
            <a:r>
              <a:rPr lang="en-US" sz="1350" b="1" dirty="0">
                <a:solidFill>
                  <a:srgbClr val="1F2A30"/>
                </a:solidFill>
                <a:latin typeface="Calibri" pitchFamily="34" charset="0"/>
                <a:ea typeface="Calibri" pitchFamily="34" charset="-122"/>
                <a:cs typeface="Calibri" pitchFamily="34" charset="-120"/>
              </a:rPr>
              <a:t>đã xong</a:t>
            </a:r>
            <a:pPr algn="ctr" indent="0" marL="0">
              <a:buNone/>
            </a:pPr>
            <a:r>
              <a:rPr lang="en-US" sz="1350" dirty="0">
                <a:solidFill>
                  <a:srgbClr val="1F2A30"/>
                </a:solidFill>
                <a:latin typeface="Calibri" pitchFamily="34" charset="0"/>
                <a:ea typeface="Calibri" pitchFamily="34" charset="-122"/>
                <a:cs typeface="Calibri" pitchFamily="34" charset="-120"/>
              </a:rPr>
              <a:t> và </a:t>
            </a:r>
            <a:pPr algn="ctr" indent="0" marL="0">
              <a:buNone/>
            </a:pPr>
            <a:r>
              <a:rPr lang="en-US" sz="1350" b="1" dirty="0">
                <a:solidFill>
                  <a:srgbClr val="1F2A30"/>
                </a:solidFill>
                <a:latin typeface="Calibri" pitchFamily="34" charset="0"/>
                <a:ea typeface="Calibri" pitchFamily="34" charset="-122"/>
                <a:cs typeface="Calibri" pitchFamily="34" charset="-120"/>
              </a:rPr>
              <a:t>còn thiếu</a:t>
            </a:r>
            <a:pPr algn="ctr" indent="0" marL="0">
              <a:buNone/>
            </a:pPr>
            <a:r>
              <a:rPr lang="en-US" sz="1350" dirty="0">
                <a:solidFill>
                  <a:srgbClr val="1F2A30"/>
                </a:solidFill>
                <a:latin typeface="Calibri" pitchFamily="34" charset="0"/>
                <a:ea typeface="Calibri" pitchFamily="34" charset="-122"/>
                <a:cs typeface="Calibri" pitchFamily="34" charset="-120"/>
              </a:rPr>
              <a:t>.</a:t>
            </a:r>
            <a:endParaRPr lang="en-US" sz="1350" dirty="0"/>
          </a:p>
        </p:txBody>
      </p:sp>
      <p:sp>
        <p:nvSpPr>
          <p:cNvPr id="9" name="Shape 7"/>
          <p:cNvSpPr/>
          <p:nvPr/>
        </p:nvSpPr>
        <p:spPr>
          <a:xfrm>
            <a:off x="3241548" y="1481328"/>
            <a:ext cx="603504" cy="603504"/>
          </a:xfrm>
          <a:prstGeom prst="ellipse">
            <a:avLst/>
          </a:prstGeom>
          <a:solidFill>
            <a:srgbClr val="0E7C7B"/>
          </a:solidFill>
          <a:ln w="25400">
            <a:solidFill>
              <a:srgbClr val="FFFFFF"/>
            </a:solidFill>
            <a:prstDash val="solid"/>
          </a:ln>
        </p:spPr>
      </p:sp>
      <p:sp>
        <p:nvSpPr>
          <p:cNvPr id="10" name="Text 8"/>
          <p:cNvSpPr txBox="1"/>
          <p:nvPr/>
        </p:nvSpPr>
        <p:spPr>
          <a:xfrm>
            <a:off x="32415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2587752" y="2240280"/>
            <a:ext cx="19110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Phút 5–35</a:t>
            </a:r>
            <a:endParaRPr lang="en-US" sz="1450" dirty="0"/>
          </a:p>
        </p:txBody>
      </p:sp>
      <p:sp>
        <p:nvSpPr>
          <p:cNvPr id="12" name="Text 10"/>
          <p:cNvSpPr txBox="1"/>
          <p:nvPr/>
        </p:nvSpPr>
        <p:spPr>
          <a:xfrm>
            <a:off x="2606040" y="2788920"/>
            <a:ext cx="18745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Đi qua 5 checklist. Ưu tiên phần </a:t>
            </a:r>
            <a:pPr algn="ctr" indent="0" marL="0">
              <a:buNone/>
            </a:pPr>
            <a:r>
              <a:rPr lang="en-US" sz="1350" b="1" dirty="0">
                <a:solidFill>
                  <a:srgbClr val="1F2A30"/>
                </a:solidFill>
                <a:latin typeface="Calibri" pitchFamily="34" charset="0"/>
                <a:ea typeface="Calibri" pitchFamily="34" charset="-122"/>
                <a:cs typeface="Calibri" pitchFamily="34" charset="-120"/>
              </a:rPr>
              <a:t>còn thiếu</a:t>
            </a:r>
            <a:pPr algn="ctr" indent="0" marL="0">
              <a:buNone/>
            </a:pPr>
            <a:r>
              <a:rPr lang="en-US" sz="1350" dirty="0">
                <a:solidFill>
                  <a:srgbClr val="1F2A30"/>
                </a:solidFill>
                <a:latin typeface="Calibri" pitchFamily="34" charset="0"/>
                <a:ea typeface="Calibri" pitchFamily="34" charset="-122"/>
                <a:cs typeface="Calibri" pitchFamily="34" charset="-120"/>
              </a:rPr>
              <a:t>, phần "đẹp chưa" để sau.</a:t>
            </a:r>
            <a:endParaRPr lang="en-US" sz="1350" dirty="0"/>
          </a:p>
        </p:txBody>
      </p:sp>
      <p:sp>
        <p:nvSpPr>
          <p:cNvPr id="13" name="Shape 11"/>
          <p:cNvSpPr/>
          <p:nvPr/>
        </p:nvSpPr>
        <p:spPr>
          <a:xfrm>
            <a:off x="5298948" y="1481328"/>
            <a:ext cx="603504" cy="603504"/>
          </a:xfrm>
          <a:prstGeom prst="ellipse">
            <a:avLst/>
          </a:prstGeom>
          <a:solidFill>
            <a:srgbClr val="0E7C7B"/>
          </a:solidFill>
          <a:ln w="25400">
            <a:solidFill>
              <a:srgbClr val="FFFFFF"/>
            </a:solidFill>
            <a:prstDash val="solid"/>
          </a:ln>
        </p:spPr>
      </p:sp>
      <p:sp>
        <p:nvSpPr>
          <p:cNvPr id="14" name="Text 12"/>
          <p:cNvSpPr txBox="1"/>
          <p:nvPr/>
        </p:nvSpPr>
        <p:spPr>
          <a:xfrm>
            <a:off x="52989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4645152" y="2240280"/>
            <a:ext cx="19110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Phút 35–45</a:t>
            </a:r>
            <a:endParaRPr lang="en-US" sz="1450" dirty="0"/>
          </a:p>
        </p:txBody>
      </p:sp>
      <p:sp>
        <p:nvSpPr>
          <p:cNvPr id="16" name="Text 14"/>
          <p:cNvSpPr txBox="1"/>
          <p:nvPr/>
        </p:nvSpPr>
        <p:spPr>
          <a:xfrm>
            <a:off x="4663440" y="2788920"/>
            <a:ext cx="18745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Đối chiếu </a:t>
            </a:r>
            <a:pPr algn="ctr" indent="0" marL="0">
              <a:buNone/>
            </a:pPr>
            <a:r>
              <a:rPr lang="en-US" sz="1350" b="1" dirty="0">
                <a:solidFill>
                  <a:srgbClr val="1F2A30"/>
                </a:solidFill>
                <a:latin typeface="Calibri" pitchFamily="34" charset="0"/>
                <a:ea typeface="Calibri" pitchFamily="34" charset="-122"/>
                <a:cs typeface="Calibri" pitchFamily="34" charset="-120"/>
              </a:rPr>
              <a:t>rubric ASM 2</a:t>
            </a:r>
            <a:pPr algn="ctr" indent="0" marL="0">
              <a:buNone/>
            </a:pPr>
            <a:r>
              <a:rPr lang="en-US" sz="1350" dirty="0">
                <a:solidFill>
                  <a:srgbClr val="1F2A30"/>
                </a:solidFill>
                <a:latin typeface="Calibri" pitchFamily="34" charset="0"/>
                <a:ea typeface="Calibri" pitchFamily="34" charset="-122"/>
                <a:cs typeface="Calibri" pitchFamily="34" charset="-120"/>
              </a:rPr>
              <a:t>, tự chấm, chuẩn bị khung showcase.</a:t>
            </a:r>
            <a:endParaRPr lang="en-US" sz="1350" dirty="0"/>
          </a:p>
        </p:txBody>
      </p:sp>
      <p:sp>
        <p:nvSpPr>
          <p:cNvPr id="17" name="Shape 15"/>
          <p:cNvSpPr/>
          <p:nvPr/>
        </p:nvSpPr>
        <p:spPr>
          <a:xfrm>
            <a:off x="7356348" y="1481328"/>
            <a:ext cx="603504" cy="603504"/>
          </a:xfrm>
          <a:prstGeom prst="ellipse">
            <a:avLst/>
          </a:prstGeom>
          <a:solidFill>
            <a:srgbClr val="F2994A"/>
          </a:solidFill>
          <a:ln w="25400">
            <a:solidFill>
              <a:srgbClr val="FFFFFF"/>
            </a:solidFill>
            <a:prstDash val="solid"/>
          </a:ln>
        </p:spPr>
      </p:sp>
      <p:sp>
        <p:nvSpPr>
          <p:cNvPr id="18" name="Text 16"/>
          <p:cNvSpPr txBox="1"/>
          <p:nvPr/>
        </p:nvSpPr>
        <p:spPr>
          <a:xfrm>
            <a:off x="73563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6702552" y="2240280"/>
            <a:ext cx="19110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Suốt 45 phút</a:t>
            </a:r>
            <a:endParaRPr lang="en-US" sz="1450" dirty="0"/>
          </a:p>
        </p:txBody>
      </p:sp>
      <p:sp>
        <p:nvSpPr>
          <p:cNvPr id="20" name="Text 18"/>
          <p:cNvSpPr txBox="1"/>
          <p:nvPr/>
        </p:nvSpPr>
        <p:spPr>
          <a:xfrm>
            <a:off x="6720840" y="2788920"/>
            <a:ext cx="18745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Mentor gọi từng bạn </a:t>
            </a:r>
            <a:pPr algn="ctr" indent="0" marL="0">
              <a:buNone/>
            </a:pPr>
            <a:r>
              <a:rPr lang="en-US" sz="1350" b="1" dirty="0">
                <a:solidFill>
                  <a:srgbClr val="1F2A30"/>
                </a:solidFill>
                <a:latin typeface="Calibri" pitchFamily="34" charset="0"/>
                <a:ea typeface="Calibri" pitchFamily="34" charset="-122"/>
                <a:cs typeface="Calibri" pitchFamily="34" charset="-120"/>
              </a:rPr>
              <a:t>coaching 1-1</a:t>
            </a:r>
            <a:pPr algn="ctr" indent="0" marL="0">
              <a:buNone/>
            </a:pPr>
            <a:r>
              <a:rPr lang="en-US" sz="1350" dirty="0">
                <a:solidFill>
                  <a:srgbClr val="1F2A30"/>
                </a:solidFill>
                <a:latin typeface="Calibri" pitchFamily="34" charset="0"/>
                <a:ea typeface="Calibri" pitchFamily="34" charset="-122"/>
                <a:cs typeface="Calibri" pitchFamily="34" charset="-120"/>
              </a:rPr>
              <a:t>, mỗi bạn 5–7 phút.</a:t>
            </a:r>
            <a:endParaRPr lang="en-US" sz="1350" dirty="0"/>
          </a:p>
        </p:txBody>
      </p:sp>
      <p:sp>
        <p:nvSpPr>
          <p:cNvPr id="21" name="Text 19"/>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Ưu tiên </a:t>
            </a:r>
            <a:pPr indent="0" marL="0">
              <a:buNone/>
            </a:pPr>
            <a:r>
              <a:rPr lang="en-US" sz="1250" b="1" i="1" dirty="0">
                <a:solidFill>
                  <a:srgbClr val="5B6B73"/>
                </a:solidFill>
                <a:latin typeface="Calibri" pitchFamily="34" charset="0"/>
                <a:ea typeface="Calibri" pitchFamily="34" charset="-122"/>
                <a:cs typeface="Calibri" pitchFamily="34" charset="-120"/>
              </a:rPr>
              <a:t>đủ 5 thành phần</a:t>
            </a:r>
            <a:pPr indent="0" marL="0">
              <a:buNone/>
            </a:pPr>
            <a:r>
              <a:rPr lang="en-US" sz="1250" i="1" dirty="0">
                <a:solidFill>
                  <a:srgbClr val="5B6B73"/>
                </a:solidFill>
                <a:latin typeface="Calibri" pitchFamily="34" charset="0"/>
                <a:ea typeface="Calibri" pitchFamily="34" charset="-122"/>
                <a:cs typeface="Calibri" pitchFamily="34" charset="-120"/>
              </a:rPr>
              <a:t> trước, trau chuốt sau.</a:t>
            </a:r>
            <a:endParaRPr lang="en-US" sz="1250" dirty="0"/>
          </a:p>
        </p:txBody>
      </p:sp>
      <p:sp>
        <p:nvSpPr>
          <p:cNvPr id="22" name="Text 20"/>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23" name="Text 21"/>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CHECKLIST HOÀN THIỆN</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Mỗi thành phần cần có gì để "nộp được"</a:t>
            </a:r>
            <a:endParaRPr lang="en-US" sz="2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011680"/>
                <a:gridCol w="621792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Thành phần</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Bắt buộc phải có</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Thư viện prompt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Tên, khi nào dùng, prompt, ví dụ đầu ra; 1 prompt LEAST/HEARD; đã chạy thử</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NotebookLM</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Tên rõ, danh sách nguồn + ngày cập nhật, 3 câu thử có trích dẫn, 1 câu ngoài phạm vi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Quy trình CRM</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Sơ đồ 4 bước, công cụ từng bước, che dữ liệu </a:t>
                      </a:r>
                      <a:pPr indent="0" marL="0">
                        <a:buNone/>
                      </a:pPr>
                      <a:r>
                        <a:rPr lang="en-US" sz="1400" b="1" dirty="0">
                          <a:solidFill>
                            <a:srgbClr val="1F2A30"/>
                          </a:solidFill>
                          <a:latin typeface="Calibri" pitchFamily="34" charset="0"/>
                          <a:ea typeface="Calibri" pitchFamily="34" charset="-122"/>
                          <a:cs typeface="Calibri" pitchFamily="34" charset="-120"/>
                        </a:rPr>
                        <a:t>trước</a:t>
                      </a:r>
                      <a:pPr indent="0" marL="0">
                        <a:buNone/>
                      </a:pPr>
                      <a:r>
                        <a:rPr lang="en-US" sz="1400" dirty="0">
                          <a:solidFill>
                            <a:srgbClr val="1F2A30"/>
                          </a:solidFill>
                          <a:latin typeface="Calibri" pitchFamily="34" charset="0"/>
                          <a:ea typeface="Calibri" pitchFamily="34" charset="-122"/>
                          <a:cs typeface="Calibri" pitchFamily="34" charset="-120"/>
                        </a:rPr>
                        <a:t> AI, 1 ví dụ trước/sau</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Hướng dẫn khách</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Video 60–90 giây có phụ đề, hoặc ảnh ≤ 6 bước; đã thử gửi qua Zalo/email</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Số liệu</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Bảng trước/sau cùng cách đo, ghi cỡ mẫu, điều kiện, 1 câu kết luận trung thực</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Mọi thành phần phải </a:t>
            </a:r>
            <a:pPr indent="0" marL="0">
              <a:buNone/>
            </a:pPr>
            <a:r>
              <a:rPr lang="en-US" sz="1250" b="1" i="1" dirty="0">
                <a:solidFill>
                  <a:srgbClr val="5B6B73"/>
                </a:solidFill>
                <a:latin typeface="Calibri" pitchFamily="34" charset="0"/>
                <a:ea typeface="Calibri" pitchFamily="34" charset="-122"/>
                <a:cs typeface="Calibri" pitchFamily="34" charset="-120"/>
              </a:rPr>
              <a:t>chạy thử được</a:t>
            </a:r>
            <a:pPr indent="0" marL="0">
              <a:buNone/>
            </a:pPr>
            <a:r>
              <a:rPr lang="en-US" sz="1250" i="1" dirty="0">
                <a:solidFill>
                  <a:srgbClr val="5B6B73"/>
                </a:solidFill>
                <a:latin typeface="Calibri" pitchFamily="34" charset="0"/>
                <a:ea typeface="Calibri" pitchFamily="34" charset="-122"/>
                <a:cs typeface="Calibri" pitchFamily="34" charset="-120"/>
              </a:rPr>
              <a:t>, không chỉ mô tả trên giấy. Phát hiện dữ liệu thật: xóa và báo mentor ngay.</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ĐO SỐ LIỆU</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Chọn 2–3 chỉ số gắn với công việc của bạn</a:t>
            </a:r>
            <a:endParaRPr lang="en-US" sz="2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840480"/>
                <a:gridCol w="438912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Chỉ số</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Cách đo nhanh</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Thời gian ghi chú sau cuộc gọi (ACW)</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Bấm giờ 5 cuộc gọi mẫu, lấy trung bình</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Thời gian soạn 1 email/tin khiếu nại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Bấm giờ 3 lần viết tay, 3 lần dùng prompt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Thời gian tra 1 câu hỏi chính sách</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Tra file thủ công so với tra NotebookLM</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Số lần phải sửa trước khi gửi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Đếm trên 10 tin nhắn mẫu</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Số lần khách hỏi lại cùng một lỗi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1 tuần trước và sau khi gửi video hướng dẫn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Ghi rõ </a:t>
            </a:r>
            <a:pPr indent="0" marL="0">
              <a:buNone/>
            </a:pPr>
            <a:r>
              <a:rPr lang="en-US" sz="1250" b="1" i="1" dirty="0">
                <a:solidFill>
                  <a:srgbClr val="5B6B73"/>
                </a:solidFill>
                <a:latin typeface="Calibri" pitchFamily="34" charset="0"/>
                <a:ea typeface="Calibri" pitchFamily="34" charset="-122"/>
                <a:cs typeface="Calibri" pitchFamily="34" charset="-120"/>
              </a:rPr>
              <a:t>cỡ mẫu</a:t>
            </a:r>
            <a:pPr indent="0" marL="0">
              <a:buNone/>
            </a:pPr>
            <a:r>
              <a:rPr lang="en-US" sz="1250" i="1" dirty="0">
                <a:solidFill>
                  <a:srgbClr val="5B6B73"/>
                </a:solidFill>
                <a:latin typeface="Calibri" pitchFamily="34" charset="0"/>
                <a:ea typeface="Calibri" pitchFamily="34" charset="-122"/>
                <a:cs typeface="Calibri" pitchFamily="34" charset="-120"/>
              </a:rPr>
              <a:t> (đo bao nhiêu lần) và </a:t>
            </a:r>
            <a:pPr indent="0" marL="0">
              <a:buNone/>
            </a:pPr>
            <a:r>
              <a:rPr lang="en-US" sz="1250" b="1" i="1" dirty="0">
                <a:solidFill>
                  <a:srgbClr val="5B6B73"/>
                </a:solidFill>
                <a:latin typeface="Calibri" pitchFamily="34" charset="0"/>
                <a:ea typeface="Calibri" pitchFamily="34" charset="-122"/>
                <a:cs typeface="Calibri" pitchFamily="34" charset="-120"/>
              </a:rPr>
              <a:t>điều kiện</a:t>
            </a:r>
            <a:pPr indent="0" marL="0">
              <a:buNone/>
            </a:pPr>
            <a:r>
              <a:rPr lang="en-US" sz="1250" i="1" dirty="0">
                <a:solidFill>
                  <a:srgbClr val="5B6B73"/>
                </a:solidFill>
                <a:latin typeface="Calibri" pitchFamily="34" charset="0"/>
                <a:ea typeface="Calibri" pitchFamily="34" charset="-122"/>
                <a:cs typeface="Calibri" pitchFamily="34" charset="-120"/>
              </a:rPr>
              <a:t> (dữ liệu mẫu hay ca trực thật).</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KẾT LUẬN SỐ LIỆU</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Cảm tính và trung thực khác nhau thế nào</a:t>
            </a:r>
            <a:endParaRPr lang="en-US" sz="2500" dirty="0"/>
          </a:p>
        </p:txBody>
      </p:sp>
      <p:sp>
        <p:nvSpPr>
          <p:cNvPr id="4" name="Shape 2"/>
          <p:cNvSpPr/>
          <p:nvPr/>
        </p:nvSpPr>
        <p:spPr>
          <a:xfrm>
            <a:off x="457200" y="1371600"/>
            <a:ext cx="3977640" cy="2697480"/>
          </a:xfrm>
          <a:prstGeom prst="roundRect">
            <a:avLst>
              <a:gd name="adj" fmla="val 3390"/>
            </a:avLst>
          </a:prstGeom>
          <a:solidFill>
            <a:srgbClr val="FBEAE8"/>
          </a:solidFill>
          <a:ln w="12700">
            <a:solidFill>
              <a:srgbClr val="FBEAE8"/>
            </a:solidFill>
            <a:prstDash val="solid"/>
          </a:ln>
        </p:spPr>
      </p:sp>
      <p:sp>
        <p:nvSpPr>
          <p:cNvPr id="5" name="Shape 3"/>
          <p:cNvSpPr/>
          <p:nvPr/>
        </p:nvSpPr>
        <p:spPr>
          <a:xfrm>
            <a:off x="658368" y="1554480"/>
            <a:ext cx="420624" cy="420624"/>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67730" y="1663842"/>
            <a:ext cx="201900" cy="201900"/>
          </a:xfrm>
          <a:prstGeom prst="rect">
            <a:avLst/>
          </a:prstGeom>
        </p:spPr>
      </p:pic>
      <p:sp>
        <p:nvSpPr>
          <p:cNvPr id="7" name="Text 4"/>
          <p:cNvSpPr txBox="1"/>
          <p:nvPr/>
        </p:nvSpPr>
        <p:spPr>
          <a:xfrm>
            <a:off x="1188720" y="1554480"/>
            <a:ext cx="3063240" cy="420624"/>
          </a:xfrm>
          <a:prstGeom prst="rect">
            <a:avLst/>
          </a:prstGeom>
          <a:noFill/>
          <a:ln/>
        </p:spPr>
        <p:txBody>
          <a:bodyPr wrap="square" lIns="0" tIns="0" rIns="0" bIns="0" rtlCol="0" anchor="ctr"/>
          <a:lstStyle/>
          <a:p>
            <a:pPr indent="0" marL="0">
              <a:buNone/>
            </a:pPr>
            <a:r>
              <a:rPr lang="en-US" sz="1450" b="1" dirty="0">
                <a:solidFill>
                  <a:srgbClr val="C0392B"/>
                </a:solidFill>
                <a:latin typeface="Calibri" pitchFamily="34" charset="0"/>
                <a:ea typeface="Calibri" pitchFamily="34" charset="-122"/>
                <a:cs typeface="Calibri" pitchFamily="34" charset="-120"/>
              </a:rPr>
              <a:t>Nhận xét cảm tính</a:t>
            </a:r>
            <a:endParaRPr lang="en-US" sz="1450" dirty="0"/>
          </a:p>
        </p:txBody>
      </p:sp>
      <p:sp>
        <p:nvSpPr>
          <p:cNvPr id="8" name="Text 5"/>
          <p:cNvSpPr txBox="1"/>
          <p:nvPr/>
        </p:nvSpPr>
        <p:spPr>
          <a:xfrm>
            <a:off x="68580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"Dùng AI giúp em nhanh hơn rất nhiều."</a:t>
            </a:r>
            <a:endParaRPr lang="en-US" sz="1400" dirty="0"/>
          </a:p>
          <a:p>
            <a:pPr indent="0" marL="0">
              <a:buNone/>
            </a:pPr>
            <a:endParaRPr lang="en-US" sz="1400" dirty="0"/>
          </a:p>
          <a:p>
            <a:pPr indent="0" marL="0">
              <a:buNone/>
            </a:pPr>
            <a:r>
              <a:rPr lang="en-US" sz="1400" dirty="0">
                <a:solidFill>
                  <a:srgbClr val="1F2A30"/>
                </a:solidFill>
                <a:latin typeface="Calibri" pitchFamily="34" charset="0"/>
                <a:ea typeface="Calibri" pitchFamily="34" charset="-122"/>
                <a:cs typeface="Calibri" pitchFamily="34" charset="-120"/>
              </a:rPr>
              <a:t>Không cách đo, không cỡ mẫu, không ai kiểm được.</a:t>
            </a:r>
            <a:endParaRPr lang="en-US" sz="1400" dirty="0"/>
          </a:p>
        </p:txBody>
      </p:sp>
      <p:sp>
        <p:nvSpPr>
          <p:cNvPr id="9" name="Shape 6"/>
          <p:cNvSpPr/>
          <p:nvPr/>
        </p:nvSpPr>
        <p:spPr>
          <a:xfrm>
            <a:off x="4709160" y="1371600"/>
            <a:ext cx="3977640" cy="2697480"/>
          </a:xfrm>
          <a:prstGeom prst="roundRect">
            <a:avLst>
              <a:gd name="adj" fmla="val 3390"/>
            </a:avLst>
          </a:prstGeom>
          <a:solidFill>
            <a:srgbClr val="E8F3F1"/>
          </a:solidFill>
          <a:ln w="12700">
            <a:solidFill>
              <a:srgbClr val="E8F3F1"/>
            </a:solidFill>
            <a:prstDash val="solid"/>
          </a:ln>
        </p:spPr>
      </p:sp>
      <p:sp>
        <p:nvSpPr>
          <p:cNvPr id="10" name="Shape 7"/>
          <p:cNvSpPr/>
          <p:nvPr/>
        </p:nvSpPr>
        <p:spPr>
          <a:xfrm>
            <a:off x="4910328" y="1554480"/>
            <a:ext cx="420624" cy="420624"/>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5019690" y="1663842"/>
            <a:ext cx="201900" cy="201900"/>
          </a:xfrm>
          <a:prstGeom prst="rect">
            <a:avLst/>
          </a:prstGeom>
        </p:spPr>
      </p:pic>
      <p:sp>
        <p:nvSpPr>
          <p:cNvPr id="12" name="Text 8"/>
          <p:cNvSpPr txBox="1"/>
          <p:nvPr/>
        </p:nvSpPr>
        <p:spPr>
          <a:xfrm>
            <a:off x="5440680" y="1554480"/>
            <a:ext cx="3063240" cy="420624"/>
          </a:xfrm>
          <a:prstGeom prst="rect">
            <a:avLst/>
          </a:prstGeom>
          <a:noFill/>
          <a:ln/>
        </p:spPr>
        <p:txBody>
          <a:bodyPr wrap="square" lIns="0" tIns="0" rIns="0" bIns="0" rtlCol="0" anchor="ctr"/>
          <a:lstStyle/>
          <a:p>
            <a:pPr indent="0" marL="0">
              <a:buNone/>
            </a:pPr>
            <a:r>
              <a:rPr lang="en-US" sz="1450" b="1" dirty="0">
                <a:solidFill>
                  <a:srgbClr val="0E7C7B"/>
                </a:solidFill>
                <a:latin typeface="Calibri" pitchFamily="34" charset="0"/>
                <a:ea typeface="Calibri" pitchFamily="34" charset="-122"/>
                <a:cs typeface="Calibri" pitchFamily="34" charset="-120"/>
              </a:rPr>
              <a:t>Số liệu trung thực</a:t>
            </a:r>
            <a:endParaRPr lang="en-US" sz="1450" dirty="0"/>
          </a:p>
        </p:txBody>
      </p:sp>
      <p:sp>
        <p:nvSpPr>
          <p:cNvPr id="13" name="Text 9"/>
          <p:cNvSpPr txBox="1"/>
          <p:nvPr/>
        </p:nvSpPr>
        <p:spPr>
          <a:xfrm>
            <a:off x="493776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"Đo trên </a:t>
            </a:r>
            <a:pPr indent="0" marL="0">
              <a:buNone/>
            </a:pPr>
            <a:r>
              <a:rPr lang="en-US" sz="1400" b="1" dirty="0">
                <a:solidFill>
                  <a:srgbClr val="1F2A30"/>
                </a:solidFill>
                <a:latin typeface="Calibri" pitchFamily="34" charset="0"/>
                <a:ea typeface="Calibri" pitchFamily="34" charset="-122"/>
                <a:cs typeface="Calibri" pitchFamily="34" charset="-120"/>
              </a:rPr>
              <a:t>5 cuộc gọi mẫu</a:t>
            </a:r>
            <a:pPr indent="0" marL="0">
              <a:buNone/>
            </a:pPr>
            <a:r>
              <a:rPr lang="en-US" sz="1400" dirty="0">
                <a:solidFill>
                  <a:srgbClr val="1F2A30"/>
                </a:solidFill>
                <a:latin typeface="Calibri" pitchFamily="34" charset="0"/>
                <a:ea typeface="Calibri" pitchFamily="34" charset="-122"/>
                <a:cs typeface="Calibri" pitchFamily="34" charset="-120"/>
              </a:rPr>
              <a:t>, ghi chú CRM giảm từ </a:t>
            </a:r>
            <a:pPr indent="0" marL="0">
              <a:buNone/>
            </a:pPr>
            <a:r>
              <a:rPr lang="en-US" sz="1400" b="1" dirty="0">
                <a:solidFill>
                  <a:srgbClr val="1F2A30"/>
                </a:solidFill>
                <a:latin typeface="Calibri" pitchFamily="34" charset="0"/>
                <a:ea typeface="Calibri" pitchFamily="34" charset="-122"/>
                <a:cs typeface="Calibri" pitchFamily="34" charset="-120"/>
              </a:rPr>
              <a:t>4 phút 30 giây</a:t>
            </a:r>
            <a:pPr indent="0" marL="0">
              <a:buNone/>
            </a:pPr>
            <a:r>
              <a:rPr lang="en-US" sz="1400" dirty="0">
                <a:solidFill>
                  <a:srgbClr val="1F2A30"/>
                </a:solidFill>
                <a:latin typeface="Calibri" pitchFamily="34" charset="0"/>
                <a:ea typeface="Calibri" pitchFamily="34" charset="-122"/>
                <a:cs typeface="Calibri" pitchFamily="34" charset="-120"/>
              </a:rPr>
              <a:t> xuống </a:t>
            </a:r>
            <a:pPr indent="0" marL="0">
              <a:buNone/>
            </a:pPr>
            <a:r>
              <a:rPr lang="en-US" sz="1400" b="1" dirty="0">
                <a:solidFill>
                  <a:srgbClr val="1F2A30"/>
                </a:solidFill>
                <a:latin typeface="Calibri" pitchFamily="34" charset="0"/>
                <a:ea typeface="Calibri" pitchFamily="34" charset="-122"/>
                <a:cs typeface="Calibri" pitchFamily="34" charset="-120"/>
              </a:rPr>
              <a:t>1 phút 50 giây</a:t>
            </a:r>
            <a:pPr indent="0" marL="0">
              <a:buNone/>
            </a:pPr>
            <a:r>
              <a:rPr lang="en-US" sz="1400" dirty="0">
                <a:solidFill>
                  <a:srgbClr val="1F2A30"/>
                </a:solidFill>
                <a:latin typeface="Calibri" pitchFamily="34" charset="0"/>
                <a:ea typeface="Calibri" pitchFamily="34" charset="-122"/>
                <a:cs typeface="Calibri" pitchFamily="34" charset="-120"/>
              </a:rPr>
              <a:t>. Thời gian tra chính sách gần như không đổi vì em đã thuộc phần lớn câu hỏi."</a:t>
            </a:r>
            <a:endParaRPr lang="en-US" sz="1400" dirty="0"/>
          </a:p>
        </p:txBody>
      </p:sp>
      <p:sp>
        <p:nvSpPr>
          <p:cNvPr id="14" name="Shape 10"/>
          <p:cNvSpPr/>
          <p:nvPr/>
        </p:nvSpPr>
        <p:spPr>
          <a:xfrm>
            <a:off x="457200" y="4206240"/>
            <a:ext cx="347472" cy="347472"/>
          </a:xfrm>
          <a:prstGeom prst="ellipse">
            <a:avLst/>
          </a:prstGeom>
          <a:solidFill>
            <a:srgbClr val="F2994A"/>
          </a:solidFill>
          <a:ln w="12700">
            <a:solidFill>
              <a:srgbClr val="F2994A"/>
            </a:solidFill>
            <a:prstDash val="solid"/>
          </a:ln>
        </p:spPr>
      </p:sp>
      <p:pic>
        <p:nvPicPr>
          <p:cNvPr id="15" name="Image 2" descr="preencoded.png">    </p:cNvPr>
          <p:cNvPicPr>
            <a:picLocks noChangeAspect="1"/>
          </p:cNvPicPr>
          <p:nvPr/>
        </p:nvPicPr>
        <p:blipFill>
          <a:blip r:embed="rId3"/>
          <a:stretch>
            <a:fillRect/>
          </a:stretch>
        </p:blipFill>
        <p:spPr>
          <a:xfrm>
            <a:off x="547543" y="4296583"/>
            <a:ext cx="166787" cy="166787"/>
          </a:xfrm>
          <a:prstGeom prst="rect">
            <a:avLst/>
          </a:prstGeom>
        </p:spPr>
      </p:pic>
      <p:sp>
        <p:nvSpPr>
          <p:cNvPr id="16" name="Text 11"/>
          <p:cNvSpPr txBox="1"/>
          <p:nvPr/>
        </p:nvSpPr>
        <p:spPr>
          <a:xfrm>
            <a:off x="914400" y="4160520"/>
            <a:ext cx="7772400" cy="438912"/>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Nói cả chỉ số </a:t>
            </a:r>
            <a:pPr indent="0" marL="0">
              <a:buNone/>
            </a:pPr>
            <a:r>
              <a:rPr lang="en-US" sz="1200" b="1" dirty="0">
                <a:solidFill>
                  <a:srgbClr val="1F2A30"/>
                </a:solidFill>
                <a:latin typeface="Calibri" pitchFamily="34" charset="0"/>
                <a:ea typeface="Calibri" pitchFamily="34" charset="-122"/>
                <a:cs typeface="Calibri" pitchFamily="34" charset="-120"/>
              </a:rPr>
              <a:t>không cải thiện</a:t>
            </a:r>
            <a:pPr indent="0" marL="0">
              <a:buNone/>
            </a:pPr>
            <a:r>
              <a:rPr lang="en-US" sz="1200" dirty="0">
                <a:solidFill>
                  <a:srgbClr val="1F2A30"/>
                </a:solidFill>
                <a:latin typeface="Calibri" pitchFamily="34" charset="0"/>
                <a:ea typeface="Calibri" pitchFamily="34" charset="-122"/>
                <a:cs typeface="Calibri" pitchFamily="34" charset="-120"/>
              </a:rPr>
              <a:t>: đó là thứ làm Team Leader tin phần còn lại.</a:t>
            </a:r>
            <a:endParaRPr lang="en-US" sz="1200" dirty="0"/>
          </a:p>
        </p:txBody>
      </p:sp>
      <p:sp>
        <p:nvSpPr>
          <p:cNvPr id="17"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18"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COACHING 1-1 · 5–7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Mang đến buổi coaching 3 thứ</a:t>
            </a:r>
            <a:endParaRPr lang="en-US" sz="2500" dirty="0"/>
          </a:p>
        </p:txBody>
      </p:sp>
      <p:sp>
        <p:nvSpPr>
          <p:cNvPr id="4" name="Text 2"/>
          <p:cNvSpPr txBox="1"/>
          <p:nvPr/>
        </p:nvSpPr>
        <p:spPr>
          <a:xfrm>
            <a:off x="457200" y="1280160"/>
            <a:ext cx="8229600" cy="411480"/>
          </a:xfrm>
          <a:prstGeom prst="rect">
            <a:avLst/>
          </a:prstGeom>
          <a:noFill/>
          <a:ln/>
        </p:spPr>
        <p:txBody>
          <a:bodyPr wrap="square" lIns="0" tIns="0" rIns="0" bIns="0" rtlCol="0" anchor="ctr"/>
          <a:lstStyle/>
          <a:p>
            <a:pPr indent="0" marL="0">
              <a:buNone/>
            </a:pPr>
            <a:r>
              <a:rPr lang="en-US" sz="1300" dirty="0">
                <a:solidFill>
                  <a:srgbClr val="5B6B73"/>
                </a:solidFill>
                <a:latin typeface="Calibri" pitchFamily="34" charset="0"/>
                <a:ea typeface="Calibri" pitchFamily="34" charset="-122"/>
                <a:cs typeface="Calibri" pitchFamily="34" charset="-120"/>
              </a:rPr>
              <a:t>Đừng ngại mang bài "chưa xong": đó là lúc góp ý có giá trị nhất.</a:t>
            </a:r>
            <a:endParaRPr lang="en-US" sz="1300" dirty="0"/>
          </a:p>
        </p:txBody>
      </p:sp>
      <p:sp>
        <p:nvSpPr>
          <p:cNvPr id="5" name="Shape 3"/>
          <p:cNvSpPr/>
          <p:nvPr/>
        </p:nvSpPr>
        <p:spPr>
          <a:xfrm>
            <a:off x="457200" y="1783080"/>
            <a:ext cx="2590800" cy="2788920"/>
          </a:xfrm>
          <a:prstGeom prst="roundRect">
            <a:avLst>
              <a:gd name="adj" fmla="val 3529"/>
            </a:avLst>
          </a:prstGeom>
          <a:solidFill>
            <a:srgbClr val="E8F3F1"/>
          </a:solidFill>
          <a:ln w="12700">
            <a:solidFill>
              <a:srgbClr val="E8F3F1"/>
            </a:solidFill>
            <a:prstDash val="solid"/>
          </a:ln>
        </p:spPr>
      </p:sp>
      <p:sp>
        <p:nvSpPr>
          <p:cNvPr id="6" name="Shape 4"/>
          <p:cNvSpPr/>
          <p:nvPr/>
        </p:nvSpPr>
        <p:spPr>
          <a:xfrm>
            <a:off x="658368" y="1984248"/>
            <a:ext cx="475488" cy="475488"/>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81995" y="2107875"/>
            <a:ext cx="228234" cy="228234"/>
          </a:xfrm>
          <a:prstGeom prst="rect">
            <a:avLst/>
          </a:prstGeom>
        </p:spPr>
      </p:pic>
      <p:sp>
        <p:nvSpPr>
          <p:cNvPr id="8" name="Text 5"/>
          <p:cNvSpPr txBox="1"/>
          <p:nvPr/>
        </p:nvSpPr>
        <p:spPr>
          <a:xfrm>
            <a:off x="658368" y="2560320"/>
            <a:ext cx="2188464" cy="411480"/>
          </a:xfrm>
          <a:prstGeom prst="rect">
            <a:avLst/>
          </a:prstGeom>
          <a:noFill/>
          <a:ln/>
        </p:spPr>
        <p:txBody>
          <a:bodyPr wrap="square" lIns="0" tIns="0" rIns="0" bIns="0" rtlCol="0" anchor="ctr"/>
          <a:lstStyle/>
          <a:p>
            <a:pPr indent="0" marL="0">
              <a:buNone/>
            </a:pPr>
            <a:r>
              <a:rPr lang="en-US" sz="1450" b="1" dirty="0">
                <a:solidFill>
                  <a:srgbClr val="0B3B45"/>
                </a:solidFill>
                <a:latin typeface="Calibri" pitchFamily="34" charset="0"/>
                <a:ea typeface="Calibri" pitchFamily="34" charset="-122"/>
                <a:cs typeface="Calibri" pitchFamily="34" charset="-120"/>
              </a:rPr>
              <a:t>Một câu</a:t>
            </a:r>
            <a:endParaRPr lang="en-US" sz="1450" dirty="0"/>
          </a:p>
        </p:txBody>
      </p:sp>
      <p:sp>
        <p:nvSpPr>
          <p:cNvPr id="9" name="Text 6"/>
          <p:cNvSpPr txBox="1"/>
          <p:nvPr/>
        </p:nvSpPr>
        <p:spPr>
          <a:xfrm>
            <a:off x="658368" y="2999232"/>
            <a:ext cx="2188464" cy="146304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Bộ công cụ của bạn giải quyết </a:t>
            </a:r>
            <a:pPr indent="0" marL="0">
              <a:buNone/>
            </a:pPr>
            <a:r>
              <a:rPr lang="en-US" sz="1400" b="1" dirty="0">
                <a:solidFill>
                  <a:srgbClr val="1F2A30"/>
                </a:solidFill>
                <a:latin typeface="Calibri" pitchFamily="34" charset="0"/>
                <a:ea typeface="Calibri" pitchFamily="34" charset="-122"/>
                <a:cs typeface="Calibri" pitchFamily="34" charset="-120"/>
              </a:rPr>
              <a:t>vấn đề gì</a:t>
            </a:r>
            <a:pPr indent="0" marL="0">
              <a:buNone/>
            </a:pPr>
            <a:r>
              <a:rPr lang="en-US" sz="1400" dirty="0">
                <a:solidFill>
                  <a:srgbClr val="1F2A30"/>
                </a:solidFill>
                <a:latin typeface="Calibri" pitchFamily="34" charset="0"/>
                <a:ea typeface="Calibri" pitchFamily="34" charset="-122"/>
                <a:cs typeface="Calibri" pitchFamily="34" charset="-120"/>
              </a:rPr>
              <a:t> cho ca trực?</a:t>
            </a:r>
            <a:endParaRPr lang="en-US" sz="1400" dirty="0"/>
          </a:p>
        </p:txBody>
      </p:sp>
      <p:sp>
        <p:nvSpPr>
          <p:cNvPr id="10" name="Shape 7"/>
          <p:cNvSpPr/>
          <p:nvPr/>
        </p:nvSpPr>
        <p:spPr>
          <a:xfrm>
            <a:off x="3276600" y="1783080"/>
            <a:ext cx="2590800" cy="2788920"/>
          </a:xfrm>
          <a:prstGeom prst="roundRect">
            <a:avLst>
              <a:gd name="adj" fmla="val 3529"/>
            </a:avLst>
          </a:prstGeom>
          <a:solidFill>
            <a:srgbClr val="E8F3F1"/>
          </a:solidFill>
          <a:ln w="12700">
            <a:solidFill>
              <a:srgbClr val="E8F3F1"/>
            </a:solidFill>
            <a:prstDash val="solid"/>
          </a:ln>
        </p:spPr>
      </p:sp>
      <p:sp>
        <p:nvSpPr>
          <p:cNvPr id="11" name="Shape 8"/>
          <p:cNvSpPr/>
          <p:nvPr/>
        </p:nvSpPr>
        <p:spPr>
          <a:xfrm>
            <a:off x="3477768" y="1984248"/>
            <a:ext cx="475488" cy="475488"/>
          </a:xfrm>
          <a:prstGeom prst="ellipse">
            <a:avLst/>
          </a:prstGeom>
          <a:solidFill>
            <a:srgbClr val="0E7C7B"/>
          </a:solidFill>
          <a:ln w="12700">
            <a:solidFill>
              <a:srgbClr val="0E7C7B"/>
            </a:solidFill>
            <a:prstDash val="solid"/>
          </a:ln>
        </p:spPr>
      </p:sp>
      <p:pic>
        <p:nvPicPr>
          <p:cNvPr id="12" name="Image 1" descr="preencoded.png">    </p:cNvPr>
          <p:cNvPicPr>
            <a:picLocks noChangeAspect="1"/>
          </p:cNvPicPr>
          <p:nvPr/>
        </p:nvPicPr>
        <p:blipFill>
          <a:blip r:embed="rId2"/>
          <a:stretch>
            <a:fillRect/>
          </a:stretch>
        </p:blipFill>
        <p:spPr>
          <a:xfrm>
            <a:off x="3601395" y="2107875"/>
            <a:ext cx="228234" cy="228234"/>
          </a:xfrm>
          <a:prstGeom prst="rect">
            <a:avLst/>
          </a:prstGeom>
        </p:spPr>
      </p:pic>
      <p:sp>
        <p:nvSpPr>
          <p:cNvPr id="13" name="Text 9"/>
          <p:cNvSpPr txBox="1"/>
          <p:nvPr/>
        </p:nvSpPr>
        <p:spPr>
          <a:xfrm>
            <a:off x="3477768" y="2560320"/>
            <a:ext cx="2188464" cy="411480"/>
          </a:xfrm>
          <a:prstGeom prst="rect">
            <a:avLst/>
          </a:prstGeom>
          <a:noFill/>
          <a:ln/>
        </p:spPr>
        <p:txBody>
          <a:bodyPr wrap="square" lIns="0" tIns="0" rIns="0" bIns="0" rtlCol="0" anchor="ctr"/>
          <a:lstStyle/>
          <a:p>
            <a:pPr indent="0" marL="0">
              <a:buNone/>
            </a:pPr>
            <a:r>
              <a:rPr lang="en-US" sz="1450" b="1" dirty="0">
                <a:solidFill>
                  <a:srgbClr val="0B3B45"/>
                </a:solidFill>
                <a:latin typeface="Calibri" pitchFamily="34" charset="0"/>
                <a:ea typeface="Calibri" pitchFamily="34" charset="-122"/>
                <a:cs typeface="Calibri" pitchFamily="34" charset="-120"/>
              </a:rPr>
              <a:t>Chỗ vướng nhất</a:t>
            </a:r>
            <a:endParaRPr lang="en-US" sz="1450" dirty="0"/>
          </a:p>
        </p:txBody>
      </p:sp>
      <p:sp>
        <p:nvSpPr>
          <p:cNvPr id="14" name="Text 10"/>
          <p:cNvSpPr txBox="1"/>
          <p:nvPr/>
        </p:nvSpPr>
        <p:spPr>
          <a:xfrm>
            <a:off x="3477768" y="2999232"/>
            <a:ext cx="2188464" cy="146304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Ví dụ: không biết đo số liệu, prompt tóm tắt hay </a:t>
            </a:r>
            <a:pPr indent="0" marL="0">
              <a:buNone/>
            </a:pPr>
            <a:r>
              <a:rPr lang="en-US" sz="1400" b="1" dirty="0">
                <a:solidFill>
                  <a:srgbClr val="1F2A30"/>
                </a:solidFill>
                <a:latin typeface="Calibri" pitchFamily="34" charset="0"/>
                <a:ea typeface="Calibri" pitchFamily="34" charset="-122"/>
                <a:cs typeface="Calibri" pitchFamily="34" charset="-120"/>
              </a:rPr>
              <a:t>bỏ sót ý</a:t>
            </a:r>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p>
        </p:txBody>
      </p:sp>
      <p:sp>
        <p:nvSpPr>
          <p:cNvPr id="15" name="Shape 11"/>
          <p:cNvSpPr/>
          <p:nvPr/>
        </p:nvSpPr>
        <p:spPr>
          <a:xfrm>
            <a:off x="6096000" y="1783080"/>
            <a:ext cx="2590800" cy="2788920"/>
          </a:xfrm>
          <a:prstGeom prst="roundRect">
            <a:avLst>
              <a:gd name="adj" fmla="val 3529"/>
            </a:avLst>
          </a:prstGeom>
          <a:solidFill>
            <a:srgbClr val="E8F3F1"/>
          </a:solidFill>
          <a:ln w="12700">
            <a:solidFill>
              <a:srgbClr val="E8F3F1"/>
            </a:solidFill>
            <a:prstDash val="solid"/>
          </a:ln>
        </p:spPr>
      </p:sp>
      <p:sp>
        <p:nvSpPr>
          <p:cNvPr id="16" name="Shape 12"/>
          <p:cNvSpPr/>
          <p:nvPr/>
        </p:nvSpPr>
        <p:spPr>
          <a:xfrm>
            <a:off x="6297168" y="1984248"/>
            <a:ext cx="475488" cy="475488"/>
          </a:xfrm>
          <a:prstGeom prst="ellipse">
            <a:avLst/>
          </a:prstGeom>
          <a:solidFill>
            <a:srgbClr val="F2994A"/>
          </a:solidFill>
          <a:ln w="12700">
            <a:solidFill>
              <a:srgbClr val="F2994A"/>
            </a:solidFill>
            <a:prstDash val="solid"/>
          </a:ln>
        </p:spPr>
      </p:sp>
      <p:pic>
        <p:nvPicPr>
          <p:cNvPr id="17" name="Image 2" descr="preencoded.png">    </p:cNvPr>
          <p:cNvPicPr>
            <a:picLocks noChangeAspect="1"/>
          </p:cNvPicPr>
          <p:nvPr/>
        </p:nvPicPr>
        <p:blipFill>
          <a:blip r:embed="rId3"/>
          <a:stretch>
            <a:fillRect/>
          </a:stretch>
        </p:blipFill>
        <p:spPr>
          <a:xfrm>
            <a:off x="6420795" y="2107875"/>
            <a:ext cx="228234" cy="228234"/>
          </a:xfrm>
          <a:prstGeom prst="rect">
            <a:avLst/>
          </a:prstGeom>
        </p:spPr>
      </p:pic>
      <p:sp>
        <p:nvSpPr>
          <p:cNvPr id="18" name="Text 13"/>
          <p:cNvSpPr txBox="1"/>
          <p:nvPr/>
        </p:nvSpPr>
        <p:spPr>
          <a:xfrm>
            <a:off x="6297168" y="2560320"/>
            <a:ext cx="2188464" cy="411480"/>
          </a:xfrm>
          <a:prstGeom prst="rect">
            <a:avLst/>
          </a:prstGeom>
          <a:noFill/>
          <a:ln/>
        </p:spPr>
        <p:txBody>
          <a:bodyPr wrap="square" lIns="0" tIns="0" rIns="0" bIns="0" rtlCol="0" anchor="ctr"/>
          <a:lstStyle/>
          <a:p>
            <a:pPr indent="0" marL="0">
              <a:buNone/>
            </a:pPr>
            <a:r>
              <a:rPr lang="en-US" sz="1450" b="1" dirty="0">
                <a:solidFill>
                  <a:srgbClr val="0B3B45"/>
                </a:solidFill>
                <a:latin typeface="Calibri" pitchFamily="34" charset="0"/>
                <a:ea typeface="Calibri" pitchFamily="34" charset="-122"/>
                <a:cs typeface="Calibri" pitchFamily="34" charset="-120"/>
              </a:rPr>
              <a:t>Phần tự tin nhất</a:t>
            </a:r>
            <a:endParaRPr lang="en-US" sz="1450" dirty="0"/>
          </a:p>
        </p:txBody>
      </p:sp>
      <p:sp>
        <p:nvSpPr>
          <p:cNvPr id="19" name="Text 14"/>
          <p:cNvSpPr txBox="1"/>
          <p:nvPr/>
        </p:nvSpPr>
        <p:spPr>
          <a:xfrm>
            <a:off x="6297168" y="2999232"/>
            <a:ext cx="2188464" cy="146304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Để mentor góp ý nâng lên </a:t>
            </a:r>
            <a:pPr indent="0" marL="0">
              <a:buNone/>
            </a:pPr>
            <a:r>
              <a:rPr lang="en-US" sz="1400" b="1" dirty="0">
                <a:solidFill>
                  <a:srgbClr val="1F2A30"/>
                </a:solidFill>
                <a:latin typeface="Calibri" pitchFamily="34" charset="0"/>
                <a:ea typeface="Calibri" pitchFamily="34" charset="-122"/>
                <a:cs typeface="Calibri" pitchFamily="34" charset="-120"/>
              </a:rPr>
              <a:t>mức xuất sắc</a:t>
            </a:r>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p>
        </p:txBody>
      </p:sp>
      <p:sp>
        <p:nvSpPr>
          <p:cNvPr id="20" name="Text 15"/>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21" name="Text 16"/>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8F3F1"/>
        </a:solidFill>
      </p:bgPr>
    </p:bg>
    <p:spTree>
      <p:nvGrpSpPr>
        <p:cNvPr id="1" name=""/>
        <p:cNvGrpSpPr/>
        <p:nvPr/>
      </p:nvGrpSpPr>
      <p:grpSpPr>
        <a:xfrm>
          <a:off x="0" y="0"/>
          <a:ext cx="0" cy="0"/>
          <a:chOff x="0" y="0"/>
          <a:chExt cx="0" cy="0"/>
        </a:xfrm>
      </p:grpSpPr>
      <p:sp>
        <p:nvSpPr>
          <p:cNvPr id="2" name="Shape 0"/>
          <p:cNvSpPr/>
          <p:nvPr/>
        </p:nvSpPr>
        <p:spPr>
          <a:xfrm>
            <a:off x="548640" y="1097280"/>
            <a:ext cx="822960" cy="822960"/>
          </a:xfrm>
          <a:prstGeom prst="ellipse">
            <a:avLst/>
          </a:prstGeom>
          <a:solidFill>
            <a:srgbClr val="C0392B"/>
          </a:solidFill>
          <a:ln w="12700">
            <a:solidFill>
              <a:srgbClr val="C0392B"/>
            </a:solidFill>
            <a:prstDash val="solid"/>
          </a:ln>
        </p:spPr>
      </p:sp>
      <p:pic>
        <p:nvPicPr>
          <p:cNvPr id="3" name="Image 0" descr="preencoded.png">    </p:cNvPr>
          <p:cNvPicPr>
            <a:picLocks noChangeAspect="1"/>
          </p:cNvPicPr>
          <p:nvPr/>
        </p:nvPicPr>
        <p:blipFill>
          <a:blip r:embed="rId1"/>
          <a:stretch>
            <a:fillRect/>
          </a:stretch>
        </p:blipFill>
        <p:spPr>
          <a:xfrm>
            <a:off x="762610" y="1311250"/>
            <a:ext cx="395021" cy="395021"/>
          </a:xfrm>
          <a:prstGeom prst="rect">
            <a:avLst/>
          </a:prstGeom>
        </p:spPr>
      </p:pic>
      <p:sp>
        <p:nvSpPr>
          <p:cNvPr id="4" name="Text 1"/>
          <p:cNvSpPr txBox="1"/>
          <p:nvPr/>
        </p:nvSpPr>
        <p:spPr>
          <a:xfrm>
            <a:off x="1600200" y="1143000"/>
            <a:ext cx="6858000" cy="274320"/>
          </a:xfrm>
          <a:prstGeom prst="rect">
            <a:avLst/>
          </a:prstGeom>
          <a:noFill/>
          <a:ln/>
        </p:spPr>
        <p:txBody>
          <a:bodyPr wrap="square" lIns="0" tIns="0" rIns="0" bIns="0" rtlCol="0" anchor="t"/>
          <a:lstStyle/>
          <a:p>
            <a:pPr indent="0" marL="0">
              <a:buNone/>
            </a:pPr>
            <a:r>
              <a:rPr lang="en-US" sz="1100" b="1" spc="200" kern="0" dirty="0">
                <a:solidFill>
                  <a:srgbClr val="C0392B"/>
                </a:solidFill>
                <a:latin typeface="Calibri" pitchFamily="34" charset="0"/>
                <a:ea typeface="Calibri" pitchFamily="34" charset="-122"/>
                <a:cs typeface="Calibri" pitchFamily="34" charset="-120"/>
              </a:rPr>
              <a:t>ĐIỀU KIỆN BẮT BUỘC CỦA ASM 2</a:t>
            </a:r>
            <a:endParaRPr lang="en-US" sz="1100" dirty="0"/>
          </a:p>
        </p:txBody>
      </p:sp>
      <p:sp>
        <p:nvSpPr>
          <p:cNvPr id="5" name="Text 2"/>
          <p:cNvSpPr txBox="1"/>
          <p:nvPr/>
        </p:nvSpPr>
        <p:spPr>
          <a:xfrm>
            <a:off x="1600200" y="1463040"/>
            <a:ext cx="6949440" cy="1280160"/>
          </a:xfrm>
          <a:prstGeom prst="rect">
            <a:avLst/>
          </a:prstGeom>
          <a:noFill/>
          <a:ln/>
        </p:spPr>
        <p:txBody>
          <a:bodyPr wrap="square" lIns="0" tIns="0" rIns="0" bIns="0" rtlCol="0" anchor="t">
            <a:normAutofit/>
          </a:bodyPr>
          <a:lstStyle/>
          <a:p>
            <a:pPr indent="0" marL="0">
              <a:buNone/>
            </a:pPr>
            <a:r>
              <a:rPr lang="en-US" sz="2800" b="1" dirty="0">
                <a:solidFill>
                  <a:srgbClr val="0B3B45"/>
                </a:solidFill>
                <a:latin typeface="Cambria" pitchFamily="34" charset="0"/>
                <a:ea typeface="Cambria" pitchFamily="34" charset="-122"/>
                <a:cs typeface="Cambria" pitchFamily="34" charset="-120"/>
              </a:rPr>
              <a:t>Có dữ liệu thật của khách: bài không được chấm</a:t>
            </a:r>
            <a:endParaRPr lang="en-US" sz="2800" dirty="0"/>
          </a:p>
        </p:txBody>
      </p:sp>
      <p:sp>
        <p:nvSpPr>
          <p:cNvPr id="6" name="Text 3"/>
          <p:cNvSpPr txBox="1"/>
          <p:nvPr/>
        </p:nvSpPr>
        <p:spPr>
          <a:xfrm>
            <a:off x="1600200" y="2606040"/>
            <a:ext cx="6858000" cy="1554480"/>
          </a:xfrm>
          <a:prstGeom prst="rect">
            <a:avLst/>
          </a:prstGeom>
          <a:noFill/>
          <a:ln/>
        </p:spPr>
        <p:txBody>
          <a:bodyPr wrap="square" lIns="0" tIns="0" rIns="0" bIns="0" rtlCol="0" anchor="t"/>
          <a:lstStyle/>
          <a:p>
            <a:pPr indent="0" marL="0">
              <a:buNone/>
            </a:pPr>
            <a:r>
              <a:rPr lang="en-US" sz="1600" dirty="0">
                <a:solidFill>
                  <a:srgbClr val="1F2A30"/>
                </a:solidFill>
                <a:latin typeface="Calibri" pitchFamily="34" charset="0"/>
                <a:ea typeface="Calibri" pitchFamily="34" charset="-122"/>
                <a:cs typeface="Calibri" pitchFamily="34" charset="-120"/>
              </a:rPr>
              <a:t>Tên kèm SĐT, CCCD, số thẻ, địa chỉ, ghi âm chưa ẩn danh: phải gỡ bỏ và nộp lại. Thiếu thành phần nào thì tiêu chí Hoàn thiện tối đa mức 2.</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RUBRIC ASM 2 · 100 ĐIỂM</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5 tiêu chí, mỗi tiêu chí chấm 4 mức</a:t>
            </a:r>
            <a:endParaRPr lang="en-US" sz="2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645920"/>
                <a:gridCol w="914400"/>
                <a:gridCol w="3474720"/>
                <a:gridCol w="219456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Tiêu chí</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Trọng số</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Mức 4 · Xuất sắc</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Mức 1 · Chưa đạt</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Thực tế</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25</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Đúng việc lặp lại hằng ngày, đồng nghiệp dùng ngay</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Tình huống giả định, xa thực tế</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Sáng tạo</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15</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Có cách dùng AI tự nghĩ ra, vượt ngoài bài lab</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Sao chép gần nguyên mẫu</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Hoàn thiện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25</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Đủ 5 phần, có hướng dẫn dùng, đã chạy thử hết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Thiếu từ 2 thành phần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Đo hiệu quả</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20</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2–3 chỉ số, cùng cách đo, ghi cỡ mẫu, trung thực</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Chỉ nhận xét cảm tính</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Bảo mật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15</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Placeholder, che trước AI, người kiểm, nêu khi KHÔNG dùng AI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Còn sót dữ liệu nhạy cảm</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Điểm = trọng số × (mức / 4). Ví dụ: 25 + 7,5 + 18,75 + 15 + 15 = </a:t>
            </a:r>
            <a:pPr indent="0" marL="0">
              <a:buNone/>
            </a:pPr>
            <a:r>
              <a:rPr lang="en-US" sz="1250" b="1" i="1" dirty="0">
                <a:solidFill>
                  <a:srgbClr val="5B6B73"/>
                </a:solidFill>
                <a:latin typeface="Calibri" pitchFamily="34" charset="0"/>
                <a:ea typeface="Calibri" pitchFamily="34" charset="-122"/>
                <a:cs typeface="Calibri" pitchFamily="34" charset="-120"/>
              </a:rPr>
              <a:t>81,25/100</a:t>
            </a:r>
            <a:pPr indent="0" marL="0">
              <a:buNone/>
            </a:pPr>
            <a:r>
              <a:rPr lang="en-US" sz="1250" i="1" dirty="0">
                <a:solidFill>
                  <a:srgbClr val="5B6B73"/>
                </a:solidFill>
                <a:latin typeface="Calibri" pitchFamily="34" charset="0"/>
                <a:ea typeface="Calibri" pitchFamily="34" charset="-122"/>
                <a:cs typeface="Calibri" pitchFamily="34" charset="-120"/>
              </a:rPr>
              <a:t>.</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ĐÁNH GIÁ TOÀN KHÓA</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Tỷ trọng điểm của cả khóa học</a:t>
            </a:r>
            <a:endParaRPr lang="en-US" sz="2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828800"/>
                <a:gridCol w="1005840"/>
                <a:gridCol w="1280160"/>
                <a:gridCol w="411480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Thành phần</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Tỷ trọng</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Thời điểm</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Nội dung đánh giá</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ASM 1</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30%</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Sau Buổi 2</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Thư viện prompt v1 và quy trình tóm tắt cuộc gọi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ASM 2</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30%</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Buổi 5</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Bộ công cụ AI ca trực theo rubric 5 tiêu chí</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Vấn đáp / Quiz</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40%</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Buổi 5</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Quiz 5 câu và hỏi đáp với mentor khi showcase</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Tổng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100%</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Điểm khóa = ASM 1 × 30% + ASM 2 × 30% + Vấn đáp/Quiz × 40% (mỗi phần quy về thang 100).</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02</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PHẦN 2 · 50 PHÚT</a:t>
            </a:r>
            <a:endParaRPr lang="en-US" sz="1200" dirty="0"/>
          </a:p>
        </p:txBody>
      </p:sp>
      <p:sp>
        <p:nvSpPr>
          <p:cNvPr id="4" name="Text 2"/>
          <p:cNvSpPr txBox="1"/>
          <p:nvPr/>
        </p:nvSpPr>
        <p:spPr>
          <a:xfrm>
            <a:off x="548640" y="2468880"/>
            <a:ext cx="658368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Showcase &amp; Peer review</a:t>
            </a:r>
            <a:endParaRPr lang="en-US" sz="3200" dirty="0"/>
          </a:p>
        </p:txBody>
      </p:sp>
      <p:sp>
        <p:nvSpPr>
          <p:cNvPr id="5" name="Text 3"/>
          <p:cNvSpPr txBox="1"/>
          <p:nvPr/>
        </p:nvSpPr>
        <p:spPr>
          <a:xfrm>
            <a:off x="548640" y="329184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Buổi tập cho 5 phút thuyết phục Team Leader trong một cuộc họp giao ca.</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CÁCH TỔ CHỨC</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Showcase chạy theo nhóm nhỏ</a:t>
            </a:r>
            <a:endParaRPr lang="en-US" sz="2500" dirty="0"/>
          </a:p>
        </p:txBody>
      </p:sp>
      <p:sp>
        <p:nvSpPr>
          <p:cNvPr id="4" name="Shape 2"/>
          <p:cNvSpPr/>
          <p:nvPr/>
        </p:nvSpPr>
        <p:spPr>
          <a:xfrm>
            <a:off x="457200" y="1463040"/>
            <a:ext cx="1851660" cy="2377440"/>
          </a:xfrm>
          <a:prstGeom prst="roundRect">
            <a:avLst>
              <a:gd name="adj" fmla="val 4938"/>
            </a:avLst>
          </a:prstGeom>
          <a:solidFill>
            <a:srgbClr val="E8F3F1"/>
          </a:solidFill>
          <a:ln w="12700">
            <a:solidFill>
              <a:srgbClr val="E8F3F1"/>
            </a:solidFill>
            <a:prstDash val="solid"/>
          </a:ln>
        </p:spPr>
      </p:sp>
      <p:sp>
        <p:nvSpPr>
          <p:cNvPr id="5" name="Text 3"/>
          <p:cNvSpPr txBox="1"/>
          <p:nvPr/>
        </p:nvSpPr>
        <p:spPr>
          <a:xfrm>
            <a:off x="594360" y="1645920"/>
            <a:ext cx="1577340" cy="1005840"/>
          </a:xfrm>
          <a:prstGeom prst="rect">
            <a:avLst/>
          </a:prstGeom>
          <a:noFill/>
          <a:ln/>
        </p:spPr>
        <p:txBody>
          <a:bodyPr wrap="square" lIns="0" tIns="0" rIns="0" bIns="0" rtlCol="0" anchor="ctr"/>
          <a:lstStyle/>
          <a:p>
            <a:pPr algn="ctr" indent="0" marL="0">
              <a:buNone/>
            </a:pPr>
            <a:r>
              <a:rPr lang="en-US" sz="4000" b="1" dirty="0">
                <a:solidFill>
                  <a:srgbClr val="F2994A"/>
                </a:solidFill>
                <a:latin typeface="Cambria" pitchFamily="34" charset="0"/>
                <a:ea typeface="Cambria" pitchFamily="34" charset="-122"/>
                <a:cs typeface="Cambria" pitchFamily="34" charset="-120"/>
              </a:rPr>
              <a:t>5–6</a:t>
            </a:r>
            <a:endParaRPr lang="en-US" sz="4000" dirty="0"/>
          </a:p>
        </p:txBody>
      </p:sp>
      <p:sp>
        <p:nvSpPr>
          <p:cNvPr id="6" name="Text 4"/>
          <p:cNvSpPr txBox="1"/>
          <p:nvPr/>
        </p:nvSpPr>
        <p:spPr>
          <a:xfrm>
            <a:off x="640080" y="2697480"/>
            <a:ext cx="1485900" cy="1005840"/>
          </a:xfrm>
          <a:prstGeom prst="rect">
            <a:avLst/>
          </a:prstGeom>
          <a:noFill/>
          <a:ln/>
        </p:spPr>
        <p:txBody>
          <a:bodyPr wrap="square" lIns="0" tIns="0" rIns="0" bIns="0" rtlCol="0" anchor="t"/>
          <a:lstStyle/>
          <a:p>
            <a:pPr algn="ctr" indent="0" marL="0">
              <a:buNone/>
            </a:pPr>
            <a:r>
              <a:rPr lang="en-US" sz="1250" dirty="0">
                <a:solidFill>
                  <a:srgbClr val="1F2A30"/>
                </a:solidFill>
                <a:latin typeface="Calibri" pitchFamily="34" charset="0"/>
                <a:ea typeface="Calibri" pitchFamily="34" charset="-122"/>
                <a:cs typeface="Calibri" pitchFamily="34" charset="-120"/>
              </a:rPr>
              <a:t>người mỗi nhóm</a:t>
            </a:r>
            <a:endParaRPr lang="en-US" sz="1250" dirty="0"/>
          </a:p>
        </p:txBody>
      </p:sp>
      <p:sp>
        <p:nvSpPr>
          <p:cNvPr id="7" name="Shape 5"/>
          <p:cNvSpPr/>
          <p:nvPr/>
        </p:nvSpPr>
        <p:spPr>
          <a:xfrm>
            <a:off x="2583180" y="1463040"/>
            <a:ext cx="1851660" cy="2377440"/>
          </a:xfrm>
          <a:prstGeom prst="roundRect">
            <a:avLst>
              <a:gd name="adj" fmla="val 4938"/>
            </a:avLst>
          </a:prstGeom>
          <a:solidFill>
            <a:srgbClr val="E8F3F1"/>
          </a:solidFill>
          <a:ln w="12700">
            <a:solidFill>
              <a:srgbClr val="E8F3F1"/>
            </a:solidFill>
            <a:prstDash val="solid"/>
          </a:ln>
        </p:spPr>
      </p:sp>
      <p:sp>
        <p:nvSpPr>
          <p:cNvPr id="8" name="Text 6"/>
          <p:cNvSpPr txBox="1"/>
          <p:nvPr/>
        </p:nvSpPr>
        <p:spPr>
          <a:xfrm>
            <a:off x="2720340" y="1645920"/>
            <a:ext cx="1577340" cy="1005840"/>
          </a:xfrm>
          <a:prstGeom prst="rect">
            <a:avLst/>
          </a:prstGeom>
          <a:noFill/>
          <a:ln/>
        </p:spPr>
        <p:txBody>
          <a:bodyPr wrap="square" lIns="0" tIns="0" rIns="0" bIns="0" rtlCol="0" anchor="ctr"/>
          <a:lstStyle/>
          <a:p>
            <a:pPr algn="ctr" indent="0" marL="0">
              <a:buNone/>
            </a:pPr>
            <a:r>
              <a:rPr lang="en-US" sz="4000" b="1" dirty="0">
                <a:solidFill>
                  <a:srgbClr val="0E7C7B"/>
                </a:solidFill>
                <a:latin typeface="Cambria" pitchFamily="34" charset="0"/>
                <a:ea typeface="Cambria" pitchFamily="34" charset="-122"/>
                <a:cs typeface="Cambria" pitchFamily="34" charset="-120"/>
              </a:rPr>
              <a:t>5′</a:t>
            </a:r>
            <a:endParaRPr lang="en-US" sz="4000" dirty="0"/>
          </a:p>
        </p:txBody>
      </p:sp>
      <p:sp>
        <p:nvSpPr>
          <p:cNvPr id="9" name="Text 7"/>
          <p:cNvSpPr txBox="1"/>
          <p:nvPr/>
        </p:nvSpPr>
        <p:spPr>
          <a:xfrm>
            <a:off x="2766060" y="2697480"/>
            <a:ext cx="1485900" cy="1005840"/>
          </a:xfrm>
          <a:prstGeom prst="rect">
            <a:avLst/>
          </a:prstGeom>
          <a:noFill/>
          <a:ln/>
        </p:spPr>
        <p:txBody>
          <a:bodyPr wrap="square" lIns="0" tIns="0" rIns="0" bIns="0" rtlCol="0" anchor="t"/>
          <a:lstStyle/>
          <a:p>
            <a:pPr algn="ctr" indent="0" marL="0">
              <a:buNone/>
            </a:pPr>
            <a:r>
              <a:rPr lang="en-US" sz="1250" dirty="0">
                <a:solidFill>
                  <a:srgbClr val="1F2A30"/>
                </a:solidFill>
                <a:latin typeface="Calibri" pitchFamily="34" charset="0"/>
                <a:ea typeface="Calibri" pitchFamily="34" charset="-122"/>
                <a:cs typeface="Calibri" pitchFamily="34" charset="-120"/>
              </a:rPr>
              <a:t>trình bày mỗi người</a:t>
            </a:r>
            <a:endParaRPr lang="en-US" sz="1250" dirty="0"/>
          </a:p>
        </p:txBody>
      </p:sp>
      <p:sp>
        <p:nvSpPr>
          <p:cNvPr id="10" name="Shape 8"/>
          <p:cNvSpPr/>
          <p:nvPr/>
        </p:nvSpPr>
        <p:spPr>
          <a:xfrm>
            <a:off x="4709160" y="1463040"/>
            <a:ext cx="1851660" cy="2377440"/>
          </a:xfrm>
          <a:prstGeom prst="roundRect">
            <a:avLst>
              <a:gd name="adj" fmla="val 4938"/>
            </a:avLst>
          </a:prstGeom>
          <a:solidFill>
            <a:srgbClr val="E8F3F1"/>
          </a:solidFill>
          <a:ln w="12700">
            <a:solidFill>
              <a:srgbClr val="E8F3F1"/>
            </a:solidFill>
            <a:prstDash val="solid"/>
          </a:ln>
        </p:spPr>
      </p:sp>
      <p:sp>
        <p:nvSpPr>
          <p:cNvPr id="11" name="Text 9"/>
          <p:cNvSpPr txBox="1"/>
          <p:nvPr/>
        </p:nvSpPr>
        <p:spPr>
          <a:xfrm>
            <a:off x="4846320" y="1645920"/>
            <a:ext cx="1577340" cy="1005840"/>
          </a:xfrm>
          <a:prstGeom prst="rect">
            <a:avLst/>
          </a:prstGeom>
          <a:noFill/>
          <a:ln/>
        </p:spPr>
        <p:txBody>
          <a:bodyPr wrap="square" lIns="0" tIns="0" rIns="0" bIns="0" rtlCol="0" anchor="ctr"/>
          <a:lstStyle/>
          <a:p>
            <a:pPr algn="ctr" indent="0" marL="0">
              <a:buNone/>
            </a:pPr>
            <a:r>
              <a:rPr lang="en-US" sz="4000" b="1" dirty="0">
                <a:solidFill>
                  <a:srgbClr val="0E7C7B"/>
                </a:solidFill>
                <a:latin typeface="Cambria" pitchFamily="34" charset="0"/>
                <a:ea typeface="Cambria" pitchFamily="34" charset="-122"/>
                <a:cs typeface="Cambria" pitchFamily="34" charset="-120"/>
              </a:rPr>
              <a:t>2′</a:t>
            </a:r>
            <a:endParaRPr lang="en-US" sz="4000" dirty="0"/>
          </a:p>
        </p:txBody>
      </p:sp>
      <p:sp>
        <p:nvSpPr>
          <p:cNvPr id="12" name="Text 10"/>
          <p:cNvSpPr txBox="1"/>
          <p:nvPr/>
        </p:nvSpPr>
        <p:spPr>
          <a:xfrm>
            <a:off x="4892040" y="2697480"/>
            <a:ext cx="1485900" cy="1005840"/>
          </a:xfrm>
          <a:prstGeom prst="rect">
            <a:avLst/>
          </a:prstGeom>
          <a:noFill/>
          <a:ln/>
        </p:spPr>
        <p:txBody>
          <a:bodyPr wrap="square" lIns="0" tIns="0" rIns="0" bIns="0" rtlCol="0" anchor="t"/>
          <a:lstStyle/>
          <a:p>
            <a:pPr algn="ctr" indent="0" marL="0">
              <a:buNone/>
            </a:pPr>
            <a:r>
              <a:rPr lang="en-US" sz="1250" dirty="0">
                <a:solidFill>
                  <a:srgbClr val="1F2A30"/>
                </a:solidFill>
                <a:latin typeface="Calibri" pitchFamily="34" charset="0"/>
                <a:ea typeface="Calibri" pitchFamily="34" charset="-122"/>
                <a:cs typeface="Calibri" pitchFamily="34" charset="-120"/>
              </a:rPr>
              <a:t>hỏi đáp + điền phiếu</a:t>
            </a:r>
            <a:endParaRPr lang="en-US" sz="1250" dirty="0"/>
          </a:p>
        </p:txBody>
      </p:sp>
      <p:sp>
        <p:nvSpPr>
          <p:cNvPr id="13" name="Shape 11"/>
          <p:cNvSpPr/>
          <p:nvPr/>
        </p:nvSpPr>
        <p:spPr>
          <a:xfrm>
            <a:off x="6835140" y="1463040"/>
            <a:ext cx="1851660" cy="2377440"/>
          </a:xfrm>
          <a:prstGeom prst="roundRect">
            <a:avLst>
              <a:gd name="adj" fmla="val 4938"/>
            </a:avLst>
          </a:prstGeom>
          <a:solidFill>
            <a:srgbClr val="E8F3F1"/>
          </a:solidFill>
          <a:ln w="12700">
            <a:solidFill>
              <a:srgbClr val="E8F3F1"/>
            </a:solidFill>
            <a:prstDash val="solid"/>
          </a:ln>
        </p:spPr>
      </p:sp>
      <p:sp>
        <p:nvSpPr>
          <p:cNvPr id="14" name="Text 12"/>
          <p:cNvSpPr txBox="1"/>
          <p:nvPr/>
        </p:nvSpPr>
        <p:spPr>
          <a:xfrm>
            <a:off x="6972300" y="1645920"/>
            <a:ext cx="1577340" cy="1005840"/>
          </a:xfrm>
          <a:prstGeom prst="rect">
            <a:avLst/>
          </a:prstGeom>
          <a:noFill/>
          <a:ln/>
        </p:spPr>
        <p:txBody>
          <a:bodyPr wrap="square" lIns="0" tIns="0" rIns="0" bIns="0" rtlCol="0" anchor="ctr"/>
          <a:lstStyle/>
          <a:p>
            <a:pPr algn="ctr" indent="0" marL="0">
              <a:buNone/>
            </a:pPr>
            <a:r>
              <a:rPr lang="en-US" sz="4000" b="1" dirty="0">
                <a:solidFill>
                  <a:srgbClr val="0E7C7B"/>
                </a:solidFill>
                <a:latin typeface="Cambria" pitchFamily="34" charset="0"/>
                <a:ea typeface="Cambria" pitchFamily="34" charset="-122"/>
                <a:cs typeface="Cambria" pitchFamily="34" charset="-120"/>
              </a:rPr>
              <a:t>≥ 2</a:t>
            </a:r>
            <a:endParaRPr lang="en-US" sz="4000" dirty="0"/>
          </a:p>
        </p:txBody>
      </p:sp>
      <p:sp>
        <p:nvSpPr>
          <p:cNvPr id="15" name="Text 13"/>
          <p:cNvSpPr txBox="1"/>
          <p:nvPr/>
        </p:nvSpPr>
        <p:spPr>
          <a:xfrm>
            <a:off x="7018020" y="2697480"/>
            <a:ext cx="1485900" cy="1005840"/>
          </a:xfrm>
          <a:prstGeom prst="rect">
            <a:avLst/>
          </a:prstGeom>
          <a:noFill/>
          <a:ln/>
        </p:spPr>
        <p:txBody>
          <a:bodyPr wrap="square" lIns="0" tIns="0" rIns="0" bIns="0" rtlCol="0" anchor="t"/>
          <a:lstStyle/>
          <a:p>
            <a:pPr algn="ctr" indent="0" marL="0">
              <a:buNone/>
            </a:pPr>
            <a:r>
              <a:rPr lang="en-US" sz="1250" dirty="0">
                <a:solidFill>
                  <a:srgbClr val="1F2A30"/>
                </a:solidFill>
                <a:latin typeface="Calibri" pitchFamily="34" charset="0"/>
                <a:ea typeface="Calibri" pitchFamily="34" charset="-122"/>
                <a:cs typeface="Calibri" pitchFamily="34" charset="-120"/>
              </a:rPr>
              <a:t>phiếu peer review mỗi người</a:t>
            </a:r>
            <a:endParaRPr lang="en-US" sz="1250" dirty="0"/>
          </a:p>
        </p:txBody>
      </p:sp>
      <p:sp>
        <p:nvSpPr>
          <p:cNvPr id="16" name="Text 14"/>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Trước khi chia sẻ màn hình: đóng CRM, email, Zalo cá nhân. Chỉ mở </a:t>
            </a:r>
            <a:pPr indent="0" marL="0">
              <a:buNone/>
            </a:pPr>
            <a:r>
              <a:rPr lang="en-US" sz="1250" b="1" i="1" dirty="0">
                <a:solidFill>
                  <a:srgbClr val="5B6B73"/>
                </a:solidFill>
                <a:latin typeface="Calibri" pitchFamily="34" charset="0"/>
                <a:ea typeface="Calibri" pitchFamily="34" charset="-122"/>
                <a:cs typeface="Calibri" pitchFamily="34" charset="-120"/>
              </a:rPr>
              <a:t>thư mục bài nộp</a:t>
            </a:r>
            <a:pPr indent="0" marL="0">
              <a:buNone/>
            </a:pPr>
            <a:r>
              <a:rPr lang="en-US" sz="1250" i="1" dirty="0">
                <a:solidFill>
                  <a:srgbClr val="5B6B73"/>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18" name="Text 16"/>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CẤU TRÚC 5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Vấn đề → Giải pháp → Demo → Số liệu → Bảo mật</a:t>
            </a:r>
            <a:endParaRPr lang="en-US" sz="2500" dirty="0"/>
          </a:p>
        </p:txBody>
      </p:sp>
      <p:sp>
        <p:nvSpPr>
          <p:cNvPr id="4" name="Shape 2"/>
          <p:cNvSpPr/>
          <p:nvPr/>
        </p:nvSpPr>
        <p:spPr>
          <a:xfrm>
            <a:off x="1280160" y="1783080"/>
            <a:ext cx="6583680" cy="0"/>
          </a:xfrm>
          <a:prstGeom prst="line">
            <a:avLst/>
          </a:prstGeom>
          <a:noFill/>
          <a:ln w="31750">
            <a:solidFill>
              <a:srgbClr val="D3EAE6"/>
            </a:solidFill>
            <a:prstDash val="solid"/>
          </a:ln>
        </p:spPr>
      </p:sp>
      <p:sp>
        <p:nvSpPr>
          <p:cNvPr id="5" name="Shape 3"/>
          <p:cNvSpPr/>
          <p:nvPr/>
        </p:nvSpPr>
        <p:spPr>
          <a:xfrm>
            <a:off x="978408" y="1481328"/>
            <a:ext cx="603504" cy="603504"/>
          </a:xfrm>
          <a:prstGeom prst="ellipse">
            <a:avLst/>
          </a:prstGeom>
          <a:solidFill>
            <a:srgbClr val="0E7C7B"/>
          </a:solidFill>
          <a:ln w="25400">
            <a:solidFill>
              <a:srgbClr val="FFFFFF"/>
            </a:solidFill>
            <a:prstDash val="solid"/>
          </a:ln>
        </p:spPr>
      </p:sp>
      <p:sp>
        <p:nvSpPr>
          <p:cNvPr id="6" name="Text 4"/>
          <p:cNvSpPr txBox="1"/>
          <p:nvPr/>
        </p:nvSpPr>
        <p:spPr>
          <a:xfrm>
            <a:off x="97840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53035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0:00 Vấn đề</a:t>
            </a:r>
            <a:endParaRPr lang="en-US" sz="1300" dirty="0"/>
          </a:p>
        </p:txBody>
      </p:sp>
      <p:sp>
        <p:nvSpPr>
          <p:cNvPr id="8" name="Text 6"/>
          <p:cNvSpPr txBox="1"/>
          <p:nvPr/>
        </p:nvSpPr>
        <p:spPr>
          <a:xfrm>
            <a:off x="54864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Một khoảnh khắc khó cụ thể trong ca trực, </a:t>
            </a:r>
            <a:pPr algn="ctr" indent="0" marL="0">
              <a:buNone/>
            </a:pPr>
            <a:r>
              <a:rPr lang="en-US" sz="1200" b="1" dirty="0">
                <a:solidFill>
                  <a:srgbClr val="1F2A30"/>
                </a:solidFill>
                <a:latin typeface="Calibri" pitchFamily="34" charset="0"/>
                <a:ea typeface="Calibri" pitchFamily="34" charset="-122"/>
                <a:cs typeface="Calibri" pitchFamily="34" charset="-120"/>
              </a:rPr>
              <a:t>có con số</a:t>
            </a:r>
            <a:pPr algn="ctr" indent="0" marL="0">
              <a:buNone/>
            </a:pPr>
            <a:r>
              <a:rPr lang="en-US" sz="1200" dirty="0">
                <a:solidFill>
                  <a:srgbClr val="1F2A30"/>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2624328" y="1481328"/>
            <a:ext cx="603504" cy="603504"/>
          </a:xfrm>
          <a:prstGeom prst="ellipse">
            <a:avLst/>
          </a:prstGeom>
          <a:solidFill>
            <a:srgbClr val="0E7C7B"/>
          </a:solidFill>
          <a:ln w="25400">
            <a:solidFill>
              <a:srgbClr val="FFFFFF"/>
            </a:solidFill>
            <a:prstDash val="solid"/>
          </a:ln>
        </p:spPr>
      </p:sp>
      <p:sp>
        <p:nvSpPr>
          <p:cNvPr id="10" name="Text 8"/>
          <p:cNvSpPr txBox="1"/>
          <p:nvPr/>
        </p:nvSpPr>
        <p:spPr>
          <a:xfrm>
            <a:off x="262432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217627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0:30 Giải pháp</a:t>
            </a:r>
            <a:endParaRPr lang="en-US" sz="1300" dirty="0"/>
          </a:p>
        </p:txBody>
      </p:sp>
      <p:sp>
        <p:nvSpPr>
          <p:cNvPr id="12" name="Text 10"/>
          <p:cNvSpPr txBox="1"/>
          <p:nvPr/>
        </p:nvSpPr>
        <p:spPr>
          <a:xfrm>
            <a:off x="219456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5 thành phần dùng ở bước nào. </a:t>
            </a:r>
            <a:pPr algn="ctr" indent="0" marL="0">
              <a:buNone/>
            </a:pPr>
            <a:r>
              <a:rPr lang="en-US" sz="1200" b="1" dirty="0">
                <a:solidFill>
                  <a:srgbClr val="1F2A30"/>
                </a:solidFill>
                <a:latin typeface="Calibri" pitchFamily="34" charset="0"/>
                <a:ea typeface="Calibri" pitchFamily="34" charset="-122"/>
                <a:cs typeface="Calibri" pitchFamily="34" charset="-120"/>
              </a:rPr>
              <a:t>1 sơ đồ</a:t>
            </a:r>
            <a:pPr algn="ctr" indent="0" marL="0">
              <a:buNone/>
            </a:pPr>
            <a:r>
              <a:rPr lang="en-US" sz="1200" dirty="0">
                <a:solidFill>
                  <a:srgbClr val="1F2A30"/>
                </a:solidFill>
                <a:latin typeface="Calibri" pitchFamily="34" charset="0"/>
                <a:ea typeface="Calibri" pitchFamily="34" charset="-122"/>
                <a:cs typeface="Calibri" pitchFamily="34" charset="-120"/>
              </a:rPr>
              <a:t> duy nhất.</a:t>
            </a:r>
            <a:endParaRPr lang="en-US" sz="1200" dirty="0"/>
          </a:p>
        </p:txBody>
      </p:sp>
      <p:sp>
        <p:nvSpPr>
          <p:cNvPr id="13" name="Shape 11"/>
          <p:cNvSpPr/>
          <p:nvPr/>
        </p:nvSpPr>
        <p:spPr>
          <a:xfrm>
            <a:off x="4270248" y="1481328"/>
            <a:ext cx="603504" cy="603504"/>
          </a:xfrm>
          <a:prstGeom prst="ellipse">
            <a:avLst/>
          </a:prstGeom>
          <a:solidFill>
            <a:srgbClr val="0E7C7B"/>
          </a:solidFill>
          <a:ln w="25400">
            <a:solidFill>
              <a:srgbClr val="FFFFFF"/>
            </a:solidFill>
            <a:prstDash val="solid"/>
          </a:ln>
        </p:spPr>
      </p:sp>
      <p:sp>
        <p:nvSpPr>
          <p:cNvPr id="14" name="Text 12"/>
          <p:cNvSpPr txBox="1"/>
          <p:nvPr/>
        </p:nvSpPr>
        <p:spPr>
          <a:xfrm>
            <a:off x="42702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382219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1:00 Demo</a:t>
            </a:r>
            <a:endParaRPr lang="en-US" sz="1300" dirty="0"/>
          </a:p>
        </p:txBody>
      </p:sp>
      <p:sp>
        <p:nvSpPr>
          <p:cNvPr id="16" name="Text 14"/>
          <p:cNvSpPr txBox="1"/>
          <p:nvPr/>
        </p:nvSpPr>
        <p:spPr>
          <a:xfrm>
            <a:off x="384048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Chạy thật </a:t>
            </a:r>
            <a:pPr algn="ctr" indent="0" marL="0">
              <a:buNone/>
            </a:pPr>
            <a:r>
              <a:rPr lang="en-US" sz="1200" b="1" dirty="0">
                <a:solidFill>
                  <a:srgbClr val="1F2A30"/>
                </a:solidFill>
                <a:latin typeface="Calibri" pitchFamily="34" charset="0"/>
                <a:ea typeface="Calibri" pitchFamily="34" charset="-122"/>
                <a:cs typeface="Calibri" pitchFamily="34" charset="-120"/>
              </a:rPr>
              <a:t>2–3 phần</a:t>
            </a:r>
            <a:pPr algn="ctr" indent="0" marL="0">
              <a:buNone/>
            </a:pPr>
            <a:r>
              <a:rPr lang="en-US" sz="1200" dirty="0">
                <a:solidFill>
                  <a:srgbClr val="1F2A30"/>
                </a:solidFill>
                <a:latin typeface="Calibri" pitchFamily="34" charset="0"/>
                <a:ea typeface="Calibri" pitchFamily="34" charset="-122"/>
                <a:cs typeface="Calibri" pitchFamily="34" charset="-120"/>
              </a:rPr>
              <a:t> mạnh nhất, dữ liệu mẫu </a:t>
            </a:r>
            <a:pPr algn="ctr" indent="0" marL="0">
              <a:buNone/>
            </a:pPr>
            <a:r>
              <a:rPr lang="en-US" sz="1200" b="1" dirty="0">
                <a:solidFill>
                  <a:srgbClr val="1F2A30"/>
                </a:solidFill>
                <a:latin typeface="Calibri" pitchFamily="34" charset="0"/>
                <a:ea typeface="Calibri" pitchFamily="34" charset="-122"/>
                <a:cs typeface="Calibri" pitchFamily="34" charset="-120"/>
              </a:rPr>
              <a:t>chuẩn bị sẵn</a:t>
            </a:r>
            <a:pPr algn="ctr" indent="0" marL="0">
              <a:buNone/>
            </a:pPr>
            <a:r>
              <a:rPr lang="en-US" sz="1200" dirty="0">
                <a:solidFill>
                  <a:srgbClr val="1F2A30"/>
                </a:solidFill>
                <a:latin typeface="Calibri" pitchFamily="34" charset="0"/>
                <a:ea typeface="Calibri" pitchFamily="34" charset="-122"/>
                <a:cs typeface="Calibri" pitchFamily="34" charset="-120"/>
              </a:rPr>
              <a:t>.</a:t>
            </a:r>
            <a:endParaRPr lang="en-US" sz="1200" dirty="0"/>
          </a:p>
        </p:txBody>
      </p:sp>
      <p:sp>
        <p:nvSpPr>
          <p:cNvPr id="17" name="Shape 15"/>
          <p:cNvSpPr/>
          <p:nvPr/>
        </p:nvSpPr>
        <p:spPr>
          <a:xfrm>
            <a:off x="5916168" y="1481328"/>
            <a:ext cx="603504" cy="603504"/>
          </a:xfrm>
          <a:prstGeom prst="ellipse">
            <a:avLst/>
          </a:prstGeom>
          <a:solidFill>
            <a:srgbClr val="0E7C7B"/>
          </a:solidFill>
          <a:ln w="25400">
            <a:solidFill>
              <a:srgbClr val="FFFFFF"/>
            </a:solidFill>
            <a:prstDash val="solid"/>
          </a:ln>
        </p:spPr>
      </p:sp>
      <p:sp>
        <p:nvSpPr>
          <p:cNvPr id="18" name="Text 16"/>
          <p:cNvSpPr txBox="1"/>
          <p:nvPr/>
        </p:nvSpPr>
        <p:spPr>
          <a:xfrm>
            <a:off x="591616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546811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3:30 Số liệu</a:t>
            </a:r>
            <a:endParaRPr lang="en-US" sz="1300" dirty="0"/>
          </a:p>
        </p:txBody>
      </p:sp>
      <p:sp>
        <p:nvSpPr>
          <p:cNvPr id="20" name="Text 18"/>
          <p:cNvSpPr txBox="1"/>
          <p:nvPr/>
        </p:nvSpPr>
        <p:spPr>
          <a:xfrm>
            <a:off x="548640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2–3 chỉ số, cách đo, cỡ mẫu. Nói cả chỉ số </a:t>
            </a:r>
            <a:pPr algn="ctr" indent="0" marL="0">
              <a:buNone/>
            </a:pPr>
            <a:r>
              <a:rPr lang="en-US" sz="1200" b="1" dirty="0">
                <a:solidFill>
                  <a:srgbClr val="1F2A30"/>
                </a:solidFill>
                <a:latin typeface="Calibri" pitchFamily="34" charset="0"/>
                <a:ea typeface="Calibri" pitchFamily="34" charset="-122"/>
                <a:cs typeface="Calibri" pitchFamily="34" charset="-120"/>
              </a:rPr>
              <a:t>không cải thiện</a:t>
            </a:r>
            <a:pPr algn="ctr" indent="0" marL="0">
              <a:buNone/>
            </a:pPr>
            <a:r>
              <a:rPr lang="en-US" sz="1200" dirty="0">
                <a:solidFill>
                  <a:srgbClr val="1F2A30"/>
                </a:solidFill>
                <a:latin typeface="Calibri" pitchFamily="34" charset="0"/>
                <a:ea typeface="Calibri" pitchFamily="34" charset="-122"/>
                <a:cs typeface="Calibri" pitchFamily="34" charset="-120"/>
              </a:rPr>
              <a:t>.</a:t>
            </a:r>
            <a:endParaRPr lang="en-US" sz="1200" dirty="0"/>
          </a:p>
        </p:txBody>
      </p:sp>
      <p:sp>
        <p:nvSpPr>
          <p:cNvPr id="21" name="Shape 19"/>
          <p:cNvSpPr/>
          <p:nvPr/>
        </p:nvSpPr>
        <p:spPr>
          <a:xfrm>
            <a:off x="7562088" y="1481328"/>
            <a:ext cx="603504" cy="603504"/>
          </a:xfrm>
          <a:prstGeom prst="ellipse">
            <a:avLst/>
          </a:prstGeom>
          <a:solidFill>
            <a:srgbClr val="F2994A"/>
          </a:solidFill>
          <a:ln w="25400">
            <a:solidFill>
              <a:srgbClr val="FFFFFF"/>
            </a:solidFill>
            <a:prstDash val="solid"/>
          </a:ln>
        </p:spPr>
      </p:sp>
      <p:sp>
        <p:nvSpPr>
          <p:cNvPr id="22" name="Text 20"/>
          <p:cNvSpPr txBox="1"/>
          <p:nvPr/>
        </p:nvSpPr>
        <p:spPr>
          <a:xfrm>
            <a:off x="756208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Text 21"/>
          <p:cNvSpPr txBox="1"/>
          <p:nvPr/>
        </p:nvSpPr>
        <p:spPr>
          <a:xfrm>
            <a:off x="711403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4:30 Bảo mật</a:t>
            </a:r>
            <a:endParaRPr lang="en-US" sz="1300" dirty="0"/>
          </a:p>
        </p:txBody>
      </p:sp>
      <p:sp>
        <p:nvSpPr>
          <p:cNvPr id="24" name="Text 22"/>
          <p:cNvSpPr txBox="1"/>
          <p:nvPr/>
        </p:nvSpPr>
        <p:spPr>
          <a:xfrm>
            <a:off x="713232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Chặn rủi ro dữ liệu ở đâu, kết bằng </a:t>
            </a:r>
            <a:pPr algn="ctr" indent="0" marL="0">
              <a:buNone/>
            </a:pPr>
            <a:r>
              <a:rPr lang="en-US" sz="1200" b="1" dirty="0">
                <a:solidFill>
                  <a:srgbClr val="1F2A30"/>
                </a:solidFill>
                <a:latin typeface="Calibri" pitchFamily="34" charset="0"/>
                <a:ea typeface="Calibri" pitchFamily="34" charset="-122"/>
                <a:cs typeface="Calibri" pitchFamily="34" charset="-120"/>
              </a:rPr>
              <a:t>1 câu cam kết</a:t>
            </a:r>
            <a:pPr algn="ctr" indent="0" marL="0">
              <a:buNone/>
            </a:pPr>
            <a:r>
              <a:rPr lang="en-US" sz="1200" dirty="0">
                <a:solidFill>
                  <a:srgbClr val="1F2A30"/>
                </a:solidFill>
                <a:latin typeface="Calibri" pitchFamily="34" charset="0"/>
                <a:ea typeface="Calibri" pitchFamily="34" charset="-122"/>
                <a:cs typeface="Calibri" pitchFamily="34" charset="-120"/>
              </a:rPr>
              <a:t>.</a:t>
            </a:r>
            <a:endParaRPr lang="en-US" sz="1200" dirty="0"/>
          </a:p>
        </p:txBody>
      </p:sp>
      <p:sp>
        <p:nvSpPr>
          <p:cNvPr id="25" name="Text 23"/>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Tập nói 1 lần và bấm giờ. Lần đầu đa số nói </a:t>
            </a:r>
            <a:pPr indent="0" marL="0">
              <a:buNone/>
            </a:pPr>
            <a:r>
              <a:rPr lang="en-US" sz="1250" b="1" i="1" dirty="0">
                <a:solidFill>
                  <a:srgbClr val="5B6B73"/>
                </a:solidFill>
                <a:latin typeface="Calibri" pitchFamily="34" charset="0"/>
                <a:ea typeface="Calibri" pitchFamily="34" charset="-122"/>
                <a:cs typeface="Calibri" pitchFamily="34" charset="-120"/>
              </a:rPr>
              <a:t>quá 7 phút</a:t>
            </a:r>
            <a:pPr indent="0" marL="0">
              <a:buNone/>
            </a:pPr>
            <a:r>
              <a:rPr lang="en-US" sz="1250" i="1" dirty="0">
                <a:solidFill>
                  <a:srgbClr val="5B6B73"/>
                </a:solidFill>
                <a:latin typeface="Calibri" pitchFamily="34" charset="0"/>
                <a:ea typeface="Calibri" pitchFamily="34" charset="-122"/>
                <a:cs typeface="Calibri" pitchFamily="34" charset="-120"/>
              </a:rPr>
              <a:t>, thường vì demo quá dài.</a:t>
            </a:r>
            <a:endParaRPr lang="en-US" sz="1250" dirty="0"/>
          </a:p>
        </p:txBody>
      </p:sp>
      <p:sp>
        <p:nvSpPr>
          <p:cNvPr id="26" name="Text 24"/>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27" name="Text 25"/>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CÂU MỞ ĐẦU</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30 giây đầu quyết định người nghe có tập trung không</a:t>
            </a:r>
            <a:endParaRPr lang="en-US" sz="2500" dirty="0"/>
          </a:p>
        </p:txBody>
      </p:sp>
      <p:sp>
        <p:nvSpPr>
          <p:cNvPr id="4" name="Shape 2"/>
          <p:cNvSpPr/>
          <p:nvPr/>
        </p:nvSpPr>
        <p:spPr>
          <a:xfrm>
            <a:off x="457200" y="1371600"/>
            <a:ext cx="3977640" cy="3154680"/>
          </a:xfrm>
          <a:prstGeom prst="roundRect">
            <a:avLst>
              <a:gd name="adj" fmla="val 2899"/>
            </a:avLst>
          </a:prstGeom>
          <a:solidFill>
            <a:srgbClr val="FBEAE8"/>
          </a:solidFill>
          <a:ln w="12700">
            <a:solidFill>
              <a:srgbClr val="FBEAE8"/>
            </a:solidFill>
            <a:prstDash val="solid"/>
          </a:ln>
        </p:spPr>
      </p:sp>
      <p:sp>
        <p:nvSpPr>
          <p:cNvPr id="5" name="Shape 3"/>
          <p:cNvSpPr/>
          <p:nvPr/>
        </p:nvSpPr>
        <p:spPr>
          <a:xfrm>
            <a:off x="658368" y="1554480"/>
            <a:ext cx="420624" cy="420624"/>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67730" y="1663842"/>
            <a:ext cx="201900" cy="201900"/>
          </a:xfrm>
          <a:prstGeom prst="rect">
            <a:avLst/>
          </a:prstGeom>
        </p:spPr>
      </p:pic>
      <p:sp>
        <p:nvSpPr>
          <p:cNvPr id="7" name="Text 4"/>
          <p:cNvSpPr txBox="1"/>
          <p:nvPr/>
        </p:nvSpPr>
        <p:spPr>
          <a:xfrm>
            <a:off x="1188720" y="1554480"/>
            <a:ext cx="3063240" cy="420624"/>
          </a:xfrm>
          <a:prstGeom prst="rect">
            <a:avLst/>
          </a:prstGeom>
          <a:noFill/>
          <a:ln/>
        </p:spPr>
        <p:txBody>
          <a:bodyPr wrap="square" lIns="0" tIns="0" rIns="0" bIns="0" rtlCol="0" anchor="ctr"/>
          <a:lstStyle/>
          <a:p>
            <a:pPr indent="0" marL="0">
              <a:buNone/>
            </a:pPr>
            <a:r>
              <a:rPr lang="en-US" sz="1450" b="1" dirty="0">
                <a:solidFill>
                  <a:srgbClr val="C0392B"/>
                </a:solidFill>
                <a:latin typeface="Calibri" pitchFamily="34" charset="0"/>
                <a:ea typeface="Calibri" pitchFamily="34" charset="-122"/>
                <a:cs typeface="Calibri" pitchFamily="34" charset="-120"/>
              </a:rPr>
              <a:t>Mở đầu nhạt</a:t>
            </a:r>
            <a:endParaRPr lang="en-US" sz="1450" dirty="0"/>
          </a:p>
        </p:txBody>
      </p:sp>
      <p:sp>
        <p:nvSpPr>
          <p:cNvPr id="8" name="Text 5"/>
          <p:cNvSpPr txBox="1"/>
          <p:nvPr/>
        </p:nvSpPr>
        <p:spPr>
          <a:xfrm>
            <a:off x="685800" y="2103120"/>
            <a:ext cx="3520440" cy="22860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"Hôm nay em xin trình bày bộ công cụ AI của em, gồm 5 phần ạ..."</a:t>
            </a:r>
            <a:endParaRPr lang="en-US" sz="1400" dirty="0"/>
          </a:p>
        </p:txBody>
      </p:sp>
      <p:sp>
        <p:nvSpPr>
          <p:cNvPr id="9" name="Shape 6"/>
          <p:cNvSpPr/>
          <p:nvPr/>
        </p:nvSpPr>
        <p:spPr>
          <a:xfrm>
            <a:off x="4709160" y="1371600"/>
            <a:ext cx="3977640" cy="3154680"/>
          </a:xfrm>
          <a:prstGeom prst="roundRect">
            <a:avLst>
              <a:gd name="adj" fmla="val 2899"/>
            </a:avLst>
          </a:prstGeom>
          <a:solidFill>
            <a:srgbClr val="E8F3F1"/>
          </a:solidFill>
          <a:ln w="12700">
            <a:solidFill>
              <a:srgbClr val="E8F3F1"/>
            </a:solidFill>
            <a:prstDash val="solid"/>
          </a:ln>
        </p:spPr>
      </p:sp>
      <p:sp>
        <p:nvSpPr>
          <p:cNvPr id="10" name="Shape 7"/>
          <p:cNvSpPr/>
          <p:nvPr/>
        </p:nvSpPr>
        <p:spPr>
          <a:xfrm>
            <a:off x="4910328" y="1554480"/>
            <a:ext cx="420624" cy="420624"/>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5019690" y="1663842"/>
            <a:ext cx="201900" cy="201900"/>
          </a:xfrm>
          <a:prstGeom prst="rect">
            <a:avLst/>
          </a:prstGeom>
        </p:spPr>
      </p:pic>
      <p:sp>
        <p:nvSpPr>
          <p:cNvPr id="12" name="Text 8"/>
          <p:cNvSpPr txBox="1"/>
          <p:nvPr/>
        </p:nvSpPr>
        <p:spPr>
          <a:xfrm>
            <a:off x="5440680" y="1554480"/>
            <a:ext cx="3063240" cy="420624"/>
          </a:xfrm>
          <a:prstGeom prst="rect">
            <a:avLst/>
          </a:prstGeom>
          <a:noFill/>
          <a:ln/>
        </p:spPr>
        <p:txBody>
          <a:bodyPr wrap="square" lIns="0" tIns="0" rIns="0" bIns="0" rtlCol="0" anchor="ctr"/>
          <a:lstStyle/>
          <a:p>
            <a:pPr indent="0" marL="0">
              <a:buNone/>
            </a:pPr>
            <a:r>
              <a:rPr lang="en-US" sz="1450" b="1" dirty="0">
                <a:solidFill>
                  <a:srgbClr val="0E7C7B"/>
                </a:solidFill>
                <a:latin typeface="Calibri" pitchFamily="34" charset="0"/>
                <a:ea typeface="Calibri" pitchFamily="34" charset="-122"/>
                <a:cs typeface="Calibri" pitchFamily="34" charset="-120"/>
              </a:rPr>
              <a:t>Mở đầu có câu chuyện</a:t>
            </a:r>
            <a:endParaRPr lang="en-US" sz="1450" dirty="0"/>
          </a:p>
        </p:txBody>
      </p:sp>
      <p:sp>
        <p:nvSpPr>
          <p:cNvPr id="13" name="Text 9"/>
          <p:cNvSpPr txBox="1"/>
          <p:nvPr/>
        </p:nvSpPr>
        <p:spPr>
          <a:xfrm>
            <a:off x="4937760" y="2103120"/>
            <a:ext cx="3520440" cy="22860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"Thứ Hai tuần trước em nhận </a:t>
            </a:r>
            <a:pPr indent="0" marL="0">
              <a:buNone/>
            </a:pPr>
            <a:r>
              <a:rPr lang="en-US" sz="1400" b="1" dirty="0">
                <a:solidFill>
                  <a:srgbClr val="1F2A30"/>
                </a:solidFill>
                <a:latin typeface="Calibri" pitchFamily="34" charset="0"/>
                <a:ea typeface="Calibri" pitchFamily="34" charset="-122"/>
                <a:cs typeface="Calibri" pitchFamily="34" charset="-120"/>
              </a:rPr>
              <a:t>38 cuộc gọi</a:t>
            </a:r>
            <a:pPr indent="0" marL="0">
              <a:buNone/>
            </a:pPr>
            <a:r>
              <a:rPr lang="en-US" sz="1400" dirty="0">
                <a:solidFill>
                  <a:srgbClr val="1F2A30"/>
                </a:solidFill>
                <a:latin typeface="Calibri" pitchFamily="34" charset="0"/>
                <a:ea typeface="Calibri" pitchFamily="34" charset="-122"/>
                <a:cs typeface="Calibri" pitchFamily="34" charset="-120"/>
              </a:rPr>
              <a:t>, mỗi cuộc mất gần </a:t>
            </a:r>
            <a:pPr indent="0" marL="0">
              <a:buNone/>
            </a:pPr>
            <a:r>
              <a:rPr lang="en-US" sz="1400" b="1" dirty="0">
                <a:solidFill>
                  <a:srgbClr val="1F2A30"/>
                </a:solidFill>
                <a:latin typeface="Calibri" pitchFamily="34" charset="0"/>
                <a:ea typeface="Calibri" pitchFamily="34" charset="-122"/>
                <a:cs typeface="Calibri" pitchFamily="34" charset="-120"/>
              </a:rPr>
              <a:t>5 phút</a:t>
            </a:r>
            <a:pPr indent="0" marL="0">
              <a:buNone/>
            </a:pPr>
            <a:r>
              <a:rPr lang="en-US" sz="1400" dirty="0">
                <a:solidFill>
                  <a:srgbClr val="1F2A30"/>
                </a:solidFill>
                <a:latin typeface="Calibri" pitchFamily="34" charset="0"/>
                <a:ea typeface="Calibri" pitchFamily="34" charset="-122"/>
                <a:cs typeface="Calibri" pitchFamily="34" charset="-120"/>
              </a:rPr>
              <a:t> ghi chú CRM. Cộng lại hơn </a:t>
            </a:r>
            <a:pPr indent="0" marL="0">
              <a:buNone/>
            </a:pPr>
            <a:r>
              <a:rPr lang="en-US" sz="1400" b="1" dirty="0">
                <a:solidFill>
                  <a:srgbClr val="1F2A30"/>
                </a:solidFill>
                <a:latin typeface="Calibri" pitchFamily="34" charset="0"/>
                <a:ea typeface="Calibri" pitchFamily="34" charset="-122"/>
                <a:cs typeface="Calibri" pitchFamily="34" charset="-120"/>
              </a:rPr>
              <a:t>3 tiếng</a:t>
            </a:r>
            <a:pPr indent="0" marL="0">
              <a:buNone/>
            </a:pPr>
            <a:r>
              <a:rPr lang="en-US" sz="1400" dirty="0">
                <a:solidFill>
                  <a:srgbClr val="1F2A30"/>
                </a:solidFill>
                <a:latin typeface="Calibri" pitchFamily="34" charset="0"/>
                <a:ea typeface="Calibri" pitchFamily="34" charset="-122"/>
                <a:cs typeface="Calibri" pitchFamily="34" charset="-120"/>
              </a:rPr>
              <a:t> chỉ để gõ. Đây là cách em rút nó xuống chưa tới 1 tiếng."</a:t>
            </a:r>
            <a:endParaRPr lang="en-US" sz="1400" dirty="0"/>
          </a:p>
        </p:txBody>
      </p:sp>
      <p:sp>
        <p:nvSpPr>
          <p:cNvPr id="14" name="Text 10"/>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15" name="Text 11"/>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PHIẾU PEER REVIEW</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Chấm 1–5 và góp ý cho ít nhất 2 bạn</a:t>
            </a:r>
            <a:endParaRPr lang="en-US" sz="2500" dirty="0"/>
          </a:p>
        </p:txBody>
      </p:sp>
      <p:sp>
        <p:nvSpPr>
          <p:cNvPr id="4" name="Shape 2"/>
          <p:cNvSpPr/>
          <p:nvPr/>
        </p:nvSpPr>
        <p:spPr>
          <a:xfrm>
            <a:off x="457200" y="1280160"/>
            <a:ext cx="8229600" cy="3310128"/>
          </a:xfrm>
          <a:prstGeom prst="roundRect">
            <a:avLst>
              <a:gd name="adj" fmla="val 2210"/>
            </a:avLst>
          </a:prstGeom>
          <a:solidFill>
            <a:srgbClr val="17262C"/>
          </a:solidFill>
          <a:ln w="12700">
            <a:solidFill>
              <a:srgbClr val="17262C"/>
            </a:solidFill>
            <a:prstDash val="solid"/>
          </a:ln>
        </p:spPr>
      </p:sp>
      <p:sp>
        <p:nvSpPr>
          <p:cNvPr id="5" name="Text 3"/>
          <p:cNvSpPr txBox="1"/>
          <p:nvPr/>
        </p:nvSpPr>
        <p:spPr>
          <a:xfrm>
            <a:off x="685800" y="1417320"/>
            <a:ext cx="7772400" cy="3035808"/>
          </a:xfrm>
          <a:prstGeom prst="rect">
            <a:avLst/>
          </a:prstGeom>
          <a:noFill/>
          <a:ln/>
        </p:spPr>
        <p:txBody>
          <a:bodyPr wrap="square" lIns="0" tIns="0" rIns="0" bIns="0" rtlCol="0" anchor="t"/>
          <a:lstStyle/>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PHIẾU PEER REVIEW · SHOWCASE BỘ CÔNG CỤ AI CA TRỰC</a:t>
            </a: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Người trình bày: ..........   Người góp ý: ..........</a:t>
            </a:r>
            <a:endParaRPr lang="en-US" sz="1100" dirty="0"/>
          </a:p>
          <a:p>
            <a:pPr indent="0" marL="0">
              <a:lnSpc>
                <a:spcPct val="105000"/>
              </a:lnSpc>
              <a:buNone/>
            </a:pP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A. Chấm điểm (1 = chưa rõ, 5 = rất thuyết phục)</a:t>
            </a: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 ] 1. Vấn đề rõ, đúng việc thật     [ ] 4. Số liệu đáng tin (cách đo, cỡ mẫu)</a:t>
            </a: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 ] 2. Demo chạy được, dễ hiểu       [ ] 5. Rõ cách bảo vệ dữ liệu khách</a:t>
            </a: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 ] 3. Tôi dùng ngay được trong ca   [ ] 6. Đúng thời lượng 5 phút</a:t>
            </a:r>
            <a:endParaRPr lang="en-US" sz="1100" dirty="0"/>
          </a:p>
          <a:p>
            <a:pPr indent="0" marL="0">
              <a:lnSpc>
                <a:spcPct val="105000"/>
              </a:lnSpc>
              <a:buNone/>
            </a:pP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B. Khen · Gợi ý · Hỏi</a:t>
            </a: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Khen (1 điều tôi muốn "mượn" ngay): ..............................</a:t>
            </a: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Gợi ý (1 điều có thể làm tốt hơn): ...............................</a:t>
            </a: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Hỏi (1 câu tôi còn thắc mắc): ....................................</a:t>
            </a:r>
            <a:endParaRPr lang="en-US" sz="1100" dirty="0"/>
          </a:p>
          <a:p>
            <a:pPr indent="0" marL="0">
              <a:lnSpc>
                <a:spcPct val="105000"/>
              </a:lnSpc>
              <a:buNone/>
            </a:pP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C. Rủi ro nhận thấy</a:t>
            </a: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 ] Dữ liệu có thể là thật   [ ] AI tự quyết thay người   [ ] Chính sách chưa kiểm</a:t>
            </a:r>
            <a:endParaRPr lang="en-US" sz="1100" dirty="0"/>
          </a:p>
        </p:txBody>
      </p:sp>
      <p:sp>
        <p:nvSpPr>
          <p:cNvPr id="6" name="Text 4"/>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7" name="Text 5"/>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GÓP Ý CÓ ÍCH</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Khen · Gợi ý · Hỏi, cụ thể và tôn trọng</a:t>
            </a:r>
            <a:endParaRPr lang="en-US" sz="2500" dirty="0"/>
          </a:p>
        </p:txBody>
      </p:sp>
      <p:sp>
        <p:nvSpPr>
          <p:cNvPr id="4" name="Shape 2"/>
          <p:cNvSpPr/>
          <p:nvPr/>
        </p:nvSpPr>
        <p:spPr>
          <a:xfrm>
            <a:off x="457200" y="1371600"/>
            <a:ext cx="4000500" cy="1485900"/>
          </a:xfrm>
          <a:prstGeom prst="roundRect">
            <a:avLst>
              <a:gd name="adj" fmla="val 6154"/>
            </a:avLst>
          </a:prstGeom>
          <a:solidFill>
            <a:srgbClr val="E8F3F1"/>
          </a:solidFill>
          <a:ln w="12700">
            <a:solidFill>
              <a:srgbClr val="E8F3F1"/>
            </a:solidFill>
            <a:prstDash val="solid"/>
          </a:ln>
        </p:spPr>
      </p:sp>
      <p:sp>
        <p:nvSpPr>
          <p:cNvPr id="5" name="Shape 3"/>
          <p:cNvSpPr/>
          <p:nvPr/>
        </p:nvSpPr>
        <p:spPr>
          <a:xfrm>
            <a:off x="640080" y="1554480"/>
            <a:ext cx="457200" cy="457200"/>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758952" y="1673352"/>
            <a:ext cx="219456" cy="219456"/>
          </a:xfrm>
          <a:prstGeom prst="rect">
            <a:avLst/>
          </a:prstGeom>
        </p:spPr>
      </p:pic>
      <p:sp>
        <p:nvSpPr>
          <p:cNvPr id="7" name="Text 4"/>
          <p:cNvSpPr txBox="1"/>
          <p:nvPr/>
        </p:nvSpPr>
        <p:spPr>
          <a:xfrm>
            <a:off x="12344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Vào sản phẩm</a:t>
            </a:r>
            <a:endParaRPr lang="en-US" sz="1400" dirty="0"/>
          </a:p>
        </p:txBody>
      </p:sp>
      <p:sp>
        <p:nvSpPr>
          <p:cNvPr id="8" name="Text 5"/>
          <p:cNvSpPr txBox="1"/>
          <p:nvPr/>
        </p:nvSpPr>
        <p:spPr>
          <a:xfrm>
            <a:off x="12344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Góp ý vào </a:t>
            </a:r>
            <a:pPr indent="0" marL="0">
              <a:buNone/>
            </a:pPr>
            <a:r>
              <a:rPr lang="en-US" sz="1300" b="1" dirty="0">
                <a:solidFill>
                  <a:srgbClr val="1F2A30"/>
                </a:solidFill>
                <a:latin typeface="Calibri" pitchFamily="34" charset="0"/>
                <a:ea typeface="Calibri" pitchFamily="34" charset="-122"/>
                <a:cs typeface="Calibri" pitchFamily="34" charset="-120"/>
              </a:rPr>
              <a:t>sản phẩm</a:t>
            </a:r>
            <a:pPr indent="0" marL="0">
              <a:buNone/>
            </a:pPr>
            <a:r>
              <a:rPr lang="en-US" sz="1300" dirty="0">
                <a:solidFill>
                  <a:srgbClr val="1F2A30"/>
                </a:solidFill>
                <a:latin typeface="Calibri" pitchFamily="34" charset="0"/>
                <a:ea typeface="Calibri" pitchFamily="34" charset="-122"/>
                <a:cs typeface="Calibri" pitchFamily="34" charset="-120"/>
              </a:rPr>
              <a:t>, không vào con người.</a:t>
            </a:r>
            <a:endParaRPr lang="en-US" sz="1300" dirty="0"/>
          </a:p>
        </p:txBody>
      </p:sp>
      <p:sp>
        <p:nvSpPr>
          <p:cNvPr id="9" name="Shape 6"/>
          <p:cNvSpPr/>
          <p:nvPr/>
        </p:nvSpPr>
        <p:spPr>
          <a:xfrm>
            <a:off x="4686300" y="1371600"/>
            <a:ext cx="4000500" cy="1485900"/>
          </a:xfrm>
          <a:prstGeom prst="roundRect">
            <a:avLst>
              <a:gd name="adj" fmla="val 6154"/>
            </a:avLst>
          </a:prstGeom>
          <a:solidFill>
            <a:srgbClr val="E8F3F1"/>
          </a:solidFill>
          <a:ln w="12700">
            <a:solidFill>
              <a:srgbClr val="E8F3F1"/>
            </a:solidFill>
            <a:prstDash val="solid"/>
          </a:ln>
        </p:spPr>
      </p:sp>
      <p:sp>
        <p:nvSpPr>
          <p:cNvPr id="10" name="Shape 7"/>
          <p:cNvSpPr/>
          <p:nvPr/>
        </p:nvSpPr>
        <p:spPr>
          <a:xfrm>
            <a:off x="4869180" y="1554480"/>
            <a:ext cx="457200" cy="457200"/>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4988052" y="1673352"/>
            <a:ext cx="219456" cy="219456"/>
          </a:xfrm>
          <a:prstGeom prst="rect">
            <a:avLst/>
          </a:prstGeom>
        </p:spPr>
      </p:pic>
      <p:sp>
        <p:nvSpPr>
          <p:cNvPr id="12" name="Text 8"/>
          <p:cNvSpPr txBox="1"/>
          <p:nvPr/>
        </p:nvSpPr>
        <p:spPr>
          <a:xfrm>
            <a:off x="54635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Cụ thể</a:t>
            </a:r>
            <a:endParaRPr lang="en-US" sz="1400" dirty="0"/>
          </a:p>
        </p:txBody>
      </p:sp>
      <p:sp>
        <p:nvSpPr>
          <p:cNvPr id="13" name="Text 9"/>
          <p:cNvSpPr txBox="1"/>
          <p:nvPr/>
        </p:nvSpPr>
        <p:spPr>
          <a:xfrm>
            <a:off x="54635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"Phần số liệu nên ghi đo trên bao nhiêu cuộc gọi, 2 cuộc chưa đủ thuyết phục."</a:t>
            </a:r>
            <a:endParaRPr lang="en-US" sz="1300" dirty="0"/>
          </a:p>
        </p:txBody>
      </p:sp>
      <p:sp>
        <p:nvSpPr>
          <p:cNvPr id="14" name="Shape 10"/>
          <p:cNvSpPr/>
          <p:nvPr/>
        </p:nvSpPr>
        <p:spPr>
          <a:xfrm>
            <a:off x="457200" y="3086100"/>
            <a:ext cx="4000500" cy="1485900"/>
          </a:xfrm>
          <a:prstGeom prst="roundRect">
            <a:avLst>
              <a:gd name="adj" fmla="val 6154"/>
            </a:avLst>
          </a:prstGeom>
          <a:solidFill>
            <a:srgbClr val="FBEAE8"/>
          </a:solidFill>
          <a:ln w="12700">
            <a:solidFill>
              <a:srgbClr val="FBEAE8"/>
            </a:solidFill>
            <a:prstDash val="solid"/>
          </a:ln>
        </p:spPr>
      </p:sp>
      <p:sp>
        <p:nvSpPr>
          <p:cNvPr id="15" name="Shape 11"/>
          <p:cNvSpPr/>
          <p:nvPr/>
        </p:nvSpPr>
        <p:spPr>
          <a:xfrm>
            <a:off x="640080" y="3268980"/>
            <a:ext cx="457200" cy="457200"/>
          </a:xfrm>
          <a:prstGeom prst="ellipse">
            <a:avLst/>
          </a:prstGeom>
          <a:solidFill>
            <a:srgbClr val="C0392B"/>
          </a:solidFill>
          <a:ln w="12700">
            <a:solidFill>
              <a:srgbClr val="C0392B"/>
            </a:solidFill>
            <a:prstDash val="solid"/>
          </a:ln>
        </p:spPr>
      </p:sp>
      <p:pic>
        <p:nvPicPr>
          <p:cNvPr id="16" name="Image 2" descr="preencoded.png">    </p:cNvPr>
          <p:cNvPicPr>
            <a:picLocks noChangeAspect="1"/>
          </p:cNvPicPr>
          <p:nvPr/>
        </p:nvPicPr>
        <p:blipFill>
          <a:blip r:embed="rId3"/>
          <a:stretch>
            <a:fillRect/>
          </a:stretch>
        </p:blipFill>
        <p:spPr>
          <a:xfrm>
            <a:off x="758952" y="3387852"/>
            <a:ext cx="219456" cy="219456"/>
          </a:xfrm>
          <a:prstGeom prst="rect">
            <a:avLst/>
          </a:prstGeom>
        </p:spPr>
      </p:pic>
      <p:sp>
        <p:nvSpPr>
          <p:cNvPr id="17" name="Text 12"/>
          <p:cNvSpPr txBox="1"/>
          <p:nvPr/>
        </p:nvSpPr>
        <p:spPr>
          <a:xfrm>
            <a:off x="12344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Tránh câu chung chung</a:t>
            </a:r>
            <a:endParaRPr lang="en-US" sz="1400" dirty="0"/>
          </a:p>
        </p:txBody>
      </p:sp>
      <p:sp>
        <p:nvSpPr>
          <p:cNvPr id="18" name="Text 13"/>
          <p:cNvSpPr txBox="1"/>
          <p:nvPr/>
        </p:nvSpPr>
        <p:spPr>
          <a:xfrm>
            <a:off x="12344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"Bài bạn hay lắm", "Phần số liệu chưa ổn": người nhận không biết sửa ở đâu.</a:t>
            </a:r>
            <a:endParaRPr lang="en-US" sz="1300" dirty="0"/>
          </a:p>
        </p:txBody>
      </p:sp>
      <p:sp>
        <p:nvSpPr>
          <p:cNvPr id="19" name="Shape 14"/>
          <p:cNvSpPr/>
          <p:nvPr/>
        </p:nvSpPr>
        <p:spPr>
          <a:xfrm>
            <a:off x="4686300" y="3086100"/>
            <a:ext cx="4000500" cy="1485900"/>
          </a:xfrm>
          <a:prstGeom prst="roundRect">
            <a:avLst>
              <a:gd name="adj" fmla="val 6154"/>
            </a:avLst>
          </a:prstGeom>
          <a:solidFill>
            <a:srgbClr val="E8F3F1"/>
          </a:solidFill>
          <a:ln w="12700">
            <a:solidFill>
              <a:srgbClr val="E8F3F1"/>
            </a:solidFill>
            <a:prstDash val="solid"/>
          </a:ln>
        </p:spPr>
      </p:sp>
      <p:sp>
        <p:nvSpPr>
          <p:cNvPr id="20" name="Shape 15"/>
          <p:cNvSpPr/>
          <p:nvPr/>
        </p:nvSpPr>
        <p:spPr>
          <a:xfrm>
            <a:off x="4869180" y="3268980"/>
            <a:ext cx="457200" cy="457200"/>
          </a:xfrm>
          <a:prstGeom prst="ellipse">
            <a:avLst/>
          </a:prstGeom>
          <a:solidFill>
            <a:srgbClr val="F2994A"/>
          </a:solidFill>
          <a:ln w="12700">
            <a:solidFill>
              <a:srgbClr val="F2994A"/>
            </a:solidFill>
            <a:prstDash val="solid"/>
          </a:ln>
        </p:spPr>
      </p:sp>
      <p:pic>
        <p:nvPicPr>
          <p:cNvPr id="21" name="Image 3" descr="preencoded.png">    </p:cNvPr>
          <p:cNvPicPr>
            <a:picLocks noChangeAspect="1"/>
          </p:cNvPicPr>
          <p:nvPr/>
        </p:nvPicPr>
        <p:blipFill>
          <a:blip r:embed="rId4"/>
          <a:stretch>
            <a:fillRect/>
          </a:stretch>
        </p:blipFill>
        <p:spPr>
          <a:xfrm>
            <a:off x="4988052" y="3387852"/>
            <a:ext cx="219456" cy="219456"/>
          </a:xfrm>
          <a:prstGeom prst="rect">
            <a:avLst/>
          </a:prstGeom>
        </p:spPr>
      </p:pic>
      <p:sp>
        <p:nvSpPr>
          <p:cNvPr id="22" name="Text 16"/>
          <p:cNvSpPr txBox="1"/>
          <p:nvPr/>
        </p:nvSpPr>
        <p:spPr>
          <a:xfrm>
            <a:off x="54635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Sau showcase</a:t>
            </a:r>
            <a:endParaRPr lang="en-US" sz="1400" dirty="0"/>
          </a:p>
        </p:txBody>
      </p:sp>
      <p:sp>
        <p:nvSpPr>
          <p:cNvPr id="23" name="Text 17"/>
          <p:cNvSpPr txBox="1"/>
          <p:nvPr/>
        </p:nvSpPr>
        <p:spPr>
          <a:xfrm>
            <a:off x="54635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Chọn </a:t>
            </a:r>
            <a:pPr indent="0" marL="0">
              <a:buNone/>
            </a:pPr>
            <a:r>
              <a:rPr lang="en-US" sz="1300" b="1" dirty="0">
                <a:solidFill>
                  <a:srgbClr val="1F2A30"/>
                </a:solidFill>
                <a:latin typeface="Calibri" pitchFamily="34" charset="0"/>
                <a:ea typeface="Calibri" pitchFamily="34" charset="-122"/>
                <a:cs typeface="Calibri" pitchFamily="34" charset="-120"/>
              </a:rPr>
              <a:t>1 góp ý</a:t>
            </a:r>
            <a:pPr indent="0" marL="0">
              <a:buNone/>
            </a:pPr>
            <a:r>
              <a:rPr lang="en-US" sz="1300" dirty="0">
                <a:solidFill>
                  <a:srgbClr val="1F2A30"/>
                </a:solidFill>
                <a:latin typeface="Calibri" pitchFamily="34" charset="0"/>
                <a:ea typeface="Calibri" pitchFamily="34" charset="-122"/>
                <a:cs typeface="Calibri" pitchFamily="34" charset="-120"/>
              </a:rPr>
              <a:t> để sửa trước khi nộp; ghi 1 ý tưởng "mượn" được, kèm tên bạn.</a:t>
            </a:r>
            <a:endParaRPr lang="en-US" sz="1300" dirty="0"/>
          </a:p>
        </p:txBody>
      </p:sp>
      <p:sp>
        <p:nvSpPr>
          <p:cNvPr id="24"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25"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QUIZ CUỐI KHÓA · CÂU 1 · NGUYÊN LÝ</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Vì sao ChatGPT có thể trả lời </a:t>
            </a:r>
            <a:pPr indent="0" marL="0">
              <a:buNone/>
            </a:pPr>
            <a:r>
              <a:rPr lang="en-US" sz="2100" b="1" dirty="0">
                <a:solidFill>
                  <a:srgbClr val="0B3B45"/>
                </a:solidFill>
                <a:latin typeface="Cambria" pitchFamily="34" charset="0"/>
                <a:ea typeface="Cambria" pitchFamily="34" charset="-122"/>
                <a:cs typeface="Cambria" pitchFamily="34" charset="-120"/>
              </a:rPr>
              <a:t>sai chính sách đổi trả</a:t>
            </a:r>
            <a:pPr indent="0" marL="0">
              <a:buNone/>
            </a:pPr>
            <a:r>
              <a:rPr lang="en-US" sz="2100" b="1" dirty="0">
                <a:solidFill>
                  <a:srgbClr val="0B3B45"/>
                </a:solidFill>
                <a:latin typeface="Cambria" pitchFamily="34" charset="0"/>
                <a:ea typeface="Cambria" pitchFamily="34" charset="-122"/>
                <a:cs typeface="Cambria" pitchFamily="34" charset="-120"/>
              </a:rPr>
              <a:t> của ShopNhanh nhưng giọng văn vẫn rất tự tin?</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AI tra cứu nhầm cơ sở dữ liệu nội bộ của công ty</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AI dự đoán từ ngữ hợp lý nhất, không tự kiểm chứng sự thật</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AI cố tình trả lời sai để thử người dùng</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Đường truyền mạng chậm làm câu trả lời bị lỗi</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QUIZ CUỐI KHÓA · CÂU 2 · NGUYÊN LÝ</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Trong công thức </a:t>
            </a:r>
            <a:pPr indent="0" marL="0">
              <a:buNone/>
            </a:pPr>
            <a:r>
              <a:rPr lang="en-US" sz="2100" b="1" dirty="0">
                <a:solidFill>
                  <a:srgbClr val="0B3B45"/>
                </a:solidFill>
                <a:latin typeface="Cambria" pitchFamily="34" charset="0"/>
                <a:ea typeface="Cambria" pitchFamily="34" charset="-122"/>
                <a:cs typeface="Cambria" pitchFamily="34" charset="-120"/>
              </a:rPr>
              <a:t>V-B-N-Đ-G</a:t>
            </a:r>
            <a:pPr indent="0" marL="0">
              <a:buNone/>
            </a:pPr>
            <a:r>
              <a:rPr lang="en-US" sz="2100" b="1" dirty="0">
                <a:solidFill>
                  <a:srgbClr val="0B3B45"/>
                </a:solidFill>
                <a:latin typeface="Cambria" pitchFamily="34" charset="0"/>
                <a:ea typeface="Cambria" pitchFamily="34" charset="-122"/>
                <a:cs typeface="Cambria" pitchFamily="34" charset="-120"/>
              </a:rPr>
              <a:t>, chữ </a:t>
            </a:r>
            <a:pPr indent="0" marL="0">
              <a:buNone/>
            </a:pPr>
            <a:r>
              <a:rPr lang="en-US" sz="2100" b="1" dirty="0">
                <a:solidFill>
                  <a:srgbClr val="0B3B45"/>
                </a:solidFill>
                <a:latin typeface="Cambria" pitchFamily="34" charset="0"/>
                <a:ea typeface="Cambria" pitchFamily="34" charset="-122"/>
                <a:cs typeface="Cambria" pitchFamily="34" charset="-120"/>
              </a:rPr>
              <a:t>"Đ"</a:t>
            </a:r>
            <a:pPr indent="0" marL="0">
              <a:buNone/>
            </a:pPr>
            <a:r>
              <a:rPr lang="en-US" sz="2100" b="1" dirty="0">
                <a:solidFill>
                  <a:srgbClr val="0B3B45"/>
                </a:solidFill>
                <a:latin typeface="Cambria" pitchFamily="34" charset="0"/>
                <a:ea typeface="Cambria" pitchFamily="34" charset="-122"/>
                <a:cs typeface="Cambria" pitchFamily="34" charset="-120"/>
              </a:rPr>
              <a:t> là gì và ví dụ nào đúng với nó?</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Đối tượng: "khách hàng nữ, 30 tuổi"</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Đánh giá: "chấm điểm câu trả lời trên thang 10"</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Định dạng: "tối đa 5 câu, không dùng gạch đầu dòng"</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Độ chính xác: "trả lời đúng 100%"</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QUIZ CUỐI KHÓA · CÂU 3 · QUY TRÌNH</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Lan cần biến một ghi âm cuộc gọi (dữ liệu mẫu ẩn danh) thành ghi chú CRM. Thứ tự nào </a:t>
            </a:r>
            <a:pPr indent="0" marL="0">
              <a:buNone/>
            </a:pPr>
            <a:r>
              <a:rPr lang="en-US" sz="2100" b="1" dirty="0">
                <a:solidFill>
                  <a:srgbClr val="0B3B45"/>
                </a:solidFill>
                <a:latin typeface="Cambria" pitchFamily="34" charset="0"/>
                <a:ea typeface="Cambria" pitchFamily="34" charset="-122"/>
                <a:cs typeface="Cambria" pitchFamily="34" charset="-120"/>
              </a:rPr>
              <a:t>hợp lý nhất</a:t>
            </a:r>
            <a:pPr indent="0" marL="0">
              <a:buNone/>
            </a:pPr>
            <a:r>
              <a:rPr lang="en-US" sz="2100" b="1" dirty="0">
                <a:solidFill>
                  <a:srgbClr val="0B3B45"/>
                </a:solidFill>
                <a:latin typeface="Cambria" pitchFamily="34" charset="0"/>
                <a:ea typeface="Cambria" pitchFamily="34" charset="-122"/>
                <a:cs typeface="Cambria" pitchFamily="34" charset="-120"/>
              </a:rPr>
              <a:t>?</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Dán ghi chú AI viết vào CRM, rảnh thì nghe lại ghi âm</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Nhờ AI tóm tắt trước, rồi mới chuyển ghi âm thành văn bản</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Khử ồn → văn bản → che dữ liệu → AI tóm tắt 4 mục → đối chiếu, dán CRM</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Văn bản → gửi khách xác nhận → khử ồn → dán CRM</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QUIZ CUỐI KHÓA · CÂU 4 · ĐẠO ĐỨC &amp; BẢO MẬT</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Khách nhắn fanpage kèm </a:t>
            </a:r>
            <a:pPr indent="0" marL="0">
              <a:buNone/>
            </a:pPr>
            <a:r>
              <a:rPr lang="en-US" sz="2100" b="1" dirty="0">
                <a:solidFill>
                  <a:srgbClr val="0B3B45"/>
                </a:solidFill>
                <a:latin typeface="Cambria" pitchFamily="34" charset="0"/>
                <a:ea typeface="Cambria" pitchFamily="34" charset="-122"/>
                <a:cs typeface="Cambria" pitchFamily="34" charset="-120"/>
              </a:rPr>
              <a:t>ảnh CCCD</a:t>
            </a:r>
            <a:pPr indent="0" marL="0">
              <a:buNone/>
            </a:pPr>
            <a:r>
              <a:rPr lang="en-US" sz="2100" b="1" dirty="0">
                <a:solidFill>
                  <a:srgbClr val="0B3B45"/>
                </a:solidFill>
                <a:latin typeface="Cambria" pitchFamily="34" charset="0"/>
                <a:ea typeface="Cambria" pitchFamily="34" charset="-122"/>
                <a:cs typeface="Cambria" pitchFamily="34" charset="-120"/>
              </a:rPr>
              <a:t> và </a:t>
            </a:r>
            <a:pPr indent="0" marL="0">
              <a:buNone/>
            </a:pPr>
            <a:r>
              <a:rPr lang="en-US" sz="2100" b="1" dirty="0">
                <a:solidFill>
                  <a:srgbClr val="0B3B45"/>
                </a:solidFill>
                <a:latin typeface="Cambria" pitchFamily="34" charset="0"/>
                <a:ea typeface="Cambria" pitchFamily="34" charset="-122"/>
                <a:cs typeface="Cambria" pitchFamily="34" charset="-120"/>
              </a:rPr>
              <a:t>4 số cuối thẻ</a:t>
            </a:r>
            <a:pPr indent="0" marL="0">
              <a:buNone/>
            </a:pPr>
            <a:r>
              <a:rPr lang="en-US" sz="2100" b="1" dirty="0">
                <a:solidFill>
                  <a:srgbClr val="0B3B45"/>
                </a:solidFill>
                <a:latin typeface="Cambria" pitchFamily="34" charset="0"/>
                <a:ea typeface="Cambria" pitchFamily="34" charset="-122"/>
                <a:cs typeface="Cambria" pitchFamily="34" charset="-120"/>
              </a:rPr>
              <a:t> để đòi hoàn tiền. Lan muốn nhờ AI cá nhân soạn trả lời. Cách nào đúng?</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Dán nguyên tin nhắn và ảnh để AI hiểu đủ bối cảnh</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Mô tả bằng placeholder, không đưa CCCD/số thẻ; đọc lại trước khi gửi</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Chỉ xóa tên khách, giữ CCCD và số thẻ để AI xác minh</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Từ chối hỗ trợ vì tin nhắn có dữ liệu nhạy cảm</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QUIZ CUỐI KHÓA · CÂU 5 · ĐẠO ĐỨC &amp; BẢO MẬT</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Việc nào sau đây </a:t>
            </a:r>
            <a:pPr indent="0" marL="0">
              <a:buNone/>
            </a:pPr>
            <a:r>
              <a:rPr lang="en-US" sz="2100" b="1" dirty="0">
                <a:solidFill>
                  <a:srgbClr val="0B3B45"/>
                </a:solidFill>
                <a:latin typeface="Cambria" pitchFamily="34" charset="0"/>
                <a:ea typeface="Cambria" pitchFamily="34" charset="-122"/>
                <a:cs typeface="Cambria" pitchFamily="34" charset="-120"/>
              </a:rPr>
              <a:t>KHÔNG</a:t>
            </a:r>
            <a:pPr indent="0" marL="0">
              <a:buNone/>
            </a:pPr>
            <a:r>
              <a:rPr lang="en-US" sz="2100" b="1" dirty="0">
                <a:solidFill>
                  <a:srgbClr val="0B3B45"/>
                </a:solidFill>
                <a:latin typeface="Cambria" pitchFamily="34" charset="0"/>
                <a:ea typeface="Cambria" pitchFamily="34" charset="-122"/>
                <a:cs typeface="Cambria" pitchFamily="34" charset="-120"/>
              </a:rPr>
              <a:t> nên để AI tự quyết định?</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Soạn nháp email xin lỗi vì giao hàng trễ</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Gợi ý tag cho 50 ticket để nhân viên duyệt lại</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Quyết định bồi thường ngoài chính sách cho khách dọa lên báo</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Tổng hợp Top 5 vấn đề khách phàn nàn nhiều nhất tuần</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TỔNG KẾT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Bạn đã học được gì</a:t>
            </a:r>
            <a:endParaRPr lang="en-US" sz="2500" dirty="0"/>
          </a:p>
        </p:txBody>
      </p:sp>
      <p:sp>
        <p:nvSpPr>
          <p:cNvPr id="4" name="Shape 2"/>
          <p:cNvSpPr/>
          <p:nvPr/>
        </p:nvSpPr>
        <p:spPr>
          <a:xfrm>
            <a:off x="457200" y="1490472"/>
            <a:ext cx="329184" cy="329184"/>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542788" y="1576060"/>
            <a:ext cx="158008" cy="158008"/>
          </a:xfrm>
          <a:prstGeom prst="rect">
            <a:avLst/>
          </a:prstGeom>
        </p:spPr>
      </p:pic>
      <p:sp>
        <p:nvSpPr>
          <p:cNvPr id="6" name="Text 3"/>
          <p:cNvSpPr txBox="1"/>
          <p:nvPr/>
        </p:nvSpPr>
        <p:spPr>
          <a:xfrm>
            <a:off x="914400" y="1371600"/>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AI là trợ lý, bạn chịu trách nhiệm.</a:t>
            </a:r>
            <a:pPr indent="0" marL="0">
              <a:buNone/>
            </a:pPr>
            <a:r>
              <a:rPr lang="en-US" sz="1450" dirty="0">
                <a:solidFill>
                  <a:srgbClr val="1F2A30"/>
                </a:solidFill>
                <a:latin typeface="Calibri" pitchFamily="34" charset="0"/>
                <a:ea typeface="Calibri" pitchFamily="34" charset="-122"/>
                <a:cs typeface="Calibri" pitchFamily="34" charset="-120"/>
              </a:rPr>
              <a:t> Câu trả lời mang tên bạn và ShopNhanh.</a:t>
            </a:r>
            <a:endParaRPr lang="en-US" sz="1450" dirty="0"/>
          </a:p>
        </p:txBody>
      </p:sp>
      <p:sp>
        <p:nvSpPr>
          <p:cNvPr id="7" name="Shape 4"/>
          <p:cNvSpPr/>
          <p:nvPr/>
        </p:nvSpPr>
        <p:spPr>
          <a:xfrm>
            <a:off x="457200" y="2057400"/>
            <a:ext cx="329184" cy="329184"/>
          </a:xfrm>
          <a:prstGeom prst="ellipse">
            <a:avLst/>
          </a:prstGeom>
          <a:solidFill>
            <a:srgbClr val="0E7C7B"/>
          </a:solidFill>
          <a:ln w="12700">
            <a:solidFill>
              <a:srgbClr val="0E7C7B"/>
            </a:solidFill>
            <a:prstDash val="solid"/>
          </a:ln>
        </p:spPr>
      </p:sp>
      <p:pic>
        <p:nvPicPr>
          <p:cNvPr id="8" name="Image 1" descr="preencoded.png">    </p:cNvPr>
          <p:cNvPicPr>
            <a:picLocks noChangeAspect="1"/>
          </p:cNvPicPr>
          <p:nvPr/>
        </p:nvPicPr>
        <p:blipFill>
          <a:blip r:embed="rId2"/>
          <a:stretch>
            <a:fillRect/>
          </a:stretch>
        </p:blipFill>
        <p:spPr>
          <a:xfrm>
            <a:off x="542788" y="2142988"/>
            <a:ext cx="158008" cy="158008"/>
          </a:xfrm>
          <a:prstGeom prst="rect">
            <a:avLst/>
          </a:prstGeom>
        </p:spPr>
      </p:pic>
      <p:sp>
        <p:nvSpPr>
          <p:cNvPr id="9" name="Text 5"/>
          <p:cNvSpPr txBox="1"/>
          <p:nvPr/>
        </p:nvSpPr>
        <p:spPr>
          <a:xfrm>
            <a:off x="914400" y="1938528"/>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Che trước, hỏi sau.</a:t>
            </a:r>
            <a:pPr indent="0" marL="0">
              <a:buNone/>
            </a:pPr>
            <a:r>
              <a:rPr lang="en-US" sz="1450" dirty="0">
                <a:solidFill>
                  <a:srgbClr val="1F2A30"/>
                </a:solidFill>
                <a:latin typeface="Calibri" pitchFamily="34" charset="0"/>
                <a:ea typeface="Calibri" pitchFamily="34" charset="-122"/>
                <a:cs typeface="Calibri" pitchFamily="34" charset="-120"/>
              </a:rPr>
              <a:t> Dữ liệu cá nhân của khách không vào AI cá nhân.</a:t>
            </a:r>
            <a:endParaRPr lang="en-US" sz="1450" dirty="0"/>
          </a:p>
        </p:txBody>
      </p:sp>
      <p:sp>
        <p:nvSpPr>
          <p:cNvPr id="10" name="Shape 6"/>
          <p:cNvSpPr/>
          <p:nvPr/>
        </p:nvSpPr>
        <p:spPr>
          <a:xfrm>
            <a:off x="457200" y="2624328"/>
            <a:ext cx="329184" cy="329184"/>
          </a:xfrm>
          <a:prstGeom prst="ellipse">
            <a:avLst/>
          </a:prstGeom>
          <a:solidFill>
            <a:srgbClr val="0E7C7B"/>
          </a:solidFill>
          <a:ln w="12700">
            <a:solidFill>
              <a:srgbClr val="0E7C7B"/>
            </a:solidFill>
            <a:prstDash val="solid"/>
          </a:ln>
        </p:spPr>
      </p:sp>
      <p:pic>
        <p:nvPicPr>
          <p:cNvPr id="11" name="Image 2" descr="preencoded.png">    </p:cNvPr>
          <p:cNvPicPr>
            <a:picLocks noChangeAspect="1"/>
          </p:cNvPicPr>
          <p:nvPr/>
        </p:nvPicPr>
        <p:blipFill>
          <a:blip r:embed="rId3"/>
          <a:stretch>
            <a:fillRect/>
          </a:stretch>
        </p:blipFill>
        <p:spPr>
          <a:xfrm>
            <a:off x="542788" y="2709916"/>
            <a:ext cx="158008" cy="158008"/>
          </a:xfrm>
          <a:prstGeom prst="rect">
            <a:avLst/>
          </a:prstGeom>
        </p:spPr>
      </p:pic>
      <p:sp>
        <p:nvSpPr>
          <p:cNvPr id="12" name="Text 7"/>
          <p:cNvSpPr txBox="1"/>
          <p:nvPr/>
        </p:nvSpPr>
        <p:spPr>
          <a:xfrm>
            <a:off x="914400" y="2505456"/>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Prompt rõ thì đầu ra tốt.</a:t>
            </a:r>
            <a:pPr indent="0" marL="0">
              <a:buNone/>
            </a:pPr>
            <a:r>
              <a:rPr lang="en-US" sz="1450" dirty="0">
                <a:solidFill>
                  <a:srgbClr val="1F2A30"/>
                </a:solidFill>
                <a:latin typeface="Calibri" pitchFamily="34" charset="0"/>
                <a:ea typeface="Calibri" pitchFamily="34" charset="-122"/>
                <a:cs typeface="Calibri" pitchFamily="34" charset="-120"/>
              </a:rPr>
              <a:t> V-B-N-Đ-G là thói quen, không để thuộc lòng.</a:t>
            </a:r>
            <a:endParaRPr lang="en-US" sz="1450" dirty="0"/>
          </a:p>
        </p:txBody>
      </p:sp>
      <p:sp>
        <p:nvSpPr>
          <p:cNvPr id="13" name="Shape 8"/>
          <p:cNvSpPr/>
          <p:nvPr/>
        </p:nvSpPr>
        <p:spPr>
          <a:xfrm>
            <a:off x="457200" y="3191256"/>
            <a:ext cx="329184" cy="329184"/>
          </a:xfrm>
          <a:prstGeom prst="ellipse">
            <a:avLst/>
          </a:prstGeom>
          <a:solidFill>
            <a:srgbClr val="0E7C7B"/>
          </a:solidFill>
          <a:ln w="12700">
            <a:solidFill>
              <a:srgbClr val="0E7C7B"/>
            </a:solidFill>
            <a:prstDash val="solid"/>
          </a:ln>
        </p:spPr>
      </p:sp>
      <p:pic>
        <p:nvPicPr>
          <p:cNvPr id="14" name="Image 3" descr="preencoded.png">    </p:cNvPr>
          <p:cNvPicPr>
            <a:picLocks noChangeAspect="1"/>
          </p:cNvPicPr>
          <p:nvPr/>
        </p:nvPicPr>
        <p:blipFill>
          <a:blip r:embed="rId4"/>
          <a:stretch>
            <a:fillRect/>
          </a:stretch>
        </p:blipFill>
        <p:spPr>
          <a:xfrm>
            <a:off x="542788" y="3276844"/>
            <a:ext cx="158008" cy="158008"/>
          </a:xfrm>
          <a:prstGeom prst="rect">
            <a:avLst/>
          </a:prstGeom>
        </p:spPr>
      </p:pic>
      <p:sp>
        <p:nvSpPr>
          <p:cNvPr id="15" name="Text 9"/>
          <p:cNvSpPr txBox="1"/>
          <p:nvPr/>
        </p:nvSpPr>
        <p:spPr>
          <a:xfrm>
            <a:off x="914400" y="3072384"/>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Có nguồn thì kiểm được.</a:t>
            </a:r>
            <a:pPr indent="0" marL="0">
              <a:buNone/>
            </a:pPr>
            <a:r>
              <a:rPr lang="en-US" sz="1450" dirty="0">
                <a:solidFill>
                  <a:srgbClr val="1F2A30"/>
                </a:solidFill>
                <a:latin typeface="Calibri" pitchFamily="34" charset="0"/>
                <a:ea typeface="Calibri" pitchFamily="34" charset="-122"/>
                <a:cs typeface="Calibri" pitchFamily="34" charset="-120"/>
              </a:rPr>
              <a:t> Chính sách, số liệu: dùng NotebookLM, bấm vào nguồn.</a:t>
            </a:r>
            <a:endParaRPr lang="en-US" sz="1450" dirty="0"/>
          </a:p>
        </p:txBody>
      </p:sp>
      <p:sp>
        <p:nvSpPr>
          <p:cNvPr id="16" name="Shape 10"/>
          <p:cNvSpPr/>
          <p:nvPr/>
        </p:nvSpPr>
        <p:spPr>
          <a:xfrm>
            <a:off x="457200" y="3758184"/>
            <a:ext cx="329184" cy="329184"/>
          </a:xfrm>
          <a:prstGeom prst="ellipse">
            <a:avLst/>
          </a:prstGeom>
          <a:solidFill>
            <a:srgbClr val="0E7C7B"/>
          </a:solidFill>
          <a:ln w="12700">
            <a:solidFill>
              <a:srgbClr val="0E7C7B"/>
            </a:solidFill>
            <a:prstDash val="solid"/>
          </a:ln>
        </p:spPr>
      </p:sp>
      <p:pic>
        <p:nvPicPr>
          <p:cNvPr id="17" name="Image 4" descr="preencoded.png">    </p:cNvPr>
          <p:cNvPicPr>
            <a:picLocks noChangeAspect="1"/>
          </p:cNvPicPr>
          <p:nvPr/>
        </p:nvPicPr>
        <p:blipFill>
          <a:blip r:embed="rId5"/>
          <a:stretch>
            <a:fillRect/>
          </a:stretch>
        </p:blipFill>
        <p:spPr>
          <a:xfrm>
            <a:off x="542788" y="3843772"/>
            <a:ext cx="158008" cy="158008"/>
          </a:xfrm>
          <a:prstGeom prst="rect">
            <a:avLst/>
          </a:prstGeom>
        </p:spPr>
      </p:pic>
      <p:sp>
        <p:nvSpPr>
          <p:cNvPr id="18" name="Text 11"/>
          <p:cNvSpPr txBox="1"/>
          <p:nvPr/>
        </p:nvSpPr>
        <p:spPr>
          <a:xfrm>
            <a:off x="914400" y="3639312"/>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Đo được mới cải tiến được.</a:t>
            </a:r>
            <a:pPr indent="0" marL="0">
              <a:buNone/>
            </a:pPr>
            <a:r>
              <a:rPr lang="en-US" sz="1450" dirty="0">
                <a:solidFill>
                  <a:srgbClr val="1F2A30"/>
                </a:solidFill>
                <a:latin typeface="Calibri" pitchFamily="34" charset="0"/>
                <a:ea typeface="Calibri" pitchFamily="34" charset="-122"/>
                <a:cs typeface="Calibri" pitchFamily="34" charset="-120"/>
              </a:rPr>
              <a:t> Số liệu trung thực thuyết phục hơn lời khen.</a:t>
            </a:r>
            <a:endParaRPr lang="en-US" sz="1450" dirty="0"/>
          </a:p>
        </p:txBody>
      </p:sp>
      <p:sp>
        <p:nvSpPr>
          <p:cNvPr id="19" name="Shape 12"/>
          <p:cNvSpPr/>
          <p:nvPr/>
        </p:nvSpPr>
        <p:spPr>
          <a:xfrm>
            <a:off x="5897880" y="1371600"/>
            <a:ext cx="2788920" cy="3154680"/>
          </a:xfrm>
          <a:prstGeom prst="roundRect">
            <a:avLst>
              <a:gd name="adj" fmla="val 3279"/>
            </a:avLst>
          </a:prstGeom>
          <a:solidFill>
            <a:srgbClr val="0B3B45"/>
          </a:solidFill>
          <a:ln w="12700">
            <a:solidFill>
              <a:srgbClr val="0B3B45"/>
            </a:solidFill>
            <a:prstDash val="solid"/>
          </a:ln>
        </p:spPr>
      </p:sp>
      <p:sp>
        <p:nvSpPr>
          <p:cNvPr id="20" name="Shape 13"/>
          <p:cNvSpPr/>
          <p:nvPr/>
        </p:nvSpPr>
        <p:spPr>
          <a:xfrm>
            <a:off x="6126480" y="1572768"/>
            <a:ext cx="502920" cy="502920"/>
          </a:xfrm>
          <a:prstGeom prst="ellipse">
            <a:avLst/>
          </a:prstGeom>
          <a:solidFill>
            <a:srgbClr val="F2994A"/>
          </a:solidFill>
          <a:ln w="12700">
            <a:solidFill>
              <a:srgbClr val="F2994A"/>
            </a:solidFill>
            <a:prstDash val="solid"/>
          </a:ln>
        </p:spPr>
      </p:sp>
      <p:pic>
        <p:nvPicPr>
          <p:cNvPr id="21" name="Image 5" descr="preencoded.png">    </p:cNvPr>
          <p:cNvPicPr>
            <a:picLocks noChangeAspect="1"/>
          </p:cNvPicPr>
          <p:nvPr/>
        </p:nvPicPr>
        <p:blipFill>
          <a:blip r:embed="rId6"/>
          <a:stretch>
            <a:fillRect/>
          </a:stretch>
        </p:blipFill>
        <p:spPr>
          <a:xfrm>
            <a:off x="6257239" y="1703527"/>
            <a:ext cx="241402" cy="241402"/>
          </a:xfrm>
          <a:prstGeom prst="rect">
            <a:avLst/>
          </a:prstGeom>
        </p:spPr>
      </p:pic>
      <p:sp>
        <p:nvSpPr>
          <p:cNvPr id="22" name="Text 14"/>
          <p:cNvSpPr txBox="1"/>
          <p:nvPr/>
        </p:nvSpPr>
        <p:spPr>
          <a:xfrm>
            <a:off x="6126480" y="2194560"/>
            <a:ext cx="2377440" cy="274320"/>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TIẾP THEO</a:t>
            </a:r>
            <a:endParaRPr lang="en-US" sz="1050" dirty="0"/>
          </a:p>
        </p:txBody>
      </p:sp>
      <p:sp>
        <p:nvSpPr>
          <p:cNvPr id="23" name="Text 15"/>
          <p:cNvSpPr txBox="1"/>
          <p:nvPr/>
        </p:nvSpPr>
        <p:spPr>
          <a:xfrm>
            <a:off x="6126480" y="2514600"/>
            <a:ext cx="2377440" cy="1874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Lan bây giờ:</a:t>
            </a:r>
            <a:pPr indent="0" marL="0">
              <a:buNone/>
            </a:pPr>
            <a:r>
              <a:rPr lang="en-US" sz="1400" dirty="0">
                <a:solidFill>
                  <a:srgbClr val="FFFFFF"/>
                </a:solidFill>
                <a:latin typeface="Calibri" pitchFamily="34" charset="0"/>
                <a:ea typeface="Calibri" pitchFamily="34" charset="-122"/>
                <a:cs typeface="Calibri" pitchFamily="34" charset="-120"/>
              </a:rPr>
              <a:t> vẫn 40 cuộc gọi mỗi ca, nhưng biết </a:t>
            </a:r>
            <a:pPr indent="0" marL="0">
              <a:buNone/>
            </a:pPr>
            <a:r>
              <a:rPr lang="en-US" sz="1400" b="1" dirty="0">
                <a:solidFill>
                  <a:srgbClr val="FFFFFF"/>
                </a:solidFill>
                <a:latin typeface="Calibri" pitchFamily="34" charset="0"/>
                <a:ea typeface="Calibri" pitchFamily="34" charset="-122"/>
                <a:cs typeface="Calibri" pitchFamily="34" charset="-120"/>
              </a:rPr>
              <a:t>lúc nào dừng lại và chuyển cho Team Leader</a:t>
            </a:r>
            <a:pPr indent="0" marL="0">
              <a:buNone/>
            </a:pPr>
            <a:r>
              <a:rPr lang="en-US" sz="1400" dirty="0">
                <a:solidFill>
                  <a:srgbClr val="FFFFFF"/>
                </a:solidFill>
                <a:latin typeface="Calibri" pitchFamily="34" charset="0"/>
                <a:ea typeface="Calibri" pitchFamily="34" charset="-122"/>
                <a:cs typeface="Calibri" pitchFamily="34" charset="-120"/>
              </a:rPr>
              <a:t>, thay vì để AI quyết định.</a:t>
            </a:r>
            <a:endParaRPr lang="en-US" sz="1400" dirty="0"/>
          </a:p>
        </p:txBody>
      </p:sp>
      <p:sp>
        <p:nvSpPr>
          <p:cNvPr id="24" name="Text 1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25" name="Text 1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CAM KẾT 30 NGÀY</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Giữ nhịp 4 tuần đầu sau khóa học</a:t>
            </a:r>
            <a:endParaRPr lang="en-US" sz="2500" dirty="0"/>
          </a:p>
        </p:txBody>
      </p:sp>
      <p:sp>
        <p:nvSpPr>
          <p:cNvPr id="4" name="Shape 2"/>
          <p:cNvSpPr/>
          <p:nvPr/>
        </p:nvSpPr>
        <p:spPr>
          <a:xfrm>
            <a:off x="1485900" y="1783080"/>
            <a:ext cx="6172200" cy="0"/>
          </a:xfrm>
          <a:prstGeom prst="line">
            <a:avLst/>
          </a:prstGeom>
          <a:noFill/>
          <a:ln w="31750">
            <a:solidFill>
              <a:srgbClr val="D3EAE6"/>
            </a:solidFill>
            <a:prstDash val="solid"/>
          </a:ln>
        </p:spPr>
      </p:sp>
      <p:sp>
        <p:nvSpPr>
          <p:cNvPr id="5" name="Shape 3"/>
          <p:cNvSpPr/>
          <p:nvPr/>
        </p:nvSpPr>
        <p:spPr>
          <a:xfrm>
            <a:off x="1184148" y="1481328"/>
            <a:ext cx="603504" cy="603504"/>
          </a:xfrm>
          <a:prstGeom prst="ellipse">
            <a:avLst/>
          </a:prstGeom>
          <a:solidFill>
            <a:srgbClr val="0E7C7B"/>
          </a:solidFill>
          <a:ln w="25400">
            <a:solidFill>
              <a:srgbClr val="FFFFFF"/>
            </a:solidFill>
            <a:prstDash val="solid"/>
          </a:ln>
        </p:spPr>
      </p:sp>
      <p:sp>
        <p:nvSpPr>
          <p:cNvPr id="6" name="Text 4"/>
          <p:cNvSpPr txBox="1"/>
          <p:nvPr/>
        </p:nvSpPr>
        <p:spPr>
          <a:xfrm>
            <a:off x="11841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530352" y="2240280"/>
            <a:ext cx="19110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Tuần 1</a:t>
            </a:r>
            <a:endParaRPr lang="en-US" sz="1450" dirty="0"/>
          </a:p>
        </p:txBody>
      </p:sp>
      <p:sp>
        <p:nvSpPr>
          <p:cNvPr id="8" name="Text 6"/>
          <p:cNvSpPr txBox="1"/>
          <p:nvPr/>
        </p:nvSpPr>
        <p:spPr>
          <a:xfrm>
            <a:off x="548640" y="2788920"/>
            <a:ext cx="18745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Dùng </a:t>
            </a:r>
            <a:pPr algn="ctr" indent="0" marL="0">
              <a:buNone/>
            </a:pPr>
            <a:r>
              <a:rPr lang="en-US" sz="1350" b="1" dirty="0">
                <a:solidFill>
                  <a:srgbClr val="1F2A30"/>
                </a:solidFill>
                <a:latin typeface="Calibri" pitchFamily="34" charset="0"/>
                <a:ea typeface="Calibri" pitchFamily="34" charset="-122"/>
                <a:cs typeface="Calibri" pitchFamily="34" charset="-120"/>
              </a:rPr>
              <a:t>thư viện prompt</a:t>
            </a:r>
            <a:pPr algn="ctr" indent="0" marL="0">
              <a:buNone/>
            </a:pPr>
            <a:r>
              <a:rPr lang="en-US" sz="1350" dirty="0">
                <a:solidFill>
                  <a:srgbClr val="1F2A30"/>
                </a:solidFill>
                <a:latin typeface="Calibri" pitchFamily="34" charset="0"/>
                <a:ea typeface="Calibri" pitchFamily="34" charset="-122"/>
                <a:cs typeface="Calibri" pitchFamily="34" charset="-120"/>
              </a:rPr>
              <a:t> cho một số tình huống cố định mỗi ngày.</a:t>
            </a:r>
            <a:endParaRPr lang="en-US" sz="1350" dirty="0"/>
          </a:p>
        </p:txBody>
      </p:sp>
      <p:sp>
        <p:nvSpPr>
          <p:cNvPr id="9" name="Shape 7"/>
          <p:cNvSpPr/>
          <p:nvPr/>
        </p:nvSpPr>
        <p:spPr>
          <a:xfrm>
            <a:off x="3241548" y="1481328"/>
            <a:ext cx="603504" cy="603504"/>
          </a:xfrm>
          <a:prstGeom prst="ellipse">
            <a:avLst/>
          </a:prstGeom>
          <a:solidFill>
            <a:srgbClr val="0E7C7B"/>
          </a:solidFill>
          <a:ln w="25400">
            <a:solidFill>
              <a:srgbClr val="FFFFFF"/>
            </a:solidFill>
            <a:prstDash val="solid"/>
          </a:ln>
        </p:spPr>
      </p:sp>
      <p:sp>
        <p:nvSpPr>
          <p:cNvPr id="10" name="Text 8"/>
          <p:cNvSpPr txBox="1"/>
          <p:nvPr/>
        </p:nvSpPr>
        <p:spPr>
          <a:xfrm>
            <a:off x="32415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2587752" y="2240280"/>
            <a:ext cx="19110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Tuần 2</a:t>
            </a:r>
            <a:endParaRPr lang="en-US" sz="1450" dirty="0"/>
          </a:p>
        </p:txBody>
      </p:sp>
      <p:sp>
        <p:nvSpPr>
          <p:cNvPr id="12" name="Text 10"/>
          <p:cNvSpPr txBox="1"/>
          <p:nvPr/>
        </p:nvSpPr>
        <p:spPr>
          <a:xfrm>
            <a:off x="2606040" y="2788920"/>
            <a:ext cx="18745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Dùng </a:t>
            </a:r>
            <a:pPr algn="ctr" indent="0" marL="0">
              <a:buNone/>
            </a:pPr>
            <a:r>
              <a:rPr lang="en-US" sz="1350" b="1" dirty="0">
                <a:solidFill>
                  <a:srgbClr val="1F2A30"/>
                </a:solidFill>
                <a:latin typeface="Calibri" pitchFamily="34" charset="0"/>
                <a:ea typeface="Calibri" pitchFamily="34" charset="-122"/>
                <a:cs typeface="Calibri" pitchFamily="34" charset="-120"/>
              </a:rPr>
              <a:t>quy trình ghi âm → CRM</a:t>
            </a:r>
            <a:pPr algn="ctr" indent="0" marL="0">
              <a:buNone/>
            </a:pPr>
            <a:r>
              <a:rPr lang="en-US" sz="1350" dirty="0">
                <a:solidFill>
                  <a:srgbClr val="1F2A30"/>
                </a:solidFill>
                <a:latin typeface="Calibri" pitchFamily="34" charset="0"/>
                <a:ea typeface="Calibri" pitchFamily="34" charset="-122"/>
                <a:cs typeface="Calibri" pitchFamily="34" charset="-120"/>
              </a:rPr>
              <a:t> cho các cuộc gọi được phép.</a:t>
            </a:r>
            <a:endParaRPr lang="en-US" sz="1350" dirty="0"/>
          </a:p>
        </p:txBody>
      </p:sp>
      <p:sp>
        <p:nvSpPr>
          <p:cNvPr id="13" name="Shape 11"/>
          <p:cNvSpPr/>
          <p:nvPr/>
        </p:nvSpPr>
        <p:spPr>
          <a:xfrm>
            <a:off x="5298948" y="1481328"/>
            <a:ext cx="603504" cy="603504"/>
          </a:xfrm>
          <a:prstGeom prst="ellipse">
            <a:avLst/>
          </a:prstGeom>
          <a:solidFill>
            <a:srgbClr val="0E7C7B"/>
          </a:solidFill>
          <a:ln w="25400">
            <a:solidFill>
              <a:srgbClr val="FFFFFF"/>
            </a:solidFill>
            <a:prstDash val="solid"/>
          </a:ln>
        </p:spPr>
      </p:sp>
      <p:sp>
        <p:nvSpPr>
          <p:cNvPr id="14" name="Text 12"/>
          <p:cNvSpPr txBox="1"/>
          <p:nvPr/>
        </p:nvSpPr>
        <p:spPr>
          <a:xfrm>
            <a:off x="52989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4645152" y="2240280"/>
            <a:ext cx="19110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Tuần 3</a:t>
            </a:r>
            <a:endParaRPr lang="en-US" sz="1450" dirty="0"/>
          </a:p>
        </p:txBody>
      </p:sp>
      <p:sp>
        <p:nvSpPr>
          <p:cNvPr id="16" name="Text 14"/>
          <p:cNvSpPr txBox="1"/>
          <p:nvPr/>
        </p:nvSpPr>
        <p:spPr>
          <a:xfrm>
            <a:off x="4663440" y="2788920"/>
            <a:ext cx="18745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Cập nhật </a:t>
            </a:r>
            <a:pPr algn="ctr" indent="0" marL="0">
              <a:buNone/>
            </a:pPr>
            <a:r>
              <a:rPr lang="en-US" sz="1350" b="1" dirty="0">
                <a:solidFill>
                  <a:srgbClr val="1F2A30"/>
                </a:solidFill>
                <a:latin typeface="Calibri" pitchFamily="34" charset="0"/>
                <a:ea typeface="Calibri" pitchFamily="34" charset="-122"/>
                <a:cs typeface="Calibri" pitchFamily="34" charset="-120"/>
              </a:rPr>
              <a:t>NotebookLM</a:t>
            </a:r>
            <a:pPr algn="ctr" indent="0" marL="0">
              <a:buNone/>
            </a:pPr>
            <a:r>
              <a:rPr lang="en-US" sz="1350" dirty="0">
                <a:solidFill>
                  <a:srgbClr val="1F2A30"/>
                </a:solidFill>
                <a:latin typeface="Calibri" pitchFamily="34" charset="0"/>
                <a:ea typeface="Calibri" pitchFamily="34" charset="-122"/>
                <a:cs typeface="Calibri" pitchFamily="34" charset="-120"/>
              </a:rPr>
              <a:t>, tài liệu hướng dẫn khách, thêm prompt mới.</a:t>
            </a:r>
            <a:endParaRPr lang="en-US" sz="1350" dirty="0"/>
          </a:p>
        </p:txBody>
      </p:sp>
      <p:sp>
        <p:nvSpPr>
          <p:cNvPr id="17" name="Shape 15"/>
          <p:cNvSpPr/>
          <p:nvPr/>
        </p:nvSpPr>
        <p:spPr>
          <a:xfrm>
            <a:off x="7356348" y="1481328"/>
            <a:ext cx="603504" cy="603504"/>
          </a:xfrm>
          <a:prstGeom prst="ellipse">
            <a:avLst/>
          </a:prstGeom>
          <a:solidFill>
            <a:srgbClr val="F2994A"/>
          </a:solidFill>
          <a:ln w="25400">
            <a:solidFill>
              <a:srgbClr val="FFFFFF"/>
            </a:solidFill>
            <a:prstDash val="solid"/>
          </a:ln>
        </p:spPr>
      </p:sp>
      <p:sp>
        <p:nvSpPr>
          <p:cNvPr id="18" name="Text 16"/>
          <p:cNvSpPr txBox="1"/>
          <p:nvPr/>
        </p:nvSpPr>
        <p:spPr>
          <a:xfrm>
            <a:off x="73563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6702552" y="2240280"/>
            <a:ext cx="19110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Tuần 4</a:t>
            </a:r>
            <a:endParaRPr lang="en-US" sz="1450" dirty="0"/>
          </a:p>
        </p:txBody>
      </p:sp>
      <p:sp>
        <p:nvSpPr>
          <p:cNvPr id="20" name="Text 18"/>
          <p:cNvSpPr txBox="1"/>
          <p:nvPr/>
        </p:nvSpPr>
        <p:spPr>
          <a:xfrm>
            <a:off x="6720840" y="2788920"/>
            <a:ext cx="1874520" cy="1737360"/>
          </a:xfrm>
          <a:prstGeom prst="rect">
            <a:avLst/>
          </a:prstGeom>
          <a:noFill/>
          <a:ln/>
        </p:spPr>
        <p:txBody>
          <a:bodyPr wrap="square" lIns="0" tIns="0" rIns="0" bIns="0" rtlCol="0" anchor="t"/>
          <a:lstStyle/>
          <a:p>
            <a:pPr algn="ctr" indent="0" marL="0">
              <a:buNone/>
            </a:pPr>
            <a:r>
              <a:rPr lang="en-US" sz="1350" b="1" dirty="0">
                <a:solidFill>
                  <a:srgbClr val="1F2A30"/>
                </a:solidFill>
                <a:latin typeface="Calibri" pitchFamily="34" charset="0"/>
                <a:ea typeface="Calibri" pitchFamily="34" charset="-122"/>
                <a:cs typeface="Calibri" pitchFamily="34" charset="-120"/>
              </a:rPr>
              <a:t>Đo lại</a:t>
            </a:r>
            <a:pPr algn="ctr" indent="0" marL="0">
              <a:buNone/>
            </a:pPr>
            <a:r>
              <a:rPr lang="en-US" sz="1350" dirty="0">
                <a:solidFill>
                  <a:srgbClr val="1F2A30"/>
                </a:solidFill>
                <a:latin typeface="Calibri" pitchFamily="34" charset="0"/>
                <a:ea typeface="Calibri" pitchFamily="34" charset="-122"/>
                <a:cs typeface="Calibri" pitchFamily="34" charset="-120"/>
              </a:rPr>
              <a:t> chỉ số, chia sẻ kết quả với Team Leader.</a:t>
            </a:r>
            <a:endParaRPr lang="en-US" sz="1350" dirty="0"/>
          </a:p>
        </p:txBody>
      </p:sp>
      <p:sp>
        <p:nvSpPr>
          <p:cNvPr id="21" name="Text 19"/>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Ví dụ của Lan: ACW từ 4:30 xuống </a:t>
            </a:r>
            <a:pPr indent="0" marL="0">
              <a:buNone/>
            </a:pPr>
            <a:r>
              <a:rPr lang="en-US" sz="1250" b="1" i="1" dirty="0">
                <a:solidFill>
                  <a:srgbClr val="5B6B73"/>
                </a:solidFill>
                <a:latin typeface="Calibri" pitchFamily="34" charset="0"/>
                <a:ea typeface="Calibri" pitchFamily="34" charset="-122"/>
                <a:cs typeface="Calibri" pitchFamily="34" charset="-120"/>
              </a:rPr>
              <a:t>dưới 2 phút</a:t>
            </a:r>
            <a:pPr indent="0" marL="0">
              <a:buNone/>
            </a:pPr>
            <a:r>
              <a:rPr lang="en-US" sz="1250" i="1" dirty="0">
                <a:solidFill>
                  <a:srgbClr val="5B6B73"/>
                </a:solidFill>
                <a:latin typeface="Calibri" pitchFamily="34" charset="0"/>
                <a:ea typeface="Calibri" pitchFamily="34" charset="-122"/>
                <a:cs typeface="Calibri" pitchFamily="34" charset="-120"/>
              </a:rPr>
              <a:t>; mỗi thứ Sáu gửi chị Thảo (Team Leader) bảng số liệu 3 dòng.</a:t>
            </a:r>
            <a:endParaRPr lang="en-US" sz="1250" dirty="0"/>
          </a:p>
        </p:txBody>
      </p:sp>
      <p:sp>
        <p:nvSpPr>
          <p:cNvPr id="22" name="Text 20"/>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5</a:t>
            </a:r>
            <a:endParaRPr lang="en-US" sz="900" dirty="0"/>
          </a:p>
        </p:txBody>
      </p:sp>
      <p:sp>
        <p:nvSpPr>
          <p:cNvPr id="23" name="Text 21"/>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3B45"/>
        </a:solidFill>
      </p:bgPr>
    </p:bg>
    <p:spTree>
      <p:nvGrpSpPr>
        <p:cNvPr id="1" name=""/>
        <p:cNvGrpSpPr/>
        <p:nvPr/>
      </p:nvGrpSpPr>
      <p:grpSpPr>
        <a:xfrm>
          <a:off x="0" y="0"/>
          <a:ext cx="0" cy="0"/>
          <a:chOff x="0" y="0"/>
          <a:chExt cx="0" cy="0"/>
        </a:xfrm>
      </p:grpSpPr>
      <p:sp>
        <p:nvSpPr>
          <p:cNvPr id="2" name="Shape 0"/>
          <p:cNvSpPr/>
          <p:nvPr/>
        </p:nvSpPr>
        <p:spPr>
          <a:xfrm>
            <a:off x="-1097280" y="2926080"/>
            <a:ext cx="3657600" cy="3657600"/>
          </a:xfrm>
          <a:prstGeom prst="ellipse">
            <a:avLst/>
          </a:prstGeom>
          <a:solidFill>
            <a:srgbClr val="0E7C7B">
              <a:alpha val="40000"/>
            </a:srgbClr>
          </a:solidFill>
          <a:ln w="12700">
            <a:solidFill>
              <a:srgbClr val="0E7C7B">
                <a:alpha val="0"/>
              </a:srgbClr>
            </a:solidFill>
            <a:prstDash val="solid"/>
          </a:ln>
        </p:spPr>
      </p:sp>
      <p:sp>
        <p:nvSpPr>
          <p:cNvPr id="3" name="Text 1"/>
          <p:cNvSpPr txBox="1"/>
          <p:nvPr/>
        </p:nvSpPr>
        <p:spPr>
          <a:xfrm>
            <a:off x="548640" y="822960"/>
            <a:ext cx="8046720" cy="8229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Cảm ơn bạn đã đồng hành!</a:t>
            </a:r>
            <a:endParaRPr lang="en-US" sz="3600" dirty="0"/>
          </a:p>
        </p:txBody>
      </p:sp>
      <p:sp>
        <p:nvSpPr>
          <p:cNvPr id="4" name="Text 2"/>
          <p:cNvSpPr txBox="1"/>
          <p:nvPr/>
        </p:nvSpPr>
        <p:spPr>
          <a:xfrm>
            <a:off x="548640" y="1645920"/>
            <a:ext cx="8046720" cy="45720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Hoàn thành khóa GenAI cho Call Center · Hẹn gặp lại sau 30 ngày với những con số mới</a:t>
            </a:r>
            <a:endParaRPr lang="en-US" sz="1500" dirty="0"/>
          </a:p>
        </p:txBody>
      </p:sp>
      <p:sp>
        <p:nvSpPr>
          <p:cNvPr id="5" name="Text 3"/>
          <p:cNvSpPr txBox="1"/>
          <p:nvPr/>
        </p:nvSpPr>
        <p:spPr>
          <a:xfrm>
            <a:off x="3291840" y="2423160"/>
            <a:ext cx="5486400" cy="274320"/>
          </a:xfrm>
          <a:prstGeom prst="rect">
            <a:avLst/>
          </a:prstGeom>
          <a:noFill/>
          <a:ln/>
        </p:spPr>
        <p:txBody>
          <a:bodyPr wrap="square" lIns="0" tIns="0" rIns="0" bIns="0" rtlCol="0" anchor="t"/>
          <a:lstStyle/>
          <a:p>
            <a:pPr indent="0" marL="0">
              <a:buNone/>
            </a:pPr>
            <a:r>
              <a:rPr lang="en-US" sz="1100" b="1" spc="200" kern="0" dirty="0">
                <a:solidFill>
                  <a:srgbClr val="F2994A"/>
                </a:solidFill>
                <a:latin typeface="Calibri" pitchFamily="34" charset="0"/>
                <a:ea typeface="Calibri" pitchFamily="34" charset="-122"/>
                <a:cs typeface="Calibri" pitchFamily="34" charset="-120"/>
              </a:rPr>
              <a:t>BƯỚC TIẾP THEO</a:t>
            </a:r>
            <a:endParaRPr lang="en-US" sz="1100" dirty="0"/>
          </a:p>
        </p:txBody>
      </p:sp>
      <p:sp>
        <p:nvSpPr>
          <p:cNvPr id="6" name="Text 4"/>
          <p:cNvSpPr txBox="1"/>
          <p:nvPr/>
        </p:nvSpPr>
        <p:spPr>
          <a:xfrm>
            <a:off x="3291840" y="2743200"/>
            <a:ext cx="5394960" cy="1828800"/>
          </a:xfrm>
          <a:prstGeom prst="rect">
            <a:avLst/>
          </a:prstGeom>
          <a:noFill/>
          <a:ln/>
        </p:spPr>
        <p:txBody>
          <a:bodyPr wrap="square" lIns="0" tIns="0" rIns="0" bIns="0" rtlCol="0" anchor="t"/>
          <a:lstStyle/>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Nộp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ASM 2</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bản cuối, đã sửa theo 1 góp ý peer review</a:t>
            </a:r>
            <a:endParaRPr lang="en-US" sz="1550" dirty="0"/>
          </a:p>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Điền và gửi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cam kết 30 ngày</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cho người đồng hành</a:t>
            </a:r>
            <a:endParaRPr lang="en-US" sz="1550" dirty="0"/>
          </a:p>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Lưu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Checklist bảo mật</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và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Thư viện Prompt</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của ebook</a:t>
            </a:r>
            <a:endParaRPr lang="en-US" sz="1550" dirty="0"/>
          </a:p>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Để lại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feedback</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cho khóa học bằng dot.</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5 · Hoàn thiện &amp; Showcase</dc:title>
  <dc:subject>PptxGenJS Presentation</dc:subject>
  <dc:creator>GenAI cho Call Center</dc:creator>
  <cp:lastModifiedBy>GenAI cho Call Center</cp:lastModifiedBy>
  <cp:revision>1</cp:revision>
  <dcterms:created xsi:type="dcterms:W3CDTF">2026-09-30T06:37:15Z</dcterms:created>
  <dcterms:modified xsi:type="dcterms:W3CDTF">2026-09-30T06:37:15Z</dcterms:modified>
</cp:coreProperties>
</file>