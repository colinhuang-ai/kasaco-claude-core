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lớp, nhắc nhanh 3 buổi trước: AI làm tốt từng việc riêng lẻ. Buổi này nâng lên một tầng: dùng AI cho cả dòng chảy công việc của ca trực. Nhắc quy tắc Che, Kiểm, Chịu trách nhiệm: cả buổi chỉ dùng dữ liệu mẫu đã ẩn danh. Cuối buổi mỗi người chốt đề cương sản phẩm cuối khóa.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chuyện, hỏi lớp: cuối ca mỗi người mất bao lâu để tổng hợp báo cáo? Ai từng phải kèm người mới xử lý khách giận? Nhấn mạnh 2 chi tiết: Lan vẫn KIỂM 10 dòng và SỬA 2 nhãn sai. AI làm nhanh, con người vẫn kiểm.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này không có giải lao riêng; lab 40 phút là phần dài nhất, học viên tự điều chỉnh nghỉ ngắn giữa Phần A và Phần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lớp: bộ phận mình đang làm tay điểm chạm nào nhiều nhất? Các bài tiếp theo đi sâu từng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mẫu đầy đủ nằm trong trang Bản đồ GenAI của ebook: vai chuyên viên đào tạo CSKH, dán 5 macro đang dùng, mỗi macro mới tối đa 60 chữ, có 1 câu đồng cảm, xưng em gọi anh/chị.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đoạn "Lan bắt đầu từ đâu": tuần đầu chỉ làm macro và gắn tag cuối ca. Báo cáo Top 5 giúp phát hiện lỗi thanh toán sớm hai ngày, cả đội mới làm tiếp QA và roleplay. Bắt đầu nhỏ, đo được lợi ích, rồi mở rộng.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to câu mỉa mai với giọng bình thường rồi giọng mỉa mai, cho lớp thấy chữ viết không mang giọng. Prompt mơ hồ ("Phân tích cảm xúc mấy ticket này") khiến AI tự đặt nhãn mỗi lần một kiểu, không có bằng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lớp: vì sao cần lối thoát "Cần kiểm tra"? (AI không bị ép đoán, giảm nhãn sai.) Có bảng rồi thì hỏi tiếp trong cùng cuộc trò chuyện để lập Top 5 vấn đề: số ticket, ví dụ tiêu biểu, nguyên nhân có thể, đề xuất; không rõ nguyên nhân thì ghi "chưa rõ".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chỉ nói "chấm cuộc gọi này", AI tự nghĩ tiêu chí, mỗi lần một kiểu. Khuyến khích học viên thay bằng bộ tiêu chí thật của bộ phận mình nếu có. Tiêu chí 4 và 5 có trọng số 2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Mẹo triển khai nhẹ nhàng: agent tự dán transcript của chính mình (đã ẩn danh) để AI chấm, tự sửa trước khi QA chấm chính thức. AI thành công cụ giúp tiến bộ, không phải "camera giám sát".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B. Để AI tự đặt nhãn, mỗi lần có thể gọi khác nhau ("Giao hàng chậm", "Vận chuyển trễ"), số liệu không cộng dồn được. Nhãn cố định vẫn cần kiểm mẫu, nên D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C. Câu mỉa mai là loại AI dễ đọc nhầm nhất. "Lần thứ ba giao nhầm" là tín hiệu bực bội rõ, thậm chí có nguy cơ rời bỏ.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C. Dẫn chứng nguyên văn cho phép đối chiếu ngay với transcript và hạn chế AI bịa lý do. Nhớ: transcript không thể hiện giọng điệu, điểm AI chỉ là gợi ý sơ bộ.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Nhân viên mới thường học xử lý khách giận theo cách đau nhất: gặp thật trên cuộc gọi thật. Prompt đầy đủ "Chị Hoa" có trong ebook. Nhấn mạnh: thiếu dữ kiện chính sách, AI có thể bịa và người mới sẽ học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thay phần luyện lặp lại, không thay vai trò kèm cặp: trainer đọc phiếu chấm, chọn 1–2 phiên để góp ý trực tiếp. Nhiều trợ lý có chế độ trò chuyện giọng nói trên app di động, giúp tập gần cuộc gọi thật hơn; tính năng tùy công cụ và gói.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Mẹo Excel: Copilot làm tốt nhất khi dữ liệu gọn: mỗi cột một loại thông tin, có dòng tiêu đề, định dạng thành Table, file lưu trên OneDrive hoặc SharePoint. Gamma có thể làm tròn, đổi thứ tự hoặc diễn giải lại số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Mẹo: dán 50 ticket một lần mà AI bỏ sót dòng thì chia 2–3 lượt, mỗi lượt khoảng 20 ticket, yêu cầu AI báo lại "đã xử lý bao nhiêu ticket" để đối chiếu.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Chính sách trong prompt: lỗi nhà sản xuất trong 7 ngày được đổi mới hoặc hoàn 100%; hoàn tiền 3–5 ngày làm việc sau khi kho nhận lại hàng; shipper lấy hàng miễn phí trong 1–2 ngày; KHÔNG hoàn tiền trước khi nhận lại hàng. Nếu phiếu chấm khen/chê không có dẫn chứng, hướng dẫn học viên hỏi lại: "Câu nào của tôi cho thấy điều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lớp 1 phút đoán nhãn trước khi chạy AI. Đáp án kỳ vọng: T03 là mỉa mai, kèm dấu hiệu rời bỏ; T06 là P1 vì an toàn sản phẩm; T08 là P1, churn Cao với bằng chứng "xóa tài khoản"; T02 (Lỗi thanh toán) và T08 (Hoàn tiền) cần được phân biệt; T07 Tích cực, Khen ngợi.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Lab B dùng bộ nhãn 8 chủ đề (thêm Khuyến mãi, Hỏi thông tin, Khen ngợi) và quy tắc: an toàn sản phẩm, tiền bị trừ sai hoặc churn cao là P1. Tùy chọn: dán Top 3 vào Gamma/PowerPoint tạo báo cáo 3–5 slide, đối chiếu từng con số. Nhắc lưu cả hai prompt lab vào thư viện prompt (nhóm Phân tích và Đào tạo).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mở, không có lời giải. Sản phẩm chấm ở ASM 2 (30%) và Showcase 5 phút ở Buổi 5. Hôm nay chỉ cần chốt đề cương, dùng template trong ebook. Nhắc: số liệu "trước" phải đo TRƯỚC khi quen dùng AI, bắt đầu bấm giờ ngay ca tới. Nếu AI không giúp nhanh hơn ở việc nào, ghi thẳng: đó là phát hiện có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nhóm cho thư viện prompt: A Trả lời khách, B Xử lý khiếu nại, C Tóm tắt &amp; ghi chú, D Phân tích, E Đào tạo &amp; QA, F Hình ảnh &amp; hướng dẫn. Số mẫu tối thiểu gợi ý: 10 cuộc gọi, 5 email, 1–2 ca, 5 transcript mỗi bên; tỉ lệ nhãn đúng kiểm trên 20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đầy đủ nằm ở trang Role play của ebook. Sau buổi luyện, mỗi học viên ghi lại ít nhất 1 điều cần sửa trong đề cương.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Quay lại câu chuyện của Lan: giờ lớp đã làm được cả hai việc Team Leader giao. Nhắc làm Quiz Buổi 4 (8 câu) trong ebook, đáp án ở mục Giải pháp. Phần chia sẻ: mời vài bạn nêu tỉ lệ đúng khi kiểm 10 ticket và ticket nào AI đọc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5760720" y="-822960"/>
            <a:ext cx="4572000" cy="4572000"/>
          </a:xfrm>
          <a:prstGeom prst="ellipse">
            <a:avLst/>
          </a:prstGeom>
          <a:solidFill>
            <a:srgbClr val="0E7C7B">
              <a:alpha val="45000"/>
            </a:srgbClr>
          </a:solidFill>
          <a:ln w="12700">
            <a:solidFill>
              <a:srgbClr val="0E7C7B">
                <a:alpha val="0"/>
              </a:srgbClr>
            </a:solidFill>
            <a:prstDash val="solid"/>
          </a:ln>
        </p:spPr>
      </p:sp>
      <p:sp>
        <p:nvSpPr>
          <p:cNvPr id="3" name="Shape 1"/>
          <p:cNvSpPr/>
          <p:nvPr/>
        </p:nvSpPr>
        <p:spPr>
          <a:xfrm>
            <a:off x="5989320" y="3429000"/>
            <a:ext cx="640080" cy="640080"/>
          </a:xfrm>
          <a:prstGeom prst="ellipse">
            <a:avLst/>
          </a:prstGeom>
          <a:solidFill>
            <a:srgbClr val="F2994A"/>
          </a:solidFill>
          <a:ln w="12700">
            <a:solidFill>
              <a:srgbClr val="F2994A"/>
            </a:solidFill>
            <a:prstDash val="solid"/>
          </a:ln>
        </p:spPr>
      </p:sp>
      <p:sp>
        <p:nvSpPr>
          <p:cNvPr id="4" name="Shape 2"/>
          <p:cNvSpPr/>
          <p:nvPr/>
        </p:nvSpPr>
        <p:spPr>
          <a:xfrm>
            <a:off x="6720840" y="1188720"/>
            <a:ext cx="1737360" cy="1737360"/>
          </a:xfrm>
          <a:prstGeom prst="ellipse">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7172554" y="1640434"/>
            <a:ext cx="833933" cy="833933"/>
          </a:xfrm>
          <a:prstGeom prst="rect">
            <a:avLst/>
          </a:prstGeom>
        </p:spPr>
      </p:pic>
      <p:sp>
        <p:nvSpPr>
          <p:cNvPr id="6" name="Text 3"/>
          <p:cNvSpPr txBox="1"/>
          <p:nvPr/>
        </p:nvSpPr>
        <p:spPr>
          <a:xfrm>
            <a:off x="548640" y="914400"/>
            <a:ext cx="5486400" cy="320040"/>
          </a:xfrm>
          <a:prstGeom prst="rect">
            <a:avLst/>
          </a:prstGeom>
          <a:noFill/>
          <a:ln/>
        </p:spPr>
        <p:txBody>
          <a:bodyPr wrap="square" lIns="0" tIns="0" rIns="0" bIns="0" rtlCol="0" anchor="t"/>
          <a:lstStyle/>
          <a:p>
            <a:pPr indent="0" marL="0">
              <a:buNone/>
            </a:pPr>
            <a:r>
              <a:rPr lang="en-US" sz="1300" b="1" spc="300" kern="0" dirty="0">
                <a:solidFill>
                  <a:srgbClr val="F2994A"/>
                </a:solidFill>
                <a:latin typeface="Calibri" pitchFamily="34" charset="0"/>
                <a:ea typeface="Calibri" pitchFamily="34" charset="-122"/>
                <a:cs typeface="Calibri" pitchFamily="34" charset="-120"/>
              </a:rPr>
              <a:t>BUỔI 4 / 5  ·  120 PHÚT</a:t>
            </a:r>
            <a:endParaRPr lang="en-US" sz="1300" dirty="0"/>
          </a:p>
        </p:txBody>
      </p:sp>
      <p:sp>
        <p:nvSpPr>
          <p:cNvPr id="7" name="Text 4"/>
          <p:cNvSpPr txBox="1"/>
          <p:nvPr/>
        </p:nvSpPr>
        <p:spPr>
          <a:xfrm>
            <a:off x="548640" y="1325880"/>
            <a:ext cx="576072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GenAI tối ưu Call Center</a:t>
            </a:r>
            <a:endParaRPr lang="en-US" sz="3600" dirty="0"/>
          </a:p>
        </p:txBody>
      </p:sp>
      <p:sp>
        <p:nvSpPr>
          <p:cNvPr id="8" name="Text 5"/>
          <p:cNvSpPr txBox="1"/>
          <p:nvPr/>
        </p:nvSpPr>
        <p:spPr>
          <a:xfrm>
            <a:off x="548640" y="2880360"/>
            <a:ext cx="5669280" cy="82296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Phân loại ticket, đọc cảm xúc khách, chấm QA cuộc gọi, luyện khách khó bằng roleplay và làm báo cáo ca nhanh gấp nhiều lần.</a:t>
            </a:r>
            <a:endParaRPr lang="en-US" sz="1500" dirty="0"/>
          </a:p>
        </p:txBody>
      </p:sp>
      <p:sp>
        <p:nvSpPr>
          <p:cNvPr id="9" name="Text 6"/>
          <p:cNvSpPr txBox="1"/>
          <p:nvPr/>
        </p:nvSpPr>
        <p:spPr>
          <a:xfrm>
            <a:off x="548640" y="4434840"/>
            <a:ext cx="6400800" cy="274320"/>
          </a:xfrm>
          <a:prstGeom prst="rect">
            <a:avLst/>
          </a:prstGeom>
          <a:noFill/>
          <a:ln/>
        </p:spPr>
        <p:txBody>
          <a:bodyPr wrap="square" lIns="0" tIns="0" rIns="0" bIns="0" rtlCol="0" anchor="t"/>
          <a:lstStyle/>
          <a:p>
            <a:pPr indent="0" marL="0">
              <a:buNone/>
            </a:pPr>
            <a:r>
              <a:rPr lang="en-US" sz="1000" dirty="0">
                <a:solidFill>
                  <a:srgbClr val="BFE3DD"/>
                </a:solidFill>
                <a:latin typeface="Calibri" pitchFamily="34" charset="0"/>
                <a:ea typeface="Calibri" pitchFamily="34" charset="-122"/>
                <a:cs typeface="Calibri" pitchFamily="34" charset="-120"/>
              </a:rPr>
              <a:t>Ứng dụng GenAI cho nhân viên support Call Center  ·  Chuyển thể AIE102x.1.0_VN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CÂU CHUYỆN MỞ ĐẦU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Cuối ca của Lan</a:t>
            </a:r>
            <a:endParaRPr lang="en-US" sz="2500" dirty="0"/>
          </a:p>
        </p:txBody>
      </p:sp>
      <p:sp>
        <p:nvSpPr>
          <p:cNvPr id="4" name="Text 2"/>
          <p:cNvSpPr txBox="1"/>
          <p:nvPr/>
        </p:nvSpPr>
        <p:spPr>
          <a:xfrm>
            <a:off x="457200" y="1371600"/>
            <a:ext cx="4846320" cy="3200400"/>
          </a:xfrm>
          <a:prstGeom prst="rect">
            <a:avLst/>
          </a:prstGeom>
          <a:noFill/>
          <a:ln/>
        </p:spPr>
        <p:txBody>
          <a:bodyPr wrap="square" lIns="0" tIns="0" rIns="0" bIns="0" rtlCol="0" anchor="t"/>
          <a:lstStyle/>
          <a:p>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17h30 thứ Sáu. Team Leader nhắn Lan: tổng hợp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50 ticket hôm nay</a:t>
            </a:r>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 thành Top 5 vấn đề, và tuần sau kèm 2 bạn mới tập xử lý khách nóng giận.</a:t>
            </a:r>
            <a:endParaRPr lang="en-US" sz="1500" dirty="0"/>
          </a:p>
          <a:p>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Trước đây việc này tốn thêm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2 tiếng</a:t>
            </a:r>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 Lần này Lan dán ticket đã che vào AI: gắn chủ đề, chấm cảm xúc, đánh dấu khách sắp rời bỏ. 3 phút có bảng, Lan kiểm 10 dòng, sửa 2 nhãn sai.</a:t>
            </a:r>
            <a:endParaRPr lang="en-US" sz="1500" dirty="0"/>
          </a:p>
          <a:p>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Cô viết thêm prompt để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AI đóng vai "khách khó"</a:t>
            </a:r>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 cho người mới luyện và tự chấm theo LEAST.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18h05</a:t>
            </a:r>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 Lan tắt máy về nhà.</a:t>
            </a:r>
            <a:endParaRPr lang="en-US" sz="1500" dirty="0"/>
          </a:p>
        </p:txBody>
      </p:sp>
      <p:sp>
        <p:nvSpPr>
          <p:cNvPr id="5" name="Shape 3"/>
          <p:cNvSpPr/>
          <p:nvPr/>
        </p:nvSpPr>
        <p:spPr>
          <a:xfrm>
            <a:off x="5623560" y="1371600"/>
            <a:ext cx="3063240" cy="3154680"/>
          </a:xfrm>
          <a:prstGeom prst="roundRect">
            <a:avLst>
              <a:gd name="adj" fmla="val 3582"/>
            </a:avLst>
          </a:prstGeom>
          <a:solidFill>
            <a:srgbClr val="E8F3F1"/>
          </a:solidFill>
          <a:ln w="12700">
            <a:solidFill>
              <a:srgbClr val="E8F3F1"/>
            </a:solidFill>
            <a:prstDash val="solid"/>
          </a:ln>
        </p:spPr>
      </p:sp>
      <p:sp>
        <p:nvSpPr>
          <p:cNvPr id="6" name="Shape 4"/>
          <p:cNvSpPr/>
          <p:nvPr/>
        </p:nvSpPr>
        <p:spPr>
          <a:xfrm>
            <a:off x="5897880" y="1627632"/>
            <a:ext cx="566928" cy="566928"/>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6045281" y="1775033"/>
            <a:ext cx="272125" cy="272125"/>
          </a:xfrm>
          <a:prstGeom prst="rect">
            <a:avLst/>
          </a:prstGeom>
        </p:spPr>
      </p:pic>
      <p:sp>
        <p:nvSpPr>
          <p:cNvPr id="8" name="Text 5"/>
          <p:cNvSpPr txBox="1"/>
          <p:nvPr/>
        </p:nvSpPr>
        <p:spPr>
          <a:xfrm>
            <a:off x="5897880" y="2331720"/>
            <a:ext cx="2560320" cy="2011680"/>
          </a:xfrm>
          <a:prstGeom prst="rect">
            <a:avLst/>
          </a:prstGeom>
          <a:noFill/>
          <a:ln/>
        </p:spPr>
        <p:txBody>
          <a:bodyPr wrap="square" lIns="0" tIns="0" rIns="0" bIns="0" rtlCol="0" anchor="t"/>
          <a:lstStyle/>
          <a:p>
            <a:pPr indent="0" marL="0">
              <a:buNone/>
            </a:pPr>
            <a:r>
              <a:rPr lang="en-US" sz="1500" i="1" dirty="0">
                <a:solidFill>
                  <a:srgbClr val="0B3B45"/>
                </a:solidFill>
                <a:latin typeface="Cambria" pitchFamily="34" charset="0"/>
                <a:ea typeface="Cambria" pitchFamily="34" charset="-122"/>
                <a:cs typeface="Cambria" pitchFamily="34" charset="-120"/>
              </a:rPr>
              <a:t>"Biến GenAI thành trợ lý phân tích và bạn tập cho cả đội CSKH."</a:t>
            </a:r>
            <a:endParaRPr lang="en-US" sz="150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MỤC TIÊU BUỔI HỌC</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Sau buổi này, bạn có thể</a:t>
            </a:r>
            <a:endParaRPr lang="en-US" sz="2500" dirty="0"/>
          </a:p>
        </p:txBody>
      </p:sp>
      <p:sp>
        <p:nvSpPr>
          <p:cNvPr id="4" name="Shape 2"/>
          <p:cNvSpPr/>
          <p:nvPr/>
        </p:nvSpPr>
        <p:spPr>
          <a:xfrm>
            <a:off x="457200" y="1485900"/>
            <a:ext cx="420624" cy="420624"/>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566562" y="1595262"/>
            <a:ext cx="201900" cy="201900"/>
          </a:xfrm>
          <a:prstGeom prst="rect">
            <a:avLst/>
          </a:prstGeom>
        </p:spPr>
      </p:pic>
      <p:sp>
        <p:nvSpPr>
          <p:cNvPr id="6" name="Text 3"/>
          <p:cNvSpPr txBox="1"/>
          <p:nvPr/>
        </p:nvSpPr>
        <p:spPr>
          <a:xfrm>
            <a:off x="1051560" y="1371600"/>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Chỉ ra </a:t>
            </a:r>
            <a:pPr indent="0" marL="0">
              <a:buNone/>
            </a:pPr>
            <a:r>
              <a:rPr lang="en-US" sz="1450" b="1" dirty="0">
                <a:solidFill>
                  <a:srgbClr val="1F2A30"/>
                </a:solidFill>
                <a:latin typeface="Calibri" pitchFamily="34" charset="0"/>
                <a:ea typeface="Calibri" pitchFamily="34" charset="-122"/>
                <a:cs typeface="Calibri" pitchFamily="34" charset="-120"/>
              </a:rPr>
              <a:t>6 điểm chạm</a:t>
            </a:r>
            <a:pPr indent="0" marL="0">
              <a:buNone/>
            </a:pPr>
            <a:r>
              <a:rPr lang="en-US" sz="1450" dirty="0">
                <a:solidFill>
                  <a:srgbClr val="1F2A30"/>
                </a:solidFill>
                <a:latin typeface="Calibri" pitchFamily="34" charset="0"/>
                <a:ea typeface="Calibri" pitchFamily="34" charset="-122"/>
                <a:cs typeface="Calibri" pitchFamily="34" charset="-120"/>
              </a:rPr>
              <a:t> GenAI giúp CSKH: gắn tag, cảm xúc, nguy cơ rời bỏ, macro, QA, đào tạo.</a:t>
            </a:r>
            <a:endParaRPr lang="en-US" sz="1450" dirty="0"/>
          </a:p>
        </p:txBody>
      </p:sp>
      <p:sp>
        <p:nvSpPr>
          <p:cNvPr id="7" name="Shape 4"/>
          <p:cNvSpPr/>
          <p:nvPr/>
        </p:nvSpPr>
        <p:spPr>
          <a:xfrm>
            <a:off x="457200" y="2135124"/>
            <a:ext cx="420624" cy="420624"/>
          </a:xfrm>
          <a:prstGeom prst="ellipse">
            <a:avLst/>
          </a:prstGeom>
          <a:solidFill>
            <a:srgbClr val="0E7C7B"/>
          </a:solidFill>
          <a:ln w="12700">
            <a:solidFill>
              <a:srgbClr val="0E7C7B"/>
            </a:solidFill>
            <a:prstDash val="solid"/>
          </a:ln>
        </p:spPr>
      </p:sp>
      <p:pic>
        <p:nvPicPr>
          <p:cNvPr id="8" name="Image 1" descr="preencoded.png">    </p:cNvPr>
          <p:cNvPicPr>
            <a:picLocks noChangeAspect="1"/>
          </p:cNvPicPr>
          <p:nvPr/>
        </p:nvPicPr>
        <p:blipFill>
          <a:blip r:embed="rId2"/>
          <a:stretch>
            <a:fillRect/>
          </a:stretch>
        </p:blipFill>
        <p:spPr>
          <a:xfrm>
            <a:off x="566562" y="2244486"/>
            <a:ext cx="201900" cy="201900"/>
          </a:xfrm>
          <a:prstGeom prst="rect">
            <a:avLst/>
          </a:prstGeom>
        </p:spPr>
      </p:pic>
      <p:sp>
        <p:nvSpPr>
          <p:cNvPr id="9" name="Text 5"/>
          <p:cNvSpPr txBox="1"/>
          <p:nvPr/>
        </p:nvSpPr>
        <p:spPr>
          <a:xfrm>
            <a:off x="1051560" y="2020824"/>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Dùng AI </a:t>
            </a:r>
            <a:pPr indent="0" marL="0">
              <a:buNone/>
            </a:pPr>
            <a:r>
              <a:rPr lang="en-US" sz="1450" b="1" dirty="0">
                <a:solidFill>
                  <a:srgbClr val="1F2A30"/>
                </a:solidFill>
                <a:latin typeface="Calibri" pitchFamily="34" charset="0"/>
                <a:ea typeface="Calibri" pitchFamily="34" charset="-122"/>
                <a:cs typeface="Calibri" pitchFamily="34" charset="-120"/>
              </a:rPr>
              <a:t>phân loại ticket và phân tích cảm xúc</a:t>
            </a:r>
            <a:pPr indent="0" marL="0">
              <a:buNone/>
            </a:pPr>
            <a:r>
              <a:rPr lang="en-US" sz="1450" dirty="0">
                <a:solidFill>
                  <a:srgbClr val="1F2A30"/>
                </a:solidFill>
                <a:latin typeface="Calibri" pitchFamily="34" charset="0"/>
                <a:ea typeface="Calibri" pitchFamily="34" charset="-122"/>
                <a:cs typeface="Calibri" pitchFamily="34" charset="-120"/>
              </a:rPr>
              <a:t> ra bảng có cấu trúc, rồi </a:t>
            </a:r>
            <a:pPr indent="0" marL="0">
              <a:buNone/>
            </a:pPr>
            <a:r>
              <a:rPr lang="en-US" sz="1450" b="1" dirty="0">
                <a:solidFill>
                  <a:srgbClr val="1F2A30"/>
                </a:solidFill>
                <a:latin typeface="Calibri" pitchFamily="34" charset="0"/>
                <a:ea typeface="Calibri" pitchFamily="34" charset="-122"/>
                <a:cs typeface="Calibri" pitchFamily="34" charset="-120"/>
              </a:rPr>
              <a:t>kiểm lại</a:t>
            </a:r>
            <a:pPr indent="0" marL="0">
              <a:buNone/>
            </a:pPr>
            <a:r>
              <a:rPr lang="en-US" sz="1450" dirty="0">
                <a:solidFill>
                  <a:srgbClr val="1F2A30"/>
                </a:solidFill>
                <a:latin typeface="Calibri" pitchFamily="34" charset="0"/>
                <a:ea typeface="Calibri" pitchFamily="34" charset="-122"/>
                <a:cs typeface="Calibri" pitchFamily="34" charset="-120"/>
              </a:rPr>
              <a:t> trước khi dùng.</a:t>
            </a:r>
            <a:endParaRPr lang="en-US" sz="1450" dirty="0"/>
          </a:p>
        </p:txBody>
      </p:sp>
      <p:sp>
        <p:nvSpPr>
          <p:cNvPr id="10" name="Shape 6"/>
          <p:cNvSpPr/>
          <p:nvPr/>
        </p:nvSpPr>
        <p:spPr>
          <a:xfrm>
            <a:off x="457200" y="2784348"/>
            <a:ext cx="420624" cy="420624"/>
          </a:xfrm>
          <a:prstGeom prst="ellipse">
            <a:avLst/>
          </a:prstGeom>
          <a:solidFill>
            <a:srgbClr val="0E7C7B"/>
          </a:solidFill>
          <a:ln w="12700">
            <a:solidFill>
              <a:srgbClr val="0E7C7B"/>
            </a:solidFill>
            <a:prstDash val="solid"/>
          </a:ln>
        </p:spPr>
      </p:sp>
      <p:pic>
        <p:nvPicPr>
          <p:cNvPr id="11" name="Image 2" descr="preencoded.png">    </p:cNvPr>
          <p:cNvPicPr>
            <a:picLocks noChangeAspect="1"/>
          </p:cNvPicPr>
          <p:nvPr/>
        </p:nvPicPr>
        <p:blipFill>
          <a:blip r:embed="rId3"/>
          <a:stretch>
            <a:fillRect/>
          </a:stretch>
        </p:blipFill>
        <p:spPr>
          <a:xfrm>
            <a:off x="566562" y="2893710"/>
            <a:ext cx="201900" cy="201900"/>
          </a:xfrm>
          <a:prstGeom prst="rect">
            <a:avLst/>
          </a:prstGeom>
        </p:spPr>
      </p:pic>
      <p:sp>
        <p:nvSpPr>
          <p:cNvPr id="12" name="Text 7"/>
          <p:cNvSpPr txBox="1"/>
          <p:nvPr/>
        </p:nvSpPr>
        <p:spPr>
          <a:xfrm>
            <a:off x="1051560" y="2670048"/>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Dùng AI </a:t>
            </a:r>
            <a:pPr indent="0" marL="0">
              <a:buNone/>
            </a:pPr>
            <a:r>
              <a:rPr lang="en-US" sz="1450" b="1" dirty="0">
                <a:solidFill>
                  <a:srgbClr val="1F2A30"/>
                </a:solidFill>
                <a:latin typeface="Calibri" pitchFamily="34" charset="0"/>
                <a:ea typeface="Calibri" pitchFamily="34" charset="-122"/>
                <a:cs typeface="Calibri" pitchFamily="34" charset="-120"/>
              </a:rPr>
              <a:t>chấm QA cuộc gọi</a:t>
            </a:r>
            <a:pPr indent="0" marL="0">
              <a:buNone/>
            </a:pPr>
            <a:r>
              <a:rPr lang="en-US" sz="1450" dirty="0">
                <a:solidFill>
                  <a:srgbClr val="1F2A30"/>
                </a:solidFill>
                <a:latin typeface="Calibri" pitchFamily="34" charset="0"/>
                <a:ea typeface="Calibri" pitchFamily="34" charset="-122"/>
                <a:cs typeface="Calibri" pitchFamily="34" charset="-120"/>
              </a:rPr>
              <a:t> theo bộ tiêu chí và thiết lập </a:t>
            </a:r>
            <a:pPr indent="0" marL="0">
              <a:buNone/>
            </a:pPr>
            <a:r>
              <a:rPr lang="en-US" sz="1450" b="1" dirty="0">
                <a:solidFill>
                  <a:srgbClr val="1F2A30"/>
                </a:solidFill>
                <a:latin typeface="Calibri" pitchFamily="34" charset="0"/>
                <a:ea typeface="Calibri" pitchFamily="34" charset="-122"/>
                <a:cs typeface="Calibri" pitchFamily="34" charset="-120"/>
              </a:rPr>
              <a:t>roleplay khách khó</a:t>
            </a:r>
            <a:pPr indent="0" marL="0">
              <a:buNone/>
            </a:pPr>
            <a:r>
              <a:rPr lang="en-US" sz="1450" dirty="0">
                <a:solidFill>
                  <a:srgbClr val="1F2A30"/>
                </a:solidFill>
                <a:latin typeface="Calibri" pitchFamily="34" charset="0"/>
                <a:ea typeface="Calibri" pitchFamily="34" charset="-122"/>
                <a:cs typeface="Calibri" pitchFamily="34" charset="-120"/>
              </a:rPr>
              <a:t> để luyện tập.</a:t>
            </a:r>
            <a:endParaRPr lang="en-US" sz="1450" dirty="0"/>
          </a:p>
        </p:txBody>
      </p:sp>
      <p:sp>
        <p:nvSpPr>
          <p:cNvPr id="13" name="Shape 8"/>
          <p:cNvSpPr/>
          <p:nvPr/>
        </p:nvSpPr>
        <p:spPr>
          <a:xfrm>
            <a:off x="457200" y="3433572"/>
            <a:ext cx="420624" cy="420624"/>
          </a:xfrm>
          <a:prstGeom prst="ellipse">
            <a:avLst/>
          </a:prstGeom>
          <a:solidFill>
            <a:srgbClr val="0E7C7B"/>
          </a:solidFill>
          <a:ln w="12700">
            <a:solidFill>
              <a:srgbClr val="0E7C7B"/>
            </a:solidFill>
            <a:prstDash val="solid"/>
          </a:ln>
        </p:spPr>
      </p:sp>
      <p:pic>
        <p:nvPicPr>
          <p:cNvPr id="14" name="Image 3" descr="preencoded.png">    </p:cNvPr>
          <p:cNvPicPr>
            <a:picLocks noChangeAspect="1"/>
          </p:cNvPicPr>
          <p:nvPr/>
        </p:nvPicPr>
        <p:blipFill>
          <a:blip r:embed="rId4"/>
          <a:stretch>
            <a:fillRect/>
          </a:stretch>
        </p:blipFill>
        <p:spPr>
          <a:xfrm>
            <a:off x="566562" y="3542934"/>
            <a:ext cx="201900" cy="201900"/>
          </a:xfrm>
          <a:prstGeom prst="rect">
            <a:avLst/>
          </a:prstGeom>
        </p:spPr>
      </p:pic>
      <p:sp>
        <p:nvSpPr>
          <p:cNvPr id="15" name="Text 9"/>
          <p:cNvSpPr txBox="1"/>
          <p:nvPr/>
        </p:nvSpPr>
        <p:spPr>
          <a:xfrm>
            <a:off x="1051560" y="3319272"/>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Dùng Gemini trong Gmail, Copilot, Gamma để làm </a:t>
            </a:r>
            <a:pPr indent="0" marL="0">
              <a:buNone/>
            </a:pPr>
            <a:r>
              <a:rPr lang="en-US" sz="1450" b="1" dirty="0">
                <a:solidFill>
                  <a:srgbClr val="1F2A30"/>
                </a:solidFill>
                <a:latin typeface="Calibri" pitchFamily="34" charset="0"/>
                <a:ea typeface="Calibri" pitchFamily="34" charset="-122"/>
                <a:cs typeface="Calibri" pitchFamily="34" charset="-120"/>
              </a:rPr>
              <a:t>báo cáo ca</a:t>
            </a:r>
            <a:pPr indent="0" marL="0">
              <a:buNone/>
            </a:pPr>
            <a:r>
              <a:rPr lang="en-US" sz="1450" dirty="0">
                <a:solidFill>
                  <a:srgbClr val="1F2A30"/>
                </a:solidFill>
                <a:latin typeface="Calibri" pitchFamily="34" charset="0"/>
                <a:ea typeface="Calibri" pitchFamily="34" charset="-122"/>
                <a:cs typeface="Calibri" pitchFamily="34" charset="-120"/>
              </a:rPr>
              <a:t> và </a:t>
            </a:r>
            <a:pPr indent="0" marL="0">
              <a:buNone/>
            </a:pPr>
            <a:r>
              <a:rPr lang="en-US" sz="1450" b="1" dirty="0">
                <a:solidFill>
                  <a:srgbClr val="1F2A30"/>
                </a:solidFill>
                <a:latin typeface="Calibri" pitchFamily="34" charset="0"/>
                <a:ea typeface="Calibri" pitchFamily="34" charset="-122"/>
                <a:cs typeface="Calibri" pitchFamily="34" charset="-120"/>
              </a:rPr>
              <a:t>Top 5 vấn đề</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6" name="Shape 10"/>
          <p:cNvSpPr/>
          <p:nvPr/>
        </p:nvSpPr>
        <p:spPr>
          <a:xfrm>
            <a:off x="457200" y="4082796"/>
            <a:ext cx="420624" cy="420624"/>
          </a:xfrm>
          <a:prstGeom prst="ellipse">
            <a:avLst/>
          </a:prstGeom>
          <a:solidFill>
            <a:srgbClr val="0E7C7B"/>
          </a:solidFill>
          <a:ln w="12700">
            <a:solidFill>
              <a:srgbClr val="0E7C7B"/>
            </a:solidFill>
            <a:prstDash val="solid"/>
          </a:ln>
        </p:spPr>
      </p:sp>
      <p:pic>
        <p:nvPicPr>
          <p:cNvPr id="17" name="Image 4" descr="preencoded.png">    </p:cNvPr>
          <p:cNvPicPr>
            <a:picLocks noChangeAspect="1"/>
          </p:cNvPicPr>
          <p:nvPr/>
        </p:nvPicPr>
        <p:blipFill>
          <a:blip r:embed="rId5"/>
          <a:stretch>
            <a:fillRect/>
          </a:stretch>
        </p:blipFill>
        <p:spPr>
          <a:xfrm>
            <a:off x="566562" y="4192158"/>
            <a:ext cx="201900" cy="201900"/>
          </a:xfrm>
          <a:prstGeom prst="rect">
            <a:avLst/>
          </a:prstGeom>
        </p:spPr>
      </p:pic>
      <p:sp>
        <p:nvSpPr>
          <p:cNvPr id="18" name="Text 11"/>
          <p:cNvSpPr txBox="1"/>
          <p:nvPr/>
        </p:nvSpPr>
        <p:spPr>
          <a:xfrm>
            <a:off x="1051560" y="3968496"/>
            <a:ext cx="7589520" cy="649224"/>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Chốt đề cương</a:t>
            </a:r>
            <a:pPr indent="0" marL="0">
              <a:buNone/>
            </a:pPr>
            <a:r>
              <a:rPr lang="en-US" sz="1450" dirty="0">
                <a:solidFill>
                  <a:srgbClr val="1F2A30"/>
                </a:solidFill>
                <a:latin typeface="Calibri" pitchFamily="34" charset="0"/>
                <a:ea typeface="Calibri" pitchFamily="34" charset="-122"/>
                <a:cs typeface="Calibri" pitchFamily="34" charset="-120"/>
              </a:rPr>
              <a:t> sản phẩm cuối khóa "Bộ công cụ AI ca trực".</a:t>
            </a:r>
            <a:endParaRPr lang="en-US" sz="1450" dirty="0"/>
          </a:p>
        </p:txBody>
      </p:sp>
      <p:sp>
        <p:nvSpPr>
          <p:cNvPr id="19"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20"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PHÂN BỔ 120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Lịch trình buổi học</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023360" cy="914400"/>
        </p:xfrm>
        <a:graphic>
          <a:graphicData uri="http://schemas.openxmlformats.org/drawingml/2006/table">
            <a:tbl>
              <a:tblPr/>
              <a:tblGrid>
                <a:gridCol w="960120"/>
                <a:gridCol w="30632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Thời gian</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Hoạt động</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0:00–0:05</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Mở đầu: cuối ca của Lan</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0:05–0:13</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Bản đồ GenAI trong CSKH</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0:13–0:21</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Phân loại ticket &amp; cảm xúc khách</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0:21–0:28</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AI hỗ trợ chấm QA cuộc gọi</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0:28–0:31</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Kiểm tra nhanh</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0:31–0:37</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Roleplay AI đào tạo nhân viên mới</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0:37–0:45</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Công cụ AI dùng hằng ngày</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63440" y="1371600"/>
          <a:ext cx="4023360" cy="914400"/>
        </p:xfrm>
        <a:graphic>
          <a:graphicData uri="http://schemas.openxmlformats.org/drawingml/2006/table">
            <a:tbl>
              <a:tblPr/>
              <a:tblGrid>
                <a:gridCol w="960120"/>
                <a:gridCol w="30632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Thời gian</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Hoạt động</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0:45–1:25</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Lab:</a:t>
                      </a:r>
                      <a:pPr indent="0" marL="0">
                        <a:buNone/>
                      </a:pPr>
                      <a:r>
                        <a:rPr lang="en-US" sz="1200" dirty="0">
                          <a:solidFill>
                            <a:srgbClr val="1F2A30"/>
                          </a:solidFill>
                          <a:latin typeface="Calibri" pitchFamily="34" charset="0"/>
                          <a:ea typeface="Calibri" pitchFamily="34" charset="-122"/>
                          <a:cs typeface="Calibri" pitchFamily="34" charset="-120"/>
                        </a:rPr>
                        <a:t> roleplay 10′ + phân tích 10 ticket</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1:25–1:40</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Chốt đề cương sản phẩm cuối khóa</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1:40–1:48</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Role play với cô giáo AI</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1:48–1:53</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Quiz buổi</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1:53–1:56</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Tổng kết</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1:56–2:00</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Chia sẻ &amp; feedback</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7" name="Text 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01</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BUỔI 4 · BÀI 1</a:t>
            </a:r>
            <a:endParaRPr lang="en-US" sz="1200" dirty="0"/>
          </a:p>
        </p:txBody>
      </p:sp>
      <p:sp>
        <p:nvSpPr>
          <p:cNvPr id="4" name="Text 2"/>
          <p:cNvSpPr txBox="1"/>
          <p:nvPr/>
        </p:nvSpPr>
        <p:spPr>
          <a:xfrm>
            <a:off x="548640" y="2468880"/>
            <a:ext cx="658368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Bản đồ GenAI trong CSKH</a:t>
            </a:r>
            <a:endParaRPr lang="en-US" sz="3200" dirty="0"/>
          </a:p>
        </p:txBody>
      </p:sp>
      <p:sp>
        <p:nvSpPr>
          <p:cNvPr id="5" name="Text 3"/>
          <p:cNvSpPr txBox="1"/>
          <p:nvPr/>
        </p:nvSpPr>
        <p:spPr>
          <a:xfrm>
            <a:off x="548640" y="329184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Ở quy mô ca trực, nút thắt là đọc cho kịp, phân loại cho đúng và phát hiện sớm vấn đề.</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SÁU ĐIỂM CHẠM</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Hành trình một ticket: AI giúp ở đâu?</a:t>
            </a:r>
            <a:endParaRPr lang="en-US" sz="2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57200"/>
                <a:gridCol w="2103120"/>
                <a:gridCol w="3657600"/>
                <a:gridCol w="2011680"/>
              </a:tblGrid>
              <a:tr h="398417">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Điểm chạm</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AI giúp gì</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Ai hưởng lợi</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1</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Gắn tag, phân loại</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Gán chủ đề: giao hàng, hoàn tiền, lỗi app...</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Agent, Team Leader</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2</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Cảm xúc (sentiment)</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Nhận ra khách bình thường, bực bội hay rất giận</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Agent, QA</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3</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Nguy cơ rời bỏ (churn)</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Đánh dấu câu "lần cuối mua", "sang bên khác"</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TL, bộ phận giữ chân</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4</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Macro trả lời nhanh</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Soạn mẫu trả lời cho tình huống lặp lại</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Agent</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5</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Chấm QA cuộc gọi</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Đối chiếu transcript với bộ tiêu chí</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QA, Team Leader</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6</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Đào tạo bằng roleplay</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Đóng vai khách khó để người mới luyện</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Nhân viên mới, trainer</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1–3 là </a:t>
            </a:r>
            <a:pPr indent="0" marL="0">
              <a:buNone/>
            </a:pPr>
            <a:r>
              <a:rPr lang="en-US" sz="1250" b="1" i="1" dirty="0">
                <a:solidFill>
                  <a:srgbClr val="5B6B73"/>
                </a:solidFill>
                <a:latin typeface="Calibri" pitchFamily="34" charset="0"/>
                <a:ea typeface="Calibri" pitchFamily="34" charset="-122"/>
                <a:cs typeface="Calibri" pitchFamily="34" charset="-120"/>
              </a:rPr>
              <a:t>phân tích</a:t>
            </a:r>
            <a:pPr indent="0" marL="0">
              <a:buNone/>
            </a:pPr>
            <a:r>
              <a:rPr lang="en-US" sz="1250" i="1" dirty="0">
                <a:solidFill>
                  <a:srgbClr val="5B6B73"/>
                </a:solidFill>
                <a:latin typeface="Calibri" pitchFamily="34" charset="0"/>
                <a:ea typeface="Calibri" pitchFamily="34" charset="-122"/>
                <a:cs typeface="Calibri" pitchFamily="34" charset="-120"/>
              </a:rPr>
              <a:t> (AI đọc và dán nhãn). 4–6 là </a:t>
            </a:r>
            <a:pPr indent="0" marL="0">
              <a:buNone/>
            </a:pPr>
            <a:r>
              <a:rPr lang="en-US" sz="1250" b="1" i="1" dirty="0">
                <a:solidFill>
                  <a:srgbClr val="5B6B73"/>
                </a:solidFill>
                <a:latin typeface="Calibri" pitchFamily="34" charset="0"/>
                <a:ea typeface="Calibri" pitchFamily="34" charset="-122"/>
                <a:cs typeface="Calibri" pitchFamily="34" charset="-120"/>
              </a:rPr>
              <a:t>tạo nội dung và huấn luyện</a:t>
            </a:r>
            <a:pPr indent="0" marL="0">
              <a:buNone/>
            </a:pPr>
            <a:r>
              <a:rPr lang="en-US" sz="1250" i="1" dirty="0">
                <a:solidFill>
                  <a:srgbClr val="5B6B73"/>
                </a:solidFill>
                <a:latin typeface="Calibri" pitchFamily="34" charset="0"/>
                <a:ea typeface="Calibri" pitchFamily="34" charset="-122"/>
                <a:cs typeface="Calibri" pitchFamily="34" charset="-120"/>
              </a:rPr>
              <a:t> (AI viết, chấm, đóng vai).</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ĐIỂM CHẠM DỄ BẮT ĐẦU NHẤT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Macro: viết lại cho bớt "giọng máy"</a:t>
            </a:r>
            <a:endParaRPr lang="en-US" sz="2500" dirty="0"/>
          </a:p>
        </p:txBody>
      </p:sp>
      <p:sp>
        <p:nvSpPr>
          <p:cNvPr id="4" name="Shape 2"/>
          <p:cNvSpPr/>
          <p:nvPr/>
        </p:nvSpPr>
        <p:spPr>
          <a:xfrm>
            <a:off x="457200" y="1371600"/>
            <a:ext cx="3977640" cy="2697480"/>
          </a:xfrm>
          <a:prstGeom prst="roundRect">
            <a:avLst>
              <a:gd name="adj" fmla="val 3390"/>
            </a:avLst>
          </a:prstGeom>
          <a:solidFill>
            <a:srgbClr val="FBEAE8"/>
          </a:solidFill>
          <a:ln w="12700">
            <a:solidFill>
              <a:srgbClr val="FBEAE8"/>
            </a:solidFill>
            <a:prstDash val="solid"/>
          </a:ln>
        </p:spPr>
      </p:sp>
      <p:sp>
        <p:nvSpPr>
          <p:cNvPr id="5" name="Shape 3"/>
          <p:cNvSpPr/>
          <p:nvPr/>
        </p:nvSpPr>
        <p:spPr>
          <a:xfrm>
            <a:off x="658368" y="1554480"/>
            <a:ext cx="420624" cy="420624"/>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67730" y="1663842"/>
            <a:ext cx="201900" cy="201900"/>
          </a:xfrm>
          <a:prstGeom prst="rect">
            <a:avLst/>
          </a:prstGeom>
        </p:spPr>
      </p:pic>
      <p:sp>
        <p:nvSpPr>
          <p:cNvPr id="7" name="Text 4"/>
          <p:cNvSpPr txBox="1"/>
          <p:nvPr/>
        </p:nvSpPr>
        <p:spPr>
          <a:xfrm>
            <a:off x="1188720" y="1554480"/>
            <a:ext cx="3063240" cy="420624"/>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Macro cũ</a:t>
            </a:r>
            <a:endParaRPr lang="en-US" sz="1450" dirty="0"/>
          </a:p>
        </p:txBody>
      </p:sp>
      <p:sp>
        <p:nvSpPr>
          <p:cNvPr id="8" name="Text 5"/>
          <p:cNvSpPr txBox="1"/>
          <p:nvPr/>
        </p:nvSpPr>
        <p:spPr>
          <a:xfrm>
            <a:off x="68580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"Đơn hàng của bạn đang được xử lý. Vui lòng chờ."</a:t>
            </a:r>
            <a:endParaRPr lang="en-US" sz="1400" dirty="0"/>
          </a:p>
          <a:p>
            <a:pPr indent="0" marL="0">
              <a:buNone/>
            </a:pP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Khô cứng, không đồng cảm, không cho khách biết bước tiếp theo.</a:t>
            </a:r>
            <a:endParaRPr lang="en-US" sz="1400" dirty="0"/>
          </a:p>
        </p:txBody>
      </p:sp>
      <p:sp>
        <p:nvSpPr>
          <p:cNvPr id="9" name="Shape 6"/>
          <p:cNvSpPr/>
          <p:nvPr/>
        </p:nvSpPr>
        <p:spPr>
          <a:xfrm>
            <a:off x="4709160" y="1371600"/>
            <a:ext cx="3977640" cy="2697480"/>
          </a:xfrm>
          <a:prstGeom prst="roundRect">
            <a:avLst>
              <a:gd name="adj" fmla="val 3390"/>
            </a:avLst>
          </a:prstGeom>
          <a:solidFill>
            <a:srgbClr val="E8F3F1"/>
          </a:solidFill>
          <a:ln w="12700">
            <a:solidFill>
              <a:srgbClr val="E8F3F1"/>
            </a:solidFill>
            <a:prstDash val="solid"/>
          </a:ln>
        </p:spPr>
      </p:sp>
      <p:sp>
        <p:nvSpPr>
          <p:cNvPr id="10" name="Shape 7"/>
          <p:cNvSpPr/>
          <p:nvPr/>
        </p:nvSpPr>
        <p:spPr>
          <a:xfrm>
            <a:off x="4910328" y="1554480"/>
            <a:ext cx="420624" cy="420624"/>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19690" y="1663842"/>
            <a:ext cx="201900" cy="201900"/>
          </a:xfrm>
          <a:prstGeom prst="rect">
            <a:avLst/>
          </a:prstGeom>
        </p:spPr>
      </p:pic>
      <p:sp>
        <p:nvSpPr>
          <p:cNvPr id="12" name="Text 8"/>
          <p:cNvSpPr txBox="1"/>
          <p:nvPr/>
        </p:nvSpPr>
        <p:spPr>
          <a:xfrm>
            <a:off x="5440680" y="1554480"/>
            <a:ext cx="3063240" cy="420624"/>
          </a:xfrm>
          <a:prstGeom prst="rect">
            <a:avLst/>
          </a:prstGeom>
          <a:noFill/>
          <a:ln/>
        </p:spPr>
        <p:txBody>
          <a:bodyPr wrap="square" lIns="0" tIns="0" rIns="0" bIns="0" rtlCol="0" anchor="ctr"/>
          <a:lstStyle/>
          <a:p>
            <a:pPr indent="0" marL="0">
              <a:buNone/>
            </a:pPr>
            <a:r>
              <a:rPr lang="en-US" sz="1450" b="1" dirty="0">
                <a:solidFill>
                  <a:srgbClr val="0E7C7B"/>
                </a:solidFill>
                <a:latin typeface="Calibri" pitchFamily="34" charset="0"/>
                <a:ea typeface="Calibri" pitchFamily="34" charset="-122"/>
                <a:cs typeface="Calibri" pitchFamily="34" charset="-120"/>
              </a:rPr>
              <a:t>Macro mới (AI viết lại)</a:t>
            </a:r>
            <a:endParaRPr lang="en-US" sz="1450" dirty="0"/>
          </a:p>
        </p:txBody>
      </p:sp>
      <p:sp>
        <p:nvSpPr>
          <p:cNvPr id="13" name="Text 9"/>
          <p:cNvSpPr txBox="1"/>
          <p:nvPr/>
        </p:nvSpPr>
        <p:spPr>
          <a:xfrm>
            <a:off x="493776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"Dạ, em rất hiểu anh/chị đang mong nhận hàng. Đơn [MÃ ĐƠN] hiện ở kho [KHO], dự kiến giao trong [SỐ NGÀY] ngày. Em đã ghi chú ưu tiên và sẽ nhắn anh/chị ngay khi đơn rời kho ạ."</a:t>
            </a:r>
            <a:endParaRPr lang="en-US" sz="1400" dirty="0"/>
          </a:p>
        </p:txBody>
      </p:sp>
      <p:sp>
        <p:nvSpPr>
          <p:cNvPr id="14" name="Shape 10"/>
          <p:cNvSpPr/>
          <p:nvPr/>
        </p:nvSpPr>
        <p:spPr>
          <a:xfrm>
            <a:off x="457200" y="4206240"/>
            <a:ext cx="347472" cy="347472"/>
          </a:xfrm>
          <a:prstGeom prst="ellipse">
            <a:avLst/>
          </a:prstGeom>
          <a:solidFill>
            <a:srgbClr val="F2994A"/>
          </a:solidFill>
          <a:ln w="12700">
            <a:solidFill>
              <a:srgbClr val="F2994A"/>
            </a:solidFill>
            <a:prstDash val="solid"/>
          </a:ln>
        </p:spPr>
      </p:sp>
      <p:pic>
        <p:nvPicPr>
          <p:cNvPr id="15" name="Image 2" descr="preencoded.png">    </p:cNvPr>
          <p:cNvPicPr>
            <a:picLocks noChangeAspect="1"/>
          </p:cNvPicPr>
          <p:nvPr/>
        </p:nvPicPr>
        <p:blipFill>
          <a:blip r:embed="rId3"/>
          <a:stretch>
            <a:fillRect/>
          </a:stretch>
        </p:blipFill>
        <p:spPr>
          <a:xfrm>
            <a:off x="547543" y="4296583"/>
            <a:ext cx="166787" cy="166787"/>
          </a:xfrm>
          <a:prstGeom prst="rect">
            <a:avLst/>
          </a:prstGeom>
        </p:spPr>
      </p:pic>
      <p:sp>
        <p:nvSpPr>
          <p:cNvPr id="16" name="Text 11"/>
          <p:cNvSpPr txBox="1"/>
          <p:nvPr/>
        </p:nvSpPr>
        <p:spPr>
          <a:xfrm>
            <a:off x="914400" y="4160520"/>
            <a:ext cx="7772400" cy="438912"/>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Prompt vẫn là </a:t>
            </a:r>
            <a:pPr indent="0" marL="0">
              <a:buNone/>
            </a:pPr>
            <a:r>
              <a:rPr lang="en-US" sz="1200" b="1" dirty="0">
                <a:solidFill>
                  <a:srgbClr val="1F2A30"/>
                </a:solidFill>
                <a:latin typeface="Calibri" pitchFamily="34" charset="0"/>
                <a:ea typeface="Calibri" pitchFamily="34" charset="-122"/>
                <a:cs typeface="Calibri" pitchFamily="34" charset="-120"/>
              </a:rPr>
              <a:t>V-B-N-Đ-G</a:t>
            </a:r>
            <a:pPr indent="0" marL="0">
              <a:buNone/>
            </a:pPr>
            <a:r>
              <a:rPr lang="en-US" sz="1200" dirty="0">
                <a:solidFill>
                  <a:srgbClr val="1F2A30"/>
                </a:solidFill>
                <a:latin typeface="Calibri" pitchFamily="34" charset="0"/>
                <a:ea typeface="Calibri" pitchFamily="34" charset="-122"/>
                <a:cs typeface="Calibri" pitchFamily="34" charset="-120"/>
              </a:rPr>
              <a:t>: giữ nguyên chính sách và chỗ trống [MÃ ĐƠN], xuất bảng Tình huống | Macro cũ | Macro mới.</a:t>
            </a:r>
            <a:endParaRPr lang="en-US" sz="1200" dirty="0"/>
          </a:p>
        </p:txBody>
      </p:sp>
      <p:sp>
        <p:nvSpPr>
          <p:cNvPr id="17"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18"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NGUYÊN TẮC Ở QUY MÔ CA TRỰC</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Ba nguyên tắc, một giới hạn</a:t>
            </a:r>
            <a:endParaRPr lang="en-US" sz="2500" dirty="0"/>
          </a:p>
        </p:txBody>
      </p:sp>
      <p:sp>
        <p:nvSpPr>
          <p:cNvPr id="4" name="Shape 2"/>
          <p:cNvSpPr/>
          <p:nvPr/>
        </p:nvSpPr>
        <p:spPr>
          <a:xfrm>
            <a:off x="457200" y="1371600"/>
            <a:ext cx="4000500" cy="1485900"/>
          </a:xfrm>
          <a:prstGeom prst="roundRect">
            <a:avLst>
              <a:gd name="adj" fmla="val 6154"/>
            </a:avLst>
          </a:prstGeom>
          <a:solidFill>
            <a:srgbClr val="E8F3F1"/>
          </a:solidFill>
          <a:ln w="12700">
            <a:solidFill>
              <a:srgbClr val="E8F3F1"/>
            </a:solidFill>
            <a:prstDash val="solid"/>
          </a:ln>
        </p:spPr>
      </p:sp>
      <p:sp>
        <p:nvSpPr>
          <p:cNvPr id="5" name="Shape 3"/>
          <p:cNvSpPr/>
          <p:nvPr/>
        </p:nvSpPr>
        <p:spPr>
          <a:xfrm>
            <a:off x="640080" y="1554480"/>
            <a:ext cx="457200" cy="457200"/>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758952" y="1673352"/>
            <a:ext cx="219456" cy="219456"/>
          </a:xfrm>
          <a:prstGeom prst="rect">
            <a:avLst/>
          </a:prstGeom>
        </p:spPr>
      </p:pic>
      <p:sp>
        <p:nvSpPr>
          <p:cNvPr id="7" name="Text 4"/>
          <p:cNvSpPr txBox="1"/>
          <p:nvPr/>
        </p:nvSpPr>
        <p:spPr>
          <a:xfrm>
            <a:off x="12344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AI dán nhãn, người quyết định</a:t>
            </a:r>
            <a:endParaRPr lang="en-US" sz="1400" dirty="0"/>
          </a:p>
        </p:txBody>
      </p:sp>
      <p:sp>
        <p:nvSpPr>
          <p:cNvPr id="8" name="Text 5"/>
          <p:cNvSpPr txBox="1"/>
          <p:nvPr/>
        </p:nvSpPr>
        <p:spPr>
          <a:xfrm>
            <a:off x="12344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AI có thể nhầm "hoàn tiền" thành "đổi hàng", đọc câu mỉa mai thành tích cực. </a:t>
            </a:r>
            <a:pPr indent="0" marL="0">
              <a:buNone/>
            </a:pPr>
            <a:r>
              <a:rPr lang="en-US" sz="1300" b="1" dirty="0">
                <a:solidFill>
                  <a:srgbClr val="1F2A30"/>
                </a:solidFill>
                <a:latin typeface="Calibri" pitchFamily="34" charset="0"/>
                <a:ea typeface="Calibri" pitchFamily="34" charset="-122"/>
                <a:cs typeface="Calibri" pitchFamily="34" charset="-120"/>
              </a:rPr>
              <a:t>Kiểm mẫu ngẫu nhiên</a:t>
            </a:r>
            <a:pPr indent="0" marL="0">
              <a:buNone/>
            </a:pPr>
            <a:r>
              <a:rPr lang="en-US" sz="1300" dirty="0">
                <a:solidFill>
                  <a:srgbClr val="1F2A30"/>
                </a:solidFill>
                <a:latin typeface="Calibri" pitchFamily="34" charset="0"/>
                <a:ea typeface="Calibri" pitchFamily="34" charset="-122"/>
                <a:cs typeface="Calibri" pitchFamily="34" charset="-120"/>
              </a:rPr>
              <a:t> trước khi báo cáo.</a:t>
            </a:r>
            <a:endParaRPr lang="en-US" sz="1300" dirty="0"/>
          </a:p>
        </p:txBody>
      </p:sp>
      <p:sp>
        <p:nvSpPr>
          <p:cNvPr id="9" name="Shape 6"/>
          <p:cNvSpPr/>
          <p:nvPr/>
        </p:nvSpPr>
        <p:spPr>
          <a:xfrm>
            <a:off x="4686300" y="1371600"/>
            <a:ext cx="4000500" cy="1485900"/>
          </a:xfrm>
          <a:prstGeom prst="roundRect">
            <a:avLst>
              <a:gd name="adj" fmla="val 6154"/>
            </a:avLst>
          </a:prstGeom>
          <a:solidFill>
            <a:srgbClr val="E8F3F1"/>
          </a:solidFill>
          <a:ln w="12700">
            <a:solidFill>
              <a:srgbClr val="E8F3F1"/>
            </a:solidFill>
            <a:prstDash val="solid"/>
          </a:ln>
        </p:spPr>
      </p:sp>
      <p:sp>
        <p:nvSpPr>
          <p:cNvPr id="10" name="Shape 7"/>
          <p:cNvSpPr/>
          <p:nvPr/>
        </p:nvSpPr>
        <p:spPr>
          <a:xfrm>
            <a:off x="4869180" y="1554480"/>
            <a:ext cx="457200" cy="457200"/>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4988052" y="1673352"/>
            <a:ext cx="219456" cy="219456"/>
          </a:xfrm>
          <a:prstGeom prst="rect">
            <a:avLst/>
          </a:prstGeom>
        </p:spPr>
      </p:pic>
      <p:sp>
        <p:nvSpPr>
          <p:cNvPr id="12" name="Text 8"/>
          <p:cNvSpPr txBox="1"/>
          <p:nvPr/>
        </p:nvSpPr>
        <p:spPr>
          <a:xfrm>
            <a:off x="54635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Nhãn do bộ phận định nghĩa</a:t>
            </a:r>
            <a:endParaRPr lang="en-US" sz="1400" dirty="0"/>
          </a:p>
        </p:txBody>
      </p:sp>
      <p:sp>
        <p:nvSpPr>
          <p:cNvPr id="13" name="Text 9"/>
          <p:cNvSpPr txBox="1"/>
          <p:nvPr/>
        </p:nvSpPr>
        <p:spPr>
          <a:xfrm>
            <a:off x="54635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Đưa </a:t>
            </a:r>
            <a:pPr indent="0" marL="0">
              <a:buNone/>
            </a:pPr>
            <a:r>
              <a:rPr lang="en-US" sz="1300" b="1" dirty="0">
                <a:solidFill>
                  <a:srgbClr val="1F2A30"/>
                </a:solidFill>
                <a:latin typeface="Calibri" pitchFamily="34" charset="0"/>
                <a:ea typeface="Calibri" pitchFamily="34" charset="-122"/>
                <a:cs typeface="Calibri" pitchFamily="34" charset="-120"/>
              </a:rPr>
              <a:t>danh sách nhãn cố định</a:t>
            </a:r>
            <a:pPr indent="0" marL="0">
              <a:buNone/>
            </a:pPr>
            <a:r>
              <a:rPr lang="en-US" sz="1300" dirty="0">
                <a:solidFill>
                  <a:srgbClr val="1F2A30"/>
                </a:solidFill>
                <a:latin typeface="Calibri" pitchFamily="34" charset="0"/>
                <a:ea typeface="Calibri" pitchFamily="34" charset="-122"/>
                <a:cs typeface="Calibri" pitchFamily="34" charset="-120"/>
              </a:rPr>
              <a:t> vào prompt để số liệu so sánh được giữa các ngày.</a:t>
            </a:r>
            <a:endParaRPr lang="en-US" sz="1300" dirty="0"/>
          </a:p>
        </p:txBody>
      </p:sp>
      <p:sp>
        <p:nvSpPr>
          <p:cNvPr id="14" name="Shape 10"/>
          <p:cNvSpPr/>
          <p:nvPr/>
        </p:nvSpPr>
        <p:spPr>
          <a:xfrm>
            <a:off x="457200" y="3086100"/>
            <a:ext cx="4000500" cy="1485900"/>
          </a:xfrm>
          <a:prstGeom prst="roundRect">
            <a:avLst>
              <a:gd name="adj" fmla="val 6154"/>
            </a:avLst>
          </a:prstGeom>
          <a:solidFill>
            <a:srgbClr val="E8F3F1"/>
          </a:solidFill>
          <a:ln w="12700">
            <a:solidFill>
              <a:srgbClr val="E8F3F1"/>
            </a:solidFill>
            <a:prstDash val="solid"/>
          </a:ln>
        </p:spPr>
      </p:sp>
      <p:sp>
        <p:nvSpPr>
          <p:cNvPr id="15" name="Shape 11"/>
          <p:cNvSpPr/>
          <p:nvPr/>
        </p:nvSpPr>
        <p:spPr>
          <a:xfrm>
            <a:off x="640080" y="3268980"/>
            <a:ext cx="457200" cy="457200"/>
          </a:xfrm>
          <a:prstGeom prst="ellipse">
            <a:avLst/>
          </a:prstGeom>
          <a:solidFill>
            <a:srgbClr val="0E7C7B"/>
          </a:solidFill>
          <a:ln w="12700">
            <a:solidFill>
              <a:srgbClr val="0E7C7B"/>
            </a:solidFill>
            <a:prstDash val="solid"/>
          </a:ln>
        </p:spPr>
      </p:sp>
      <p:pic>
        <p:nvPicPr>
          <p:cNvPr id="16" name="Image 2" descr="preencoded.png">    </p:cNvPr>
          <p:cNvPicPr>
            <a:picLocks noChangeAspect="1"/>
          </p:cNvPicPr>
          <p:nvPr/>
        </p:nvPicPr>
        <p:blipFill>
          <a:blip r:embed="rId3"/>
          <a:stretch>
            <a:fillRect/>
          </a:stretch>
        </p:blipFill>
        <p:spPr>
          <a:xfrm>
            <a:off x="758952" y="3387852"/>
            <a:ext cx="219456" cy="219456"/>
          </a:xfrm>
          <a:prstGeom prst="rect">
            <a:avLst/>
          </a:prstGeom>
        </p:spPr>
      </p:pic>
      <p:sp>
        <p:nvSpPr>
          <p:cNvPr id="17" name="Text 12"/>
          <p:cNvSpPr txBox="1"/>
          <p:nvPr/>
        </p:nvSpPr>
        <p:spPr>
          <a:xfrm>
            <a:off x="12344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Che dữ liệu trước khi dán</a:t>
            </a:r>
            <a:endParaRPr lang="en-US" sz="1400" dirty="0"/>
          </a:p>
        </p:txBody>
      </p:sp>
      <p:sp>
        <p:nvSpPr>
          <p:cNvPr id="18" name="Text 13"/>
          <p:cNvSpPr txBox="1"/>
          <p:nvPr/>
        </p:nvSpPr>
        <p:spPr>
          <a:xfrm>
            <a:off x="12344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50 ticket là 50 khách hàng. Dùng placeholder, chỉ dùng công cụ tổ chức đã duyệt.</a:t>
            </a:r>
            <a:endParaRPr lang="en-US" sz="1300" dirty="0"/>
          </a:p>
        </p:txBody>
      </p:sp>
      <p:sp>
        <p:nvSpPr>
          <p:cNvPr id="19" name="Shape 14"/>
          <p:cNvSpPr/>
          <p:nvPr/>
        </p:nvSpPr>
        <p:spPr>
          <a:xfrm>
            <a:off x="4686300" y="3086100"/>
            <a:ext cx="4000500" cy="1485900"/>
          </a:xfrm>
          <a:prstGeom prst="roundRect">
            <a:avLst>
              <a:gd name="adj" fmla="val 6154"/>
            </a:avLst>
          </a:prstGeom>
          <a:solidFill>
            <a:srgbClr val="FBEAE8"/>
          </a:solidFill>
          <a:ln w="12700">
            <a:solidFill>
              <a:srgbClr val="FBEAE8"/>
            </a:solidFill>
            <a:prstDash val="solid"/>
          </a:ln>
        </p:spPr>
      </p:sp>
      <p:sp>
        <p:nvSpPr>
          <p:cNvPr id="20" name="Shape 15"/>
          <p:cNvSpPr/>
          <p:nvPr/>
        </p:nvSpPr>
        <p:spPr>
          <a:xfrm>
            <a:off x="4869180" y="3268980"/>
            <a:ext cx="457200" cy="457200"/>
          </a:xfrm>
          <a:prstGeom prst="ellipse">
            <a:avLst/>
          </a:prstGeom>
          <a:solidFill>
            <a:srgbClr val="C0392B"/>
          </a:solidFill>
          <a:ln w="12700">
            <a:solidFill>
              <a:srgbClr val="C0392B"/>
            </a:solidFill>
            <a:prstDash val="solid"/>
          </a:ln>
        </p:spPr>
      </p:sp>
      <p:pic>
        <p:nvPicPr>
          <p:cNvPr id="21" name="Image 3" descr="preencoded.png">    </p:cNvPr>
          <p:cNvPicPr>
            <a:picLocks noChangeAspect="1"/>
          </p:cNvPicPr>
          <p:nvPr/>
        </p:nvPicPr>
        <p:blipFill>
          <a:blip r:embed="rId4"/>
          <a:stretch>
            <a:fillRect/>
          </a:stretch>
        </p:blipFill>
        <p:spPr>
          <a:xfrm>
            <a:off x="4988052" y="3387852"/>
            <a:ext cx="219456" cy="219456"/>
          </a:xfrm>
          <a:prstGeom prst="rect">
            <a:avLst/>
          </a:prstGeom>
        </p:spPr>
      </p:pic>
      <p:sp>
        <p:nvSpPr>
          <p:cNvPr id="22" name="Text 16"/>
          <p:cNvSpPr txBox="1"/>
          <p:nvPr/>
        </p:nvSpPr>
        <p:spPr>
          <a:xfrm>
            <a:off x="54635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Không giao cho AI</a:t>
            </a:r>
            <a:endParaRPr lang="en-US" sz="1400" dirty="0"/>
          </a:p>
        </p:txBody>
      </p:sp>
      <p:sp>
        <p:nvSpPr>
          <p:cNvPr id="23" name="Text 17"/>
          <p:cNvSpPr txBox="1"/>
          <p:nvPr/>
        </p:nvSpPr>
        <p:spPr>
          <a:xfrm>
            <a:off x="54635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Bồi thường, hoàn tiền ngoài chính sách, khiếu nại pháp lý, kỷ luật nhân viên </a:t>
            </a:r>
            <a:pPr indent="0" marL="0">
              <a:buNone/>
            </a:pPr>
            <a:r>
              <a:rPr lang="en-US" sz="1300" b="1" dirty="0">
                <a:solidFill>
                  <a:srgbClr val="1F2A30"/>
                </a:solidFill>
                <a:latin typeface="Calibri" pitchFamily="34" charset="0"/>
                <a:ea typeface="Calibri" pitchFamily="34" charset="-122"/>
                <a:cs typeface="Calibri" pitchFamily="34" charset="-120"/>
              </a:rPr>
              <a:t>chỉ</a:t>
            </a:r>
            <a:pPr indent="0" marL="0">
              <a:buNone/>
            </a:pPr>
            <a:r>
              <a:rPr lang="en-US" sz="1300" dirty="0">
                <a:solidFill>
                  <a:srgbClr val="1F2A30"/>
                </a:solidFill>
                <a:latin typeface="Calibri" pitchFamily="34" charset="0"/>
                <a:ea typeface="Calibri" pitchFamily="34" charset="-122"/>
                <a:cs typeface="Calibri" pitchFamily="34" charset="-120"/>
              </a:rPr>
              <a:t> dựa trên điểm AI.</a:t>
            </a:r>
            <a:endParaRPr lang="en-US" sz="1300" dirty="0"/>
          </a:p>
        </p:txBody>
      </p:sp>
      <p:sp>
        <p:nvSpPr>
          <p:cNvPr id="24"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25"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02</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BUỔI 4 · BÀI 2</a:t>
            </a:r>
            <a:endParaRPr lang="en-US" sz="1200" dirty="0"/>
          </a:p>
        </p:txBody>
      </p:sp>
      <p:sp>
        <p:nvSpPr>
          <p:cNvPr id="4" name="Text 2"/>
          <p:cNvSpPr txBox="1"/>
          <p:nvPr/>
        </p:nvSpPr>
        <p:spPr>
          <a:xfrm>
            <a:off x="548640" y="2468880"/>
            <a:ext cx="6583680" cy="105156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Phân loại ticket &amp; cảm xúc khách</a:t>
            </a:r>
            <a:endParaRPr lang="en-US" sz="2600" dirty="0"/>
          </a:p>
        </p:txBody>
      </p:sp>
      <p:sp>
        <p:nvSpPr>
          <p:cNvPr id="5" name="Text 3"/>
          <p:cNvSpPr txBox="1"/>
          <p:nvPr/>
        </p:nvSpPr>
        <p:spPr>
          <a:xfrm>
            <a:off x="548640" y="361188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Hôm nay khách phàn nàn gì nhiều nhất? Ai đang rất giận? Ai sắp bỏ đi?</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BA LỚP PHÂN TÍCH</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Chủ đề + Cảm xúc + Churn = Mức ưu tiên</a:t>
            </a:r>
            <a:endParaRPr lang="en-US" sz="2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03120"/>
                <a:gridCol w="2468880"/>
                <a:gridCol w="365760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Lớp</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Câu hỏi</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Ví dụ đầu ra</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Chủ đề (tag)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Khách nói về việc gì?</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Giao hàng, Hoàn tiền, Lỗi thanh toán, Lỗi app, Sản phẩm lỗi, Khác</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Cảm xúc (sentiment)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Khách đang cảm thấy thế nào?</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Tích cực, Trung tính, Bực bội, Rất giận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Nguy cơ rời bỏ (churn)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Khách có dấu hiệu sắp bỏ đi?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Thấp, Trung bình, Cao, kèm câu làm bằng chứng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"Lỗi thanh toán + Rất giận + Churn cao" phải được gọi lại </a:t>
            </a:r>
            <a:pPr indent="0" marL="0">
              <a:buNone/>
            </a:pPr>
            <a:r>
              <a:rPr lang="en-US" sz="1250" b="1" i="1" dirty="0">
                <a:solidFill>
                  <a:srgbClr val="5B6B73"/>
                </a:solidFill>
                <a:latin typeface="Calibri" pitchFamily="34" charset="0"/>
                <a:ea typeface="Calibri" pitchFamily="34" charset="-122"/>
                <a:cs typeface="Calibri" pitchFamily="34" charset="-120"/>
              </a:rPr>
              <a:t>trước</a:t>
            </a:r>
            <a:pPr indent="0" marL="0">
              <a:buNone/>
            </a:pPr>
            <a:r>
              <a:rPr lang="en-US" sz="1250" i="1" dirty="0">
                <a:solidFill>
                  <a:srgbClr val="5B6B73"/>
                </a:solidFill>
                <a:latin typeface="Calibri" pitchFamily="34" charset="0"/>
                <a:ea typeface="Calibri" pitchFamily="34" charset="-122"/>
                <a:cs typeface="Calibri" pitchFamily="34" charset="-120"/>
              </a:rPr>
              <a:t> "Hỏi thông tin + Trung tính".</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ĐỌC TÍN HIỆU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Tín hiệu cảm xúc và rời bỏ thường gặp</a:t>
            </a:r>
            <a:endParaRPr lang="en-US" sz="2500" dirty="0"/>
          </a:p>
        </p:txBody>
      </p:sp>
      <p:sp>
        <p:nvSpPr>
          <p:cNvPr id="4" name="Shape 2"/>
          <p:cNvSpPr/>
          <p:nvPr/>
        </p:nvSpPr>
        <p:spPr>
          <a:xfrm>
            <a:off x="457200" y="1371600"/>
            <a:ext cx="4000500" cy="1485900"/>
          </a:xfrm>
          <a:prstGeom prst="roundRect">
            <a:avLst>
              <a:gd name="adj" fmla="val 6154"/>
            </a:avLst>
          </a:prstGeom>
          <a:solidFill>
            <a:srgbClr val="FBEAE8"/>
          </a:solidFill>
          <a:ln w="12700">
            <a:solidFill>
              <a:srgbClr val="FBEAE8"/>
            </a:solidFill>
            <a:prstDash val="solid"/>
          </a:ln>
        </p:spPr>
      </p:sp>
      <p:sp>
        <p:nvSpPr>
          <p:cNvPr id="5" name="Shape 3"/>
          <p:cNvSpPr/>
          <p:nvPr/>
        </p:nvSpPr>
        <p:spPr>
          <a:xfrm>
            <a:off x="640080" y="1554480"/>
            <a:ext cx="457200" cy="457200"/>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58952" y="1673352"/>
            <a:ext cx="219456" cy="219456"/>
          </a:xfrm>
          <a:prstGeom prst="rect">
            <a:avLst/>
          </a:prstGeom>
        </p:spPr>
      </p:pic>
      <p:sp>
        <p:nvSpPr>
          <p:cNvPr id="7" name="Text 4"/>
          <p:cNvSpPr txBox="1"/>
          <p:nvPr/>
        </p:nvSpPr>
        <p:spPr>
          <a:xfrm>
            <a:off x="12344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Rất giận</a:t>
            </a:r>
            <a:endParaRPr lang="en-US" sz="1400" dirty="0"/>
          </a:p>
        </p:txBody>
      </p:sp>
      <p:sp>
        <p:nvSpPr>
          <p:cNvPr id="8" name="Text 5"/>
          <p:cNvSpPr txBox="1"/>
          <p:nvPr/>
        </p:nvSpPr>
        <p:spPr>
          <a:xfrm>
            <a:off x="12344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Viết hoa cả câu, nhiều dấu chấm than, từ nặng, "lần thứ ba", "không ai giải quyết".</a:t>
            </a:r>
            <a:endParaRPr lang="en-US" sz="1300" dirty="0"/>
          </a:p>
        </p:txBody>
      </p:sp>
      <p:sp>
        <p:nvSpPr>
          <p:cNvPr id="9" name="Shape 6"/>
          <p:cNvSpPr/>
          <p:nvPr/>
        </p:nvSpPr>
        <p:spPr>
          <a:xfrm>
            <a:off x="4686300" y="1371600"/>
            <a:ext cx="4000500" cy="1485900"/>
          </a:xfrm>
          <a:prstGeom prst="roundRect">
            <a:avLst>
              <a:gd name="adj" fmla="val 6154"/>
            </a:avLst>
          </a:prstGeom>
          <a:solidFill>
            <a:srgbClr val="E8F3F1"/>
          </a:solidFill>
          <a:ln w="12700">
            <a:solidFill>
              <a:srgbClr val="E8F3F1"/>
            </a:solidFill>
            <a:prstDash val="solid"/>
          </a:ln>
        </p:spPr>
      </p:sp>
      <p:sp>
        <p:nvSpPr>
          <p:cNvPr id="10" name="Shape 7"/>
          <p:cNvSpPr/>
          <p:nvPr/>
        </p:nvSpPr>
        <p:spPr>
          <a:xfrm>
            <a:off x="4869180" y="1554480"/>
            <a:ext cx="457200" cy="457200"/>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4988052" y="1673352"/>
            <a:ext cx="219456" cy="219456"/>
          </a:xfrm>
          <a:prstGeom prst="rect">
            <a:avLst/>
          </a:prstGeom>
        </p:spPr>
      </p:pic>
      <p:sp>
        <p:nvSpPr>
          <p:cNvPr id="12" name="Text 8"/>
          <p:cNvSpPr txBox="1"/>
          <p:nvPr/>
        </p:nvSpPr>
        <p:spPr>
          <a:xfrm>
            <a:off x="54635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Bực bội nhưng lịch sự</a:t>
            </a:r>
            <a:endParaRPr lang="en-US" sz="1400" dirty="0"/>
          </a:p>
        </p:txBody>
      </p:sp>
      <p:sp>
        <p:nvSpPr>
          <p:cNvPr id="13" name="Text 9"/>
          <p:cNvSpPr txBox="1"/>
          <p:nvPr/>
        </p:nvSpPr>
        <p:spPr>
          <a:xfrm>
            <a:off x="54635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"Mình đã chờ khá lâu rồi", "mong shop xem lại".</a:t>
            </a:r>
            <a:endParaRPr lang="en-US" sz="1300" dirty="0"/>
          </a:p>
        </p:txBody>
      </p:sp>
      <p:sp>
        <p:nvSpPr>
          <p:cNvPr id="14" name="Shape 10"/>
          <p:cNvSpPr/>
          <p:nvPr/>
        </p:nvSpPr>
        <p:spPr>
          <a:xfrm>
            <a:off x="457200" y="3086100"/>
            <a:ext cx="4000500" cy="1485900"/>
          </a:xfrm>
          <a:prstGeom prst="roundRect">
            <a:avLst>
              <a:gd name="adj" fmla="val 6154"/>
            </a:avLst>
          </a:prstGeom>
          <a:solidFill>
            <a:srgbClr val="E8F3F1"/>
          </a:solidFill>
          <a:ln w="12700">
            <a:solidFill>
              <a:srgbClr val="E8F3F1"/>
            </a:solidFill>
            <a:prstDash val="solid"/>
          </a:ln>
        </p:spPr>
      </p:sp>
      <p:sp>
        <p:nvSpPr>
          <p:cNvPr id="15" name="Shape 11"/>
          <p:cNvSpPr/>
          <p:nvPr/>
        </p:nvSpPr>
        <p:spPr>
          <a:xfrm>
            <a:off x="640080" y="3268980"/>
            <a:ext cx="457200" cy="457200"/>
          </a:xfrm>
          <a:prstGeom prst="ellipse">
            <a:avLst/>
          </a:prstGeom>
          <a:solidFill>
            <a:srgbClr val="F2994A"/>
          </a:solidFill>
          <a:ln w="12700">
            <a:solidFill>
              <a:srgbClr val="F2994A"/>
            </a:solidFill>
            <a:prstDash val="solid"/>
          </a:ln>
        </p:spPr>
      </p:sp>
      <p:pic>
        <p:nvPicPr>
          <p:cNvPr id="16" name="Image 2" descr="preencoded.png">    </p:cNvPr>
          <p:cNvPicPr>
            <a:picLocks noChangeAspect="1"/>
          </p:cNvPicPr>
          <p:nvPr/>
        </p:nvPicPr>
        <p:blipFill>
          <a:blip r:embed="rId3"/>
          <a:stretch>
            <a:fillRect/>
          </a:stretch>
        </p:blipFill>
        <p:spPr>
          <a:xfrm>
            <a:off x="758952" y="3387852"/>
            <a:ext cx="219456" cy="219456"/>
          </a:xfrm>
          <a:prstGeom prst="rect">
            <a:avLst/>
          </a:prstGeom>
        </p:spPr>
      </p:pic>
      <p:sp>
        <p:nvSpPr>
          <p:cNvPr id="17" name="Text 12"/>
          <p:cNvSpPr txBox="1"/>
          <p:nvPr/>
        </p:nvSpPr>
        <p:spPr>
          <a:xfrm>
            <a:off x="12344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Mỉa mai: AI dễ đọc sai</a:t>
            </a:r>
            <a:endParaRPr lang="en-US" sz="1400" dirty="0"/>
          </a:p>
        </p:txBody>
      </p:sp>
      <p:sp>
        <p:nvSpPr>
          <p:cNvPr id="18" name="Text 13"/>
          <p:cNvSpPr txBox="1"/>
          <p:nvPr/>
        </p:nvSpPr>
        <p:spPr>
          <a:xfrm>
            <a:off x="12344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"Tuyệt vời, lại giao nhầm màu", "Cảm ơn shop đã cho mình chờ 10 ngày".</a:t>
            </a:r>
            <a:endParaRPr lang="en-US" sz="1300" dirty="0"/>
          </a:p>
        </p:txBody>
      </p:sp>
      <p:sp>
        <p:nvSpPr>
          <p:cNvPr id="19" name="Shape 14"/>
          <p:cNvSpPr/>
          <p:nvPr/>
        </p:nvSpPr>
        <p:spPr>
          <a:xfrm>
            <a:off x="4686300" y="3086100"/>
            <a:ext cx="4000500" cy="1485900"/>
          </a:xfrm>
          <a:prstGeom prst="roundRect">
            <a:avLst>
              <a:gd name="adj" fmla="val 6154"/>
            </a:avLst>
          </a:prstGeom>
          <a:solidFill>
            <a:srgbClr val="FBEAE8"/>
          </a:solidFill>
          <a:ln w="12700">
            <a:solidFill>
              <a:srgbClr val="FBEAE8"/>
            </a:solidFill>
            <a:prstDash val="solid"/>
          </a:ln>
        </p:spPr>
      </p:sp>
      <p:sp>
        <p:nvSpPr>
          <p:cNvPr id="20" name="Shape 15"/>
          <p:cNvSpPr/>
          <p:nvPr/>
        </p:nvSpPr>
        <p:spPr>
          <a:xfrm>
            <a:off x="4869180" y="3268980"/>
            <a:ext cx="457200" cy="457200"/>
          </a:xfrm>
          <a:prstGeom prst="ellipse">
            <a:avLst/>
          </a:prstGeom>
          <a:solidFill>
            <a:srgbClr val="C0392B"/>
          </a:solidFill>
          <a:ln w="12700">
            <a:solidFill>
              <a:srgbClr val="C0392B"/>
            </a:solidFill>
            <a:prstDash val="solid"/>
          </a:ln>
        </p:spPr>
      </p:sp>
      <p:pic>
        <p:nvPicPr>
          <p:cNvPr id="21" name="Image 3" descr="preencoded.png">    </p:cNvPr>
          <p:cNvPicPr>
            <a:picLocks noChangeAspect="1"/>
          </p:cNvPicPr>
          <p:nvPr/>
        </p:nvPicPr>
        <p:blipFill>
          <a:blip r:embed="rId4"/>
          <a:stretch>
            <a:fillRect/>
          </a:stretch>
        </p:blipFill>
        <p:spPr>
          <a:xfrm>
            <a:off x="4988052" y="3387852"/>
            <a:ext cx="219456" cy="219456"/>
          </a:xfrm>
          <a:prstGeom prst="rect">
            <a:avLst/>
          </a:prstGeom>
        </p:spPr>
      </p:pic>
      <p:sp>
        <p:nvSpPr>
          <p:cNvPr id="22" name="Text 16"/>
          <p:cNvSpPr txBox="1"/>
          <p:nvPr/>
        </p:nvSpPr>
        <p:spPr>
          <a:xfrm>
            <a:off x="54635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Nguy cơ rời bỏ</a:t>
            </a:r>
            <a:endParaRPr lang="en-US" sz="1400" dirty="0"/>
          </a:p>
        </p:txBody>
      </p:sp>
      <p:sp>
        <p:nvSpPr>
          <p:cNvPr id="23" name="Text 17"/>
          <p:cNvSpPr txBox="1"/>
          <p:nvPr/>
        </p:nvSpPr>
        <p:spPr>
          <a:xfrm>
            <a:off x="54635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"Lần cuối mua", "xóa app", "chuyển sang sàn khác", "sẽ review 1 sao", "hủy thẻ thành viên".</a:t>
            </a:r>
            <a:endParaRPr lang="en-US" sz="1300" dirty="0"/>
          </a:p>
        </p:txBody>
      </p:sp>
      <p:sp>
        <p:nvSpPr>
          <p:cNvPr id="24"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25"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PROMPT MẪU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Prompt phân loại ticket có khung</a:t>
            </a:r>
            <a:endParaRPr lang="en-US" sz="2500" dirty="0"/>
          </a:p>
        </p:txBody>
      </p:sp>
      <p:sp>
        <p:nvSpPr>
          <p:cNvPr id="4" name="Shape 2"/>
          <p:cNvSpPr/>
          <p:nvPr/>
        </p:nvSpPr>
        <p:spPr>
          <a:xfrm>
            <a:off x="457200" y="1280160"/>
            <a:ext cx="8229600" cy="2852928"/>
          </a:xfrm>
          <a:prstGeom prst="roundRect">
            <a:avLst>
              <a:gd name="adj" fmla="val 2564"/>
            </a:avLst>
          </a:prstGeom>
          <a:solidFill>
            <a:srgbClr val="17262C"/>
          </a:solidFill>
          <a:ln w="12700">
            <a:solidFill>
              <a:srgbClr val="17262C"/>
            </a:solidFill>
            <a:prstDash val="solid"/>
          </a:ln>
        </p:spPr>
      </p:sp>
      <p:sp>
        <p:nvSpPr>
          <p:cNvPr id="5" name="Text 3"/>
          <p:cNvSpPr txBox="1"/>
          <p:nvPr/>
        </p:nvSpPr>
        <p:spPr>
          <a:xfrm>
            <a:off x="685800" y="1417320"/>
            <a:ext cx="7772400" cy="2578608"/>
          </a:xfrm>
          <a:prstGeom prst="rect">
            <a:avLst/>
          </a:prstGeom>
          <a:noFill/>
          <a:ln/>
        </p:spPr>
        <p:txBody>
          <a:bodyPr wrap="square" lIns="0" tIns="0" rIns="0" bIns="0" rtlCol="0" anchor="t"/>
          <a:lstStyle/>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Vai trò: Bạn là chuyên viên phân tích chất lượng CSKH của ShopNhanh.</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Bối cảnh: Dưới đây là các ticket trong ca, đã ẩn danh (tên, SĐT, mã đơn đã che).</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Nhiệm vụ: Với từng ticket, xác định:</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1. Chủ đề: CHỈ chọn một: Giao hàng | Hoàn tiền | Lỗi thanh toán | Lỗi app |</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   Sản phẩm lỗi | Khác.</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2. Cảm xúc: Tích cực | Trung tính | Bực bội | Rất giận. Câu mỉa mai là tiêu cực.</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3. Nguy cơ rời bỏ: Thấp | Trung bình | Cao.</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4. Bằng chứng: trích nguyên văn tối đa 15 chữ khiến bạn chấm như vậy.</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5. Ưu tiên: P1 (trong 1 giờ) | P2 (trong ca) | P3 (trong 24 giờ).</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6. Đề xuất xử lý: 1 câu.</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Nếu không đủ thông tin để kết luận, ghi "Cần kiểm tra" thay vì đoán.</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Định dạng: Bảng Markdown, mỗi ticket một dòng. Dưới bảng, đếm số ticket theo</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chủ đề và liệt kê các ticket P1.</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Giọng điệu: Khách quan, ngắn gọn.</a:t>
            </a:r>
            <a:endParaRPr lang="en-US" sz="1000" dirty="0"/>
          </a:p>
        </p:txBody>
      </p:sp>
      <p:sp>
        <p:nvSpPr>
          <p:cNvPr id="6" name="Shape 4"/>
          <p:cNvSpPr/>
          <p:nvPr/>
        </p:nvSpPr>
        <p:spPr>
          <a:xfrm>
            <a:off x="457200" y="4242816"/>
            <a:ext cx="329184" cy="329184"/>
          </a:xfrm>
          <a:prstGeom prst="ellipse">
            <a:avLst/>
          </a:prstGeom>
          <a:solidFill>
            <a:srgbClr val="F2994A"/>
          </a:solidFill>
          <a:ln w="12700">
            <a:solidFill>
              <a:srgbClr val="F2994A"/>
            </a:solidFill>
            <a:prstDash val="solid"/>
          </a:ln>
        </p:spPr>
      </p:sp>
      <p:pic>
        <p:nvPicPr>
          <p:cNvPr id="7" name="Image 0" descr="preencoded.png">    </p:cNvPr>
          <p:cNvPicPr>
            <a:picLocks noChangeAspect="1"/>
          </p:cNvPicPr>
          <p:nvPr/>
        </p:nvPicPr>
        <p:blipFill>
          <a:blip r:embed="rId1"/>
          <a:stretch>
            <a:fillRect/>
          </a:stretch>
        </p:blipFill>
        <p:spPr>
          <a:xfrm>
            <a:off x="542788" y="4328404"/>
            <a:ext cx="158008" cy="158008"/>
          </a:xfrm>
          <a:prstGeom prst="rect">
            <a:avLst/>
          </a:prstGeom>
        </p:spPr>
      </p:pic>
      <p:sp>
        <p:nvSpPr>
          <p:cNvPr id="8"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50" dirty="0">
                <a:solidFill>
                  <a:srgbClr val="1F2A30"/>
                </a:solidFill>
                <a:latin typeface="Calibri" pitchFamily="34" charset="0"/>
                <a:ea typeface="Calibri" pitchFamily="34" charset="-122"/>
                <a:cs typeface="Calibri" pitchFamily="34" charset="-120"/>
              </a:rPr>
              <a:t>Ba chi tiết đắt giá: </a:t>
            </a:r>
            <a:pPr indent="0" marL="0">
              <a:buNone/>
            </a:pPr>
            <a:r>
              <a:rPr lang="en-US" sz="1150" b="1" dirty="0">
                <a:solidFill>
                  <a:srgbClr val="1F2A30"/>
                </a:solidFill>
                <a:latin typeface="Calibri" pitchFamily="34" charset="0"/>
                <a:ea typeface="Calibri" pitchFamily="34" charset="-122"/>
                <a:cs typeface="Calibri" pitchFamily="34" charset="-120"/>
              </a:rPr>
              <a:t>CHỈ chọn một</a:t>
            </a:r>
            <a:pPr indent="0" marL="0">
              <a:buNone/>
            </a:pPr>
            <a:r>
              <a:rPr lang="en-US" sz="1150" dirty="0">
                <a:solidFill>
                  <a:srgbClr val="1F2A30"/>
                </a:solidFill>
                <a:latin typeface="Calibri" pitchFamily="34" charset="0"/>
                <a:ea typeface="Calibri" pitchFamily="34" charset="-122"/>
                <a:cs typeface="Calibri" pitchFamily="34" charset="-120"/>
              </a:rPr>
              <a:t> nhãn, </a:t>
            </a:r>
            <a:pPr indent="0" marL="0">
              <a:buNone/>
            </a:pPr>
            <a:r>
              <a:rPr lang="en-US" sz="1150" b="1" dirty="0">
                <a:solidFill>
                  <a:srgbClr val="1F2A30"/>
                </a:solidFill>
                <a:latin typeface="Calibri" pitchFamily="34" charset="0"/>
                <a:ea typeface="Calibri" pitchFamily="34" charset="-122"/>
                <a:cs typeface="Calibri" pitchFamily="34" charset="-120"/>
              </a:rPr>
              <a:t>bằng chứng trích nguyên văn</a:t>
            </a:r>
            <a:pPr indent="0" marL="0">
              <a:buNone/>
            </a:pPr>
            <a:r>
              <a:rPr lang="en-US" sz="1150" dirty="0">
                <a:solidFill>
                  <a:srgbClr val="1F2A30"/>
                </a:solidFill>
                <a:latin typeface="Calibri" pitchFamily="34" charset="0"/>
                <a:ea typeface="Calibri" pitchFamily="34" charset="-122"/>
                <a:cs typeface="Calibri" pitchFamily="34" charset="-120"/>
              </a:rPr>
              <a:t>, lối thoát </a:t>
            </a:r>
            <a:pPr indent="0" marL="0">
              <a:buNone/>
            </a:pPr>
            <a:r>
              <a:rPr lang="en-US" sz="1150" b="1" dirty="0">
                <a:solidFill>
                  <a:srgbClr val="1F2A30"/>
                </a:solidFill>
                <a:latin typeface="Calibri" pitchFamily="34" charset="0"/>
                <a:ea typeface="Calibri" pitchFamily="34" charset="-122"/>
                <a:cs typeface="Calibri" pitchFamily="34" charset="-120"/>
              </a:rPr>
              <a:t>"Cần kiểm tra"</a:t>
            </a:r>
            <a:pPr indent="0" marL="0">
              <a:buNone/>
            </a:pPr>
            <a:r>
              <a:rPr lang="en-US" sz="1150" dirty="0">
                <a:solidFill>
                  <a:srgbClr val="1F2A30"/>
                </a:solidFill>
                <a:latin typeface="Calibri" pitchFamily="34" charset="0"/>
                <a:ea typeface="Calibri" pitchFamily="34" charset="-122"/>
                <a:cs typeface="Calibri" pitchFamily="34" charset="-120"/>
              </a:rPr>
              <a:t>.</a:t>
            </a:r>
            <a:endParaRPr lang="en-US" sz="115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LẠI TRƯỚC KHI BÁO CÁO</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Quy trình kiểm 3 bước của Lan</a:t>
            </a:r>
            <a:endParaRPr lang="en-US" sz="2500" dirty="0"/>
          </a:p>
        </p:txBody>
      </p:sp>
      <p:sp>
        <p:nvSpPr>
          <p:cNvPr id="4" name="Shape 2"/>
          <p:cNvSpPr/>
          <p:nvPr/>
        </p:nvSpPr>
        <p:spPr>
          <a:xfrm>
            <a:off x="1828800" y="1783080"/>
            <a:ext cx="5486400" cy="0"/>
          </a:xfrm>
          <a:prstGeom prst="line">
            <a:avLst/>
          </a:prstGeom>
          <a:noFill/>
          <a:ln w="31750">
            <a:solidFill>
              <a:srgbClr val="D3EAE6"/>
            </a:solidFill>
            <a:prstDash val="solid"/>
          </a:ln>
        </p:spPr>
      </p:sp>
      <p:sp>
        <p:nvSpPr>
          <p:cNvPr id="5" name="Shape 3"/>
          <p:cNvSpPr/>
          <p:nvPr/>
        </p:nvSpPr>
        <p:spPr>
          <a:xfrm>
            <a:off x="1527048" y="1481328"/>
            <a:ext cx="603504" cy="603504"/>
          </a:xfrm>
          <a:prstGeom prst="ellipse">
            <a:avLst/>
          </a:prstGeom>
          <a:solidFill>
            <a:srgbClr val="0E7C7B"/>
          </a:solidFill>
          <a:ln w="25400">
            <a:solidFill>
              <a:srgbClr val="FFFFFF"/>
            </a:solidFill>
            <a:prstDash val="solid"/>
          </a:ln>
        </p:spPr>
      </p:sp>
      <p:sp>
        <p:nvSpPr>
          <p:cNvPr id="6" name="Text 4"/>
          <p:cNvSpPr txBox="1"/>
          <p:nvPr/>
        </p:nvSpPr>
        <p:spPr>
          <a:xfrm>
            <a:off x="15270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530352" y="2240280"/>
            <a:ext cx="25968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Kiểm mẫu</a:t>
            </a:r>
            <a:endParaRPr lang="en-US" sz="1450" dirty="0"/>
          </a:p>
        </p:txBody>
      </p:sp>
      <p:sp>
        <p:nvSpPr>
          <p:cNvPr id="8" name="Text 6"/>
          <p:cNvSpPr txBox="1"/>
          <p:nvPr/>
        </p:nvSpPr>
        <p:spPr>
          <a:xfrm>
            <a:off x="548640" y="2788920"/>
            <a:ext cx="25603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Chọn ngẫu nhiên khoảng </a:t>
            </a:r>
            <a:pPr algn="ctr" indent="0" marL="0">
              <a:buNone/>
            </a:pPr>
            <a:r>
              <a:rPr lang="en-US" sz="1350" b="1" dirty="0">
                <a:solidFill>
                  <a:srgbClr val="1F2A30"/>
                </a:solidFill>
                <a:latin typeface="Calibri" pitchFamily="34" charset="0"/>
                <a:ea typeface="Calibri" pitchFamily="34" charset="-122"/>
                <a:cs typeface="Calibri" pitchFamily="34" charset="-120"/>
              </a:rPr>
              <a:t>20%</a:t>
            </a:r>
            <a:pPr algn="ctr" indent="0" marL="0">
              <a:buNone/>
            </a:pPr>
            <a:r>
              <a:rPr lang="en-US" sz="1350" dirty="0">
                <a:solidFill>
                  <a:srgbClr val="1F2A30"/>
                </a:solidFill>
                <a:latin typeface="Calibri" pitchFamily="34" charset="0"/>
                <a:ea typeface="Calibri" pitchFamily="34" charset="-122"/>
                <a:cs typeface="Calibri" pitchFamily="34" charset="-120"/>
              </a:rPr>
              <a:t> số dòng, tự đọc ticket gốc, so với nhãn AI.</a:t>
            </a:r>
            <a:endParaRPr lang="en-US" sz="1350" dirty="0"/>
          </a:p>
        </p:txBody>
      </p:sp>
      <p:sp>
        <p:nvSpPr>
          <p:cNvPr id="9" name="Shape 7"/>
          <p:cNvSpPr/>
          <p:nvPr/>
        </p:nvSpPr>
        <p:spPr>
          <a:xfrm>
            <a:off x="4270248" y="1481328"/>
            <a:ext cx="603504" cy="603504"/>
          </a:xfrm>
          <a:prstGeom prst="ellipse">
            <a:avLst/>
          </a:prstGeom>
          <a:solidFill>
            <a:srgbClr val="0E7C7B"/>
          </a:solidFill>
          <a:ln w="25400">
            <a:solidFill>
              <a:srgbClr val="FFFFFF"/>
            </a:solidFill>
            <a:prstDash val="solid"/>
          </a:ln>
        </p:spPr>
      </p:sp>
      <p:sp>
        <p:nvSpPr>
          <p:cNvPr id="10" name="Text 8"/>
          <p:cNvSpPr txBox="1"/>
          <p:nvPr/>
        </p:nvSpPr>
        <p:spPr>
          <a:xfrm>
            <a:off x="42702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3273552" y="2240280"/>
            <a:ext cx="25968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Đọc hết P1 &amp; Churn cao</a:t>
            </a:r>
            <a:endParaRPr lang="en-US" sz="1450" dirty="0"/>
          </a:p>
        </p:txBody>
      </p:sp>
      <p:sp>
        <p:nvSpPr>
          <p:cNvPr id="12" name="Text 10"/>
          <p:cNvSpPr txBox="1"/>
          <p:nvPr/>
        </p:nvSpPr>
        <p:spPr>
          <a:xfrm>
            <a:off x="3291840" y="2788920"/>
            <a:ext cx="25603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Đọc lại </a:t>
            </a:r>
            <a:pPr algn="ctr" indent="0" marL="0">
              <a:buNone/>
            </a:pPr>
            <a:r>
              <a:rPr lang="en-US" sz="1350" b="1" dirty="0">
                <a:solidFill>
                  <a:srgbClr val="1F2A30"/>
                </a:solidFill>
                <a:latin typeface="Calibri" pitchFamily="34" charset="0"/>
                <a:ea typeface="Calibri" pitchFamily="34" charset="-122"/>
                <a:cs typeface="Calibri" pitchFamily="34" charset="-120"/>
              </a:rPr>
              <a:t>toàn bộ</a:t>
            </a:r>
            <a:pPr algn="ctr" indent="0" marL="0">
              <a:buNone/>
            </a:pPr>
            <a:r>
              <a:rPr lang="en-US" sz="1350" dirty="0">
                <a:solidFill>
                  <a:srgbClr val="1F2A30"/>
                </a:solidFill>
                <a:latin typeface="Calibri" pitchFamily="34" charset="0"/>
                <a:ea typeface="Calibri" pitchFamily="34" charset="-122"/>
                <a:cs typeface="Calibri" pitchFamily="34" charset="-120"/>
              </a:rPr>
              <a:t> các dòng này: đây là khách cần gọi lại ngay.</a:t>
            </a:r>
            <a:endParaRPr lang="en-US" sz="1350" dirty="0"/>
          </a:p>
        </p:txBody>
      </p:sp>
      <p:sp>
        <p:nvSpPr>
          <p:cNvPr id="13" name="Shape 11"/>
          <p:cNvSpPr/>
          <p:nvPr/>
        </p:nvSpPr>
        <p:spPr>
          <a:xfrm>
            <a:off x="7013448" y="1481328"/>
            <a:ext cx="603504" cy="603504"/>
          </a:xfrm>
          <a:prstGeom prst="ellipse">
            <a:avLst/>
          </a:prstGeom>
          <a:solidFill>
            <a:srgbClr val="F2994A"/>
          </a:solidFill>
          <a:ln w="25400">
            <a:solidFill>
              <a:srgbClr val="FFFFFF"/>
            </a:solidFill>
            <a:prstDash val="solid"/>
          </a:ln>
        </p:spPr>
      </p:sp>
      <p:sp>
        <p:nvSpPr>
          <p:cNvPr id="14" name="Text 12"/>
          <p:cNvSpPr txBox="1"/>
          <p:nvPr/>
        </p:nvSpPr>
        <p:spPr>
          <a:xfrm>
            <a:off x="70134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6016752" y="2240280"/>
            <a:ext cx="25968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Ghi tỉ lệ đúng</a:t>
            </a:r>
            <a:endParaRPr lang="en-US" sz="1450" dirty="0"/>
          </a:p>
        </p:txBody>
      </p:sp>
      <p:sp>
        <p:nvSpPr>
          <p:cNvPr id="16" name="Text 14"/>
          <p:cNvSpPr txBox="1"/>
          <p:nvPr/>
        </p:nvSpPr>
        <p:spPr>
          <a:xfrm>
            <a:off x="6035040" y="2788920"/>
            <a:ext cx="25603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Ví dụ "10 dòng kiểm, 8 đúng". </a:t>
            </a:r>
            <a:pPr algn="ctr" indent="0" marL="0">
              <a:buNone/>
            </a:pPr>
            <a:r>
              <a:rPr lang="en-US" sz="1350" b="1" dirty="0">
                <a:solidFill>
                  <a:srgbClr val="1F2A30"/>
                </a:solidFill>
                <a:latin typeface="Calibri" pitchFamily="34" charset="0"/>
                <a:ea typeface="Calibri" pitchFamily="34" charset="-122"/>
                <a:cs typeface="Calibri" pitchFamily="34" charset="-120"/>
              </a:rPr>
              <a:t>Dưới 80%</a:t>
            </a:r>
            <a:pPr algn="ctr" indent="0" marL="0">
              <a:buNone/>
            </a:pPr>
            <a:r>
              <a:rPr lang="en-US" sz="1350" dirty="0">
                <a:solidFill>
                  <a:srgbClr val="1F2A30"/>
                </a:solidFill>
                <a:latin typeface="Calibri" pitchFamily="34" charset="0"/>
                <a:ea typeface="Calibri" pitchFamily="34" charset="-122"/>
                <a:cs typeface="Calibri" pitchFamily="34" charset="-120"/>
              </a:rPr>
              <a:t>: chỉnh prompt rồi chạy lại.</a:t>
            </a:r>
            <a:endParaRPr lang="en-US" sz="1350" dirty="0"/>
          </a:p>
        </p:txBody>
      </p:sp>
      <p:sp>
        <p:nvSpPr>
          <p:cNvPr id="17" name="Text 15"/>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Mẹo </a:t>
            </a:r>
            <a:pPr indent="0" marL="0">
              <a:buNone/>
            </a:pPr>
            <a:r>
              <a:rPr lang="en-US" sz="1250" b="1" i="1" dirty="0">
                <a:solidFill>
                  <a:srgbClr val="5B6B73"/>
                </a:solidFill>
                <a:latin typeface="Calibri" pitchFamily="34" charset="0"/>
                <a:ea typeface="Calibri" pitchFamily="34" charset="-122"/>
                <a:cs typeface="Calibri" pitchFamily="34" charset="-120"/>
              </a:rPr>
              <a:t>few-shot</a:t>
            </a:r>
            <a:pPr indent="0" marL="0">
              <a:buNone/>
            </a:pPr>
            <a:r>
              <a:rPr lang="en-US" sz="1250" i="1" dirty="0">
                <a:solidFill>
                  <a:srgbClr val="5B6B73"/>
                </a:solidFill>
                <a:latin typeface="Calibri" pitchFamily="34" charset="0"/>
                <a:ea typeface="Calibri" pitchFamily="34" charset="-122"/>
                <a:cs typeface="Calibri" pitchFamily="34" charset="-120"/>
              </a:rPr>
              <a:t>: AI hay nhầm hai nhãn? Thêm 1–2 ví dụ ngắn cho mỗi nhãn ngay trong prompt.</a:t>
            </a:r>
            <a:endParaRPr lang="en-US" sz="1250" dirty="0"/>
          </a:p>
        </p:txBody>
      </p:sp>
      <p:sp>
        <p:nvSpPr>
          <p:cNvPr id="18" name="Text 1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19" name="Text 1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03</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BUỔI 4 · BÀI 3</a:t>
            </a:r>
            <a:endParaRPr lang="en-US" sz="1200" dirty="0"/>
          </a:p>
        </p:txBody>
      </p:sp>
      <p:sp>
        <p:nvSpPr>
          <p:cNvPr id="4" name="Text 2"/>
          <p:cNvSpPr txBox="1"/>
          <p:nvPr/>
        </p:nvSpPr>
        <p:spPr>
          <a:xfrm>
            <a:off x="548640" y="2468880"/>
            <a:ext cx="658368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AI hỗ trợ QA cuộc gọi</a:t>
            </a:r>
            <a:endParaRPr lang="en-US" sz="3200" dirty="0"/>
          </a:p>
        </p:txBody>
      </p:sp>
      <p:sp>
        <p:nvSpPr>
          <p:cNvPr id="5" name="Text 3"/>
          <p:cNvSpPr txBox="1"/>
          <p:nvPr/>
        </p:nvSpPr>
        <p:spPr>
          <a:xfrm>
            <a:off x="548640" y="329184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AI chấm sơ bộ nhiều cuộc gọi hơn, để QA dành thời gian nghe lại cuộc có vấn đề và kèm cặp nhân viên.</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BỘ TIÊU CHÍ LÀ "LUẬT CHƠI"</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Bộ tiêu chí QA mẫu (10 điểm)</a:t>
            </a:r>
            <a:endParaRPr lang="en-US" sz="2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11480"/>
                <a:gridCol w="2331720"/>
                <a:gridCol w="731520"/>
                <a:gridCol w="4754880"/>
              </a:tblGrid>
              <a:tr h="3098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Tiêu chí</a:t>
                      </a:r>
                      <a:endParaRPr lang="en-US" sz="11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Điểm</a:t>
                      </a:r>
                      <a:endParaRPr lang="en-US" sz="11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Đạt khi</a:t>
                      </a:r>
                      <a:endParaRPr lang="en-US" sz="11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09880">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Chào hỏi, xưng danh</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Chào, nêu tên, tên công ty</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09880">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2</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Xác minh thông tin</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Đúng quy trình, không đọc to dữ liệu nhạy cảm</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09880">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3</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Lắng nghe, không ngắt lời</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Để khách nói hết, tóm lại vấn đề</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09880">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4</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30"/>
                          </a:solidFill>
                          <a:latin typeface="Calibri" pitchFamily="34" charset="0"/>
                          <a:ea typeface="Calibri" pitchFamily="34" charset="-122"/>
                          <a:cs typeface="Calibri" pitchFamily="34" charset="-120"/>
                        </a:rPr>
                        <a:t>Đồng cảm</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30"/>
                          </a:solidFill>
                          <a:latin typeface="Calibri" pitchFamily="34" charset="0"/>
                          <a:ea typeface="Calibri" pitchFamily="34" charset="-122"/>
                          <a:cs typeface="Calibri" pitchFamily="34" charset="-120"/>
                        </a:rPr>
                        <a:t>2</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Có câu thể hiện hiểu cảm xúc khách, phù hợp ngữ cảnh</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09880">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5</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b="1" dirty="0">
                          <a:solidFill>
                            <a:srgbClr val="1F2A30"/>
                          </a:solidFill>
                          <a:latin typeface="Calibri" pitchFamily="34" charset="0"/>
                          <a:ea typeface="Calibri" pitchFamily="34" charset="-122"/>
                          <a:cs typeface="Calibri" pitchFamily="34" charset="-120"/>
                        </a:rPr>
                        <a:t>Giải pháp đúng chính sách</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b="1" dirty="0">
                          <a:solidFill>
                            <a:srgbClr val="1F2A30"/>
                          </a:solidFill>
                          <a:latin typeface="Calibri" pitchFamily="34" charset="0"/>
                          <a:ea typeface="Calibri" pitchFamily="34" charset="-122"/>
                          <a:cs typeface="Calibri" pitchFamily="34" charset="-120"/>
                        </a:rPr>
                        <a:t>2</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Khớp chính sách, không hứa quá quyền hạn</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09880">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6</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Rõ ràng, ngắn gọn</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Không dùng thuật ngữ nội bộ, giải thích dễ hiểu</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09880">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7</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Xác nhận bước tiếp theo</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Nói rõ ai làm gì, khi nào</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09880">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8</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Kết thúc, cảm ơn</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Hỏi còn cần hỗ trợ gì, cảm ơn khách</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6" name="Text 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PROMPT MẪU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Prompt chấm QA có dẫn chứng</a:t>
            </a:r>
            <a:endParaRPr lang="en-US" sz="2500" dirty="0"/>
          </a:p>
        </p:txBody>
      </p:sp>
      <p:sp>
        <p:nvSpPr>
          <p:cNvPr id="4" name="Shape 2"/>
          <p:cNvSpPr/>
          <p:nvPr/>
        </p:nvSpPr>
        <p:spPr>
          <a:xfrm>
            <a:off x="457200" y="1280160"/>
            <a:ext cx="8229600" cy="2852928"/>
          </a:xfrm>
          <a:prstGeom prst="roundRect">
            <a:avLst>
              <a:gd name="adj" fmla="val 2564"/>
            </a:avLst>
          </a:prstGeom>
          <a:solidFill>
            <a:srgbClr val="17262C"/>
          </a:solidFill>
          <a:ln w="12700">
            <a:solidFill>
              <a:srgbClr val="17262C"/>
            </a:solidFill>
            <a:prstDash val="solid"/>
          </a:ln>
        </p:spPr>
      </p:sp>
      <p:sp>
        <p:nvSpPr>
          <p:cNvPr id="5" name="Text 3"/>
          <p:cNvSpPr txBox="1"/>
          <p:nvPr/>
        </p:nvSpPr>
        <p:spPr>
          <a:xfrm>
            <a:off x="685800" y="1417320"/>
            <a:ext cx="7772400" cy="2578608"/>
          </a:xfrm>
          <a:prstGeom prst="rect">
            <a:avLst/>
          </a:prstGeom>
          <a:noFill/>
          <a:ln/>
        </p:spPr>
        <p:txBody>
          <a:bodyPr wrap="square" lIns="0" tIns="0" rIns="0" bIns="0" rtlCol="0" anchor="t"/>
          <a:lstStyle/>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Vai trò: Bạn là chuyên viên QA tổng đài với 10 năm kinh nghiệm.</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Bối cảnh: Transcript cuộc gọi đã ẩn danh giữa agent (A) và khách (K), cùng bộ</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tiêu chí QA 10 điểm của bộ phận.</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Nhiệm vụ:</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1. Chấm từng tiêu chí, kèm DẪN CHỨNG là câu nguyên văn trong transcript. Không</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   tìm thấy dẫn chứng thì chấm 0, ghi "không thấy trong transcript".</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2. Tính tổng điểm.</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3. Nêu 2 điểm làm tốt, 2 điểm cần cải thiện, mỗi điểm kèm câu nói thay thế.</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4. Đánh dấu rủi ro nghiêm trọng: hứa ngoài chính sách, lộ dữ liệu cá nhân,</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   thái độ thiếu tôn trọng.</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Định dạng: Bảng Tiêu chí | Điểm | Dẫn chứng | Nhận xét; sau bảng là Làm tốt,</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Cần cải thiện, Rủi ro.</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Giọng điệu: Khách quan, mang tính xây dựng, không phán xét cá nhân.</a:t>
            </a:r>
            <a:endParaRPr lang="en-US" sz="950" dirty="0"/>
          </a:p>
          <a:p>
            <a:pPr indent="0" marL="0">
              <a:lnSpc>
                <a:spcPct val="105000"/>
              </a:lnSpc>
              <a:buNone/>
            </a:pP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[DÁN BỘ TIÊU CHÍ]    [DÁN TRANSCRIPT]</a:t>
            </a:r>
            <a:endParaRPr lang="en-US" sz="950" dirty="0"/>
          </a:p>
        </p:txBody>
      </p:sp>
      <p:sp>
        <p:nvSpPr>
          <p:cNvPr id="6" name="Shape 4"/>
          <p:cNvSpPr/>
          <p:nvPr/>
        </p:nvSpPr>
        <p:spPr>
          <a:xfrm>
            <a:off x="457200" y="4242816"/>
            <a:ext cx="329184" cy="329184"/>
          </a:xfrm>
          <a:prstGeom prst="ellipse">
            <a:avLst/>
          </a:prstGeom>
          <a:solidFill>
            <a:srgbClr val="F2994A"/>
          </a:solidFill>
          <a:ln w="12700">
            <a:solidFill>
              <a:srgbClr val="F2994A"/>
            </a:solidFill>
            <a:prstDash val="solid"/>
          </a:ln>
        </p:spPr>
      </p:sp>
      <p:pic>
        <p:nvPicPr>
          <p:cNvPr id="7" name="Image 0" descr="preencoded.png">    </p:cNvPr>
          <p:cNvPicPr>
            <a:picLocks noChangeAspect="1"/>
          </p:cNvPicPr>
          <p:nvPr/>
        </p:nvPicPr>
        <p:blipFill>
          <a:blip r:embed="rId1"/>
          <a:stretch>
            <a:fillRect/>
          </a:stretch>
        </p:blipFill>
        <p:spPr>
          <a:xfrm>
            <a:off x="542788" y="4328404"/>
            <a:ext cx="158008" cy="158008"/>
          </a:xfrm>
          <a:prstGeom prst="rect">
            <a:avLst/>
          </a:prstGeom>
        </p:spPr>
      </p:pic>
      <p:sp>
        <p:nvSpPr>
          <p:cNvPr id="8"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50" b="1" dirty="0">
                <a:solidFill>
                  <a:srgbClr val="1F2A30"/>
                </a:solidFill>
                <a:latin typeface="Calibri" pitchFamily="34" charset="0"/>
                <a:ea typeface="Calibri" pitchFamily="34" charset="-122"/>
                <a:cs typeface="Calibri" pitchFamily="34" charset="-120"/>
              </a:rPr>
              <a:t>Dẫn chứng nguyên văn</a:t>
            </a:r>
            <a:pPr indent="0" marL="0">
              <a:buNone/>
            </a:pPr>
            <a:r>
              <a:rPr lang="en-US" sz="1150" dirty="0">
                <a:solidFill>
                  <a:srgbClr val="1F2A30"/>
                </a:solidFill>
                <a:latin typeface="Calibri" pitchFamily="34" charset="0"/>
                <a:ea typeface="Calibri" pitchFamily="34" charset="-122"/>
                <a:cs typeface="Calibri" pitchFamily="34" charset="-120"/>
              </a:rPr>
              <a:t> biến "AI nghĩ vậy" thành "đây là câu cụ thể, bạn tự kiểm được".</a:t>
            </a:r>
            <a:endParaRPr lang="en-US" sz="115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NHẬN XÉT QA</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Nhận xét chung chung vs nhận xét có dẫn chứng</a:t>
            </a:r>
            <a:endParaRPr lang="en-US" sz="2500" dirty="0"/>
          </a:p>
        </p:txBody>
      </p:sp>
      <p:sp>
        <p:nvSpPr>
          <p:cNvPr id="4" name="Shape 2"/>
          <p:cNvSpPr/>
          <p:nvPr/>
        </p:nvSpPr>
        <p:spPr>
          <a:xfrm>
            <a:off x="457200" y="1371600"/>
            <a:ext cx="3977640" cy="2697480"/>
          </a:xfrm>
          <a:prstGeom prst="roundRect">
            <a:avLst>
              <a:gd name="adj" fmla="val 3390"/>
            </a:avLst>
          </a:prstGeom>
          <a:solidFill>
            <a:srgbClr val="FBEAE8"/>
          </a:solidFill>
          <a:ln w="12700">
            <a:solidFill>
              <a:srgbClr val="FBEAE8"/>
            </a:solidFill>
            <a:prstDash val="solid"/>
          </a:ln>
        </p:spPr>
      </p:sp>
      <p:sp>
        <p:nvSpPr>
          <p:cNvPr id="5" name="Shape 3"/>
          <p:cNvSpPr/>
          <p:nvPr/>
        </p:nvSpPr>
        <p:spPr>
          <a:xfrm>
            <a:off x="658368" y="1554480"/>
            <a:ext cx="420624" cy="420624"/>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67730" y="1663842"/>
            <a:ext cx="201900" cy="201900"/>
          </a:xfrm>
          <a:prstGeom prst="rect">
            <a:avLst/>
          </a:prstGeom>
        </p:spPr>
      </p:pic>
      <p:sp>
        <p:nvSpPr>
          <p:cNvPr id="7" name="Text 4"/>
          <p:cNvSpPr txBox="1"/>
          <p:nvPr/>
        </p:nvSpPr>
        <p:spPr>
          <a:xfrm>
            <a:off x="1188720" y="1554480"/>
            <a:ext cx="3063240" cy="420624"/>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Chung chung</a:t>
            </a:r>
            <a:endParaRPr lang="en-US" sz="1450" dirty="0"/>
          </a:p>
        </p:txBody>
      </p:sp>
      <p:sp>
        <p:nvSpPr>
          <p:cNvPr id="8" name="Text 5"/>
          <p:cNvSpPr txBox="1"/>
          <p:nvPr/>
        </p:nvSpPr>
        <p:spPr>
          <a:xfrm>
            <a:off x="68580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"Agent chưa đồng cảm lắm, cần cải thiện thái độ."</a:t>
            </a:r>
            <a:endParaRPr lang="en-US" sz="1400" dirty="0"/>
          </a:p>
          <a:p>
            <a:pPr indent="0" marL="0">
              <a:buNone/>
            </a:pP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Agent không biết sửa gì, dễ cảm thấy bị chỉ trích.</a:t>
            </a:r>
            <a:endParaRPr lang="en-US" sz="1400" dirty="0"/>
          </a:p>
        </p:txBody>
      </p:sp>
      <p:sp>
        <p:nvSpPr>
          <p:cNvPr id="9" name="Shape 6"/>
          <p:cNvSpPr/>
          <p:nvPr/>
        </p:nvSpPr>
        <p:spPr>
          <a:xfrm>
            <a:off x="4709160" y="1371600"/>
            <a:ext cx="3977640" cy="2697480"/>
          </a:xfrm>
          <a:prstGeom prst="roundRect">
            <a:avLst>
              <a:gd name="adj" fmla="val 3390"/>
            </a:avLst>
          </a:prstGeom>
          <a:solidFill>
            <a:srgbClr val="E8F3F1"/>
          </a:solidFill>
          <a:ln w="12700">
            <a:solidFill>
              <a:srgbClr val="E8F3F1"/>
            </a:solidFill>
            <a:prstDash val="solid"/>
          </a:ln>
        </p:spPr>
      </p:sp>
      <p:sp>
        <p:nvSpPr>
          <p:cNvPr id="10" name="Shape 7"/>
          <p:cNvSpPr/>
          <p:nvPr/>
        </p:nvSpPr>
        <p:spPr>
          <a:xfrm>
            <a:off x="4910328" y="1554480"/>
            <a:ext cx="420624" cy="420624"/>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19690" y="1663842"/>
            <a:ext cx="201900" cy="201900"/>
          </a:xfrm>
          <a:prstGeom prst="rect">
            <a:avLst/>
          </a:prstGeom>
        </p:spPr>
      </p:pic>
      <p:sp>
        <p:nvSpPr>
          <p:cNvPr id="12" name="Text 8"/>
          <p:cNvSpPr txBox="1"/>
          <p:nvPr/>
        </p:nvSpPr>
        <p:spPr>
          <a:xfrm>
            <a:off x="5440680" y="1554480"/>
            <a:ext cx="3063240" cy="420624"/>
          </a:xfrm>
          <a:prstGeom prst="rect">
            <a:avLst/>
          </a:prstGeom>
          <a:noFill/>
          <a:ln/>
        </p:spPr>
        <p:txBody>
          <a:bodyPr wrap="square" lIns="0" tIns="0" rIns="0" bIns="0" rtlCol="0" anchor="ctr"/>
          <a:lstStyle/>
          <a:p>
            <a:pPr indent="0" marL="0">
              <a:buNone/>
            </a:pPr>
            <a:r>
              <a:rPr lang="en-US" sz="1450" b="1" dirty="0">
                <a:solidFill>
                  <a:srgbClr val="0E7C7B"/>
                </a:solidFill>
                <a:latin typeface="Calibri" pitchFamily="34" charset="0"/>
                <a:ea typeface="Calibri" pitchFamily="34" charset="-122"/>
                <a:cs typeface="Calibri" pitchFamily="34" charset="-120"/>
              </a:rPr>
              <a:t>Có dẫn chứng + câu thay thế</a:t>
            </a:r>
            <a:endParaRPr lang="en-US" sz="1450" dirty="0"/>
          </a:p>
        </p:txBody>
      </p:sp>
      <p:sp>
        <p:nvSpPr>
          <p:cNvPr id="13" name="Text 9"/>
          <p:cNvSpPr txBox="1"/>
          <p:nvPr/>
        </p:nvSpPr>
        <p:spPr>
          <a:xfrm>
            <a:off x="493776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Khách nói "Tôi đã gọi lần thứ ba rồi", agent đáp ngay "Anh cho em mã đơn". Thay bằng: "Dạ em thật sự xin lỗi vì anh phải gọi lại nhiều lần. Em sẽ xử lý dứt điểm ngay trong cuộc gọi này, anh cho em xin mã đơn ạ."</a:t>
            </a:r>
            <a:endParaRPr lang="en-US" sz="1400" dirty="0"/>
          </a:p>
        </p:txBody>
      </p:sp>
      <p:sp>
        <p:nvSpPr>
          <p:cNvPr id="14" name="Shape 10"/>
          <p:cNvSpPr/>
          <p:nvPr/>
        </p:nvSpPr>
        <p:spPr>
          <a:xfrm>
            <a:off x="457200" y="4206240"/>
            <a:ext cx="347472" cy="347472"/>
          </a:xfrm>
          <a:prstGeom prst="ellipse">
            <a:avLst/>
          </a:prstGeom>
          <a:solidFill>
            <a:srgbClr val="F2994A"/>
          </a:solidFill>
          <a:ln w="12700">
            <a:solidFill>
              <a:srgbClr val="F2994A"/>
            </a:solidFill>
            <a:prstDash val="solid"/>
          </a:ln>
        </p:spPr>
      </p:sp>
      <p:pic>
        <p:nvPicPr>
          <p:cNvPr id="15" name="Image 2" descr="preencoded.png">    </p:cNvPr>
          <p:cNvPicPr>
            <a:picLocks noChangeAspect="1"/>
          </p:cNvPicPr>
          <p:nvPr/>
        </p:nvPicPr>
        <p:blipFill>
          <a:blip r:embed="rId3"/>
          <a:stretch>
            <a:fillRect/>
          </a:stretch>
        </p:blipFill>
        <p:spPr>
          <a:xfrm>
            <a:off x="547543" y="4296583"/>
            <a:ext cx="166787" cy="166787"/>
          </a:xfrm>
          <a:prstGeom prst="rect">
            <a:avLst/>
          </a:prstGeom>
        </p:spPr>
      </p:pic>
      <p:sp>
        <p:nvSpPr>
          <p:cNvPr id="16" name="Text 11"/>
          <p:cNvSpPr txBox="1"/>
          <p:nvPr/>
        </p:nvSpPr>
        <p:spPr>
          <a:xfrm>
            <a:off x="914400" y="4160520"/>
            <a:ext cx="7772400" cy="438912"/>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Nhận xét tốt là nhận xét có </a:t>
            </a:r>
            <a:pPr indent="0" marL="0">
              <a:buNone/>
            </a:pPr>
            <a:r>
              <a:rPr lang="en-US" sz="1200" b="1" dirty="0">
                <a:solidFill>
                  <a:srgbClr val="1F2A30"/>
                </a:solidFill>
                <a:latin typeface="Calibri" pitchFamily="34" charset="0"/>
                <a:ea typeface="Calibri" pitchFamily="34" charset="-122"/>
                <a:cs typeface="Calibri" pitchFamily="34" charset="-120"/>
              </a:rPr>
              <a:t>câu thay thế cụ thể</a:t>
            </a:r>
            <a:pPr indent="0" marL="0">
              <a:buNone/>
            </a:pPr>
            <a:r>
              <a:rPr lang="en-US" sz="1200" dirty="0">
                <a:solidFill>
                  <a:srgbClr val="1F2A30"/>
                </a:solidFill>
                <a:latin typeface="Calibri" pitchFamily="34" charset="0"/>
                <a:ea typeface="Calibri" pitchFamily="34" charset="-122"/>
                <a:cs typeface="Calibri" pitchFamily="34" charset="-120"/>
              </a:rPr>
              <a:t>: agent biết câu nào cần đổi và đổi thành gì.</a:t>
            </a:r>
            <a:endParaRPr lang="en-US" sz="1200" dirty="0"/>
          </a:p>
        </p:txBody>
      </p:sp>
      <p:sp>
        <p:nvSpPr>
          <p:cNvPr id="17"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18"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GIỚI HẠN CẦN NHỚ</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AI chấm QA: bốn điều phải lưu ý</a:t>
            </a:r>
            <a:endParaRPr lang="en-US" sz="2500" dirty="0"/>
          </a:p>
        </p:txBody>
      </p:sp>
      <p:sp>
        <p:nvSpPr>
          <p:cNvPr id="4" name="Shape 2"/>
          <p:cNvSpPr/>
          <p:nvPr/>
        </p:nvSpPr>
        <p:spPr>
          <a:xfrm>
            <a:off x="457200" y="1371600"/>
            <a:ext cx="4000500" cy="1485900"/>
          </a:xfrm>
          <a:prstGeom prst="roundRect">
            <a:avLst>
              <a:gd name="adj" fmla="val 6154"/>
            </a:avLst>
          </a:prstGeom>
          <a:solidFill>
            <a:srgbClr val="FBEAE8"/>
          </a:solidFill>
          <a:ln w="12700">
            <a:solidFill>
              <a:srgbClr val="FBEAE8"/>
            </a:solidFill>
            <a:prstDash val="solid"/>
          </a:ln>
        </p:spPr>
      </p:sp>
      <p:sp>
        <p:nvSpPr>
          <p:cNvPr id="5" name="Shape 3"/>
          <p:cNvSpPr/>
          <p:nvPr/>
        </p:nvSpPr>
        <p:spPr>
          <a:xfrm>
            <a:off x="640080" y="1554480"/>
            <a:ext cx="457200" cy="457200"/>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58952" y="1673352"/>
            <a:ext cx="219456" cy="219456"/>
          </a:xfrm>
          <a:prstGeom prst="rect">
            <a:avLst/>
          </a:prstGeom>
        </p:spPr>
      </p:pic>
      <p:sp>
        <p:nvSpPr>
          <p:cNvPr id="7" name="Text 4"/>
          <p:cNvSpPr txBox="1"/>
          <p:nvPr/>
        </p:nvSpPr>
        <p:spPr>
          <a:xfrm>
            <a:off x="12344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Không có giọng điệu</a:t>
            </a:r>
            <a:endParaRPr lang="en-US" sz="1400" dirty="0"/>
          </a:p>
        </p:txBody>
      </p:sp>
      <p:sp>
        <p:nvSpPr>
          <p:cNvPr id="8" name="Text 5"/>
          <p:cNvSpPr txBox="1"/>
          <p:nvPr/>
        </p:nvSpPr>
        <p:spPr>
          <a:xfrm>
            <a:off x="12344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Transcript không cho biết agent nói gắt hay nhẹ, không thấy khoảng lặng. Tiêu chí về giọng vẫn cần QA </a:t>
            </a:r>
            <a:pPr indent="0" marL="0">
              <a:buNone/>
            </a:pPr>
            <a:r>
              <a:rPr lang="en-US" sz="1300" b="1" dirty="0">
                <a:solidFill>
                  <a:srgbClr val="1F2A30"/>
                </a:solidFill>
                <a:latin typeface="Calibri" pitchFamily="34" charset="0"/>
                <a:ea typeface="Calibri" pitchFamily="34" charset="-122"/>
                <a:cs typeface="Calibri" pitchFamily="34" charset="-120"/>
              </a:rPr>
              <a:t>nghe trực tiếp</a:t>
            </a:r>
            <a:pPr indent="0" marL="0">
              <a:buNone/>
            </a:pPr>
            <a:r>
              <a:rPr lang="en-US" sz="1300" dirty="0">
                <a:solidFill>
                  <a:srgbClr val="1F2A30"/>
                </a:solidFill>
                <a:latin typeface="Calibri" pitchFamily="34" charset="0"/>
                <a:ea typeface="Calibri" pitchFamily="34" charset="-122"/>
                <a:cs typeface="Calibri" pitchFamily="34" charset="-120"/>
              </a:rPr>
              <a:t>.</a:t>
            </a:r>
            <a:endParaRPr lang="en-US" sz="1300" dirty="0"/>
          </a:p>
        </p:txBody>
      </p:sp>
      <p:sp>
        <p:nvSpPr>
          <p:cNvPr id="9" name="Shape 6"/>
          <p:cNvSpPr/>
          <p:nvPr/>
        </p:nvSpPr>
        <p:spPr>
          <a:xfrm>
            <a:off x="4686300" y="1371600"/>
            <a:ext cx="4000500" cy="1485900"/>
          </a:xfrm>
          <a:prstGeom prst="roundRect">
            <a:avLst>
              <a:gd name="adj" fmla="val 6154"/>
            </a:avLst>
          </a:prstGeom>
          <a:solidFill>
            <a:srgbClr val="FBEAE8"/>
          </a:solidFill>
          <a:ln w="12700">
            <a:solidFill>
              <a:srgbClr val="FBEAE8"/>
            </a:solidFill>
            <a:prstDash val="solid"/>
          </a:ln>
        </p:spPr>
      </p:sp>
      <p:sp>
        <p:nvSpPr>
          <p:cNvPr id="10" name="Shape 7"/>
          <p:cNvSpPr/>
          <p:nvPr/>
        </p:nvSpPr>
        <p:spPr>
          <a:xfrm>
            <a:off x="4869180" y="1554480"/>
            <a:ext cx="457200" cy="457200"/>
          </a:xfrm>
          <a:prstGeom prst="ellipse">
            <a:avLst/>
          </a:prstGeom>
          <a:solidFill>
            <a:srgbClr val="C0392B"/>
          </a:solidFill>
          <a:ln w="12700">
            <a:solidFill>
              <a:srgbClr val="C0392B"/>
            </a:solidFill>
            <a:prstDash val="solid"/>
          </a:ln>
        </p:spPr>
      </p:sp>
      <p:pic>
        <p:nvPicPr>
          <p:cNvPr id="11" name="Image 1" descr="preencoded.png">    </p:cNvPr>
          <p:cNvPicPr>
            <a:picLocks noChangeAspect="1"/>
          </p:cNvPicPr>
          <p:nvPr/>
        </p:nvPicPr>
        <p:blipFill>
          <a:blip r:embed="rId2"/>
          <a:stretch>
            <a:fillRect/>
          </a:stretch>
        </p:blipFill>
        <p:spPr>
          <a:xfrm>
            <a:off x="4988052" y="1673352"/>
            <a:ext cx="219456" cy="219456"/>
          </a:xfrm>
          <a:prstGeom prst="rect">
            <a:avLst/>
          </a:prstGeom>
        </p:spPr>
      </p:pic>
      <p:sp>
        <p:nvSpPr>
          <p:cNvPr id="12" name="Text 8"/>
          <p:cNvSpPr txBox="1"/>
          <p:nvPr/>
        </p:nvSpPr>
        <p:spPr>
          <a:xfrm>
            <a:off x="54635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Lỗi chuyển giọng nói</a:t>
            </a:r>
            <a:endParaRPr lang="en-US" sz="1400" dirty="0"/>
          </a:p>
        </p:txBody>
      </p:sp>
      <p:sp>
        <p:nvSpPr>
          <p:cNvPr id="13" name="Text 9"/>
          <p:cNvSpPr txBox="1"/>
          <p:nvPr/>
        </p:nvSpPr>
        <p:spPr>
          <a:xfrm>
            <a:off x="54635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Lỗi speech-to-text có thể làm AI chấm sai. Câu trông vô nghĩa thì </a:t>
            </a:r>
            <a:pPr indent="0" marL="0">
              <a:buNone/>
            </a:pPr>
            <a:r>
              <a:rPr lang="en-US" sz="1300" b="1" dirty="0">
                <a:solidFill>
                  <a:srgbClr val="1F2A30"/>
                </a:solidFill>
                <a:latin typeface="Calibri" pitchFamily="34" charset="0"/>
                <a:ea typeface="Calibri" pitchFamily="34" charset="-122"/>
                <a:cs typeface="Calibri" pitchFamily="34" charset="-120"/>
              </a:rPr>
              <a:t>nghe lại ghi âm gốc</a:t>
            </a:r>
            <a:pPr indent="0" marL="0">
              <a:buNone/>
            </a:pPr>
            <a:r>
              <a:rPr lang="en-US" sz="1300" dirty="0">
                <a:solidFill>
                  <a:srgbClr val="1F2A30"/>
                </a:solidFill>
                <a:latin typeface="Calibri" pitchFamily="34" charset="0"/>
                <a:ea typeface="Calibri" pitchFamily="34" charset="-122"/>
                <a:cs typeface="Calibri" pitchFamily="34" charset="-120"/>
              </a:rPr>
              <a:t>.</a:t>
            </a:r>
            <a:endParaRPr lang="en-US" sz="1300" dirty="0"/>
          </a:p>
        </p:txBody>
      </p:sp>
      <p:sp>
        <p:nvSpPr>
          <p:cNvPr id="14" name="Shape 10"/>
          <p:cNvSpPr/>
          <p:nvPr/>
        </p:nvSpPr>
        <p:spPr>
          <a:xfrm>
            <a:off x="457200" y="3086100"/>
            <a:ext cx="4000500" cy="1485900"/>
          </a:xfrm>
          <a:prstGeom prst="roundRect">
            <a:avLst>
              <a:gd name="adj" fmla="val 6154"/>
            </a:avLst>
          </a:prstGeom>
          <a:solidFill>
            <a:srgbClr val="FBEAE8"/>
          </a:solidFill>
          <a:ln w="12700">
            <a:solidFill>
              <a:srgbClr val="FBEAE8"/>
            </a:solidFill>
            <a:prstDash val="solid"/>
          </a:ln>
        </p:spPr>
      </p:sp>
      <p:sp>
        <p:nvSpPr>
          <p:cNvPr id="15" name="Shape 11"/>
          <p:cNvSpPr/>
          <p:nvPr/>
        </p:nvSpPr>
        <p:spPr>
          <a:xfrm>
            <a:off x="640080" y="3268980"/>
            <a:ext cx="457200" cy="457200"/>
          </a:xfrm>
          <a:prstGeom prst="ellipse">
            <a:avLst/>
          </a:prstGeom>
          <a:solidFill>
            <a:srgbClr val="C0392B"/>
          </a:solidFill>
          <a:ln w="12700">
            <a:solidFill>
              <a:srgbClr val="C0392B"/>
            </a:solidFill>
            <a:prstDash val="solid"/>
          </a:ln>
        </p:spPr>
      </p:sp>
      <p:pic>
        <p:nvPicPr>
          <p:cNvPr id="16" name="Image 2" descr="preencoded.png">    </p:cNvPr>
          <p:cNvPicPr>
            <a:picLocks noChangeAspect="1"/>
          </p:cNvPicPr>
          <p:nvPr/>
        </p:nvPicPr>
        <p:blipFill>
          <a:blip r:embed="rId3"/>
          <a:stretch>
            <a:fillRect/>
          </a:stretch>
        </p:blipFill>
        <p:spPr>
          <a:xfrm>
            <a:off x="758952" y="3387852"/>
            <a:ext cx="219456" cy="219456"/>
          </a:xfrm>
          <a:prstGeom prst="rect">
            <a:avLst/>
          </a:prstGeom>
        </p:spPr>
      </p:pic>
      <p:sp>
        <p:nvSpPr>
          <p:cNvPr id="17" name="Text 12"/>
          <p:cNvSpPr txBox="1"/>
          <p:nvPr/>
        </p:nvSpPr>
        <p:spPr>
          <a:xfrm>
            <a:off x="12344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Không dùng để kỷ luật</a:t>
            </a:r>
            <a:endParaRPr lang="en-US" sz="1400" dirty="0"/>
          </a:p>
        </p:txBody>
      </p:sp>
      <p:sp>
        <p:nvSpPr>
          <p:cNvPr id="18" name="Text 13"/>
          <p:cNvSpPr txBox="1"/>
          <p:nvPr/>
        </p:nvSpPr>
        <p:spPr>
          <a:xfrm>
            <a:off x="12344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Điểm AI là </a:t>
            </a:r>
            <a:pPr indent="0" marL="0">
              <a:buNone/>
            </a:pPr>
            <a:r>
              <a:rPr lang="en-US" sz="1300" b="1" dirty="0">
                <a:solidFill>
                  <a:srgbClr val="1F2A30"/>
                </a:solidFill>
                <a:latin typeface="Calibri" pitchFamily="34" charset="0"/>
                <a:ea typeface="Calibri" pitchFamily="34" charset="-122"/>
                <a:cs typeface="Calibri" pitchFamily="34" charset="-120"/>
              </a:rPr>
              <a:t>gợi ý sơ bộ</a:t>
            </a:r>
            <a:pPr indent="0" marL="0">
              <a:buNone/>
            </a:pPr>
            <a:r>
              <a:rPr lang="en-US" sz="1300" dirty="0">
                <a:solidFill>
                  <a:srgbClr val="1F2A30"/>
                </a:solidFill>
                <a:latin typeface="Calibri" pitchFamily="34" charset="0"/>
                <a:ea typeface="Calibri" pitchFamily="34" charset="-122"/>
                <a:cs typeface="Calibri" pitchFamily="34" charset="-120"/>
              </a:rPr>
              <a:t>. Đánh giá chính thức phải do QA hoặc Team Leader xác nhận.</a:t>
            </a:r>
            <a:endParaRPr lang="en-US" sz="1300" dirty="0"/>
          </a:p>
        </p:txBody>
      </p:sp>
      <p:sp>
        <p:nvSpPr>
          <p:cNvPr id="19" name="Shape 14"/>
          <p:cNvSpPr/>
          <p:nvPr/>
        </p:nvSpPr>
        <p:spPr>
          <a:xfrm>
            <a:off x="4686300" y="3086100"/>
            <a:ext cx="4000500" cy="1485900"/>
          </a:xfrm>
          <a:prstGeom prst="roundRect">
            <a:avLst>
              <a:gd name="adj" fmla="val 6154"/>
            </a:avLst>
          </a:prstGeom>
          <a:solidFill>
            <a:srgbClr val="FBEAE8"/>
          </a:solidFill>
          <a:ln w="12700">
            <a:solidFill>
              <a:srgbClr val="FBEAE8"/>
            </a:solidFill>
            <a:prstDash val="solid"/>
          </a:ln>
        </p:spPr>
      </p:sp>
      <p:sp>
        <p:nvSpPr>
          <p:cNvPr id="20" name="Shape 15"/>
          <p:cNvSpPr/>
          <p:nvPr/>
        </p:nvSpPr>
        <p:spPr>
          <a:xfrm>
            <a:off x="4869180" y="3268980"/>
            <a:ext cx="457200" cy="457200"/>
          </a:xfrm>
          <a:prstGeom prst="ellipse">
            <a:avLst/>
          </a:prstGeom>
          <a:solidFill>
            <a:srgbClr val="C0392B"/>
          </a:solidFill>
          <a:ln w="12700">
            <a:solidFill>
              <a:srgbClr val="C0392B"/>
            </a:solidFill>
            <a:prstDash val="solid"/>
          </a:ln>
        </p:spPr>
      </p:sp>
      <p:pic>
        <p:nvPicPr>
          <p:cNvPr id="21" name="Image 3" descr="preencoded.png">    </p:cNvPr>
          <p:cNvPicPr>
            <a:picLocks noChangeAspect="1"/>
          </p:cNvPicPr>
          <p:nvPr/>
        </p:nvPicPr>
        <p:blipFill>
          <a:blip r:embed="rId4"/>
          <a:stretch>
            <a:fillRect/>
          </a:stretch>
        </p:blipFill>
        <p:spPr>
          <a:xfrm>
            <a:off x="4988052" y="3387852"/>
            <a:ext cx="219456" cy="219456"/>
          </a:xfrm>
          <a:prstGeom prst="rect">
            <a:avLst/>
          </a:prstGeom>
        </p:spPr>
      </p:pic>
      <p:sp>
        <p:nvSpPr>
          <p:cNvPr id="22" name="Text 16"/>
          <p:cNvSpPr txBox="1"/>
          <p:nvPr/>
        </p:nvSpPr>
        <p:spPr>
          <a:xfrm>
            <a:off x="54635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Bảo mật hai chiều</a:t>
            </a:r>
            <a:endParaRPr lang="en-US" sz="1400" dirty="0"/>
          </a:p>
        </p:txBody>
      </p:sp>
      <p:sp>
        <p:nvSpPr>
          <p:cNvPr id="23" name="Text 17"/>
          <p:cNvSpPr txBox="1"/>
          <p:nvPr/>
        </p:nvSpPr>
        <p:spPr>
          <a:xfrm>
            <a:off x="54635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Transcript có dữ liệu khách </a:t>
            </a:r>
            <a:pPr indent="0" marL="0">
              <a:buNone/>
            </a:pPr>
            <a:r>
              <a:rPr lang="en-US" sz="1300" b="1" dirty="0">
                <a:solidFill>
                  <a:srgbClr val="1F2A30"/>
                </a:solidFill>
                <a:latin typeface="Calibri" pitchFamily="34" charset="0"/>
                <a:ea typeface="Calibri" pitchFamily="34" charset="-122"/>
                <a:cs typeface="Calibri" pitchFamily="34" charset="-120"/>
              </a:rPr>
              <a:t>và</a:t>
            </a:r>
            <a:pPr indent="0" marL="0">
              <a:buNone/>
            </a:pPr>
            <a:r>
              <a:rPr lang="en-US" sz="1300" dirty="0">
                <a:solidFill>
                  <a:srgbClr val="1F2A30"/>
                </a:solidFill>
                <a:latin typeface="Calibri" pitchFamily="34" charset="0"/>
                <a:ea typeface="Calibri" pitchFamily="34" charset="-122"/>
                <a:cs typeface="Calibri" pitchFamily="34" charset="-120"/>
              </a:rPr>
              <a:t> nhân viên. Che trước khi dán, chỉ dùng công cụ được phép.</a:t>
            </a:r>
            <a:endParaRPr lang="en-US" sz="1300" dirty="0"/>
          </a:p>
        </p:txBody>
      </p:sp>
      <p:sp>
        <p:nvSpPr>
          <p:cNvPr id="24"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25"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 CÂU 1</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Vì sao nên đưa </a:t>
            </a:r>
            <a:pPr indent="0" marL="0">
              <a:buNone/>
            </a:pPr>
            <a:r>
              <a:rPr lang="en-US" sz="2100" b="1" dirty="0">
                <a:solidFill>
                  <a:srgbClr val="0B3B45"/>
                </a:solidFill>
                <a:latin typeface="Cambria" pitchFamily="34" charset="0"/>
                <a:ea typeface="Cambria" pitchFamily="34" charset="-122"/>
                <a:cs typeface="Cambria" pitchFamily="34" charset="-120"/>
              </a:rPr>
              <a:t>danh sách nhãn cố định</a:t>
            </a:r>
            <a:pPr indent="0" marL="0">
              <a:buNone/>
            </a:pPr>
            <a:r>
              <a:rPr lang="en-US" sz="2100" b="1" dirty="0">
                <a:solidFill>
                  <a:srgbClr val="0B3B45"/>
                </a:solidFill>
                <a:latin typeface="Cambria" pitchFamily="34" charset="0"/>
                <a:ea typeface="Cambria" pitchFamily="34" charset="-122"/>
                <a:cs typeface="Cambria" pitchFamily="34" charset="-120"/>
              </a:rPr>
              <a:t> khi nhờ AI phân loại ticket?</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Để AI trả lời nhanh hơn</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Để kết quả nhất quán, so sánh được giữa các ca và các ngày</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Vì AI không tự nghĩ được nhãn</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Để khỏi phải kiểm lại kết quả</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 CÂU 2</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Ticket: "Cảm ơn shop nhiều nha, lần thứ ba giao nhầm màu rồi đó." Nhãn cảm xúc hợp lý nhất?</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Tích cực, vì khách nói "cảm ơn"</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Trung tính</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Tiêu cực (bực bội hoặc rất giận), vì đây là câu mỉa mai</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Không phân loại được</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 CÂU 3</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Khi nhờ AI chấm QA cuộc gọi, yêu cầu nào giúp bạn </a:t>
            </a:r>
            <a:pPr indent="0" marL="0">
              <a:buNone/>
            </a:pPr>
            <a:r>
              <a:rPr lang="en-US" sz="2100" b="1" dirty="0">
                <a:solidFill>
                  <a:srgbClr val="0B3B45"/>
                </a:solidFill>
                <a:latin typeface="Cambria" pitchFamily="34" charset="0"/>
                <a:ea typeface="Cambria" pitchFamily="34" charset="-122"/>
                <a:cs typeface="Cambria" pitchFamily="34" charset="-120"/>
              </a:rPr>
              <a:t>kiểm chứng</a:t>
            </a:r>
            <a:pPr indent="0" marL="0">
              <a:buNone/>
            </a:pPr>
            <a:r>
              <a:rPr lang="en-US" sz="2100" b="1" dirty="0">
                <a:solidFill>
                  <a:srgbClr val="0B3B45"/>
                </a:solidFill>
                <a:latin typeface="Cambria" pitchFamily="34" charset="0"/>
                <a:ea typeface="Cambria" pitchFamily="34" charset="-122"/>
                <a:cs typeface="Cambria" pitchFamily="34" charset="-120"/>
              </a:rPr>
              <a:t> kết quả dễ nhất?</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Yêu cầu AI chấm thật nhanh</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Yêu cầu AI chỉ cho tổng điểm</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Mỗi tiêu chí kèm </a:t>
            </a:r>
            <a:pPr indent="0" marL="0">
              <a:buNone/>
            </a:pPr>
            <a:r>
              <a:rPr lang="en-US" sz="1450" b="1" dirty="0">
                <a:solidFill>
                  <a:srgbClr val="1F2A30"/>
                </a:solidFill>
                <a:latin typeface="Calibri" pitchFamily="34" charset="0"/>
                <a:ea typeface="Calibri" pitchFamily="34" charset="-122"/>
                <a:cs typeface="Calibri" pitchFamily="34" charset="-120"/>
              </a:rPr>
              <a:t>dẫn chứng là câu nguyên văn</a:t>
            </a:r>
            <a:pPr indent="0" marL="0">
              <a:buNone/>
            </a:pPr>
            <a:r>
              <a:rPr lang="en-US" sz="1450" dirty="0">
                <a:solidFill>
                  <a:srgbClr val="1F2A30"/>
                </a:solidFill>
                <a:latin typeface="Calibri" pitchFamily="34" charset="0"/>
                <a:ea typeface="Calibri" pitchFamily="34" charset="-122"/>
                <a:cs typeface="Calibri" pitchFamily="34" charset="-120"/>
              </a:rPr>
              <a:t> trong transcript</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Yêu cầu AI chấm theo cảm nhận chung</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04</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BUỔI 4 · BÀI 4 &amp; 5</a:t>
            </a:r>
            <a:endParaRPr lang="en-US" sz="1200" dirty="0"/>
          </a:p>
        </p:txBody>
      </p:sp>
      <p:sp>
        <p:nvSpPr>
          <p:cNvPr id="4" name="Text 2"/>
          <p:cNvSpPr txBox="1"/>
          <p:nvPr/>
        </p:nvSpPr>
        <p:spPr>
          <a:xfrm>
            <a:off x="548640" y="2468880"/>
            <a:ext cx="6583680" cy="105156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Roleplay đào tạo &amp; công cụ hằng ngày</a:t>
            </a:r>
            <a:endParaRPr lang="en-US" sz="2600" dirty="0"/>
          </a:p>
        </p:txBody>
      </p:sp>
      <p:sp>
        <p:nvSpPr>
          <p:cNvPr id="5" name="Text 3"/>
          <p:cNvSpPr txBox="1"/>
          <p:nvPr/>
        </p:nvSpPr>
        <p:spPr>
          <a:xfrm>
            <a:off x="548640" y="361188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AI đóng vai khách khó bao nhiêu lần cũng được, và AI tích hợp sẵn giúp làm báo cáo ca trong vài phút.</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ROLEPLAY AI</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Một prompt roleplay tốt cần gì?</a:t>
            </a:r>
            <a:endParaRPr lang="en-US" sz="2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920240"/>
                <a:gridCol w="2286000"/>
                <a:gridCol w="4023360"/>
              </a:tblGrid>
              <a:tr h="398417">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Thành phần</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Mục đích</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Ví dụ</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98417">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Nhân vật khách</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Tính cách, tâm trạng, hoàn cảnh</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Chị Hoa, 38 tuổi, quà sinh nhật con giao trễ 5 ngày</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Dữ kiện chính sách</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Để AI không tự bịa</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Trễ trên 3 ngày được voucher 50.000đ</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98417">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Luật chơi</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Giữ AI trong vai</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Chỉ nói như khách, không gợi ý cho agent</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Độ khó</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Tăng dần theo trình độ</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Mức 1: bực nhẹ. Mức 3: dọa review 1 sao</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98417">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Điều kiện kết thúc</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Biết khi nào dừng</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Khách dịu lại nếu agent đồng cảm, giải pháp rõ</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Chấm điểm</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Học từ phiên tập</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Gõ "KẾT THÚC": chấm theo LEAST, trích câu bằng chứng</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6" name="Text 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MỘT LƯỢT TẬP</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Chị Hoa: "Tôi gọi lần hai rồi đấy! Mai là sinh nhật rồi!"</a:t>
            </a:r>
            <a:endParaRPr lang="en-US" sz="2500" dirty="0"/>
          </a:p>
        </p:txBody>
      </p:sp>
      <p:sp>
        <p:nvSpPr>
          <p:cNvPr id="4" name="Shape 2"/>
          <p:cNvSpPr/>
          <p:nvPr/>
        </p:nvSpPr>
        <p:spPr>
          <a:xfrm>
            <a:off x="457200" y="1371600"/>
            <a:ext cx="3977640" cy="2697480"/>
          </a:xfrm>
          <a:prstGeom prst="roundRect">
            <a:avLst>
              <a:gd name="adj" fmla="val 3390"/>
            </a:avLst>
          </a:prstGeom>
          <a:solidFill>
            <a:srgbClr val="FBEAE8"/>
          </a:solidFill>
          <a:ln w="12700">
            <a:solidFill>
              <a:srgbClr val="FBEAE8"/>
            </a:solidFill>
            <a:prstDash val="solid"/>
          </a:ln>
        </p:spPr>
      </p:sp>
      <p:sp>
        <p:nvSpPr>
          <p:cNvPr id="5" name="Shape 3"/>
          <p:cNvSpPr/>
          <p:nvPr/>
        </p:nvSpPr>
        <p:spPr>
          <a:xfrm>
            <a:off x="658368" y="1554480"/>
            <a:ext cx="420624" cy="420624"/>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67730" y="1663842"/>
            <a:ext cx="201900" cy="201900"/>
          </a:xfrm>
          <a:prstGeom prst="rect">
            <a:avLst/>
          </a:prstGeom>
        </p:spPr>
      </p:pic>
      <p:sp>
        <p:nvSpPr>
          <p:cNvPr id="7" name="Text 4"/>
          <p:cNvSpPr txBox="1"/>
          <p:nvPr/>
        </p:nvSpPr>
        <p:spPr>
          <a:xfrm>
            <a:off x="1188720" y="1554480"/>
            <a:ext cx="3063240" cy="420624"/>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Vào thẳng thủ tục</a:t>
            </a:r>
            <a:endParaRPr lang="en-US" sz="1450" dirty="0"/>
          </a:p>
        </p:txBody>
      </p:sp>
      <p:sp>
        <p:nvSpPr>
          <p:cNvPr id="8" name="Text 5"/>
          <p:cNvSpPr txBox="1"/>
          <p:nvPr/>
        </p:nvSpPr>
        <p:spPr>
          <a:xfrm>
            <a:off x="68580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"Dạ chị cho em mã đơn để em kiểm tra ạ."</a:t>
            </a:r>
            <a:endParaRPr lang="en-US" sz="1400" dirty="0"/>
          </a:p>
          <a:p>
            <a:pPr indent="0" marL="0">
              <a:buNone/>
            </a:pP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Bỏ qua </a:t>
            </a:r>
            <a:endParaRPr lang="en-US" sz="1400" dirty="0"/>
          </a:p>
          <a:p>
            <a:pPr indent="0" marL="0">
              <a:buNone/>
            </a:pPr>
            <a:r>
              <a:rPr lang="en-US" sz="1400" b="1" dirty="0">
                <a:solidFill>
                  <a:srgbClr val="1F2A30"/>
                </a:solidFill>
                <a:latin typeface="Calibri" pitchFamily="34" charset="0"/>
                <a:ea typeface="Calibri" pitchFamily="34" charset="-122"/>
                <a:cs typeface="Calibri" pitchFamily="34" charset="-120"/>
              </a:rPr>
              <a:t>Listen</a:t>
            </a:r>
            <a:pPr indent="0" marL="0">
              <a:buNone/>
            </a:pPr>
            <a:r>
              <a:rPr lang="en-US" sz="1400" dirty="0">
                <a:solidFill>
                  <a:srgbClr val="1F2A30"/>
                </a:solidFill>
                <a:latin typeface="Calibri" pitchFamily="34" charset="0"/>
                <a:ea typeface="Calibri" pitchFamily="34" charset="-122"/>
                <a:cs typeface="Calibri" pitchFamily="34" charset="-120"/>
              </a:rPr>
              <a:t> và </a:t>
            </a:r>
            <a:pPr indent="0" marL="0">
              <a:buNone/>
            </a:pPr>
            <a:r>
              <a:rPr lang="en-US" sz="1400" b="1" dirty="0">
                <a:solidFill>
                  <a:srgbClr val="1F2A30"/>
                </a:solidFill>
                <a:latin typeface="Calibri" pitchFamily="34" charset="0"/>
                <a:ea typeface="Calibri" pitchFamily="34" charset="-122"/>
                <a:cs typeface="Calibri" pitchFamily="34" charset="-120"/>
              </a:rPr>
              <a:t>Empathize</a:t>
            </a:r>
            <a:pPr indent="0" marL="0">
              <a:buNone/>
            </a:pPr>
            <a:r>
              <a:rPr lang="en-US" sz="1400" dirty="0">
                <a:solidFill>
                  <a:srgbClr val="1F2A30"/>
                </a:solidFill>
                <a:latin typeface="Calibri" pitchFamily="34" charset="0"/>
                <a:ea typeface="Calibri" pitchFamily="34" charset="-122"/>
                <a:cs typeface="Calibri" pitchFamily="34" charset="-120"/>
              </a:rPr>
              <a:t>, khách dễ nổi nóng hơn.</a:t>
            </a:r>
            <a:endParaRPr lang="en-US" sz="1400" dirty="0"/>
          </a:p>
        </p:txBody>
      </p:sp>
      <p:sp>
        <p:nvSpPr>
          <p:cNvPr id="9" name="Shape 6"/>
          <p:cNvSpPr/>
          <p:nvPr/>
        </p:nvSpPr>
        <p:spPr>
          <a:xfrm>
            <a:off x="4709160" y="1371600"/>
            <a:ext cx="3977640" cy="2697480"/>
          </a:xfrm>
          <a:prstGeom prst="roundRect">
            <a:avLst>
              <a:gd name="adj" fmla="val 3390"/>
            </a:avLst>
          </a:prstGeom>
          <a:solidFill>
            <a:srgbClr val="E8F3F1"/>
          </a:solidFill>
          <a:ln w="12700">
            <a:solidFill>
              <a:srgbClr val="E8F3F1"/>
            </a:solidFill>
            <a:prstDash val="solid"/>
          </a:ln>
        </p:spPr>
      </p:sp>
      <p:sp>
        <p:nvSpPr>
          <p:cNvPr id="10" name="Shape 7"/>
          <p:cNvSpPr/>
          <p:nvPr/>
        </p:nvSpPr>
        <p:spPr>
          <a:xfrm>
            <a:off x="4910328" y="1554480"/>
            <a:ext cx="420624" cy="420624"/>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19690" y="1663842"/>
            <a:ext cx="201900" cy="201900"/>
          </a:xfrm>
          <a:prstGeom prst="rect">
            <a:avLst/>
          </a:prstGeom>
        </p:spPr>
      </p:pic>
      <p:sp>
        <p:nvSpPr>
          <p:cNvPr id="12" name="Text 8"/>
          <p:cNvSpPr txBox="1"/>
          <p:nvPr/>
        </p:nvSpPr>
        <p:spPr>
          <a:xfrm>
            <a:off x="5440680" y="1554480"/>
            <a:ext cx="3063240" cy="420624"/>
          </a:xfrm>
          <a:prstGeom prst="rect">
            <a:avLst/>
          </a:prstGeom>
          <a:noFill/>
          <a:ln/>
        </p:spPr>
        <p:txBody>
          <a:bodyPr wrap="square" lIns="0" tIns="0" rIns="0" bIns="0" rtlCol="0" anchor="ctr"/>
          <a:lstStyle/>
          <a:p>
            <a:pPr indent="0" marL="0">
              <a:buNone/>
            </a:pPr>
            <a:r>
              <a:rPr lang="en-US" sz="1450" b="1" dirty="0">
                <a:solidFill>
                  <a:srgbClr val="0E7C7B"/>
                </a:solidFill>
                <a:latin typeface="Calibri" pitchFamily="34" charset="0"/>
                <a:ea typeface="Calibri" pitchFamily="34" charset="-122"/>
                <a:cs typeface="Calibri" pitchFamily="34" charset="-120"/>
              </a:rPr>
              <a:t>Nghe, đồng cảm, xin lỗi trước</a:t>
            </a:r>
            <a:endParaRPr lang="en-US" sz="1450" dirty="0"/>
          </a:p>
        </p:txBody>
      </p:sp>
      <p:sp>
        <p:nvSpPr>
          <p:cNvPr id="13" name="Text 9"/>
          <p:cNvSpPr txBox="1"/>
          <p:nvPr/>
        </p:nvSpPr>
        <p:spPr>
          <a:xfrm>
            <a:off x="493776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"Dạ em nghe chị ạ. Quà sinh nhật cho bé mà trễ tới 5 ngày, lại phải gọi lần hai, em hiểu chị đang rất sốt ruột. Em xin lỗi chị. Chị cho em xin mã đơn, em kiểm tra ngay và nói rõ phương án trong cuộc gọi này luôn ạ."</a:t>
            </a:r>
            <a:endParaRPr lang="en-US" sz="1400" dirty="0"/>
          </a:p>
        </p:txBody>
      </p:sp>
      <p:sp>
        <p:nvSpPr>
          <p:cNvPr id="14" name="Shape 10"/>
          <p:cNvSpPr/>
          <p:nvPr/>
        </p:nvSpPr>
        <p:spPr>
          <a:xfrm>
            <a:off x="457200" y="4206240"/>
            <a:ext cx="347472" cy="347472"/>
          </a:xfrm>
          <a:prstGeom prst="ellipse">
            <a:avLst/>
          </a:prstGeom>
          <a:solidFill>
            <a:srgbClr val="F2994A"/>
          </a:solidFill>
          <a:ln w="12700">
            <a:solidFill>
              <a:srgbClr val="F2994A"/>
            </a:solidFill>
            <a:prstDash val="solid"/>
          </a:ln>
        </p:spPr>
      </p:sp>
      <p:pic>
        <p:nvPicPr>
          <p:cNvPr id="15" name="Image 2" descr="preencoded.png">    </p:cNvPr>
          <p:cNvPicPr>
            <a:picLocks noChangeAspect="1"/>
          </p:cNvPicPr>
          <p:nvPr/>
        </p:nvPicPr>
        <p:blipFill>
          <a:blip r:embed="rId3"/>
          <a:stretch>
            <a:fillRect/>
          </a:stretch>
        </p:blipFill>
        <p:spPr>
          <a:xfrm>
            <a:off x="547543" y="4296583"/>
            <a:ext cx="166787" cy="166787"/>
          </a:xfrm>
          <a:prstGeom prst="rect">
            <a:avLst/>
          </a:prstGeom>
        </p:spPr>
      </p:pic>
      <p:sp>
        <p:nvSpPr>
          <p:cNvPr id="16" name="Text 11"/>
          <p:cNvSpPr txBox="1"/>
          <p:nvPr/>
        </p:nvSpPr>
        <p:spPr>
          <a:xfrm>
            <a:off x="914400" y="4160520"/>
            <a:ext cx="7772400" cy="438912"/>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Tổ chức nhóm: </a:t>
            </a:r>
            <a:pPr indent="0" marL="0">
              <a:buNone/>
            </a:pPr>
            <a:r>
              <a:rPr lang="en-US" sz="1200" b="1" dirty="0">
                <a:solidFill>
                  <a:srgbClr val="1F2A30"/>
                </a:solidFill>
                <a:latin typeface="Calibri" pitchFamily="34" charset="0"/>
                <a:ea typeface="Calibri" pitchFamily="34" charset="-122"/>
                <a:cs typeface="Calibri" pitchFamily="34" charset="-120"/>
              </a:rPr>
              <a:t>tuần 1</a:t>
            </a:r>
            <a:pPr indent="0" marL="0">
              <a:buNone/>
            </a:pPr>
            <a:r>
              <a:rPr lang="en-US" sz="1200" dirty="0">
                <a:solidFill>
                  <a:srgbClr val="1F2A30"/>
                </a:solidFill>
                <a:latin typeface="Calibri" pitchFamily="34" charset="0"/>
                <a:ea typeface="Calibri" pitchFamily="34" charset="-122"/>
                <a:cs typeface="Calibri" pitchFamily="34" charset="-120"/>
              </a:rPr>
              <a:t> mức 1 với 3 tình huống phổ biến, </a:t>
            </a:r>
            <a:pPr indent="0" marL="0">
              <a:buNone/>
            </a:pPr>
            <a:r>
              <a:rPr lang="en-US" sz="1200" b="1" dirty="0">
                <a:solidFill>
                  <a:srgbClr val="1F2A30"/>
                </a:solidFill>
                <a:latin typeface="Calibri" pitchFamily="34" charset="0"/>
                <a:ea typeface="Calibri" pitchFamily="34" charset="-122"/>
                <a:cs typeface="Calibri" pitchFamily="34" charset="-120"/>
              </a:rPr>
              <a:t>tuần 2</a:t>
            </a:r>
            <a:pPr indent="0" marL="0">
              <a:buNone/>
            </a:pPr>
            <a:r>
              <a:rPr lang="en-US" sz="1200" dirty="0">
                <a:solidFill>
                  <a:srgbClr val="1F2A30"/>
                </a:solidFill>
                <a:latin typeface="Calibri" pitchFamily="34" charset="0"/>
                <a:ea typeface="Calibri" pitchFamily="34" charset="-122"/>
                <a:cs typeface="Calibri" pitchFamily="34" charset="-120"/>
              </a:rPr>
              <a:t> mức 2–3; lưu phiếu chấm, so điểm qua các lần tập.</a:t>
            </a:r>
            <a:endParaRPr lang="en-US" sz="1200" dirty="0"/>
          </a:p>
        </p:txBody>
      </p:sp>
      <p:sp>
        <p:nvSpPr>
          <p:cNvPr id="17"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18"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CÔNG CỤ AI DÙNG HẰNG NGÀY</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AI tích hợp sẵn: bớt copy qua lại</a:t>
            </a:r>
            <a:endParaRPr lang="en-US" sz="2500" dirty="0"/>
          </a:p>
        </p:txBody>
      </p:sp>
      <p:sp>
        <p:nvSpPr>
          <p:cNvPr id="4" name="Text 2"/>
          <p:cNvSpPr txBox="1"/>
          <p:nvPr/>
        </p:nvSpPr>
        <p:spPr>
          <a:xfrm>
            <a:off x="457200" y="1280160"/>
            <a:ext cx="8229600" cy="411480"/>
          </a:xfrm>
          <a:prstGeom prst="rect">
            <a:avLst/>
          </a:prstGeom>
          <a:noFill/>
          <a:ln/>
        </p:spPr>
        <p:txBody>
          <a:bodyPr wrap="square" lIns="0" tIns="0" rIns="0" bIns="0" rtlCol="0" anchor="ctr"/>
          <a:lstStyle/>
          <a:p>
            <a:pPr indent="0" marL="0">
              <a:buNone/>
            </a:pPr>
            <a:r>
              <a:rPr lang="en-US" sz="1300" dirty="0">
                <a:solidFill>
                  <a:srgbClr val="5B6B73"/>
                </a:solidFill>
                <a:latin typeface="Calibri" pitchFamily="34" charset="0"/>
                <a:ea typeface="Calibri" pitchFamily="34" charset="-122"/>
                <a:cs typeface="Calibri" pitchFamily="34" charset="-120"/>
              </a:rPr>
              <a:t>Tính năng </a:t>
            </a:r>
            <a:pPr indent="0" marL="0">
              <a:buNone/>
            </a:pPr>
            <a:r>
              <a:rPr lang="en-US" sz="1300" b="1" dirty="0">
                <a:solidFill>
                  <a:srgbClr val="5B6B73"/>
                </a:solidFill>
                <a:latin typeface="Calibri" pitchFamily="34" charset="0"/>
                <a:ea typeface="Calibri" pitchFamily="34" charset="-122"/>
                <a:cs typeface="Calibri" pitchFamily="34" charset="-120"/>
              </a:rPr>
              <a:t>phụ thuộc gói bản quyền</a:t>
            </a:r>
            <a:pPr indent="0" marL="0">
              <a:buNone/>
            </a:pPr>
            <a:r>
              <a:rPr lang="en-US" sz="1300" dirty="0">
                <a:solidFill>
                  <a:srgbClr val="5B6B73"/>
                </a:solidFill>
                <a:latin typeface="Calibri" pitchFamily="34" charset="0"/>
                <a:ea typeface="Calibri" pitchFamily="34" charset="-122"/>
                <a:cs typeface="Calibri" pitchFamily="34" charset="-120"/>
              </a:rPr>
              <a:t> và thay đổi thường xuyên: hỏi IT, kiểm tra trang chính thức, tuân thủ quy định công ty.</a:t>
            </a:r>
            <a:endParaRPr lang="en-US" sz="1300" dirty="0"/>
          </a:p>
        </p:txBody>
      </p:sp>
      <p:sp>
        <p:nvSpPr>
          <p:cNvPr id="5" name="Shape 3"/>
          <p:cNvSpPr/>
          <p:nvPr/>
        </p:nvSpPr>
        <p:spPr>
          <a:xfrm>
            <a:off x="457200" y="1783080"/>
            <a:ext cx="2590800" cy="2788920"/>
          </a:xfrm>
          <a:prstGeom prst="roundRect">
            <a:avLst>
              <a:gd name="adj" fmla="val 3529"/>
            </a:avLst>
          </a:prstGeom>
          <a:solidFill>
            <a:srgbClr val="E8F3F1"/>
          </a:solidFill>
          <a:ln w="12700">
            <a:solidFill>
              <a:srgbClr val="E8F3F1"/>
            </a:solidFill>
            <a:prstDash val="solid"/>
          </a:ln>
        </p:spPr>
      </p:sp>
      <p:sp>
        <p:nvSpPr>
          <p:cNvPr id="6" name="Shape 4"/>
          <p:cNvSpPr/>
          <p:nvPr/>
        </p:nvSpPr>
        <p:spPr>
          <a:xfrm>
            <a:off x="658368" y="1984248"/>
            <a:ext cx="475488" cy="475488"/>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81995" y="2107875"/>
            <a:ext cx="228234" cy="228234"/>
          </a:xfrm>
          <a:prstGeom prst="rect">
            <a:avLst/>
          </a:prstGeom>
        </p:spPr>
      </p:pic>
      <p:sp>
        <p:nvSpPr>
          <p:cNvPr id="8" name="Text 5"/>
          <p:cNvSpPr txBox="1"/>
          <p:nvPr/>
        </p:nvSpPr>
        <p:spPr>
          <a:xfrm>
            <a:off x="658368" y="256032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Gemini trong Gmail</a:t>
            </a:r>
            <a:endParaRPr lang="en-US" sz="1450" dirty="0"/>
          </a:p>
        </p:txBody>
      </p:sp>
      <p:sp>
        <p:nvSpPr>
          <p:cNvPr id="9" name="Text 6"/>
          <p:cNvSpPr txBox="1"/>
          <p:nvPr/>
        </p:nvSpPr>
        <p:spPr>
          <a:xfrm>
            <a:off x="658368" y="2999232"/>
            <a:ext cx="2188464" cy="146304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Viết nháp email từ một câu mô tả, chỉnh giọng văn; </a:t>
            </a:r>
            <a:pPr indent="0" marL="0">
              <a:buNone/>
            </a:pPr>
            <a:r>
              <a:rPr lang="en-US" sz="1400" b="1" dirty="0">
                <a:solidFill>
                  <a:srgbClr val="1F2A30"/>
                </a:solidFill>
                <a:latin typeface="Calibri" pitchFamily="34" charset="0"/>
                <a:ea typeface="Calibri" pitchFamily="34" charset="-122"/>
                <a:cs typeface="Calibri" pitchFamily="34" charset="-120"/>
              </a:rPr>
              <a:t>tóm tắt chuỗi email dài</a:t>
            </a:r>
            <a:pPr indent="0" marL="0">
              <a:buNone/>
            </a:pPr>
            <a:r>
              <a:rPr lang="en-US" sz="1400" dirty="0">
                <a:solidFill>
                  <a:srgbClr val="1F2A30"/>
                </a:solidFill>
                <a:latin typeface="Calibri" pitchFamily="34" charset="0"/>
                <a:ea typeface="Calibri" pitchFamily="34" charset="-122"/>
                <a:cs typeface="Calibri" pitchFamily="34" charset="-120"/>
              </a:rPr>
              <a:t>: khách yêu cầu gì, đã hứa gì, còn gì treo.</a:t>
            </a:r>
            <a:endParaRPr lang="en-US" sz="1400" dirty="0"/>
          </a:p>
        </p:txBody>
      </p:sp>
      <p:sp>
        <p:nvSpPr>
          <p:cNvPr id="10" name="Shape 7"/>
          <p:cNvSpPr/>
          <p:nvPr/>
        </p:nvSpPr>
        <p:spPr>
          <a:xfrm>
            <a:off x="3276600" y="1783080"/>
            <a:ext cx="2590800" cy="2788920"/>
          </a:xfrm>
          <a:prstGeom prst="roundRect">
            <a:avLst>
              <a:gd name="adj" fmla="val 3529"/>
            </a:avLst>
          </a:prstGeom>
          <a:solidFill>
            <a:srgbClr val="E8F3F1"/>
          </a:solidFill>
          <a:ln w="12700">
            <a:solidFill>
              <a:srgbClr val="E8F3F1"/>
            </a:solidFill>
            <a:prstDash val="solid"/>
          </a:ln>
        </p:spPr>
      </p:sp>
      <p:sp>
        <p:nvSpPr>
          <p:cNvPr id="11" name="Shape 8"/>
          <p:cNvSpPr/>
          <p:nvPr/>
        </p:nvSpPr>
        <p:spPr>
          <a:xfrm>
            <a:off x="3477768" y="1984248"/>
            <a:ext cx="475488" cy="475488"/>
          </a:xfrm>
          <a:prstGeom prst="ellipse">
            <a:avLst/>
          </a:prstGeom>
          <a:solidFill>
            <a:srgbClr val="0E7C7B"/>
          </a:solidFill>
          <a:ln w="12700">
            <a:solidFill>
              <a:srgbClr val="0E7C7B"/>
            </a:solidFill>
            <a:prstDash val="solid"/>
          </a:ln>
        </p:spPr>
      </p:sp>
      <p:pic>
        <p:nvPicPr>
          <p:cNvPr id="12" name="Image 1" descr="preencoded.png">    </p:cNvPr>
          <p:cNvPicPr>
            <a:picLocks noChangeAspect="1"/>
          </p:cNvPicPr>
          <p:nvPr/>
        </p:nvPicPr>
        <p:blipFill>
          <a:blip r:embed="rId2"/>
          <a:stretch>
            <a:fillRect/>
          </a:stretch>
        </p:blipFill>
        <p:spPr>
          <a:xfrm>
            <a:off x="3601395" y="2107875"/>
            <a:ext cx="228234" cy="228234"/>
          </a:xfrm>
          <a:prstGeom prst="rect">
            <a:avLst/>
          </a:prstGeom>
        </p:spPr>
      </p:pic>
      <p:sp>
        <p:nvSpPr>
          <p:cNvPr id="13" name="Text 9"/>
          <p:cNvSpPr txBox="1"/>
          <p:nvPr/>
        </p:nvSpPr>
        <p:spPr>
          <a:xfrm>
            <a:off x="3477768" y="256032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Copilot Outlook &amp; Excel</a:t>
            </a:r>
            <a:endParaRPr lang="en-US" sz="1450" dirty="0"/>
          </a:p>
        </p:txBody>
      </p:sp>
      <p:sp>
        <p:nvSpPr>
          <p:cNvPr id="14" name="Text 10"/>
          <p:cNvSpPr txBox="1"/>
          <p:nvPr/>
        </p:nvSpPr>
        <p:spPr>
          <a:xfrm>
            <a:off x="3477768" y="2999232"/>
            <a:ext cx="2188464" cy="146304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Outlook: tóm tắt, soạn nháp, gợi ý giọng điệu. Excel: hỏi bằng lời "đếm ticket theo chủ đề", gợi ý công thức, PivotTable.</a:t>
            </a:r>
            <a:endParaRPr lang="en-US" sz="1400" dirty="0"/>
          </a:p>
        </p:txBody>
      </p:sp>
      <p:sp>
        <p:nvSpPr>
          <p:cNvPr id="15" name="Shape 11"/>
          <p:cNvSpPr/>
          <p:nvPr/>
        </p:nvSpPr>
        <p:spPr>
          <a:xfrm>
            <a:off x="6096000" y="1783080"/>
            <a:ext cx="2590800" cy="2788920"/>
          </a:xfrm>
          <a:prstGeom prst="roundRect">
            <a:avLst>
              <a:gd name="adj" fmla="val 3529"/>
            </a:avLst>
          </a:prstGeom>
          <a:solidFill>
            <a:srgbClr val="E8F3F1"/>
          </a:solidFill>
          <a:ln w="12700">
            <a:solidFill>
              <a:srgbClr val="E8F3F1"/>
            </a:solidFill>
            <a:prstDash val="solid"/>
          </a:ln>
        </p:spPr>
      </p:sp>
      <p:sp>
        <p:nvSpPr>
          <p:cNvPr id="16" name="Shape 12"/>
          <p:cNvSpPr/>
          <p:nvPr/>
        </p:nvSpPr>
        <p:spPr>
          <a:xfrm>
            <a:off x="6297168" y="1984248"/>
            <a:ext cx="475488" cy="475488"/>
          </a:xfrm>
          <a:prstGeom prst="ellipse">
            <a:avLst/>
          </a:prstGeom>
          <a:solidFill>
            <a:srgbClr val="F2994A"/>
          </a:solidFill>
          <a:ln w="12700">
            <a:solidFill>
              <a:srgbClr val="F2994A"/>
            </a:solidFill>
            <a:prstDash val="solid"/>
          </a:ln>
        </p:spPr>
      </p:sp>
      <p:pic>
        <p:nvPicPr>
          <p:cNvPr id="17" name="Image 2" descr="preencoded.png">    </p:cNvPr>
          <p:cNvPicPr>
            <a:picLocks noChangeAspect="1"/>
          </p:cNvPicPr>
          <p:nvPr/>
        </p:nvPicPr>
        <p:blipFill>
          <a:blip r:embed="rId3"/>
          <a:stretch>
            <a:fillRect/>
          </a:stretch>
        </p:blipFill>
        <p:spPr>
          <a:xfrm>
            <a:off x="6420795" y="2107875"/>
            <a:ext cx="228234" cy="228234"/>
          </a:xfrm>
          <a:prstGeom prst="rect">
            <a:avLst/>
          </a:prstGeom>
        </p:spPr>
      </p:pic>
      <p:sp>
        <p:nvSpPr>
          <p:cNvPr id="18" name="Text 13"/>
          <p:cNvSpPr txBox="1"/>
          <p:nvPr/>
        </p:nvSpPr>
        <p:spPr>
          <a:xfrm>
            <a:off x="6297168" y="256032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Gamma</a:t>
            </a:r>
            <a:endParaRPr lang="en-US" sz="1450" dirty="0"/>
          </a:p>
        </p:txBody>
      </p:sp>
      <p:sp>
        <p:nvSpPr>
          <p:cNvPr id="19" name="Text 14"/>
          <p:cNvSpPr txBox="1"/>
          <p:nvPr/>
        </p:nvSpPr>
        <p:spPr>
          <a:xfrm>
            <a:off x="6297168" y="2999232"/>
            <a:ext cx="2188464" cy="146304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Biến bảng Top 5 vấn đề thành </a:t>
            </a:r>
            <a:pPr indent="0" marL="0">
              <a:buNone/>
            </a:pPr>
            <a:r>
              <a:rPr lang="en-US" sz="1400" b="1" dirty="0">
                <a:solidFill>
                  <a:srgbClr val="1F2A30"/>
                </a:solidFill>
                <a:latin typeface="Calibri" pitchFamily="34" charset="0"/>
                <a:ea typeface="Calibri" pitchFamily="34" charset="-122"/>
                <a:cs typeface="Calibri" pitchFamily="34" charset="-120"/>
              </a:rPr>
              <a:t>báo cáo ca 5–6 slide</a:t>
            </a:r>
            <a:pPr indent="0" marL="0">
              <a:buNone/>
            </a:pPr>
            <a:r>
              <a:rPr lang="en-US" sz="1400" dirty="0">
                <a:solidFill>
                  <a:srgbClr val="1F2A30"/>
                </a:solidFill>
                <a:latin typeface="Calibri" pitchFamily="34" charset="0"/>
                <a:ea typeface="Calibri" pitchFamily="34" charset="-122"/>
                <a:cs typeface="Calibri" pitchFamily="34" charset="-120"/>
              </a:rPr>
              <a:t>. Gói miễn phí giới hạn lượt AI. </a:t>
            </a:r>
            <a:pPr indent="0" marL="0">
              <a:buNone/>
            </a:pPr>
            <a:r>
              <a:rPr lang="en-US" sz="1400" b="1" dirty="0">
                <a:solidFill>
                  <a:srgbClr val="1F2A30"/>
                </a:solidFill>
                <a:latin typeface="Calibri" pitchFamily="34" charset="0"/>
                <a:ea typeface="Calibri" pitchFamily="34" charset="-122"/>
                <a:cs typeface="Calibri" pitchFamily="34" charset="-120"/>
              </a:rPr>
              <a:t>Đối chiếu từng con số</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p:txBody>
      </p:sp>
      <p:sp>
        <p:nvSpPr>
          <p:cNvPr id="20" name="Text 15"/>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21" name="Text 16"/>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QUY TRÌNH CUỐI CA</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50 ticket thành Top 5 vấn đề trong khoảng 30 phút</a:t>
            </a:r>
            <a:endParaRPr lang="en-US" sz="25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640080"/>
                <a:gridCol w="3749040"/>
                <a:gridCol w="2560320"/>
                <a:gridCol w="1280160"/>
              </a:tblGrid>
              <a:tr h="398417">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Bước</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Việc</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Công cụ</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Thời gian</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1</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Xuất ticket trong ca, </a:t>
                      </a:r>
                      <a:pPr indent="0" marL="0">
                        <a:buNone/>
                      </a:pPr>
                      <a:r>
                        <a:rPr lang="en-US" sz="1250" b="1" dirty="0">
                          <a:solidFill>
                            <a:srgbClr val="1F2A30"/>
                          </a:solidFill>
                          <a:latin typeface="Calibri" pitchFamily="34" charset="0"/>
                          <a:ea typeface="Calibri" pitchFamily="34" charset="-122"/>
                          <a:cs typeface="Calibri" pitchFamily="34" charset="-120"/>
                        </a:rPr>
                        <a:t>che dữ liệu cá nhân</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CRM, Excel</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5 phút</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2</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Phân loại chủ đề, cảm xúc, churn, ưu tiên</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Trợ lý AI</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3 phút</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3</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Kiểm mẫu 20% và toàn bộ dòng P1</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Con người</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10 phút</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4</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Đếm, tạo biểu đồ</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Excel (có/không Copilot)</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5 phút</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5</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Lập Top 5 vấn đề kèm đề xuất</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Trợ lý AI</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2 phút</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6</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Dựng báo cáo ca</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Gamma hoặc PowerPoint</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5 phút</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Trước: đọc tay khoảng </a:t>
            </a:r>
            <a:pPr indent="0" marL="0">
              <a:buNone/>
            </a:pPr>
            <a:r>
              <a:rPr lang="en-US" sz="1250" b="1" i="1" dirty="0">
                <a:solidFill>
                  <a:srgbClr val="5B6B73"/>
                </a:solidFill>
                <a:latin typeface="Calibri" pitchFamily="34" charset="0"/>
                <a:ea typeface="Calibri" pitchFamily="34" charset="-122"/>
                <a:cs typeface="Calibri" pitchFamily="34" charset="-120"/>
              </a:rPr>
              <a:t>2 giờ</a:t>
            </a:r>
            <a:pPr indent="0" marL="0">
              <a:buNone/>
            </a:pPr>
            <a:r>
              <a:rPr lang="en-US" sz="1250" i="1" dirty="0">
                <a:solidFill>
                  <a:srgbClr val="5B6B73"/>
                </a:solidFill>
                <a:latin typeface="Calibri" pitchFamily="34" charset="0"/>
                <a:ea typeface="Calibri" pitchFamily="34" charset="-122"/>
                <a:cs typeface="Calibri" pitchFamily="34" charset="-120"/>
              </a:rPr>
              <a:t>. Sau: khoảng </a:t>
            </a:r>
            <a:pPr indent="0" marL="0">
              <a:buNone/>
            </a:pPr>
            <a:r>
              <a:rPr lang="en-US" sz="1250" b="1" i="1" dirty="0">
                <a:solidFill>
                  <a:srgbClr val="5B6B73"/>
                </a:solidFill>
                <a:latin typeface="Calibri" pitchFamily="34" charset="0"/>
                <a:ea typeface="Calibri" pitchFamily="34" charset="-122"/>
                <a:cs typeface="Calibri" pitchFamily="34" charset="-120"/>
              </a:rPr>
              <a:t>30 phút</a:t>
            </a:r>
            <a:pPr indent="0" marL="0">
              <a:buNone/>
            </a:pPr>
            <a:r>
              <a:rPr lang="en-US" sz="1250" i="1" dirty="0">
                <a:solidFill>
                  <a:srgbClr val="5B6B73"/>
                </a:solidFill>
                <a:latin typeface="Calibri" pitchFamily="34" charset="0"/>
                <a:ea typeface="Calibri" pitchFamily="34" charset="-122"/>
                <a:cs typeface="Calibri" pitchFamily="34" charset="-120"/>
              </a:rPr>
              <a:t>, có số liệu, bằng chứng, đề xuất. Đây là </a:t>
            </a:r>
            <a:pPr indent="0" marL="0">
              <a:buNone/>
            </a:pPr>
            <a:r>
              <a:rPr lang="en-US" sz="1250" b="1" i="1" dirty="0">
                <a:solidFill>
                  <a:srgbClr val="5B6B73"/>
                </a:solidFill>
                <a:latin typeface="Calibri" pitchFamily="34" charset="0"/>
                <a:ea typeface="Calibri" pitchFamily="34" charset="-122"/>
                <a:cs typeface="Calibri" pitchFamily="34" charset="-120"/>
              </a:rPr>
              <a:t>số liệu trước và sau</a:t>
            </a:r>
            <a:pPr indent="0" marL="0">
              <a:buNone/>
            </a:pPr>
            <a:r>
              <a:rPr lang="en-US" sz="1250" i="1" dirty="0">
                <a:solidFill>
                  <a:srgbClr val="5B6B73"/>
                </a:solidFill>
                <a:latin typeface="Calibri" pitchFamily="34" charset="0"/>
                <a:ea typeface="Calibri" pitchFamily="34" charset="-122"/>
                <a:cs typeface="Calibri" pitchFamily="34" charset="-120"/>
              </a:rPr>
              <a:t> cho sản phẩm cuối khóa.</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BÀI LAB · 15 PHÚT · PHẦN A</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Lab A · Roleplay 10 phút với khách khó</a:t>
            </a:r>
            <a:endParaRPr lang="en-US" sz="2500" dirty="0"/>
          </a:p>
        </p:txBody>
      </p:sp>
      <p:sp>
        <p:nvSpPr>
          <p:cNvPr id="4" name="Shape 2"/>
          <p:cNvSpPr/>
          <p:nvPr/>
        </p:nvSpPr>
        <p:spPr>
          <a:xfrm>
            <a:off x="457200" y="1371600"/>
            <a:ext cx="2743200" cy="3200400"/>
          </a:xfrm>
          <a:prstGeom prst="roundRect">
            <a:avLst>
              <a:gd name="adj" fmla="val 3333"/>
            </a:avLst>
          </a:prstGeom>
          <a:solidFill>
            <a:srgbClr val="0B3B45"/>
          </a:solidFill>
          <a:ln w="12700">
            <a:solidFill>
              <a:srgbClr val="0B3B45"/>
            </a:solidFill>
            <a:prstDash val="solid"/>
          </a:ln>
        </p:spPr>
      </p:sp>
      <p:sp>
        <p:nvSpPr>
          <p:cNvPr id="5" name="Shape 3"/>
          <p:cNvSpPr/>
          <p:nvPr/>
        </p:nvSpPr>
        <p:spPr>
          <a:xfrm>
            <a:off x="685800" y="1572768"/>
            <a:ext cx="530352" cy="530352"/>
          </a:xfrm>
          <a:prstGeom prst="ellipse">
            <a:avLst/>
          </a:prstGeom>
          <a:solidFill>
            <a:srgbClr val="F2994A"/>
          </a:solidFill>
          <a:ln w="12700">
            <a:solidFill>
              <a:srgbClr val="F2994A"/>
            </a:solidFill>
            <a:prstDash val="solid"/>
          </a:ln>
        </p:spPr>
      </p:sp>
      <p:pic>
        <p:nvPicPr>
          <p:cNvPr id="6" name="Image 0" descr="preencoded.png">    </p:cNvPr>
          <p:cNvPicPr>
            <a:picLocks noChangeAspect="1"/>
          </p:cNvPicPr>
          <p:nvPr/>
        </p:nvPicPr>
        <p:blipFill>
          <a:blip r:embed="rId1"/>
          <a:stretch>
            <a:fillRect/>
          </a:stretch>
        </p:blipFill>
        <p:spPr>
          <a:xfrm>
            <a:off x="823692" y="1710660"/>
            <a:ext cx="254569" cy="254569"/>
          </a:xfrm>
          <a:prstGeom prst="rect">
            <a:avLst/>
          </a:prstGeom>
        </p:spPr>
      </p:pic>
      <p:sp>
        <p:nvSpPr>
          <p:cNvPr id="7" name="Text 4"/>
          <p:cNvSpPr txBox="1"/>
          <p:nvPr/>
        </p:nvSpPr>
        <p:spPr>
          <a:xfrm>
            <a:off x="685800" y="2240280"/>
            <a:ext cx="2286000" cy="274320"/>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MỤC TIÊU</a:t>
            </a:r>
            <a:endParaRPr lang="en-US" sz="1050" dirty="0"/>
          </a:p>
        </p:txBody>
      </p:sp>
      <p:sp>
        <p:nvSpPr>
          <p:cNvPr id="8" name="Text 5"/>
          <p:cNvSpPr txBox="1"/>
          <p:nvPr/>
        </p:nvSpPr>
        <p:spPr>
          <a:xfrm>
            <a:off x="685800" y="2542032"/>
            <a:ext cx="2331720" cy="12344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Luyện xử lý "Anh Tuấn" (tai nghe lỗi, đòi hoàn tiền ngay) với AI đóng vai, rồi nhận phiếu chấm LEAST.</a:t>
            </a:r>
            <a:endParaRPr lang="en-US" sz="1350" dirty="0"/>
          </a:p>
        </p:txBody>
      </p:sp>
      <p:sp>
        <p:nvSpPr>
          <p:cNvPr id="9" name="Text 6"/>
          <p:cNvSpPr txBox="1"/>
          <p:nvPr/>
        </p:nvSpPr>
        <p:spPr>
          <a:xfrm>
            <a:off x="685800" y="3749040"/>
            <a:ext cx="2286000" cy="256032"/>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SẢN PHẨM</a:t>
            </a:r>
            <a:endParaRPr lang="en-US" sz="1050" dirty="0"/>
          </a:p>
        </p:txBody>
      </p:sp>
      <p:sp>
        <p:nvSpPr>
          <p:cNvPr id="10" name="Text 7"/>
          <p:cNvSpPr txBox="1"/>
          <p:nvPr/>
        </p:nvSpPr>
        <p:spPr>
          <a:xfrm>
            <a:off x="685800" y="4005072"/>
            <a:ext cx="2331720" cy="502920"/>
          </a:xfrm>
          <a:prstGeom prst="rect">
            <a:avLst/>
          </a:prstGeom>
          <a:noFill/>
          <a:ln/>
        </p:spPr>
        <p:txBody>
          <a:bodyPr wrap="square" lIns="0" tIns="0" rIns="0" bIns="0" rtlCol="0" anchor="t"/>
          <a:lstStyle/>
          <a:p>
            <a:pPr indent="0" marL="0">
              <a:buNone/>
            </a:pPr>
            <a:r>
              <a:rPr lang="en-US" sz="1150" b="1" dirty="0">
                <a:solidFill>
                  <a:srgbClr val="BFE3DD"/>
                </a:solidFill>
                <a:latin typeface="Calibri" pitchFamily="34" charset="0"/>
                <a:ea typeface="Calibri" pitchFamily="34" charset="-122"/>
                <a:cs typeface="Calibri" pitchFamily="34" charset="-120"/>
              </a:rPr>
              <a:t>Bản ghi roleplay</a:t>
            </a:r>
            <a:pPr indent="0" marL="0">
              <a:buNone/>
            </a:pPr>
            <a:r>
              <a:rPr lang="en-US" sz="1150" dirty="0">
                <a:solidFill>
                  <a:srgbClr val="BFE3DD"/>
                </a:solidFill>
                <a:latin typeface="Calibri" pitchFamily="34" charset="0"/>
                <a:ea typeface="Calibri" pitchFamily="34" charset="-122"/>
                <a:cs typeface="Calibri" pitchFamily="34" charset="-120"/>
              </a:rPr>
              <a:t> kèm phiếu chấm LEAST (10 điểm)</a:t>
            </a:r>
            <a:endParaRPr lang="en-US" sz="1150" dirty="0"/>
          </a:p>
        </p:txBody>
      </p:sp>
      <p:sp>
        <p:nvSpPr>
          <p:cNvPr id="11" name="Shape 8"/>
          <p:cNvSpPr/>
          <p:nvPr/>
        </p:nvSpPr>
        <p:spPr>
          <a:xfrm>
            <a:off x="3520440" y="1464564"/>
            <a:ext cx="347472" cy="347472"/>
          </a:xfrm>
          <a:prstGeom prst="ellipse">
            <a:avLst/>
          </a:prstGeom>
          <a:solidFill>
            <a:srgbClr val="0E7C7B"/>
          </a:solidFill>
          <a:ln w="12700">
            <a:solidFill>
              <a:srgbClr val="0E7C7B"/>
            </a:solidFill>
            <a:prstDash val="solid"/>
          </a:ln>
        </p:spPr>
      </p:sp>
      <p:sp>
        <p:nvSpPr>
          <p:cNvPr id="12" name="Text 9"/>
          <p:cNvSpPr txBox="1"/>
          <p:nvPr/>
        </p:nvSpPr>
        <p:spPr>
          <a:xfrm>
            <a:off x="3520440" y="1464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txBox="1"/>
          <p:nvPr/>
        </p:nvSpPr>
        <p:spPr>
          <a:xfrm>
            <a:off x="4023360" y="13716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Tạo </a:t>
            </a:r>
            <a:pPr indent="0" marL="0">
              <a:buNone/>
            </a:pPr>
            <a:r>
              <a:rPr lang="en-US" sz="1400" b="1" dirty="0">
                <a:solidFill>
                  <a:srgbClr val="1F2A30"/>
                </a:solidFill>
                <a:latin typeface="Calibri" pitchFamily="34" charset="0"/>
                <a:ea typeface="Calibri" pitchFamily="34" charset="-122"/>
                <a:cs typeface="Calibri" pitchFamily="34" charset="-120"/>
              </a:rPr>
              <a:t>hội thoại mới</a:t>
            </a:r>
            <a:pPr indent="0" marL="0">
              <a:buNone/>
            </a:pPr>
            <a:r>
              <a:rPr lang="en-US" sz="1400" dirty="0">
                <a:solidFill>
                  <a:srgbClr val="1F2A30"/>
                </a:solidFill>
                <a:latin typeface="Calibri" pitchFamily="34" charset="0"/>
                <a:ea typeface="Calibri" pitchFamily="34" charset="-122"/>
                <a:cs typeface="Calibri" pitchFamily="34" charset="-120"/>
              </a:rPr>
              <a:t>, dán prompt "Anh Tuấn" từ trang Lab của ebook.</a:t>
            </a:r>
            <a:endParaRPr lang="en-US" sz="1400" dirty="0"/>
          </a:p>
        </p:txBody>
      </p:sp>
      <p:sp>
        <p:nvSpPr>
          <p:cNvPr id="14" name="Shape 11"/>
          <p:cNvSpPr/>
          <p:nvPr/>
        </p:nvSpPr>
        <p:spPr>
          <a:xfrm>
            <a:off x="3520440" y="1997964"/>
            <a:ext cx="347472" cy="347472"/>
          </a:xfrm>
          <a:prstGeom prst="ellipse">
            <a:avLst/>
          </a:prstGeom>
          <a:solidFill>
            <a:srgbClr val="0E7C7B"/>
          </a:solidFill>
          <a:ln w="12700">
            <a:solidFill>
              <a:srgbClr val="0E7C7B"/>
            </a:solidFill>
            <a:prstDash val="solid"/>
          </a:ln>
        </p:spPr>
      </p:sp>
      <p:sp>
        <p:nvSpPr>
          <p:cNvPr id="15" name="Text 12"/>
          <p:cNvSpPr txBox="1"/>
          <p:nvPr/>
        </p:nvSpPr>
        <p:spPr>
          <a:xfrm>
            <a:off x="3520440" y="19979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4023360" y="19050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Hẹn giờ </a:t>
            </a:r>
            <a:pPr indent="0" marL="0">
              <a:buNone/>
            </a:pPr>
            <a:r>
              <a:rPr lang="en-US" sz="1400" b="1" dirty="0">
                <a:solidFill>
                  <a:srgbClr val="1F2A30"/>
                </a:solidFill>
                <a:latin typeface="Calibri" pitchFamily="34" charset="0"/>
                <a:ea typeface="Calibri" pitchFamily="34" charset="-122"/>
                <a:cs typeface="Calibri" pitchFamily="34" charset="-120"/>
              </a:rPr>
              <a:t>10 phút</a:t>
            </a:r>
            <a:pPr indent="0" marL="0">
              <a:buNone/>
            </a:pPr>
            <a:r>
              <a:rPr lang="en-US" sz="1400" dirty="0">
                <a:solidFill>
                  <a:srgbClr val="1F2A30"/>
                </a:solidFill>
                <a:latin typeface="Calibri" pitchFamily="34" charset="0"/>
                <a:ea typeface="Calibri" pitchFamily="34" charset="-122"/>
                <a:cs typeface="Calibri" pitchFamily="34" charset="-120"/>
              </a:rPr>
              <a:t>, trả lời như cuộc gọi thật: ngắn, rõ.</a:t>
            </a:r>
            <a:endParaRPr lang="en-US" sz="1400" dirty="0"/>
          </a:p>
        </p:txBody>
      </p:sp>
      <p:sp>
        <p:nvSpPr>
          <p:cNvPr id="17" name="Shape 14"/>
          <p:cNvSpPr/>
          <p:nvPr/>
        </p:nvSpPr>
        <p:spPr>
          <a:xfrm>
            <a:off x="3520440" y="2531364"/>
            <a:ext cx="347472" cy="347472"/>
          </a:xfrm>
          <a:prstGeom prst="ellipse">
            <a:avLst/>
          </a:prstGeom>
          <a:solidFill>
            <a:srgbClr val="0E7C7B"/>
          </a:solidFill>
          <a:ln w="12700">
            <a:solidFill>
              <a:srgbClr val="0E7C7B"/>
            </a:solidFill>
            <a:prstDash val="solid"/>
          </a:ln>
        </p:spPr>
      </p:sp>
      <p:sp>
        <p:nvSpPr>
          <p:cNvPr id="18" name="Text 15"/>
          <p:cNvSpPr txBox="1"/>
          <p:nvPr/>
        </p:nvSpPr>
        <p:spPr>
          <a:xfrm>
            <a:off x="3520440" y="25313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txBox="1"/>
          <p:nvPr/>
        </p:nvSpPr>
        <p:spPr>
          <a:xfrm>
            <a:off x="4023360" y="24384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Áp dụng </a:t>
            </a:r>
            <a:pPr indent="0" marL="0">
              <a:buNone/>
            </a:pPr>
            <a:r>
              <a:rPr lang="en-US" sz="1400" b="1" dirty="0">
                <a:solidFill>
                  <a:srgbClr val="1F2A30"/>
                </a:solidFill>
                <a:latin typeface="Calibri" pitchFamily="34" charset="0"/>
                <a:ea typeface="Calibri" pitchFamily="34" charset="-122"/>
                <a:cs typeface="Calibri" pitchFamily="34" charset="-120"/>
              </a:rPr>
              <a:t>LEAST</a:t>
            </a:r>
            <a:pPr indent="0" marL="0">
              <a:buNone/>
            </a:pPr>
            <a:r>
              <a:rPr lang="en-US" sz="1400" dirty="0">
                <a:solidFill>
                  <a:srgbClr val="1F2A30"/>
                </a:solidFill>
                <a:latin typeface="Calibri" pitchFamily="34" charset="0"/>
                <a:ea typeface="Calibri" pitchFamily="34" charset="-122"/>
                <a:cs typeface="Calibri" pitchFamily="34" charset="-120"/>
              </a:rPr>
              <a:t>; giải thích lịch sự vì sao cần nhận lại hàng trước.</a:t>
            </a:r>
            <a:endParaRPr lang="en-US" sz="1400" dirty="0"/>
          </a:p>
        </p:txBody>
      </p:sp>
      <p:sp>
        <p:nvSpPr>
          <p:cNvPr id="20" name="Shape 17"/>
          <p:cNvSpPr/>
          <p:nvPr/>
        </p:nvSpPr>
        <p:spPr>
          <a:xfrm>
            <a:off x="3520440" y="3064764"/>
            <a:ext cx="347472" cy="347472"/>
          </a:xfrm>
          <a:prstGeom prst="ellipse">
            <a:avLst/>
          </a:prstGeom>
          <a:solidFill>
            <a:srgbClr val="0E7C7B"/>
          </a:solidFill>
          <a:ln w="12700">
            <a:solidFill>
              <a:srgbClr val="0E7C7B"/>
            </a:solidFill>
            <a:prstDash val="solid"/>
          </a:ln>
        </p:spPr>
      </p:sp>
      <p:sp>
        <p:nvSpPr>
          <p:cNvPr id="21" name="Text 18"/>
          <p:cNvSpPr txBox="1"/>
          <p:nvPr/>
        </p:nvSpPr>
        <p:spPr>
          <a:xfrm>
            <a:off x="3520440" y="30647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txBox="1"/>
          <p:nvPr/>
        </p:nvSpPr>
        <p:spPr>
          <a:xfrm>
            <a:off x="4023360" y="29718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Gõ </a:t>
            </a:r>
            <a:pPr indent="0" marL="0">
              <a:buNone/>
            </a:pPr>
            <a:r>
              <a:rPr lang="en-US" sz="1400" b="1" dirty="0">
                <a:solidFill>
                  <a:srgbClr val="1F2A30"/>
                </a:solidFill>
                <a:latin typeface="Calibri" pitchFamily="34" charset="0"/>
                <a:ea typeface="Calibri" pitchFamily="34" charset="-122"/>
                <a:cs typeface="Calibri" pitchFamily="34" charset="-120"/>
              </a:rPr>
              <a:t>KẾT THÚC</a:t>
            </a:r>
            <a:pPr indent="0" marL="0">
              <a:buNone/>
            </a:pPr>
            <a:r>
              <a:rPr lang="en-US" sz="1400" dirty="0">
                <a:solidFill>
                  <a:srgbClr val="1F2A30"/>
                </a:solidFill>
                <a:latin typeface="Calibri" pitchFamily="34" charset="0"/>
                <a:ea typeface="Calibri" pitchFamily="34" charset="-122"/>
                <a:cs typeface="Calibri" pitchFamily="34" charset="-120"/>
              </a:rPr>
              <a:t>. Mỗi điểm có kèm câu nguyên văn của bạn không?</a:t>
            </a:r>
            <a:endParaRPr lang="en-US" sz="1400" dirty="0"/>
          </a:p>
        </p:txBody>
      </p:sp>
      <p:sp>
        <p:nvSpPr>
          <p:cNvPr id="23" name="Shape 20"/>
          <p:cNvSpPr/>
          <p:nvPr/>
        </p:nvSpPr>
        <p:spPr>
          <a:xfrm>
            <a:off x="3520440" y="3598164"/>
            <a:ext cx="347472" cy="347472"/>
          </a:xfrm>
          <a:prstGeom prst="ellipse">
            <a:avLst/>
          </a:prstGeom>
          <a:solidFill>
            <a:srgbClr val="0E7C7B"/>
          </a:solidFill>
          <a:ln w="12700">
            <a:solidFill>
              <a:srgbClr val="0E7C7B"/>
            </a:solidFill>
            <a:prstDash val="solid"/>
          </a:ln>
        </p:spPr>
      </p:sp>
      <p:sp>
        <p:nvSpPr>
          <p:cNvPr id="24" name="Text 21"/>
          <p:cNvSpPr txBox="1"/>
          <p:nvPr/>
        </p:nvSpPr>
        <p:spPr>
          <a:xfrm>
            <a:off x="3520440" y="35981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4023360" y="35052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Soát xem AI có </a:t>
            </a:r>
            <a:pPr indent="0" marL="0">
              <a:buNone/>
            </a:pPr>
            <a:r>
              <a:rPr lang="en-US" sz="1400" b="1" dirty="0">
                <a:solidFill>
                  <a:srgbClr val="1F2A30"/>
                </a:solidFill>
                <a:latin typeface="Calibri" pitchFamily="34" charset="0"/>
                <a:ea typeface="Calibri" pitchFamily="34" charset="-122"/>
                <a:cs typeface="Calibri" pitchFamily="34" charset="-120"/>
              </a:rPr>
              <a:t>bịa chính sách</a:t>
            </a:r>
            <a:pPr indent="0" marL="0">
              <a:buNone/>
            </a:pPr>
            <a:r>
              <a:rPr lang="en-US" sz="1400" dirty="0">
                <a:solidFill>
                  <a:srgbClr val="1F2A30"/>
                </a:solidFill>
                <a:latin typeface="Calibri" pitchFamily="34" charset="0"/>
                <a:ea typeface="Calibri" pitchFamily="34" charset="-122"/>
                <a:cs typeface="Calibri" pitchFamily="34" charset="-120"/>
              </a:rPr>
              <a:t> không (vd "hoàn tiền trong 24 giờ").</a:t>
            </a:r>
            <a:endParaRPr lang="en-US" sz="1400" dirty="0"/>
          </a:p>
        </p:txBody>
      </p:sp>
      <p:sp>
        <p:nvSpPr>
          <p:cNvPr id="26" name="Shape 23"/>
          <p:cNvSpPr/>
          <p:nvPr/>
        </p:nvSpPr>
        <p:spPr>
          <a:xfrm>
            <a:off x="3520440" y="4131564"/>
            <a:ext cx="347472" cy="347472"/>
          </a:xfrm>
          <a:prstGeom prst="ellipse">
            <a:avLst/>
          </a:prstGeom>
          <a:solidFill>
            <a:srgbClr val="0E7C7B"/>
          </a:solidFill>
          <a:ln w="12700">
            <a:solidFill>
              <a:srgbClr val="0E7C7B"/>
            </a:solidFill>
            <a:prstDash val="solid"/>
          </a:ln>
        </p:spPr>
      </p:sp>
      <p:sp>
        <p:nvSpPr>
          <p:cNvPr id="27" name="Text 24"/>
          <p:cNvSpPr txBox="1"/>
          <p:nvPr/>
        </p:nvSpPr>
        <p:spPr>
          <a:xfrm>
            <a:off x="3520440" y="4131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txBox="1"/>
          <p:nvPr/>
        </p:nvSpPr>
        <p:spPr>
          <a:xfrm>
            <a:off x="4023360" y="40386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Tùy chọn: tập lại với </a:t>
            </a:r>
            <a:pPr indent="0" marL="0">
              <a:buNone/>
            </a:pPr>
            <a:r>
              <a:rPr lang="en-US" sz="1400" b="1" dirty="0">
                <a:solidFill>
                  <a:srgbClr val="1F2A30"/>
                </a:solidFill>
                <a:latin typeface="Calibri" pitchFamily="34" charset="0"/>
                <a:ea typeface="Calibri" pitchFamily="34" charset="-122"/>
                <a:cs typeface="Calibri" pitchFamily="34" charset="-120"/>
              </a:rPr>
              <a:t>độ khó mức 3</a:t>
            </a:r>
            <a:pPr indent="0" marL="0">
              <a:buNone/>
            </a:pPr>
            <a:r>
              <a:rPr lang="en-US" sz="1400" dirty="0">
                <a:solidFill>
                  <a:srgbClr val="1F2A30"/>
                </a:solidFill>
                <a:latin typeface="Calibri" pitchFamily="34" charset="0"/>
                <a:ea typeface="Calibri" pitchFamily="34" charset="-122"/>
                <a:cs typeface="Calibri" pitchFamily="34" charset="-120"/>
              </a:rPr>
              <a:t>, so sánh điểm hai lần.</a:t>
            </a:r>
            <a:endParaRPr lang="en-US" sz="1400" dirty="0"/>
          </a:p>
        </p:txBody>
      </p:sp>
      <p:sp>
        <p:nvSpPr>
          <p:cNvPr id="29" name="Text 2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30" name="Text 2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LAB B · DỮ LIỆU MẪU (HƯ CẤU, ĐÃ ẨN DANH)</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Trích 5 trong 10 ticket mẫu</a:t>
            </a:r>
            <a:endParaRPr lang="en-US" sz="2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731520"/>
                <a:gridCol w="1097280"/>
                <a:gridCol w="640080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Mã</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Kênh</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Nội dung ticket (rút gọn)</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T02</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Email</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Thanh toán qua ví, bị trừ 459.000đ nhưng app báo "chưa thanh toán" và tự hủy. Đề nghị hoàn tiền gấp.</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T03</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Fanpage</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Cảm ơn shop nha, lần thứ ba giao nhầm size rồi đó. Chắc lần sau mình khỏi mua luôn cho đỡ mệt.</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T06</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Email</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Nồi chiên cắm điện lên thì có mùi khét và tắt ngay. Rất nguy hiểm! Tôi muốn trả hàng, hoàn tiền.</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T07</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Fanpage</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Shop tư vấn nhiệt tình, giao nhanh, đóng gói kỹ. Sẽ ủng hộ tiếp ❤️</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T08</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Hotline</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10 ngày từ lúc gửi trả hàng vẫn chưa nhận tiền hoàn, gọi 3 lần. Sẽ khiếu nại lên hội bảo vệ NTD và xóa tài khoản.</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Đủ 10 ticket (T01–T10) trong trang Lab của ebook. Hãy đoán trước: ticket nào là P1?</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BÀI LAB · 25 PHÚT · PHẦN B</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Lab B · Phân tích 10 ticket</a:t>
            </a:r>
            <a:endParaRPr lang="en-US" sz="2500" dirty="0"/>
          </a:p>
        </p:txBody>
      </p:sp>
      <p:sp>
        <p:nvSpPr>
          <p:cNvPr id="4" name="Shape 2"/>
          <p:cNvSpPr/>
          <p:nvPr/>
        </p:nvSpPr>
        <p:spPr>
          <a:xfrm>
            <a:off x="457200" y="1371600"/>
            <a:ext cx="2743200" cy="3200400"/>
          </a:xfrm>
          <a:prstGeom prst="roundRect">
            <a:avLst>
              <a:gd name="adj" fmla="val 3333"/>
            </a:avLst>
          </a:prstGeom>
          <a:solidFill>
            <a:srgbClr val="0B3B45"/>
          </a:solidFill>
          <a:ln w="12700">
            <a:solidFill>
              <a:srgbClr val="0B3B45"/>
            </a:solidFill>
            <a:prstDash val="solid"/>
          </a:ln>
        </p:spPr>
      </p:sp>
      <p:sp>
        <p:nvSpPr>
          <p:cNvPr id="5" name="Shape 3"/>
          <p:cNvSpPr/>
          <p:nvPr/>
        </p:nvSpPr>
        <p:spPr>
          <a:xfrm>
            <a:off x="685800" y="1572768"/>
            <a:ext cx="530352" cy="530352"/>
          </a:xfrm>
          <a:prstGeom prst="ellipse">
            <a:avLst/>
          </a:prstGeom>
          <a:solidFill>
            <a:srgbClr val="F2994A"/>
          </a:solidFill>
          <a:ln w="12700">
            <a:solidFill>
              <a:srgbClr val="F2994A"/>
            </a:solidFill>
            <a:prstDash val="solid"/>
          </a:ln>
        </p:spPr>
      </p:sp>
      <p:pic>
        <p:nvPicPr>
          <p:cNvPr id="6" name="Image 0" descr="preencoded.png">    </p:cNvPr>
          <p:cNvPicPr>
            <a:picLocks noChangeAspect="1"/>
          </p:cNvPicPr>
          <p:nvPr/>
        </p:nvPicPr>
        <p:blipFill>
          <a:blip r:embed="rId1"/>
          <a:stretch>
            <a:fillRect/>
          </a:stretch>
        </p:blipFill>
        <p:spPr>
          <a:xfrm>
            <a:off x="823692" y="1710660"/>
            <a:ext cx="254569" cy="254569"/>
          </a:xfrm>
          <a:prstGeom prst="rect">
            <a:avLst/>
          </a:prstGeom>
        </p:spPr>
      </p:pic>
      <p:sp>
        <p:nvSpPr>
          <p:cNvPr id="7" name="Text 4"/>
          <p:cNvSpPr txBox="1"/>
          <p:nvPr/>
        </p:nvSpPr>
        <p:spPr>
          <a:xfrm>
            <a:off x="685800" y="2240280"/>
            <a:ext cx="2286000" cy="274320"/>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MỤC TIÊU</a:t>
            </a:r>
            <a:endParaRPr lang="en-US" sz="1050" dirty="0"/>
          </a:p>
        </p:txBody>
      </p:sp>
      <p:sp>
        <p:nvSpPr>
          <p:cNvPr id="8" name="Text 5"/>
          <p:cNvSpPr txBox="1"/>
          <p:nvPr/>
        </p:nvSpPr>
        <p:spPr>
          <a:xfrm>
            <a:off x="685800" y="2542032"/>
            <a:ext cx="2331720" cy="12344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Biến 10 ticket mẫu thành bảng chủ đề, cảm xúc, churn, ưu tiên, đề xuất; kiểm lại; lập Top 3 vấn đề.</a:t>
            </a:r>
            <a:endParaRPr lang="en-US" sz="1350" dirty="0"/>
          </a:p>
        </p:txBody>
      </p:sp>
      <p:sp>
        <p:nvSpPr>
          <p:cNvPr id="9" name="Text 6"/>
          <p:cNvSpPr txBox="1"/>
          <p:nvPr/>
        </p:nvSpPr>
        <p:spPr>
          <a:xfrm>
            <a:off x="685800" y="3749040"/>
            <a:ext cx="2286000" cy="256032"/>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SẢN PHẨM</a:t>
            </a:r>
            <a:endParaRPr lang="en-US" sz="1050" dirty="0"/>
          </a:p>
        </p:txBody>
      </p:sp>
      <p:sp>
        <p:nvSpPr>
          <p:cNvPr id="10" name="Text 7"/>
          <p:cNvSpPr txBox="1"/>
          <p:nvPr/>
        </p:nvSpPr>
        <p:spPr>
          <a:xfrm>
            <a:off x="685800" y="4005072"/>
            <a:ext cx="2331720" cy="502920"/>
          </a:xfrm>
          <a:prstGeom prst="rect">
            <a:avLst/>
          </a:prstGeom>
          <a:noFill/>
          <a:ln/>
        </p:spPr>
        <p:txBody>
          <a:bodyPr wrap="square" lIns="0" tIns="0" rIns="0" bIns="0" rtlCol="0" anchor="t"/>
          <a:lstStyle/>
          <a:p>
            <a:pPr indent="0" marL="0">
              <a:buNone/>
            </a:pPr>
            <a:r>
              <a:rPr lang="en-US" sz="1150" b="1" dirty="0">
                <a:solidFill>
                  <a:srgbClr val="BFE3DD"/>
                </a:solidFill>
                <a:latin typeface="Calibri" pitchFamily="34" charset="0"/>
                <a:ea typeface="Calibri" pitchFamily="34" charset="-122"/>
                <a:cs typeface="Calibri" pitchFamily="34" charset="-120"/>
              </a:rPr>
              <a:t>Bảng phân tích 10 ticket</a:t>
            </a:r>
            <a:pPr indent="0" marL="0">
              <a:buNone/>
            </a:pPr>
            <a:r>
              <a:rPr lang="en-US" sz="1150" dirty="0">
                <a:solidFill>
                  <a:srgbClr val="BFE3DD"/>
                </a:solidFill>
                <a:latin typeface="Calibri" pitchFamily="34" charset="0"/>
                <a:ea typeface="Calibri" pitchFamily="34" charset="-122"/>
                <a:cs typeface="Calibri" pitchFamily="34" charset="-120"/>
              </a:rPr>
              <a:t> + Top 3 vấn đề</a:t>
            </a:r>
            <a:endParaRPr lang="en-US" sz="1150" dirty="0"/>
          </a:p>
        </p:txBody>
      </p:sp>
      <p:sp>
        <p:nvSpPr>
          <p:cNvPr id="11" name="Shape 8"/>
          <p:cNvSpPr/>
          <p:nvPr/>
        </p:nvSpPr>
        <p:spPr>
          <a:xfrm>
            <a:off x="3520440" y="1464564"/>
            <a:ext cx="347472" cy="347472"/>
          </a:xfrm>
          <a:prstGeom prst="ellipse">
            <a:avLst/>
          </a:prstGeom>
          <a:solidFill>
            <a:srgbClr val="0E7C7B"/>
          </a:solidFill>
          <a:ln w="12700">
            <a:solidFill>
              <a:srgbClr val="0E7C7B"/>
            </a:solidFill>
            <a:prstDash val="solid"/>
          </a:ln>
        </p:spPr>
      </p:sp>
      <p:sp>
        <p:nvSpPr>
          <p:cNvPr id="12" name="Text 9"/>
          <p:cNvSpPr txBox="1"/>
          <p:nvPr/>
        </p:nvSpPr>
        <p:spPr>
          <a:xfrm>
            <a:off x="3520440" y="1464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txBox="1"/>
          <p:nvPr/>
        </p:nvSpPr>
        <p:spPr>
          <a:xfrm>
            <a:off x="4023360" y="13716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Tạo hội thoại mới, dán </a:t>
            </a:r>
            <a:pPr indent="0" marL="0">
              <a:buNone/>
            </a:pPr>
            <a:r>
              <a:rPr lang="en-US" sz="1400" b="1" dirty="0">
                <a:solidFill>
                  <a:srgbClr val="1F2A30"/>
                </a:solidFill>
                <a:latin typeface="Calibri" pitchFamily="34" charset="0"/>
                <a:ea typeface="Calibri" pitchFamily="34" charset="-122"/>
                <a:cs typeface="Calibri" pitchFamily="34" charset="-120"/>
              </a:rPr>
              <a:t>prompt phân tích</a:t>
            </a:r>
            <a:pPr indent="0" marL="0">
              <a:buNone/>
            </a:pPr>
            <a:r>
              <a:rPr lang="en-US" sz="1400" dirty="0">
                <a:solidFill>
                  <a:srgbClr val="1F2A30"/>
                </a:solidFill>
                <a:latin typeface="Calibri" pitchFamily="34" charset="0"/>
                <a:ea typeface="Calibri" pitchFamily="34" charset="-122"/>
                <a:cs typeface="Calibri" pitchFamily="34" charset="-120"/>
              </a:rPr>
              <a:t> kèm bảng 10 ticket.</a:t>
            </a:r>
            <a:endParaRPr lang="en-US" sz="1400" dirty="0"/>
          </a:p>
        </p:txBody>
      </p:sp>
      <p:sp>
        <p:nvSpPr>
          <p:cNvPr id="14" name="Shape 11"/>
          <p:cNvSpPr/>
          <p:nvPr/>
        </p:nvSpPr>
        <p:spPr>
          <a:xfrm>
            <a:off x="3520440" y="1997964"/>
            <a:ext cx="347472" cy="347472"/>
          </a:xfrm>
          <a:prstGeom prst="ellipse">
            <a:avLst/>
          </a:prstGeom>
          <a:solidFill>
            <a:srgbClr val="0E7C7B"/>
          </a:solidFill>
          <a:ln w="12700">
            <a:solidFill>
              <a:srgbClr val="0E7C7B"/>
            </a:solidFill>
            <a:prstDash val="solid"/>
          </a:ln>
        </p:spPr>
      </p:sp>
      <p:sp>
        <p:nvSpPr>
          <p:cNvPr id="15" name="Text 12"/>
          <p:cNvSpPr txBox="1"/>
          <p:nvPr/>
        </p:nvSpPr>
        <p:spPr>
          <a:xfrm>
            <a:off x="3520440" y="19979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4023360" y="19050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Nhận bảng 7 cột: Mã, Chủ đề, Cảm xúc, Churn, Bằng chứng, Ưu tiên, Đề xuất.</a:t>
            </a:r>
            <a:endParaRPr lang="en-US" sz="1400" dirty="0"/>
          </a:p>
        </p:txBody>
      </p:sp>
      <p:sp>
        <p:nvSpPr>
          <p:cNvPr id="17" name="Shape 14"/>
          <p:cNvSpPr/>
          <p:nvPr/>
        </p:nvSpPr>
        <p:spPr>
          <a:xfrm>
            <a:off x="3520440" y="2531364"/>
            <a:ext cx="347472" cy="347472"/>
          </a:xfrm>
          <a:prstGeom prst="ellipse">
            <a:avLst/>
          </a:prstGeom>
          <a:solidFill>
            <a:srgbClr val="0E7C7B"/>
          </a:solidFill>
          <a:ln w="12700">
            <a:solidFill>
              <a:srgbClr val="0E7C7B"/>
            </a:solidFill>
            <a:prstDash val="solid"/>
          </a:ln>
        </p:spPr>
      </p:sp>
      <p:sp>
        <p:nvSpPr>
          <p:cNvPr id="18" name="Text 15"/>
          <p:cNvSpPr txBox="1"/>
          <p:nvPr/>
        </p:nvSpPr>
        <p:spPr>
          <a:xfrm>
            <a:off x="3520440" y="25313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txBox="1"/>
          <p:nvPr/>
        </p:nvSpPr>
        <p:spPr>
          <a:xfrm>
            <a:off x="4023360" y="24384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Tự đọc lại </a:t>
            </a:r>
            <a:pPr indent="0" marL="0">
              <a:buNone/>
            </a:pPr>
            <a:r>
              <a:rPr lang="en-US" sz="1400" b="1" dirty="0">
                <a:solidFill>
                  <a:srgbClr val="1F2A30"/>
                </a:solidFill>
                <a:latin typeface="Calibri" pitchFamily="34" charset="0"/>
                <a:ea typeface="Calibri" pitchFamily="34" charset="-122"/>
                <a:cs typeface="Calibri" pitchFamily="34" charset="-120"/>
              </a:rPr>
              <a:t>cả 10 ticket gốc</a:t>
            </a:r>
            <a:pPr indent="0" marL="0">
              <a:buNone/>
            </a:pPr>
            <a:r>
              <a:rPr lang="en-US" sz="1400" dirty="0">
                <a:solidFill>
                  <a:srgbClr val="1F2A30"/>
                </a:solidFill>
                <a:latin typeface="Calibri" pitchFamily="34" charset="0"/>
                <a:ea typeface="Calibri" pitchFamily="34" charset="-122"/>
                <a:cs typeface="Calibri" pitchFamily="34" charset="-120"/>
              </a:rPr>
              <a:t>, so với nhãn AI.</a:t>
            </a:r>
            <a:endParaRPr lang="en-US" sz="1400" dirty="0"/>
          </a:p>
        </p:txBody>
      </p:sp>
      <p:sp>
        <p:nvSpPr>
          <p:cNvPr id="20" name="Shape 17"/>
          <p:cNvSpPr/>
          <p:nvPr/>
        </p:nvSpPr>
        <p:spPr>
          <a:xfrm>
            <a:off x="3520440" y="3064764"/>
            <a:ext cx="347472" cy="347472"/>
          </a:xfrm>
          <a:prstGeom prst="ellipse">
            <a:avLst/>
          </a:prstGeom>
          <a:solidFill>
            <a:srgbClr val="0E7C7B"/>
          </a:solidFill>
          <a:ln w="12700">
            <a:solidFill>
              <a:srgbClr val="0E7C7B"/>
            </a:solidFill>
            <a:prstDash val="solid"/>
          </a:ln>
        </p:spPr>
      </p:sp>
      <p:sp>
        <p:nvSpPr>
          <p:cNvPr id="21" name="Text 18"/>
          <p:cNvSpPr txBox="1"/>
          <p:nvPr/>
        </p:nvSpPr>
        <p:spPr>
          <a:xfrm>
            <a:off x="3520440" y="30647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txBox="1"/>
          <p:nvPr/>
        </p:nvSpPr>
        <p:spPr>
          <a:xfrm>
            <a:off x="4023360" y="29718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Soát kỹ </a:t>
            </a:r>
            <a:pPr indent="0" marL="0">
              <a:buNone/>
            </a:pPr>
            <a:r>
              <a:rPr lang="en-US" sz="1400" b="1" dirty="0">
                <a:solidFill>
                  <a:srgbClr val="1F2A30"/>
                </a:solidFill>
                <a:latin typeface="Calibri" pitchFamily="34" charset="0"/>
                <a:ea typeface="Calibri" pitchFamily="34" charset="-122"/>
                <a:cs typeface="Calibri" pitchFamily="34" charset="-120"/>
              </a:rPr>
              <a:t>T03</a:t>
            </a:r>
            <a:pPr indent="0" marL="0">
              <a:buNone/>
            </a:pPr>
            <a:r>
              <a:rPr lang="en-US" sz="1400" dirty="0">
                <a:solidFill>
                  <a:srgbClr val="1F2A30"/>
                </a:solidFill>
                <a:latin typeface="Calibri" pitchFamily="34" charset="0"/>
                <a:ea typeface="Calibri" pitchFamily="34" charset="-122"/>
                <a:cs typeface="Calibri" pitchFamily="34" charset="-120"/>
              </a:rPr>
              <a:t> (mỉa mai), </a:t>
            </a:r>
            <a:pPr indent="0" marL="0">
              <a:buNone/>
            </a:pPr>
            <a:r>
              <a:rPr lang="en-US" sz="1400" b="1" dirty="0">
                <a:solidFill>
                  <a:srgbClr val="1F2A30"/>
                </a:solidFill>
                <a:latin typeface="Calibri" pitchFamily="34" charset="0"/>
                <a:ea typeface="Calibri" pitchFamily="34" charset="-122"/>
                <a:cs typeface="Calibri" pitchFamily="34" charset="-120"/>
              </a:rPr>
              <a:t>T06, T08</a:t>
            </a:r>
            <a:pPr indent="0" marL="0">
              <a:buNone/>
            </a:pPr>
            <a:r>
              <a:rPr lang="en-US" sz="1400" dirty="0">
                <a:solidFill>
                  <a:srgbClr val="1F2A30"/>
                </a:solidFill>
                <a:latin typeface="Calibri" pitchFamily="34" charset="0"/>
                <a:ea typeface="Calibri" pitchFamily="34" charset="-122"/>
                <a:cs typeface="Calibri" pitchFamily="34" charset="-120"/>
              </a:rPr>
              <a:t> (P1), T02 và T08 (tiền).</a:t>
            </a:r>
            <a:endParaRPr lang="en-US" sz="1400" dirty="0"/>
          </a:p>
        </p:txBody>
      </p:sp>
      <p:sp>
        <p:nvSpPr>
          <p:cNvPr id="23" name="Shape 20"/>
          <p:cNvSpPr/>
          <p:nvPr/>
        </p:nvSpPr>
        <p:spPr>
          <a:xfrm>
            <a:off x="3520440" y="3598164"/>
            <a:ext cx="347472" cy="347472"/>
          </a:xfrm>
          <a:prstGeom prst="ellipse">
            <a:avLst/>
          </a:prstGeom>
          <a:solidFill>
            <a:srgbClr val="0E7C7B"/>
          </a:solidFill>
          <a:ln w="12700">
            <a:solidFill>
              <a:srgbClr val="0E7C7B"/>
            </a:solidFill>
            <a:prstDash val="solid"/>
          </a:ln>
        </p:spPr>
      </p:sp>
      <p:sp>
        <p:nvSpPr>
          <p:cNvPr id="24" name="Text 21"/>
          <p:cNvSpPr txBox="1"/>
          <p:nvPr/>
        </p:nvSpPr>
        <p:spPr>
          <a:xfrm>
            <a:off x="3520440" y="35981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4023360" y="35052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Ghi </a:t>
            </a:r>
            <a:pPr indent="0" marL="0">
              <a:buNone/>
            </a:pPr>
            <a:r>
              <a:rPr lang="en-US" sz="1400" b="1" dirty="0">
                <a:solidFill>
                  <a:srgbClr val="1F2A30"/>
                </a:solidFill>
                <a:latin typeface="Calibri" pitchFamily="34" charset="0"/>
                <a:ea typeface="Calibri" pitchFamily="34" charset="-122"/>
                <a:cs typeface="Calibri" pitchFamily="34" charset="-120"/>
              </a:rPr>
              <a:t>tỉ lệ đúng</a:t>
            </a:r>
            <a:pPr indent="0" marL="0">
              <a:buNone/>
            </a:pPr>
            <a:r>
              <a:rPr lang="en-US" sz="1400" dirty="0">
                <a:solidFill>
                  <a:srgbClr val="1F2A30"/>
                </a:solidFill>
                <a:latin typeface="Calibri" pitchFamily="34" charset="0"/>
                <a:ea typeface="Calibri" pitchFamily="34" charset="-122"/>
                <a:cs typeface="Calibri" pitchFamily="34" charset="-120"/>
              </a:rPr>
              <a:t>; sai thì chỉnh prompt (định nghĩa, ví dụ) rồi chạy lại.</a:t>
            </a:r>
            <a:endParaRPr lang="en-US" sz="1400" dirty="0"/>
          </a:p>
        </p:txBody>
      </p:sp>
      <p:sp>
        <p:nvSpPr>
          <p:cNvPr id="26" name="Shape 23"/>
          <p:cNvSpPr/>
          <p:nvPr/>
        </p:nvSpPr>
        <p:spPr>
          <a:xfrm>
            <a:off x="3520440" y="4131564"/>
            <a:ext cx="347472" cy="347472"/>
          </a:xfrm>
          <a:prstGeom prst="ellipse">
            <a:avLst/>
          </a:prstGeom>
          <a:solidFill>
            <a:srgbClr val="0E7C7B"/>
          </a:solidFill>
          <a:ln w="12700">
            <a:solidFill>
              <a:srgbClr val="0E7C7B"/>
            </a:solidFill>
            <a:prstDash val="solid"/>
          </a:ln>
        </p:spPr>
      </p:sp>
      <p:sp>
        <p:nvSpPr>
          <p:cNvPr id="27" name="Text 24"/>
          <p:cNvSpPr txBox="1"/>
          <p:nvPr/>
        </p:nvSpPr>
        <p:spPr>
          <a:xfrm>
            <a:off x="3520440" y="4131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txBox="1"/>
          <p:nvPr/>
        </p:nvSpPr>
        <p:spPr>
          <a:xfrm>
            <a:off x="4023360" y="40386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Lập </a:t>
            </a:r>
            <a:pPr indent="0" marL="0">
              <a:buNone/>
            </a:pPr>
            <a:r>
              <a:rPr lang="en-US" sz="1400" b="1" dirty="0">
                <a:solidFill>
                  <a:srgbClr val="1F2A30"/>
                </a:solidFill>
                <a:latin typeface="Calibri" pitchFamily="34" charset="0"/>
                <a:ea typeface="Calibri" pitchFamily="34" charset="-122"/>
                <a:cs typeface="Calibri" pitchFamily="34" charset="-120"/>
              </a:rPr>
              <a:t>Top 3 vấn đề</a:t>
            </a:r>
            <a:pPr indent="0" marL="0">
              <a:buNone/>
            </a:pPr>
            <a:r>
              <a:rPr lang="en-US" sz="1400" dirty="0">
                <a:solidFill>
                  <a:srgbClr val="1F2A30"/>
                </a:solidFill>
                <a:latin typeface="Calibri" pitchFamily="34" charset="0"/>
                <a:ea typeface="Calibri" pitchFamily="34" charset="-122"/>
                <a:cs typeface="Calibri" pitchFamily="34" charset="-120"/>
              </a:rPr>
              <a:t> (≤150 chữ), không suy diễn nguyên nhân.</a:t>
            </a:r>
            <a:endParaRPr lang="en-US" sz="1400" dirty="0"/>
          </a:p>
        </p:txBody>
      </p:sp>
      <p:sp>
        <p:nvSpPr>
          <p:cNvPr id="29" name="Text 2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30" name="Text 2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BÀI TẬP · ĐỀ CƯƠNG SẢN PHẨM CUỐI KHÓA</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Bộ công cụ AI ca trực: chốt đề cương hôm nay</a:t>
            </a:r>
            <a:endParaRPr lang="en-US" sz="2500" dirty="0"/>
          </a:p>
        </p:txBody>
      </p:sp>
      <p:sp>
        <p:nvSpPr>
          <p:cNvPr id="4" name="Shape 2"/>
          <p:cNvSpPr/>
          <p:nvPr/>
        </p:nvSpPr>
        <p:spPr>
          <a:xfrm>
            <a:off x="457200" y="1371600"/>
            <a:ext cx="4000500" cy="1485900"/>
          </a:xfrm>
          <a:prstGeom prst="roundRect">
            <a:avLst>
              <a:gd name="adj" fmla="val 6154"/>
            </a:avLst>
          </a:prstGeom>
          <a:solidFill>
            <a:srgbClr val="E8F3F1"/>
          </a:solidFill>
          <a:ln w="12700">
            <a:solidFill>
              <a:srgbClr val="E8F3F1"/>
            </a:solidFill>
            <a:prstDash val="solid"/>
          </a:ln>
        </p:spPr>
      </p:sp>
      <p:sp>
        <p:nvSpPr>
          <p:cNvPr id="5" name="Shape 3"/>
          <p:cNvSpPr/>
          <p:nvPr/>
        </p:nvSpPr>
        <p:spPr>
          <a:xfrm>
            <a:off x="640080" y="1554480"/>
            <a:ext cx="457200" cy="457200"/>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758952" y="1673352"/>
            <a:ext cx="219456" cy="219456"/>
          </a:xfrm>
          <a:prstGeom prst="rect">
            <a:avLst/>
          </a:prstGeom>
        </p:spPr>
      </p:pic>
      <p:sp>
        <p:nvSpPr>
          <p:cNvPr id="7" name="Text 4"/>
          <p:cNvSpPr txBox="1"/>
          <p:nvPr/>
        </p:nvSpPr>
        <p:spPr>
          <a:xfrm>
            <a:off x="12344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Phần 1 · Bài toán</a:t>
            </a:r>
            <a:endParaRPr lang="en-US" sz="1400" dirty="0"/>
          </a:p>
        </p:txBody>
      </p:sp>
      <p:sp>
        <p:nvSpPr>
          <p:cNvPr id="8" name="Text 5"/>
          <p:cNvSpPr txBox="1"/>
          <p:nvPr/>
        </p:nvSpPr>
        <p:spPr>
          <a:xfrm>
            <a:off x="12344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Làm cho ai, kênh nào, khối lượng bao nhiêu. </a:t>
            </a:r>
            <a:pPr indent="0" marL="0">
              <a:buNone/>
            </a:pPr>
            <a:r>
              <a:rPr lang="en-US" sz="1300" b="1" dirty="0">
                <a:solidFill>
                  <a:srgbClr val="1F2A30"/>
                </a:solidFill>
                <a:latin typeface="Calibri" pitchFamily="34" charset="0"/>
                <a:ea typeface="Calibri" pitchFamily="34" charset="-122"/>
                <a:cs typeface="Calibri" pitchFamily="34" charset="-120"/>
              </a:rPr>
              <a:t>1–3 vấn đề cụ thể, đo được</a:t>
            </a:r>
            <a:pPr indent="0" marL="0">
              <a:buNone/>
            </a:pPr>
            <a:r>
              <a:rPr lang="en-US" sz="1300" dirty="0">
                <a:solidFill>
                  <a:srgbClr val="1F2A30"/>
                </a:solidFill>
                <a:latin typeface="Calibri" pitchFamily="34" charset="0"/>
                <a:ea typeface="Calibri" pitchFamily="34" charset="-122"/>
                <a:cs typeface="Calibri" pitchFamily="34" charset="-120"/>
              </a:rPr>
              <a:t> (vd 4 phút/cuộc gõ ghi chú CRM).</a:t>
            </a:r>
            <a:endParaRPr lang="en-US" sz="1300" dirty="0"/>
          </a:p>
        </p:txBody>
      </p:sp>
      <p:sp>
        <p:nvSpPr>
          <p:cNvPr id="9" name="Shape 6"/>
          <p:cNvSpPr/>
          <p:nvPr/>
        </p:nvSpPr>
        <p:spPr>
          <a:xfrm>
            <a:off x="4686300" y="1371600"/>
            <a:ext cx="4000500" cy="1485900"/>
          </a:xfrm>
          <a:prstGeom prst="roundRect">
            <a:avLst>
              <a:gd name="adj" fmla="val 6154"/>
            </a:avLst>
          </a:prstGeom>
          <a:solidFill>
            <a:srgbClr val="E8F3F1"/>
          </a:solidFill>
          <a:ln w="12700">
            <a:solidFill>
              <a:srgbClr val="E8F3F1"/>
            </a:solidFill>
            <a:prstDash val="solid"/>
          </a:ln>
        </p:spPr>
      </p:sp>
      <p:sp>
        <p:nvSpPr>
          <p:cNvPr id="10" name="Shape 7"/>
          <p:cNvSpPr/>
          <p:nvPr/>
        </p:nvSpPr>
        <p:spPr>
          <a:xfrm>
            <a:off x="4869180" y="1554480"/>
            <a:ext cx="457200" cy="457200"/>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4988052" y="1673352"/>
            <a:ext cx="219456" cy="219456"/>
          </a:xfrm>
          <a:prstGeom prst="rect">
            <a:avLst/>
          </a:prstGeom>
        </p:spPr>
      </p:pic>
      <p:sp>
        <p:nvSpPr>
          <p:cNvPr id="12" name="Text 8"/>
          <p:cNvSpPr txBox="1"/>
          <p:nvPr/>
        </p:nvSpPr>
        <p:spPr>
          <a:xfrm>
            <a:off x="54635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Phần 2 · Năm thành phần</a:t>
            </a:r>
            <a:endParaRPr lang="en-US" sz="1400" dirty="0"/>
          </a:p>
        </p:txBody>
      </p:sp>
      <p:sp>
        <p:nvSpPr>
          <p:cNvPr id="13" name="Text 9"/>
          <p:cNvSpPr txBox="1"/>
          <p:nvPr/>
        </p:nvSpPr>
        <p:spPr>
          <a:xfrm>
            <a:off x="54635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Mỗi thành phần: </a:t>
            </a:r>
            <a:pPr indent="0" marL="0">
              <a:buNone/>
            </a:pPr>
            <a:r>
              <a:rPr lang="en-US" sz="1300" b="1" dirty="0">
                <a:solidFill>
                  <a:srgbClr val="1F2A30"/>
                </a:solidFill>
                <a:latin typeface="Calibri" pitchFamily="34" charset="0"/>
                <a:ea typeface="Calibri" pitchFamily="34" charset="-122"/>
                <a:cs typeface="Calibri" pitchFamily="34" charset="-120"/>
              </a:rPr>
              <a:t>đã có gì</a:t>
            </a:r>
            <a:pPr indent="0" marL="0">
              <a:buNone/>
            </a:pPr>
            <a:r>
              <a:rPr lang="en-US" sz="1300" dirty="0">
                <a:solidFill>
                  <a:srgbClr val="1F2A30"/>
                </a:solidFill>
                <a:latin typeface="Calibri" pitchFamily="34" charset="0"/>
                <a:ea typeface="Calibri" pitchFamily="34" charset="-122"/>
                <a:cs typeface="Calibri" pitchFamily="34" charset="-120"/>
              </a:rPr>
              <a:t> (từ buổi nào), </a:t>
            </a:r>
            <a:pPr indent="0" marL="0">
              <a:buNone/>
            </a:pPr>
            <a:r>
              <a:rPr lang="en-US" sz="1300" b="1" dirty="0">
                <a:solidFill>
                  <a:srgbClr val="1F2A30"/>
                </a:solidFill>
                <a:latin typeface="Calibri" pitchFamily="34" charset="0"/>
                <a:ea typeface="Calibri" pitchFamily="34" charset="-122"/>
                <a:cs typeface="Calibri" pitchFamily="34" charset="-120"/>
              </a:rPr>
              <a:t>cần hoàn thiện gì</a:t>
            </a:r>
            <a:pPr indent="0" marL="0">
              <a:buNone/>
            </a:pPr>
            <a:r>
              <a:rPr lang="en-US" sz="1300" dirty="0">
                <a:solidFill>
                  <a:srgbClr val="1F2A30"/>
                </a:solidFill>
                <a:latin typeface="Calibri" pitchFamily="34" charset="0"/>
                <a:ea typeface="Calibri" pitchFamily="34" charset="-122"/>
                <a:cs typeface="Calibri" pitchFamily="34" charset="-120"/>
              </a:rPr>
              <a:t>.</a:t>
            </a:r>
            <a:endParaRPr lang="en-US" sz="1300" dirty="0"/>
          </a:p>
        </p:txBody>
      </p:sp>
      <p:sp>
        <p:nvSpPr>
          <p:cNvPr id="14" name="Shape 10"/>
          <p:cNvSpPr/>
          <p:nvPr/>
        </p:nvSpPr>
        <p:spPr>
          <a:xfrm>
            <a:off x="457200" y="3086100"/>
            <a:ext cx="4000500" cy="1485900"/>
          </a:xfrm>
          <a:prstGeom prst="roundRect">
            <a:avLst>
              <a:gd name="adj" fmla="val 6154"/>
            </a:avLst>
          </a:prstGeom>
          <a:solidFill>
            <a:srgbClr val="E8F3F1"/>
          </a:solidFill>
          <a:ln w="12700">
            <a:solidFill>
              <a:srgbClr val="E8F3F1"/>
            </a:solidFill>
            <a:prstDash val="solid"/>
          </a:ln>
        </p:spPr>
      </p:sp>
      <p:sp>
        <p:nvSpPr>
          <p:cNvPr id="15" name="Shape 11"/>
          <p:cNvSpPr/>
          <p:nvPr/>
        </p:nvSpPr>
        <p:spPr>
          <a:xfrm>
            <a:off x="640080" y="3268980"/>
            <a:ext cx="457200" cy="457200"/>
          </a:xfrm>
          <a:prstGeom prst="ellipse">
            <a:avLst/>
          </a:prstGeom>
          <a:solidFill>
            <a:srgbClr val="F2994A"/>
          </a:solidFill>
          <a:ln w="12700">
            <a:solidFill>
              <a:srgbClr val="F2994A"/>
            </a:solidFill>
            <a:prstDash val="solid"/>
          </a:ln>
        </p:spPr>
      </p:sp>
      <p:pic>
        <p:nvPicPr>
          <p:cNvPr id="16" name="Image 2" descr="preencoded.png">    </p:cNvPr>
          <p:cNvPicPr>
            <a:picLocks noChangeAspect="1"/>
          </p:cNvPicPr>
          <p:nvPr/>
        </p:nvPicPr>
        <p:blipFill>
          <a:blip r:embed="rId3"/>
          <a:stretch>
            <a:fillRect/>
          </a:stretch>
        </p:blipFill>
        <p:spPr>
          <a:xfrm>
            <a:off x="758952" y="3387852"/>
            <a:ext cx="219456" cy="219456"/>
          </a:xfrm>
          <a:prstGeom prst="rect">
            <a:avLst/>
          </a:prstGeom>
        </p:spPr>
      </p:pic>
      <p:sp>
        <p:nvSpPr>
          <p:cNvPr id="17" name="Text 12"/>
          <p:cNvSpPr txBox="1"/>
          <p:nvPr/>
        </p:nvSpPr>
        <p:spPr>
          <a:xfrm>
            <a:off x="12344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Phần 3 · Số liệu trước &amp; sau</a:t>
            </a:r>
            <a:endParaRPr lang="en-US" sz="1400" dirty="0"/>
          </a:p>
        </p:txBody>
      </p:sp>
      <p:sp>
        <p:nvSpPr>
          <p:cNvPr id="18" name="Text 13"/>
          <p:cNvSpPr txBox="1"/>
          <p:nvPr/>
        </p:nvSpPr>
        <p:spPr>
          <a:xfrm>
            <a:off x="12344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Ít nhất </a:t>
            </a:r>
            <a:pPr indent="0" marL="0">
              <a:buNone/>
            </a:pPr>
            <a:r>
              <a:rPr lang="en-US" sz="1300" b="1" dirty="0">
                <a:solidFill>
                  <a:srgbClr val="1F2A30"/>
                </a:solidFill>
                <a:latin typeface="Calibri" pitchFamily="34" charset="0"/>
                <a:ea typeface="Calibri" pitchFamily="34" charset="-122"/>
                <a:cs typeface="Calibri" pitchFamily="34" charset="-120"/>
              </a:rPr>
              <a:t>2 chỉ số</a:t>
            </a:r>
            <a:pPr indent="0" marL="0">
              <a:buNone/>
            </a:pPr>
            <a:r>
              <a:rPr lang="en-US" sz="1300" dirty="0">
                <a:solidFill>
                  <a:srgbClr val="1F2A30"/>
                </a:solidFill>
                <a:latin typeface="Calibri" pitchFamily="34" charset="0"/>
                <a:ea typeface="Calibri" pitchFamily="34" charset="-122"/>
                <a:cs typeface="Calibri" pitchFamily="34" charset="-120"/>
              </a:rPr>
              <a:t> đo thật, cùng loại việc, đủ số mẫu. Tính cả thời gian </a:t>
            </a:r>
            <a:pPr indent="0" marL="0">
              <a:buNone/>
            </a:pPr>
            <a:r>
              <a:rPr lang="en-US" sz="1300" b="1" dirty="0">
                <a:solidFill>
                  <a:srgbClr val="1F2A30"/>
                </a:solidFill>
                <a:latin typeface="Calibri" pitchFamily="34" charset="0"/>
                <a:ea typeface="Calibri" pitchFamily="34" charset="-122"/>
                <a:cs typeface="Calibri" pitchFamily="34" charset="-120"/>
              </a:rPr>
              <a:t>kiểm lại và che dữ liệu</a:t>
            </a:r>
            <a:pPr indent="0" marL="0">
              <a:buNone/>
            </a:pPr>
            <a:r>
              <a:rPr lang="en-US" sz="1300" dirty="0">
                <a:solidFill>
                  <a:srgbClr val="1F2A30"/>
                </a:solidFill>
                <a:latin typeface="Calibri" pitchFamily="34" charset="0"/>
                <a:ea typeface="Calibri" pitchFamily="34" charset="-122"/>
                <a:cs typeface="Calibri" pitchFamily="34" charset="-120"/>
              </a:rPr>
              <a:t>.</a:t>
            </a:r>
            <a:endParaRPr lang="en-US" sz="1300" dirty="0"/>
          </a:p>
        </p:txBody>
      </p:sp>
      <p:sp>
        <p:nvSpPr>
          <p:cNvPr id="19" name="Shape 14"/>
          <p:cNvSpPr/>
          <p:nvPr/>
        </p:nvSpPr>
        <p:spPr>
          <a:xfrm>
            <a:off x="4686300" y="3086100"/>
            <a:ext cx="4000500" cy="1485900"/>
          </a:xfrm>
          <a:prstGeom prst="roundRect">
            <a:avLst>
              <a:gd name="adj" fmla="val 6154"/>
            </a:avLst>
          </a:prstGeom>
          <a:solidFill>
            <a:srgbClr val="E8F3F1"/>
          </a:solidFill>
          <a:ln w="12700">
            <a:solidFill>
              <a:srgbClr val="E8F3F1"/>
            </a:solidFill>
            <a:prstDash val="solid"/>
          </a:ln>
        </p:spPr>
      </p:sp>
      <p:sp>
        <p:nvSpPr>
          <p:cNvPr id="20" name="Shape 15"/>
          <p:cNvSpPr/>
          <p:nvPr/>
        </p:nvSpPr>
        <p:spPr>
          <a:xfrm>
            <a:off x="4869180" y="3268980"/>
            <a:ext cx="457200" cy="457200"/>
          </a:xfrm>
          <a:prstGeom prst="ellipse">
            <a:avLst/>
          </a:prstGeom>
          <a:solidFill>
            <a:srgbClr val="0E7C7B"/>
          </a:solidFill>
          <a:ln w="12700">
            <a:solidFill>
              <a:srgbClr val="0E7C7B"/>
            </a:solidFill>
            <a:prstDash val="solid"/>
          </a:ln>
        </p:spPr>
      </p:sp>
      <p:pic>
        <p:nvPicPr>
          <p:cNvPr id="21" name="Image 3" descr="preencoded.png">    </p:cNvPr>
          <p:cNvPicPr>
            <a:picLocks noChangeAspect="1"/>
          </p:cNvPicPr>
          <p:nvPr/>
        </p:nvPicPr>
        <p:blipFill>
          <a:blip r:embed="rId4"/>
          <a:stretch>
            <a:fillRect/>
          </a:stretch>
        </p:blipFill>
        <p:spPr>
          <a:xfrm>
            <a:off x="4988052" y="3387852"/>
            <a:ext cx="219456" cy="219456"/>
          </a:xfrm>
          <a:prstGeom prst="rect">
            <a:avLst/>
          </a:prstGeom>
        </p:spPr>
      </p:pic>
      <p:sp>
        <p:nvSpPr>
          <p:cNvPr id="22" name="Text 16"/>
          <p:cNvSpPr txBox="1"/>
          <p:nvPr/>
        </p:nvSpPr>
        <p:spPr>
          <a:xfrm>
            <a:off x="54635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Phần 4 · Kế hoạch &amp; rủi ro</a:t>
            </a:r>
            <a:endParaRPr lang="en-US" sz="1400" dirty="0"/>
          </a:p>
        </p:txBody>
      </p:sp>
      <p:sp>
        <p:nvSpPr>
          <p:cNvPr id="23" name="Text 17"/>
          <p:cNvSpPr txBox="1"/>
          <p:nvPr/>
        </p:nvSpPr>
        <p:spPr>
          <a:xfrm>
            <a:off x="54635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Việc cần làm kèm hạn trước Buổi 5, rủi ro dữ liệu và cách kiểm soát, cần mentor hỗ trợ gì.</a:t>
            </a:r>
            <a:endParaRPr lang="en-US" sz="1300" dirty="0"/>
          </a:p>
        </p:txBody>
      </p:sp>
      <p:sp>
        <p:nvSpPr>
          <p:cNvPr id="24"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25"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ĐỀ CƯƠNG · PHẦN 2</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Năm thành phần của toolkit</a:t>
            </a:r>
            <a:endParaRPr lang="en-US" sz="25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57200"/>
                <a:gridCol w="2651760"/>
                <a:gridCol w="3566160"/>
                <a:gridCol w="155448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Thành phần</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Yêu cầu tối thiểu</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Nguồn</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1</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Thư viện prompt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 10 prompt, phân nhóm theo tình huống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Buổi 1, lab Buổi 4</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2</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Trợ lý NotebookLM</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Nạp tài liệu bộ phận, hỏi đáp có trích dẫn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Buổi 2</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3</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Ghi âm → văn bản → tóm tắt → CRM</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Các bước, công cụ, mẫu tóm tắt, bước che dữ liệu</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ASM 1</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4</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Tài liệu hướng dẫn khách</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1 ảnh/infographic hoặc video 60–90 giây có phụ đề</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Lab Buổi 3</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5</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Số liệu trước và sau</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Ít nhất 2 chỉ số, đo thật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Phần 3</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Chỉ số gợi ý: thời gian ghi chú CRM, soạn email khiếu nại, tổng hợp báo cáo ca, số lần hỏi TL, điểm QA tự chấm.</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ROLE PLAY VỚI CÔ GIÁO AI · 8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Luyện 3 vòng cùng "Cô Hạnh"</a:t>
            </a:r>
            <a:endParaRPr lang="en-US" sz="2500" dirty="0"/>
          </a:p>
        </p:txBody>
      </p:sp>
      <p:sp>
        <p:nvSpPr>
          <p:cNvPr id="4" name="Shape 2"/>
          <p:cNvSpPr/>
          <p:nvPr/>
        </p:nvSpPr>
        <p:spPr>
          <a:xfrm>
            <a:off x="457200" y="1280160"/>
            <a:ext cx="8229600" cy="2852928"/>
          </a:xfrm>
          <a:prstGeom prst="roundRect">
            <a:avLst>
              <a:gd name="adj" fmla="val 2564"/>
            </a:avLst>
          </a:prstGeom>
          <a:solidFill>
            <a:srgbClr val="17262C"/>
          </a:solidFill>
          <a:ln w="12700">
            <a:solidFill>
              <a:srgbClr val="17262C"/>
            </a:solidFill>
            <a:prstDash val="solid"/>
          </a:ln>
        </p:spPr>
      </p:sp>
      <p:sp>
        <p:nvSpPr>
          <p:cNvPr id="5" name="Text 3"/>
          <p:cNvSpPr txBox="1"/>
          <p:nvPr/>
        </p:nvSpPr>
        <p:spPr>
          <a:xfrm>
            <a:off x="685800" y="1417320"/>
            <a:ext cx="7772400" cy="2578608"/>
          </a:xfrm>
          <a:prstGeom prst="rect">
            <a:avLst/>
          </a:prstGeom>
          <a:noFill/>
          <a:ln/>
        </p:spPr>
        <p:txBody>
          <a:bodyPr wrap="square" lIns="0" tIns="0" rIns="0" bIns="0" rtlCol="0" anchor="t"/>
          <a:lstStyle/>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Bạn là "Cô Hạnh", trưởng nhóm QA 10 năm kinh nghiệm tại một tổng đài TMĐT, kiêm</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đào tạo ứng dụng AI cho nhân viên CSKH. Đóng vai này suốt cuộc trò chuyện.</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Bối cảnh: tôi đang học dùng GenAI để phân loại ticket, chấm QA, luyện roleplay,</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và đang soạn đề cương sản phẩm "Bộ công cụ AI ca trực".</a:t>
            </a:r>
            <a:endParaRPr lang="en-US" sz="950" dirty="0"/>
          </a:p>
          <a:p>
            <a:pPr indent="0" marL="0">
              <a:lnSpc>
                <a:spcPct val="105000"/>
              </a:lnSpc>
              <a:buNone/>
            </a:pP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Vòng 1: Đưa 3 ticket hư cấu, đã ẩn danh (ít nhất 1 câu mỉa mai). Tôi tự gắn chủ</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  đề, cảm xúc, ưu tiên. Chấm từng ticket, chỉ ra chỗ tôi đọc sai tín hiệu.</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Vòng 2: Đưa 1 transcript hư cấu ~10 lượt thoại. Tôi viết prompt chấm QA. Chấm</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  prompt: tiêu chí rõ, dẫn chứng nguyên văn, giới hạn giọng điệu, che dữ liệu.</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  Gợi ý cách sửa nhưng ĐỪNG viết hộ toàn bộ.</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Vòng 3: Chất vấn đề cương của tôi như người duyệt dự án: bài toán, 5 thành</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  phần, 2 chỉ số đo trước và sau, cách đo công bằng, rủi ro dữ liệu.</a:t>
            </a:r>
            <a:endParaRPr lang="en-US" sz="950" dirty="0"/>
          </a:p>
          <a:p>
            <a:pPr indent="0" marL="0">
              <a:lnSpc>
                <a:spcPct val="105000"/>
              </a:lnSpc>
              <a:buNone/>
            </a:pP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Sau 3 vòng, tổng kết 3 điểm mạnh và 3 điểm tôi cần cải thiện nhất.</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Thẳng thắn, khích lệ, ngắn gọn. Mỗi lần chỉ hỏi một việc. Bắt đầu với Vòng 1.</a:t>
            </a:r>
            <a:endParaRPr lang="en-US" sz="950" dirty="0"/>
          </a:p>
        </p:txBody>
      </p:sp>
      <p:sp>
        <p:nvSpPr>
          <p:cNvPr id="6" name="Shape 4"/>
          <p:cNvSpPr/>
          <p:nvPr/>
        </p:nvSpPr>
        <p:spPr>
          <a:xfrm>
            <a:off x="457200" y="4242816"/>
            <a:ext cx="329184" cy="329184"/>
          </a:xfrm>
          <a:prstGeom prst="ellipse">
            <a:avLst/>
          </a:prstGeom>
          <a:solidFill>
            <a:srgbClr val="F2994A"/>
          </a:solidFill>
          <a:ln w="12700">
            <a:solidFill>
              <a:srgbClr val="F2994A"/>
            </a:solidFill>
            <a:prstDash val="solid"/>
          </a:ln>
        </p:spPr>
      </p:sp>
      <p:pic>
        <p:nvPicPr>
          <p:cNvPr id="7" name="Image 0" descr="preencoded.png">    </p:cNvPr>
          <p:cNvPicPr>
            <a:picLocks noChangeAspect="1"/>
          </p:cNvPicPr>
          <p:nvPr/>
        </p:nvPicPr>
        <p:blipFill>
          <a:blip r:embed="rId1"/>
          <a:stretch>
            <a:fillRect/>
          </a:stretch>
        </p:blipFill>
        <p:spPr>
          <a:xfrm>
            <a:off x="542788" y="4328404"/>
            <a:ext cx="158008" cy="158008"/>
          </a:xfrm>
          <a:prstGeom prst="rect">
            <a:avLst/>
          </a:prstGeom>
        </p:spPr>
      </p:pic>
      <p:sp>
        <p:nvSpPr>
          <p:cNvPr id="8"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50" dirty="0">
                <a:solidFill>
                  <a:srgbClr val="1F2A30"/>
                </a:solidFill>
                <a:latin typeface="Calibri" pitchFamily="34" charset="0"/>
                <a:ea typeface="Calibri" pitchFamily="34" charset="-122"/>
                <a:cs typeface="Calibri" pitchFamily="34" charset="-120"/>
              </a:rPr>
              <a:t>Mục tiêu: đúng </a:t>
            </a:r>
            <a:pPr indent="0" marL="0">
              <a:buNone/>
            </a:pPr>
            <a:r>
              <a:rPr lang="en-US" sz="1150" b="1" dirty="0">
                <a:solidFill>
                  <a:srgbClr val="1F2A30"/>
                </a:solidFill>
                <a:latin typeface="Calibri" pitchFamily="34" charset="0"/>
                <a:ea typeface="Calibri" pitchFamily="34" charset="-122"/>
                <a:cs typeface="Calibri" pitchFamily="34" charset="-120"/>
              </a:rPr>
              <a:t>≥ 2/3 ticket</a:t>
            </a:r>
            <a:pPr indent="0" marL="0">
              <a:buNone/>
            </a:pPr>
            <a:r>
              <a:rPr lang="en-US" sz="1150" dirty="0">
                <a:solidFill>
                  <a:srgbClr val="1F2A30"/>
                </a:solidFill>
                <a:latin typeface="Calibri" pitchFamily="34" charset="0"/>
                <a:ea typeface="Calibri" pitchFamily="34" charset="-122"/>
                <a:cs typeface="Calibri" pitchFamily="34" charset="-120"/>
              </a:rPr>
              <a:t>, prompt QA đủ ý sau tối đa 2 lần sửa, bảo vệ được </a:t>
            </a:r>
            <a:pPr indent="0" marL="0">
              <a:buNone/>
            </a:pPr>
            <a:r>
              <a:rPr lang="en-US" sz="1150" b="1" dirty="0">
                <a:solidFill>
                  <a:srgbClr val="1F2A30"/>
                </a:solidFill>
                <a:latin typeface="Calibri" pitchFamily="34" charset="0"/>
                <a:ea typeface="Calibri" pitchFamily="34" charset="-122"/>
                <a:cs typeface="Calibri" pitchFamily="34" charset="-120"/>
              </a:rPr>
              <a:t>cách đo có số mẫu</a:t>
            </a:r>
            <a:pPr indent="0" marL="0">
              <a:buNone/>
            </a:pPr>
            <a:r>
              <a:rPr lang="en-US" sz="1150" dirty="0">
                <a:solidFill>
                  <a:srgbClr val="1F2A30"/>
                </a:solidFill>
                <a:latin typeface="Calibri" pitchFamily="34" charset="0"/>
                <a:ea typeface="Calibri" pitchFamily="34" charset="-122"/>
                <a:cs typeface="Calibri" pitchFamily="34" charset="-120"/>
              </a:rPr>
              <a:t>.</a:t>
            </a:r>
            <a:endParaRPr lang="en-US" sz="115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TỔNG KẾT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Bạn đã học được gì</a:t>
            </a:r>
            <a:endParaRPr lang="en-US" sz="2500" dirty="0"/>
          </a:p>
        </p:txBody>
      </p:sp>
      <p:sp>
        <p:nvSpPr>
          <p:cNvPr id="4" name="Shape 2"/>
          <p:cNvSpPr/>
          <p:nvPr/>
        </p:nvSpPr>
        <p:spPr>
          <a:xfrm>
            <a:off x="457200" y="1490472"/>
            <a:ext cx="329184" cy="329184"/>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542788" y="1576060"/>
            <a:ext cx="158008" cy="158008"/>
          </a:xfrm>
          <a:prstGeom prst="rect">
            <a:avLst/>
          </a:prstGeom>
        </p:spPr>
      </p:pic>
      <p:sp>
        <p:nvSpPr>
          <p:cNvPr id="6" name="Text 3"/>
          <p:cNvSpPr txBox="1"/>
          <p:nvPr/>
        </p:nvSpPr>
        <p:spPr>
          <a:xfrm>
            <a:off x="914400" y="1371600"/>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6 điểm chạm</a:t>
            </a:r>
            <a:pPr indent="0" marL="0">
              <a:buNone/>
            </a:pPr>
            <a:r>
              <a:rPr lang="en-US" sz="1450" dirty="0">
                <a:solidFill>
                  <a:srgbClr val="1F2A30"/>
                </a:solidFill>
                <a:latin typeface="Calibri" pitchFamily="34" charset="0"/>
                <a:ea typeface="Calibri" pitchFamily="34" charset="-122"/>
                <a:cs typeface="Calibri" pitchFamily="34" charset="-120"/>
              </a:rPr>
              <a:t>: tag, cảm xúc, churn (phân tích); macro, QA, roleplay.</a:t>
            </a:r>
            <a:endParaRPr lang="en-US" sz="1450" dirty="0"/>
          </a:p>
        </p:txBody>
      </p:sp>
      <p:sp>
        <p:nvSpPr>
          <p:cNvPr id="7" name="Shape 4"/>
          <p:cNvSpPr/>
          <p:nvPr/>
        </p:nvSpPr>
        <p:spPr>
          <a:xfrm>
            <a:off x="457200" y="2057400"/>
            <a:ext cx="329184" cy="329184"/>
          </a:xfrm>
          <a:prstGeom prst="ellipse">
            <a:avLst/>
          </a:prstGeom>
          <a:solidFill>
            <a:srgbClr val="0E7C7B"/>
          </a:solidFill>
          <a:ln w="12700">
            <a:solidFill>
              <a:srgbClr val="0E7C7B"/>
            </a:solidFill>
            <a:prstDash val="solid"/>
          </a:ln>
        </p:spPr>
      </p:sp>
      <p:pic>
        <p:nvPicPr>
          <p:cNvPr id="8" name="Image 1" descr="preencoded.png">    </p:cNvPr>
          <p:cNvPicPr>
            <a:picLocks noChangeAspect="1"/>
          </p:cNvPicPr>
          <p:nvPr/>
        </p:nvPicPr>
        <p:blipFill>
          <a:blip r:embed="rId2"/>
          <a:stretch>
            <a:fillRect/>
          </a:stretch>
        </p:blipFill>
        <p:spPr>
          <a:xfrm>
            <a:off x="542788" y="2142988"/>
            <a:ext cx="158008" cy="158008"/>
          </a:xfrm>
          <a:prstGeom prst="rect">
            <a:avLst/>
          </a:prstGeom>
        </p:spPr>
      </p:pic>
      <p:sp>
        <p:nvSpPr>
          <p:cNvPr id="9" name="Text 5"/>
          <p:cNvSpPr txBox="1"/>
          <p:nvPr/>
        </p:nvSpPr>
        <p:spPr>
          <a:xfrm>
            <a:off x="914400" y="1938528"/>
            <a:ext cx="4754880" cy="566928"/>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Phân loại: </a:t>
            </a:r>
            <a:pPr indent="0" marL="0">
              <a:buNone/>
            </a:pPr>
            <a:r>
              <a:rPr lang="en-US" sz="1450" b="1" dirty="0">
                <a:solidFill>
                  <a:srgbClr val="1F2A30"/>
                </a:solidFill>
                <a:latin typeface="Calibri" pitchFamily="34" charset="0"/>
                <a:ea typeface="Calibri" pitchFamily="34" charset="-122"/>
                <a:cs typeface="Calibri" pitchFamily="34" charset="-120"/>
              </a:rPr>
              <a:t>nhãn cố định</a:t>
            </a:r>
            <a:pPr indent="0" marL="0">
              <a:buNone/>
            </a:pPr>
            <a:r>
              <a:rPr lang="en-US" sz="1450" dirty="0">
                <a:solidFill>
                  <a:srgbClr val="1F2A30"/>
                </a:solidFill>
                <a:latin typeface="Calibri" pitchFamily="34" charset="0"/>
                <a:ea typeface="Calibri" pitchFamily="34" charset="-122"/>
                <a:cs typeface="Calibri" pitchFamily="34" charset="-120"/>
              </a:rPr>
              <a:t>, bằng chứng nguyên văn, "Cần kiểm tra"; coi chừng </a:t>
            </a:r>
            <a:pPr indent="0" marL="0">
              <a:buNone/>
            </a:pPr>
            <a:r>
              <a:rPr lang="en-US" sz="1450" b="1" dirty="0">
                <a:solidFill>
                  <a:srgbClr val="1F2A30"/>
                </a:solidFill>
                <a:latin typeface="Calibri" pitchFamily="34" charset="0"/>
                <a:ea typeface="Calibri" pitchFamily="34" charset="-122"/>
                <a:cs typeface="Calibri" pitchFamily="34" charset="-120"/>
              </a:rPr>
              <a:t>mỉa mai</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0" name="Shape 6"/>
          <p:cNvSpPr/>
          <p:nvPr/>
        </p:nvSpPr>
        <p:spPr>
          <a:xfrm>
            <a:off x="457200" y="2624328"/>
            <a:ext cx="329184" cy="329184"/>
          </a:xfrm>
          <a:prstGeom prst="ellipse">
            <a:avLst/>
          </a:prstGeom>
          <a:solidFill>
            <a:srgbClr val="0E7C7B"/>
          </a:solidFill>
          <a:ln w="12700">
            <a:solidFill>
              <a:srgbClr val="0E7C7B"/>
            </a:solidFill>
            <a:prstDash val="solid"/>
          </a:ln>
        </p:spPr>
      </p:sp>
      <p:pic>
        <p:nvPicPr>
          <p:cNvPr id="11" name="Image 2" descr="preencoded.png">    </p:cNvPr>
          <p:cNvPicPr>
            <a:picLocks noChangeAspect="1"/>
          </p:cNvPicPr>
          <p:nvPr/>
        </p:nvPicPr>
        <p:blipFill>
          <a:blip r:embed="rId3"/>
          <a:stretch>
            <a:fillRect/>
          </a:stretch>
        </p:blipFill>
        <p:spPr>
          <a:xfrm>
            <a:off x="542788" y="2709916"/>
            <a:ext cx="158008" cy="158008"/>
          </a:xfrm>
          <a:prstGeom prst="rect">
            <a:avLst/>
          </a:prstGeom>
        </p:spPr>
      </p:pic>
      <p:sp>
        <p:nvSpPr>
          <p:cNvPr id="12" name="Text 7"/>
          <p:cNvSpPr txBox="1"/>
          <p:nvPr/>
        </p:nvSpPr>
        <p:spPr>
          <a:xfrm>
            <a:off x="914400" y="2505456"/>
            <a:ext cx="4754880" cy="566928"/>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QA: </a:t>
            </a:r>
            <a:pPr indent="0" marL="0">
              <a:buNone/>
            </a:pPr>
            <a:r>
              <a:rPr lang="en-US" sz="1450" b="1" dirty="0">
                <a:solidFill>
                  <a:srgbClr val="1F2A30"/>
                </a:solidFill>
                <a:latin typeface="Calibri" pitchFamily="34" charset="0"/>
                <a:ea typeface="Calibri" pitchFamily="34" charset="-122"/>
                <a:cs typeface="Calibri" pitchFamily="34" charset="-120"/>
              </a:rPr>
              <a:t>bộ tiêu chí + dẫn chứng</a:t>
            </a:r>
            <a:pPr indent="0" marL="0">
              <a:buNone/>
            </a:pPr>
            <a:r>
              <a:rPr lang="en-US" sz="1450" dirty="0">
                <a:solidFill>
                  <a:srgbClr val="1F2A30"/>
                </a:solidFill>
                <a:latin typeface="Calibri" pitchFamily="34" charset="0"/>
                <a:ea typeface="Calibri" pitchFamily="34" charset="-122"/>
                <a:cs typeface="Calibri" pitchFamily="34" charset="-120"/>
              </a:rPr>
              <a:t>, điểm AI chỉ là </a:t>
            </a:r>
            <a:pPr indent="0" marL="0">
              <a:buNone/>
            </a:pPr>
            <a:r>
              <a:rPr lang="en-US" sz="1450" b="1" dirty="0">
                <a:solidFill>
                  <a:srgbClr val="1F2A30"/>
                </a:solidFill>
                <a:latin typeface="Calibri" pitchFamily="34" charset="0"/>
                <a:ea typeface="Calibri" pitchFamily="34" charset="-122"/>
                <a:cs typeface="Calibri" pitchFamily="34" charset="-120"/>
              </a:rPr>
              <a:t>gợi ý sơ bộ</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3" name="Shape 8"/>
          <p:cNvSpPr/>
          <p:nvPr/>
        </p:nvSpPr>
        <p:spPr>
          <a:xfrm>
            <a:off x="457200" y="3191256"/>
            <a:ext cx="329184" cy="329184"/>
          </a:xfrm>
          <a:prstGeom prst="ellipse">
            <a:avLst/>
          </a:prstGeom>
          <a:solidFill>
            <a:srgbClr val="0E7C7B"/>
          </a:solidFill>
          <a:ln w="12700">
            <a:solidFill>
              <a:srgbClr val="0E7C7B"/>
            </a:solidFill>
            <a:prstDash val="solid"/>
          </a:ln>
        </p:spPr>
      </p:sp>
      <p:pic>
        <p:nvPicPr>
          <p:cNvPr id="14" name="Image 3" descr="preencoded.png">    </p:cNvPr>
          <p:cNvPicPr>
            <a:picLocks noChangeAspect="1"/>
          </p:cNvPicPr>
          <p:nvPr/>
        </p:nvPicPr>
        <p:blipFill>
          <a:blip r:embed="rId4"/>
          <a:stretch>
            <a:fillRect/>
          </a:stretch>
        </p:blipFill>
        <p:spPr>
          <a:xfrm>
            <a:off x="542788" y="3276844"/>
            <a:ext cx="158008" cy="158008"/>
          </a:xfrm>
          <a:prstGeom prst="rect">
            <a:avLst/>
          </a:prstGeom>
        </p:spPr>
      </p:pic>
      <p:sp>
        <p:nvSpPr>
          <p:cNvPr id="15" name="Text 9"/>
          <p:cNvSpPr txBox="1"/>
          <p:nvPr/>
        </p:nvSpPr>
        <p:spPr>
          <a:xfrm>
            <a:off x="914400" y="3072384"/>
            <a:ext cx="4754880" cy="566928"/>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Roleplay: nhân vật, </a:t>
            </a:r>
            <a:pPr indent="0" marL="0">
              <a:buNone/>
            </a:pPr>
            <a:r>
              <a:rPr lang="en-US" sz="1450" b="1" dirty="0">
                <a:solidFill>
                  <a:srgbClr val="1F2A30"/>
                </a:solidFill>
                <a:latin typeface="Calibri" pitchFamily="34" charset="0"/>
                <a:ea typeface="Calibri" pitchFamily="34" charset="-122"/>
                <a:cs typeface="Calibri" pitchFamily="34" charset="-120"/>
              </a:rPr>
              <a:t>dữ kiện chính sách</a:t>
            </a:r>
            <a:pPr indent="0" marL="0">
              <a:buNone/>
            </a:pPr>
            <a:r>
              <a:rPr lang="en-US" sz="1450" dirty="0">
                <a:solidFill>
                  <a:srgbClr val="1F2A30"/>
                </a:solidFill>
                <a:latin typeface="Calibri" pitchFamily="34" charset="0"/>
                <a:ea typeface="Calibri" pitchFamily="34" charset="-122"/>
                <a:cs typeface="Calibri" pitchFamily="34" charset="-120"/>
              </a:rPr>
              <a:t>, luật chơi, độ khó, chấm LEAST.</a:t>
            </a:r>
            <a:endParaRPr lang="en-US" sz="1450" dirty="0"/>
          </a:p>
        </p:txBody>
      </p:sp>
      <p:sp>
        <p:nvSpPr>
          <p:cNvPr id="16" name="Shape 10"/>
          <p:cNvSpPr/>
          <p:nvPr/>
        </p:nvSpPr>
        <p:spPr>
          <a:xfrm>
            <a:off x="457200" y="3758184"/>
            <a:ext cx="329184" cy="329184"/>
          </a:xfrm>
          <a:prstGeom prst="ellipse">
            <a:avLst/>
          </a:prstGeom>
          <a:solidFill>
            <a:srgbClr val="0E7C7B"/>
          </a:solidFill>
          <a:ln w="12700">
            <a:solidFill>
              <a:srgbClr val="0E7C7B"/>
            </a:solidFill>
            <a:prstDash val="solid"/>
          </a:ln>
        </p:spPr>
      </p:sp>
      <p:pic>
        <p:nvPicPr>
          <p:cNvPr id="17" name="Image 4" descr="preencoded.png">    </p:cNvPr>
          <p:cNvPicPr>
            <a:picLocks noChangeAspect="1"/>
          </p:cNvPicPr>
          <p:nvPr/>
        </p:nvPicPr>
        <p:blipFill>
          <a:blip r:embed="rId5"/>
          <a:stretch>
            <a:fillRect/>
          </a:stretch>
        </p:blipFill>
        <p:spPr>
          <a:xfrm>
            <a:off x="542788" y="3843772"/>
            <a:ext cx="158008" cy="158008"/>
          </a:xfrm>
          <a:prstGeom prst="rect">
            <a:avLst/>
          </a:prstGeom>
        </p:spPr>
      </p:pic>
      <p:sp>
        <p:nvSpPr>
          <p:cNvPr id="18" name="Text 11"/>
          <p:cNvSpPr txBox="1"/>
          <p:nvPr/>
        </p:nvSpPr>
        <p:spPr>
          <a:xfrm>
            <a:off x="914400" y="3639312"/>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Che → phân loại → kiểm → đếm → Top 5 → báo cáo</a:t>
            </a:r>
            <a:pPr indent="0" marL="0">
              <a:buNone/>
            </a:pPr>
            <a:r>
              <a:rPr lang="en-US" sz="1450" dirty="0">
                <a:solidFill>
                  <a:srgbClr val="1F2A30"/>
                </a:solidFill>
                <a:latin typeface="Calibri" pitchFamily="34" charset="0"/>
                <a:ea typeface="Calibri" pitchFamily="34" charset="-122"/>
                <a:cs typeface="Calibri" pitchFamily="34" charset="-120"/>
              </a:rPr>
              <a:t>; đo trước và sau.</a:t>
            </a:r>
            <a:endParaRPr lang="en-US" sz="1450" dirty="0"/>
          </a:p>
        </p:txBody>
      </p:sp>
      <p:sp>
        <p:nvSpPr>
          <p:cNvPr id="19" name="Shape 12"/>
          <p:cNvSpPr/>
          <p:nvPr/>
        </p:nvSpPr>
        <p:spPr>
          <a:xfrm>
            <a:off x="5897880" y="1371600"/>
            <a:ext cx="2788920" cy="3154680"/>
          </a:xfrm>
          <a:prstGeom prst="roundRect">
            <a:avLst>
              <a:gd name="adj" fmla="val 3279"/>
            </a:avLst>
          </a:prstGeom>
          <a:solidFill>
            <a:srgbClr val="0B3B45"/>
          </a:solidFill>
          <a:ln w="12700">
            <a:solidFill>
              <a:srgbClr val="0B3B45"/>
            </a:solidFill>
            <a:prstDash val="solid"/>
          </a:ln>
        </p:spPr>
      </p:sp>
      <p:sp>
        <p:nvSpPr>
          <p:cNvPr id="20" name="Shape 13"/>
          <p:cNvSpPr/>
          <p:nvPr/>
        </p:nvSpPr>
        <p:spPr>
          <a:xfrm>
            <a:off x="6126480" y="1572768"/>
            <a:ext cx="502920" cy="502920"/>
          </a:xfrm>
          <a:prstGeom prst="ellipse">
            <a:avLst/>
          </a:prstGeom>
          <a:solidFill>
            <a:srgbClr val="F2994A"/>
          </a:solidFill>
          <a:ln w="12700">
            <a:solidFill>
              <a:srgbClr val="F2994A"/>
            </a:solidFill>
            <a:prstDash val="solid"/>
          </a:ln>
        </p:spPr>
      </p:sp>
      <p:pic>
        <p:nvPicPr>
          <p:cNvPr id="21" name="Image 5" descr="preencoded.png">    </p:cNvPr>
          <p:cNvPicPr>
            <a:picLocks noChangeAspect="1"/>
          </p:cNvPicPr>
          <p:nvPr/>
        </p:nvPicPr>
        <p:blipFill>
          <a:blip r:embed="rId6"/>
          <a:stretch>
            <a:fillRect/>
          </a:stretch>
        </p:blipFill>
        <p:spPr>
          <a:xfrm>
            <a:off x="6257239" y="1703527"/>
            <a:ext cx="241402" cy="241402"/>
          </a:xfrm>
          <a:prstGeom prst="rect">
            <a:avLst/>
          </a:prstGeom>
        </p:spPr>
      </p:pic>
      <p:sp>
        <p:nvSpPr>
          <p:cNvPr id="22" name="Text 14"/>
          <p:cNvSpPr txBox="1"/>
          <p:nvPr/>
        </p:nvSpPr>
        <p:spPr>
          <a:xfrm>
            <a:off x="6126480" y="2194560"/>
            <a:ext cx="2377440" cy="274320"/>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TIẾP THEO</a:t>
            </a:r>
            <a:endParaRPr lang="en-US" sz="1050" dirty="0"/>
          </a:p>
        </p:txBody>
      </p:sp>
      <p:sp>
        <p:nvSpPr>
          <p:cNvPr id="23" name="Text 15"/>
          <p:cNvSpPr txBox="1"/>
          <p:nvPr/>
        </p:nvSpPr>
        <p:spPr>
          <a:xfrm>
            <a:off x="6126480" y="2514600"/>
            <a:ext cx="2377440" cy="1874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Buổi 5 · Hoàn thiện &amp; Showcase:</a:t>
            </a:r>
            <a:pPr indent="0" marL="0">
              <a:buNone/>
            </a:pPr>
            <a:r>
              <a:rPr lang="en-US" sz="1400" dirty="0">
                <a:solidFill>
                  <a:srgbClr val="FFFFFF"/>
                </a:solidFill>
                <a:latin typeface="Calibri" pitchFamily="34" charset="0"/>
                <a:ea typeface="Calibri" pitchFamily="34" charset="-122"/>
                <a:cs typeface="Calibri" pitchFamily="34" charset="-120"/>
              </a:rPr>
              <a:t> ráp đủ 5 thành phần, trình bày 5 phút, peer review, nộp </a:t>
            </a:r>
            <a:pPr indent="0" marL="0">
              <a:buNone/>
            </a:pPr>
            <a:r>
              <a:rPr lang="en-US" sz="1400" b="1" dirty="0">
                <a:solidFill>
                  <a:srgbClr val="FFFFFF"/>
                </a:solidFill>
                <a:latin typeface="Calibri" pitchFamily="34" charset="0"/>
                <a:ea typeface="Calibri" pitchFamily="34" charset="-122"/>
                <a:cs typeface="Calibri" pitchFamily="34" charset="-120"/>
              </a:rPr>
              <a:t>ASM 2 (30%)</a:t>
            </a:r>
            <a:pP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1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4</a:t>
            </a:r>
            <a:endParaRPr lang="en-US" sz="900" dirty="0"/>
          </a:p>
        </p:txBody>
      </p:sp>
      <p:sp>
        <p:nvSpPr>
          <p:cNvPr id="25" name="Text 1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1097280" y="2926080"/>
            <a:ext cx="3657600" cy="3657600"/>
          </a:xfrm>
          <a:prstGeom prst="ellipse">
            <a:avLst/>
          </a:prstGeom>
          <a:solidFill>
            <a:srgbClr val="0E7C7B">
              <a:alpha val="40000"/>
            </a:srgbClr>
          </a:solidFill>
          <a:ln w="12700">
            <a:solidFill>
              <a:srgbClr val="0E7C7B">
                <a:alpha val="0"/>
              </a:srgbClr>
            </a:solidFill>
            <a:prstDash val="solid"/>
          </a:ln>
        </p:spPr>
      </p:sp>
      <p:sp>
        <p:nvSpPr>
          <p:cNvPr id="3" name="Text 1"/>
          <p:cNvSpPr txBox="1"/>
          <p:nvPr/>
        </p:nvSpPr>
        <p:spPr>
          <a:xfrm>
            <a:off x="548640" y="822960"/>
            <a:ext cx="8046720"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Cảm ơn bạn!</a:t>
            </a:r>
            <a:endParaRPr lang="en-US" sz="3600" dirty="0"/>
          </a:p>
        </p:txBody>
      </p:sp>
      <p:sp>
        <p:nvSpPr>
          <p:cNvPr id="4" name="Text 2"/>
          <p:cNvSpPr txBox="1"/>
          <p:nvPr/>
        </p:nvSpPr>
        <p:spPr>
          <a:xfrm>
            <a:off x="548640" y="1645920"/>
            <a:ext cx="8046720" cy="45720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Hẹn gặp lại ở Buổi 5 · Hoàn thiện &amp; Showcase</a:t>
            </a:r>
            <a:endParaRPr lang="en-US" sz="1500" dirty="0"/>
          </a:p>
        </p:txBody>
      </p:sp>
      <p:sp>
        <p:nvSpPr>
          <p:cNvPr id="5" name="Text 3"/>
          <p:cNvSpPr txBox="1"/>
          <p:nvPr/>
        </p:nvSpPr>
        <p:spPr>
          <a:xfrm>
            <a:off x="3291840" y="2423160"/>
            <a:ext cx="5486400" cy="274320"/>
          </a:xfrm>
          <a:prstGeom prst="rect">
            <a:avLst/>
          </a:prstGeom>
          <a:noFill/>
          <a:ln/>
        </p:spPr>
        <p:txBody>
          <a:bodyPr wrap="square" lIns="0" tIns="0" rIns="0" bIns="0" rtlCol="0" anchor="t"/>
          <a:lstStyle/>
          <a:p>
            <a:pPr indent="0" marL="0">
              <a:buNone/>
            </a:pPr>
            <a:r>
              <a:rPr lang="en-US" sz="1100" b="1" spc="200" kern="0" dirty="0">
                <a:solidFill>
                  <a:srgbClr val="F2994A"/>
                </a:solidFill>
                <a:latin typeface="Calibri" pitchFamily="34" charset="0"/>
                <a:ea typeface="Calibri" pitchFamily="34" charset="-122"/>
                <a:cs typeface="Calibri" pitchFamily="34" charset="-120"/>
              </a:rPr>
              <a:t>VIỆC CẦN LÀM TRƯỚC BUỔI SAU</a:t>
            </a:r>
            <a:endParaRPr lang="en-US" sz="1100" dirty="0"/>
          </a:p>
        </p:txBody>
      </p:sp>
      <p:sp>
        <p:nvSpPr>
          <p:cNvPr id="6" name="Text 4"/>
          <p:cNvSpPr txBox="1"/>
          <p:nvPr/>
        </p:nvSpPr>
        <p:spPr>
          <a:xfrm>
            <a:off x="3291840" y="2743200"/>
            <a:ext cx="5394960" cy="1828800"/>
          </a:xfrm>
          <a:prstGeom prst="rect">
            <a:avLst/>
          </a:prstGeom>
          <a:noFill/>
          <a:ln/>
        </p:spPr>
        <p:txBody>
          <a:bodyPr wrap="square" lIns="0" tIns="0" rIns="0" bIns="0" rtlCol="0" anchor="t"/>
          <a:lstStyle/>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Hoàn thiện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đề cương</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"Bộ công cụ AI ca trực"</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Bắt đầu đo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số liệu "trước"</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cho 2 chỉ số</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Làm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Quiz Buổi 4</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trong ebook</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Để lại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feedback</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cho buổi học</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4 · GenAI tối ưu Call Center</dc:title>
  <dc:subject>PptxGenJS Presentation</dc:subject>
  <dc:creator>GenAI cho Call Center</dc:creator>
  <cp:lastModifiedBy>GenAI cho Call Center</cp:lastModifiedBy>
  <cp:revision>1</cp:revision>
  <dcterms:created xsi:type="dcterms:W3CDTF">2026-09-30T06:37:15Z</dcterms:created>
  <dcterms:modified xsi:type="dcterms:W3CDTF">2026-09-30T06:37:15Z</dcterms:modified>
</cp:coreProperties>
</file>