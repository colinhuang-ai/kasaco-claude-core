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lớp, nhắc lại Buổi 2 (NotebookLM, tóm tắt cuộc gọi). Hôm nay chuyển từ chữ sang hình: ảnh khách gửi, infographic, video. 10 phút đầu dành nhận xét chung ASM 1. Sản phẩm buổi này là thành phần (4) của Bộ công cụ AI ca trực.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lớp: mỗi ca bạn nhận bao nhiêu tin nhắn chỉ có ảnh? Hôm nay làm đúng như Lan, và thêm một việc: đặt 4 trợ lý AI lên bàn cân để biết dùng công cụ nào cho việc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này không có giờ nghỉ riêng: Lab kéo dài 35 phút, học viên có thể tự nghỉ ngắn trong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2–3 bài (đã ẩn tên học viên) minh họa từng lỗi. Không nhận xét cá nhân trước lớp. Nếu bài còn sót dữ liệu cá nhân, yêu cầu sửa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trung vào Gemini và ChatGPT vì phổ biến nhất với nhân viên CSKH. Khả năng này thường gọi là vision hay đa phương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cụ có sẵn: Windows dùng Snipping Tool hoặc Paint; iPhone dùng Sửa &gt; Đánh dấu (Markup); Android dùng trình chỉnh ảnh trong app Ảnh. Ảnh hay lọt: tên tài khoản góc trên, SĐT trên địa chỉ giao, 4 số cuối thẻ, OTP trên thanh thông báo. Ưu tiên công cụ AI công ty cấp phép nếu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tải ảnh gốc và hỏi "Lỗi gì đây?" thì AI trả lời dài, đoán mò, ảnh còn tên và SĐT. Che ảnh + prompt V-B-N-Đ-G thì AI trả về đúng 4 mục, đánh dấu chỗ không chắc. Prompt trích hóa đơn đầy đủ nằm trong ebook. Việc bắt AI tự cộng lại giúp phát hiện cả hai trường hợp: AI đọc sai số, hoặc hóa đơn thật sự sai lệch.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C. Highlight bán trong suốt vẫn lộ chữ bên dưới; dặn AI "đừng lưu" không thay được việc 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AI có thể đọc nhầm số (1 và 7, 0 và 8) và không biết ảnh có bị chỉnh sửa. Số liệu tiền phải đối soát trên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Nội dung đúng quan trọng hơn hình thức; chốt trước giúp tránh bước bịa hoặc sai tên nút.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cụ quay có sẵn: Windows 11 Snipping Tool (chế độ quay video); Mac Cmd + Shift + 5; iPhone nút Ghi màn hình trong Trung tâm điều khiển; Android nút Ghi màn hình trong cài đặt nhanh. Phụ đề hay sai: "ShopNhanh" thành "shop nhanh", "mã OTP" thành "mã ô tê pê". Một số tính năng nâng cao của CapCut cần gói trả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Mẫu tin nhắn gửi kèm (trong ebook): "Dạ em gửi anh/chị video hướng dẫn [TÊN THAO TÁC] (khoảng 1 phút). Anh/chị làm theo từng bước trong video giúp em nhé. Nếu đến bước nào chưa được, anh/chị chụp màn hình gửi em, em hỗ trợ tiếp ngay ạ." Luôn gửi tài liệu kèm lời dặn.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4 trợ lý: ChatGPT (OpenAI), Gemini (Google, gắn Gmail/Docs/Drive), Claude (Anthropic, văn bản dài), Grok (xAI, gắn mạng X). Cả 4 có gói miễn phí và trả phí; giới hạn và giá thay đổi thường xuyên, kiểm tra trang chính thức trước khi chấm chi phí. Quy định công ty luôn đứng trên kết quả so sánh.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chọn một người thắng. Kết luận hữu ích có dạng: dùng A để viết trả lời khách vì giọng tốt nhất, B để đọc ảnh vì trích số chính xác hơn, chỉ dùng C với dữ liệu nội bộ vì công ty đã phê duyệt. Chính xác và bảo mật quan trọng hơn tốc độ.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A: chưa có số liệu thì chọn lỗi mẫu ShopNhanh (ticket/tháng): thẻ đã lưu hết hạn 412, không nhận OTP 355, không biết hủy đơn Chờ xác nhận 290, không áp được mã giảm giá 241. Chỉ dùng ảnh mẫu đã ẩn danh do tổ chức cung cấp hoặc ảnh tài khoản test. Nếu thiếu ảnh, dùng đoạn mô tả ảnh mẫu PAY-402 trong ebook. Ở ShopNhanh, PAY-402 nghĩa là thẻ đã lưu hết hạn hoặc bị ngân hàng từ chối: hỏi học viên AI có đoán đúng không, ghi 1 điểm AI làm tốt và 1 điểm sai/thiếu.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Chưa xong trong lớp thì hoàn thiện ở nhà và mang tới phần chia sẻ; sản phẩm dùng lại trong Showcase Buổi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3 vòng: (1) ảnh lỗi thanh toán, còn tên và SĐT ở góc trên, khách bình tĩnh; (2) ảnh hóa đơn mờ, khách hỏi "sao tính tiền sai?", phải nói sẽ đối soát trên hệ thống; (3) khách lớn tuổi bực bội gửi 3 ảnh, một ảnh chứa OTP: nhắc khéo không gửi OTP cho ai, đồng cảm, gửi video kèm tin nhắn dễ hiểu.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1B, 2C, 3C, 4B, 5C, 6B, 7B, 8A. Câu 8 (voucher 50.000đ, hứa giờ giao) trừ nặng nhất ở tiêu chí Chính xác.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Quay lại câu chuyện Lan: 37 tấm ảnh giờ xử lý thế nào? Nhắc giữ lại tài liệu hướng dẫn và bảng so sánh cho Buổi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chia sẻ màn hình: đóng tab CRM, cửa sổ chat, ảnh có thông tin khách. Mời học viên để lại feedback qua dot. trên trang 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mở, không kèm lời giải. Mọi dữ liệu phải ẩn danh hoặc từ tài khoản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5760720" y="-822960"/>
            <a:ext cx="4572000" cy="4572000"/>
          </a:xfrm>
          <a:prstGeom prst="ellipse">
            <a:avLst/>
          </a:prstGeom>
          <a:solidFill>
            <a:srgbClr val="0E7C7B">
              <a:alpha val="45000"/>
            </a:srgbClr>
          </a:solidFill>
          <a:ln w="12700">
            <a:solidFill>
              <a:srgbClr val="0E7C7B">
                <a:alpha val="0"/>
              </a:srgbClr>
            </a:solidFill>
            <a:prstDash val="solid"/>
          </a:ln>
        </p:spPr>
      </p:sp>
      <p:sp>
        <p:nvSpPr>
          <p:cNvPr id="3" name="Shape 1"/>
          <p:cNvSpPr/>
          <p:nvPr/>
        </p:nvSpPr>
        <p:spPr>
          <a:xfrm>
            <a:off x="5989320" y="3429000"/>
            <a:ext cx="640080" cy="640080"/>
          </a:xfrm>
          <a:prstGeom prst="ellipse">
            <a:avLst/>
          </a:prstGeom>
          <a:solidFill>
            <a:srgbClr val="F2994A"/>
          </a:solidFill>
          <a:ln w="12700">
            <a:solidFill>
              <a:srgbClr val="F2994A"/>
            </a:solidFill>
            <a:prstDash val="solid"/>
          </a:ln>
        </p:spPr>
      </p:sp>
      <p:sp>
        <p:nvSpPr>
          <p:cNvPr id="4" name="Shape 2"/>
          <p:cNvSpPr/>
          <p:nvPr/>
        </p:nvSpPr>
        <p:spPr>
          <a:xfrm>
            <a:off x="6720840" y="1188720"/>
            <a:ext cx="1737360" cy="173736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7172554" y="1640434"/>
            <a:ext cx="833933" cy="833933"/>
          </a:xfrm>
          <a:prstGeom prst="rect">
            <a:avLst/>
          </a:prstGeom>
        </p:spPr>
      </p:pic>
      <p:sp>
        <p:nvSpPr>
          <p:cNvPr id="6" name="Text 3"/>
          <p:cNvSpPr txBox="1"/>
          <p:nvPr/>
        </p:nvSpPr>
        <p:spPr>
          <a:xfrm>
            <a:off x="548640" y="914400"/>
            <a:ext cx="5486400" cy="320040"/>
          </a:xfrm>
          <a:prstGeom prst="rect">
            <a:avLst/>
          </a:prstGeom>
          <a:noFill/>
          <a:ln/>
        </p:spPr>
        <p:txBody>
          <a:bodyPr wrap="square" lIns="0" tIns="0" rIns="0" bIns="0" rtlCol="0" anchor="t"/>
          <a:lstStyle/>
          <a:p>
            <a:pPr indent="0" marL="0">
              <a:buNone/>
            </a:pPr>
            <a:r>
              <a:rPr lang="en-US" sz="1300" b="1" spc="300" kern="0" dirty="0">
                <a:solidFill>
                  <a:srgbClr val="F2994A"/>
                </a:solidFill>
                <a:latin typeface="Calibri" pitchFamily="34" charset="0"/>
                <a:ea typeface="Calibri" pitchFamily="34" charset="-122"/>
                <a:cs typeface="Calibri" pitchFamily="34" charset="-120"/>
              </a:rPr>
              <a:t>BUỔI 3 / 5  ·  120 PHÚT</a:t>
            </a:r>
            <a:endParaRPr lang="en-US" sz="1300" dirty="0"/>
          </a:p>
        </p:txBody>
      </p:sp>
      <p:sp>
        <p:nvSpPr>
          <p:cNvPr id="7" name="Text 4"/>
          <p:cNvSpPr txBox="1"/>
          <p:nvPr/>
        </p:nvSpPr>
        <p:spPr>
          <a:xfrm>
            <a:off x="548640" y="1325880"/>
            <a:ext cx="576072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Hình ảnh, Video &amp; So sánh AI</a:t>
            </a:r>
            <a:endParaRPr lang="en-US" sz="3600" dirty="0"/>
          </a:p>
        </p:txBody>
      </p:sp>
      <p:sp>
        <p:nvSpPr>
          <p:cNvPr id="8" name="Text 5"/>
          <p:cNvSpPr txBox="1"/>
          <p:nvPr/>
        </p:nvSpPr>
        <p:spPr>
          <a:xfrm>
            <a:off x="548640" y="2880360"/>
            <a:ext cx="5669280" cy="82296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Dùng AI đọc ảnh khách gửi, làm infographic và video hướng dẫn có phụ đề, đặt 4 trợ lý AI lên bàn cân.</a:t>
            </a:r>
            <a:endParaRPr lang="en-US" sz="1500" dirty="0"/>
          </a:p>
        </p:txBody>
      </p:sp>
      <p:sp>
        <p:nvSpPr>
          <p:cNvPr id="9" name="Text 6"/>
          <p:cNvSpPr txBox="1"/>
          <p:nvPr/>
        </p:nvSpPr>
        <p:spPr>
          <a:xfrm>
            <a:off x="548640" y="4434840"/>
            <a:ext cx="6400800" cy="274320"/>
          </a:xfrm>
          <a:prstGeom prst="rect">
            <a:avLst/>
          </a:prstGeom>
          <a:noFill/>
          <a:ln/>
        </p:spPr>
        <p:txBody>
          <a:bodyPr wrap="square" lIns="0" tIns="0" rIns="0" bIns="0" rtlCol="0" anchor="t"/>
          <a:lstStyle/>
          <a:p>
            <a:pPr indent="0" marL="0">
              <a:buNone/>
            </a:pPr>
            <a:r>
              <a:rPr lang="en-US" sz="1000" dirty="0">
                <a:solidFill>
                  <a:srgbClr val="BFE3DD"/>
                </a:solidFill>
                <a:latin typeface="Calibri" pitchFamily="34" charset="0"/>
                <a:ea typeface="Calibri" pitchFamily="34" charset="-122"/>
                <a:cs typeface="Calibri" pitchFamily="34" charset="-120"/>
              </a:rPr>
              <a:t>Ứng dụng GenAI cho nhân viên support Call Center  ·  Chuyển thể AIE102x.1.0_VN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CÂU CHUYỆN MỞ ĐẦU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Lan và 37 tấm ảnh chụp màn hình</a:t>
            </a:r>
            <a:endParaRPr lang="en-US" sz="2500" dirty="0"/>
          </a:p>
        </p:txBody>
      </p:sp>
      <p:sp>
        <p:nvSpPr>
          <p:cNvPr id="4" name="Text 2"/>
          <p:cNvSpPr txBox="1"/>
          <p:nvPr/>
        </p:nvSpPr>
        <p:spPr>
          <a:xfrm>
            <a:off x="457200" y="1371600"/>
            <a:ext cx="4846320" cy="3200400"/>
          </a:xfrm>
          <a:prstGeom prst="rect">
            <a:avLst/>
          </a:prstGeom>
          <a:noFill/>
          <a:ln/>
        </p:spPr>
        <p:txBody>
          <a:bodyPr wrap="square" lIns="0" tIns="0" rIns="0" bIns="0" rtlCol="0" anchor="t"/>
          <a:lstStyle/>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Ca chiều thứ Sáu, fanpage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ShopNhanh</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có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37 tin nhắn chỉ gồm một tấm ảnh</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lỗi thanh toán, hóa đơn mờ, app treo ở bước "Xác nhận đơn".</a:t>
            </a:r>
            <a:endParaRPr lang="en-US" sz="1500" dirty="0"/>
          </a:p>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Lan phóng to từng ảnh, đoán khách kẹt ở đâu, rồi gõ lại hướng dẫn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lần thứ 37</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Khách vẫn hỏi: "Nút đó nằm ở đâu em?"</a:t>
            </a:r>
            <a:endParaRPr lang="en-US" sz="1500" dirty="0"/>
          </a:p>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Tuần sau Lan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che thông tin</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rồi nhờ AI đọc ảnh, làm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infographic 5 bước</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bằng Canva AI và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video 75 giây có phụ đề</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bằng CapCut.</a:t>
            </a:r>
            <a:endParaRPr lang="en-US" sz="1500" dirty="0"/>
          </a:p>
        </p:txBody>
      </p:sp>
      <p:sp>
        <p:nvSpPr>
          <p:cNvPr id="5" name="Shape 3"/>
          <p:cNvSpPr/>
          <p:nvPr/>
        </p:nvSpPr>
        <p:spPr>
          <a:xfrm>
            <a:off x="5623560" y="1371600"/>
            <a:ext cx="3063240" cy="3154680"/>
          </a:xfrm>
          <a:prstGeom prst="roundRect">
            <a:avLst>
              <a:gd name="adj" fmla="val 3582"/>
            </a:avLst>
          </a:prstGeom>
          <a:solidFill>
            <a:srgbClr val="E8F3F1"/>
          </a:solidFill>
          <a:ln w="12700">
            <a:solidFill>
              <a:srgbClr val="E8F3F1"/>
            </a:solidFill>
            <a:prstDash val="solid"/>
          </a:ln>
        </p:spPr>
      </p:sp>
      <p:sp>
        <p:nvSpPr>
          <p:cNvPr id="6" name="Shape 4"/>
          <p:cNvSpPr/>
          <p:nvPr/>
        </p:nvSpPr>
        <p:spPr>
          <a:xfrm>
            <a:off x="5897880" y="1627632"/>
            <a:ext cx="566928" cy="566928"/>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6045281" y="1775033"/>
            <a:ext cx="272125" cy="272125"/>
          </a:xfrm>
          <a:prstGeom prst="rect">
            <a:avLst/>
          </a:prstGeom>
        </p:spPr>
      </p:pic>
      <p:sp>
        <p:nvSpPr>
          <p:cNvPr id="8" name="Text 5"/>
          <p:cNvSpPr txBox="1"/>
          <p:nvPr/>
        </p:nvSpPr>
        <p:spPr>
          <a:xfrm>
            <a:off x="5897880" y="2331720"/>
            <a:ext cx="2560320" cy="2011680"/>
          </a:xfrm>
          <a:prstGeom prst="rect">
            <a:avLst/>
          </a:prstGeom>
          <a:noFill/>
          <a:ln/>
        </p:spPr>
        <p:txBody>
          <a:bodyPr wrap="square" lIns="0" tIns="0" rIns="0" bIns="0" rtlCol="0" anchor="t"/>
          <a:lstStyle/>
          <a:p>
            <a:pPr indent="0" marL="0">
              <a:buNone/>
            </a:pPr>
            <a:r>
              <a:rPr lang="en-US" sz="1500" i="1" dirty="0">
                <a:solidFill>
                  <a:srgbClr val="0B3B45"/>
                </a:solidFill>
                <a:latin typeface="Cambria" pitchFamily="34" charset="0"/>
                <a:ea typeface="Cambria" pitchFamily="34" charset="-122"/>
                <a:cs typeface="Cambria" pitchFamily="34" charset="-120"/>
              </a:rPr>
              <a:t>Khách hỏi lại ít hẳn, và Lan không còn phải gõ đi gõ lại cùng một đoạn hướng dẫn.</a:t>
            </a:r>
            <a:endParaRPr lang="en-US" sz="150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MỤC TIÊU BUỔI HỌC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Sau buổi này, bạn có thể</a:t>
            </a:r>
            <a:endParaRPr lang="en-US" sz="2500" dirty="0"/>
          </a:p>
        </p:txBody>
      </p:sp>
      <p:sp>
        <p:nvSpPr>
          <p:cNvPr id="4" name="Shape 2"/>
          <p:cNvSpPr/>
          <p:nvPr/>
        </p:nvSpPr>
        <p:spPr>
          <a:xfrm>
            <a:off x="457200" y="1490472"/>
            <a:ext cx="420624" cy="42062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566562" y="1599834"/>
            <a:ext cx="201900" cy="201900"/>
          </a:xfrm>
          <a:prstGeom prst="rect">
            <a:avLst/>
          </a:prstGeom>
        </p:spPr>
      </p:pic>
      <p:sp>
        <p:nvSpPr>
          <p:cNvPr id="6" name="Text 3"/>
          <p:cNvSpPr txBox="1"/>
          <p:nvPr/>
        </p:nvSpPr>
        <p:spPr>
          <a:xfrm>
            <a:off x="1051560" y="1371600"/>
            <a:ext cx="7589520" cy="65836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Dùng Gemini hoặc ChatGPT </a:t>
            </a:r>
            <a:pPr indent="0" marL="0">
              <a:buNone/>
            </a:pPr>
            <a:r>
              <a:rPr lang="en-US" sz="1450" b="1" dirty="0">
                <a:solidFill>
                  <a:srgbClr val="1F2A30"/>
                </a:solidFill>
                <a:latin typeface="Calibri" pitchFamily="34" charset="0"/>
                <a:ea typeface="Calibri" pitchFamily="34" charset="-122"/>
                <a:cs typeface="Calibri" pitchFamily="34" charset="-120"/>
              </a:rPr>
              <a:t>đọc ảnh chụp lỗi, hóa đơn</a:t>
            </a:r>
            <a:pPr indent="0" marL="0">
              <a:buNone/>
            </a:pPr>
            <a:r>
              <a:rPr lang="en-US" sz="1450" dirty="0">
                <a:solidFill>
                  <a:srgbClr val="1F2A30"/>
                </a:solidFill>
                <a:latin typeface="Calibri" pitchFamily="34" charset="0"/>
                <a:ea typeface="Calibri" pitchFamily="34" charset="-122"/>
                <a:cs typeface="Calibri" pitchFamily="34" charset="-120"/>
              </a:rPr>
              <a:t> sau khi đã </a:t>
            </a:r>
            <a:pPr indent="0" marL="0">
              <a:buNone/>
            </a:pPr>
            <a:r>
              <a:rPr lang="en-US" sz="1450" b="1" dirty="0">
                <a:solidFill>
                  <a:srgbClr val="1F2A30"/>
                </a:solidFill>
                <a:latin typeface="Calibri" pitchFamily="34" charset="0"/>
                <a:ea typeface="Calibri" pitchFamily="34" charset="-122"/>
                <a:cs typeface="Calibri" pitchFamily="34" charset="-120"/>
              </a:rPr>
              <a:t>che thông tin cá nhân</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7" name="Shape 4"/>
          <p:cNvSpPr/>
          <p:nvPr/>
        </p:nvSpPr>
        <p:spPr>
          <a:xfrm>
            <a:off x="457200" y="2148840"/>
            <a:ext cx="420624" cy="420624"/>
          </a:xfrm>
          <a:prstGeom prst="ellipse">
            <a:avLst/>
          </a:prstGeom>
          <a:solidFill>
            <a:srgbClr val="0E7C7B"/>
          </a:solidFill>
          <a:ln w="12700">
            <a:solidFill>
              <a:srgbClr val="0E7C7B"/>
            </a:solidFill>
            <a:prstDash val="solid"/>
          </a:ln>
        </p:spPr>
      </p:sp>
      <p:pic>
        <p:nvPicPr>
          <p:cNvPr id="8" name="Image 1" descr="preencoded.png">    </p:cNvPr>
          <p:cNvPicPr>
            <a:picLocks noChangeAspect="1"/>
          </p:cNvPicPr>
          <p:nvPr/>
        </p:nvPicPr>
        <p:blipFill>
          <a:blip r:embed="rId2"/>
          <a:stretch>
            <a:fillRect/>
          </a:stretch>
        </p:blipFill>
        <p:spPr>
          <a:xfrm>
            <a:off x="566562" y="2258202"/>
            <a:ext cx="201900" cy="201900"/>
          </a:xfrm>
          <a:prstGeom prst="rect">
            <a:avLst/>
          </a:prstGeom>
        </p:spPr>
      </p:pic>
      <p:sp>
        <p:nvSpPr>
          <p:cNvPr id="9" name="Text 5"/>
          <p:cNvSpPr txBox="1"/>
          <p:nvPr/>
        </p:nvSpPr>
        <p:spPr>
          <a:xfrm>
            <a:off x="1051560" y="2029968"/>
            <a:ext cx="7589520" cy="65836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Tạo </a:t>
            </a:r>
            <a:pPr indent="0" marL="0">
              <a:buNone/>
            </a:pPr>
            <a:r>
              <a:rPr lang="en-US" sz="1450" b="1" dirty="0">
                <a:solidFill>
                  <a:srgbClr val="1F2A30"/>
                </a:solidFill>
                <a:latin typeface="Calibri" pitchFamily="34" charset="0"/>
                <a:ea typeface="Calibri" pitchFamily="34" charset="-122"/>
                <a:cs typeface="Calibri" pitchFamily="34" charset="-120"/>
              </a:rPr>
              <a:t>infographic hướng dẫn</a:t>
            </a:r>
            <a:pPr indent="0" marL="0">
              <a:buNone/>
            </a:pPr>
            <a:r>
              <a:rPr lang="en-US" sz="1450" dirty="0">
                <a:solidFill>
                  <a:srgbClr val="1F2A30"/>
                </a:solidFill>
                <a:latin typeface="Calibri" pitchFamily="34" charset="0"/>
                <a:ea typeface="Calibri" pitchFamily="34" charset="-122"/>
                <a:cs typeface="Calibri" pitchFamily="34" charset="-120"/>
              </a:rPr>
              <a:t> từng bước bằng </a:t>
            </a:r>
            <a:pPr indent="0" marL="0">
              <a:buNone/>
            </a:pPr>
            <a:r>
              <a:rPr lang="en-US" sz="1450" b="1" dirty="0">
                <a:solidFill>
                  <a:srgbClr val="1F2A30"/>
                </a:solidFill>
                <a:latin typeface="Calibri" pitchFamily="34" charset="0"/>
                <a:ea typeface="Calibri" pitchFamily="34" charset="-122"/>
                <a:cs typeface="Calibri" pitchFamily="34" charset="-120"/>
              </a:rPr>
              <a:t>Canva AI</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0" name="Shape 6"/>
          <p:cNvSpPr/>
          <p:nvPr/>
        </p:nvSpPr>
        <p:spPr>
          <a:xfrm>
            <a:off x="457200" y="2807208"/>
            <a:ext cx="420624" cy="420624"/>
          </a:xfrm>
          <a:prstGeom prst="ellipse">
            <a:avLst/>
          </a:prstGeom>
          <a:solidFill>
            <a:srgbClr val="0E7C7B"/>
          </a:solidFill>
          <a:ln w="12700">
            <a:solidFill>
              <a:srgbClr val="0E7C7B"/>
            </a:solidFill>
            <a:prstDash val="solid"/>
          </a:ln>
        </p:spPr>
      </p:sp>
      <p:pic>
        <p:nvPicPr>
          <p:cNvPr id="11" name="Image 2" descr="preencoded.png">    </p:cNvPr>
          <p:cNvPicPr>
            <a:picLocks noChangeAspect="1"/>
          </p:cNvPicPr>
          <p:nvPr/>
        </p:nvPicPr>
        <p:blipFill>
          <a:blip r:embed="rId3"/>
          <a:stretch>
            <a:fillRect/>
          </a:stretch>
        </p:blipFill>
        <p:spPr>
          <a:xfrm>
            <a:off x="566562" y="2916570"/>
            <a:ext cx="201900" cy="201900"/>
          </a:xfrm>
          <a:prstGeom prst="rect">
            <a:avLst/>
          </a:prstGeom>
        </p:spPr>
      </p:pic>
      <p:sp>
        <p:nvSpPr>
          <p:cNvPr id="12" name="Text 7"/>
          <p:cNvSpPr txBox="1"/>
          <p:nvPr/>
        </p:nvSpPr>
        <p:spPr>
          <a:xfrm>
            <a:off x="1051560" y="2688336"/>
            <a:ext cx="7589520" cy="65836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Quay màn hình, thêm </a:t>
            </a:r>
            <a:pPr indent="0" marL="0">
              <a:buNone/>
            </a:pPr>
            <a:r>
              <a:rPr lang="en-US" sz="1450" b="1" dirty="0">
                <a:solidFill>
                  <a:srgbClr val="1F2A30"/>
                </a:solidFill>
                <a:latin typeface="Calibri" pitchFamily="34" charset="0"/>
                <a:ea typeface="Calibri" pitchFamily="34" charset="-122"/>
                <a:cs typeface="Calibri" pitchFamily="34" charset="-120"/>
              </a:rPr>
              <a:t>phụ đề tự động</a:t>
            </a:r>
            <a:pPr indent="0" marL="0">
              <a:buNone/>
            </a:pPr>
            <a:r>
              <a:rPr lang="en-US" sz="1450" dirty="0">
                <a:solidFill>
                  <a:srgbClr val="1F2A30"/>
                </a:solidFill>
                <a:latin typeface="Calibri" pitchFamily="34" charset="0"/>
                <a:ea typeface="Calibri" pitchFamily="34" charset="-122"/>
                <a:cs typeface="Calibri" pitchFamily="34" charset="-120"/>
              </a:rPr>
              <a:t> bằng </a:t>
            </a:r>
            <a:pPr indent="0" marL="0">
              <a:buNone/>
            </a:pPr>
            <a:r>
              <a:rPr lang="en-US" sz="1450" b="1" dirty="0">
                <a:solidFill>
                  <a:srgbClr val="1F2A30"/>
                </a:solidFill>
                <a:latin typeface="Calibri" pitchFamily="34" charset="0"/>
                <a:ea typeface="Calibri" pitchFamily="34" charset="-122"/>
                <a:cs typeface="Calibri" pitchFamily="34" charset="-120"/>
              </a:rPr>
              <a:t>CapCut</a:t>
            </a:r>
            <a:pPr indent="0" marL="0">
              <a:buNone/>
            </a:pPr>
            <a:r>
              <a:rPr lang="en-US" sz="1450" dirty="0">
                <a:solidFill>
                  <a:srgbClr val="1F2A30"/>
                </a:solidFill>
                <a:latin typeface="Calibri" pitchFamily="34" charset="0"/>
                <a:ea typeface="Calibri" pitchFamily="34" charset="-122"/>
                <a:cs typeface="Calibri" pitchFamily="34" charset="-120"/>
              </a:rPr>
              <a:t>, gửi video qua Zalo/email.</a:t>
            </a:r>
            <a:endParaRPr lang="en-US" sz="1450" dirty="0"/>
          </a:p>
        </p:txBody>
      </p:sp>
      <p:sp>
        <p:nvSpPr>
          <p:cNvPr id="13" name="Shape 8"/>
          <p:cNvSpPr/>
          <p:nvPr/>
        </p:nvSpPr>
        <p:spPr>
          <a:xfrm>
            <a:off x="457200" y="3465576"/>
            <a:ext cx="420624" cy="420624"/>
          </a:xfrm>
          <a:prstGeom prst="ellipse">
            <a:avLst/>
          </a:prstGeom>
          <a:solidFill>
            <a:srgbClr val="0E7C7B"/>
          </a:solidFill>
          <a:ln w="12700">
            <a:solidFill>
              <a:srgbClr val="0E7C7B"/>
            </a:solidFill>
            <a:prstDash val="solid"/>
          </a:ln>
        </p:spPr>
      </p:sp>
      <p:pic>
        <p:nvPicPr>
          <p:cNvPr id="14" name="Image 3" descr="preencoded.png">    </p:cNvPr>
          <p:cNvPicPr>
            <a:picLocks noChangeAspect="1"/>
          </p:cNvPicPr>
          <p:nvPr/>
        </p:nvPicPr>
        <p:blipFill>
          <a:blip r:embed="rId4"/>
          <a:stretch>
            <a:fillRect/>
          </a:stretch>
        </p:blipFill>
        <p:spPr>
          <a:xfrm>
            <a:off x="566562" y="3574938"/>
            <a:ext cx="201900" cy="201900"/>
          </a:xfrm>
          <a:prstGeom prst="rect">
            <a:avLst/>
          </a:prstGeom>
        </p:spPr>
      </p:pic>
      <p:sp>
        <p:nvSpPr>
          <p:cNvPr id="15" name="Text 9"/>
          <p:cNvSpPr txBox="1"/>
          <p:nvPr/>
        </p:nvSpPr>
        <p:spPr>
          <a:xfrm>
            <a:off x="1051560" y="3346704"/>
            <a:ext cx="7589520" cy="65836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So sánh 4 trợ lý AI</a:t>
            </a:r>
            <a:pPr indent="0" marL="0">
              <a:buNone/>
            </a:pPr>
            <a:r>
              <a:rPr lang="en-US" sz="1450" dirty="0">
                <a:solidFill>
                  <a:srgbClr val="1F2A30"/>
                </a:solidFill>
                <a:latin typeface="Calibri" pitchFamily="34" charset="0"/>
                <a:ea typeface="Calibri" pitchFamily="34" charset="-122"/>
                <a:cs typeface="Calibri" pitchFamily="34" charset="-120"/>
              </a:rPr>
              <a:t> trên cùng một ticket: chính xác, giọng điệu, tốc độ, bảo mật, chi phí.</a:t>
            </a:r>
            <a:endParaRPr lang="en-US" sz="1450" dirty="0"/>
          </a:p>
        </p:txBody>
      </p:sp>
      <p:sp>
        <p:nvSpPr>
          <p:cNvPr id="16" name="Text 10"/>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17" name="Text 11"/>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PHÂN BỔ 120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Lịch trình buổi học</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023360" cy="914400"/>
        </p:xfrm>
        <a:graphic>
          <a:graphicData uri="http://schemas.openxmlformats.org/drawingml/2006/table">
            <a:tbl>
              <a:tblPr/>
              <a:tblGrid>
                <a:gridCol w="960120"/>
                <a:gridCol w="30632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Thời gian</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Hoạt động</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0:00–0:10</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Nhận xét chung </a:t>
                      </a:r>
                      <a:pPr indent="0" marL="0">
                        <a:buNone/>
                      </a:pPr>
                      <a:r>
                        <a:rPr lang="en-US" sz="1200" b="1" dirty="0">
                          <a:solidFill>
                            <a:srgbClr val="1F2A30"/>
                          </a:solidFill>
                          <a:latin typeface="Calibri" pitchFamily="34" charset="0"/>
                          <a:ea typeface="Calibri" pitchFamily="34" charset="-122"/>
                          <a:cs typeface="Calibri" pitchFamily="34" charset="-120"/>
                        </a:rPr>
                        <a:t>ASM 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0:10–0:18</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AI đọc ảnh chụp lỗi, hóa đơn</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0:18–0:25</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Infographic bằng Canva AI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0:25–0:28</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Kiểm tra nhanh</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0:28–0:36</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Video hướng dẫn có phụ đề</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0:36–0:46</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So sánh 4 trợ lý AI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63440" y="1371600"/>
          <a:ext cx="4023360" cy="914400"/>
        </p:xfrm>
        <a:graphic>
          <a:graphicData uri="http://schemas.openxmlformats.org/drawingml/2006/table">
            <a:tbl>
              <a:tblPr/>
              <a:tblGrid>
                <a:gridCol w="960120"/>
                <a:gridCol w="30632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Thời gian</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Hoạt động</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0:46–1:21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Lab:</a:t>
                      </a:r>
                      <a:pPr indent="0" marL="0">
                        <a:buNone/>
                      </a:pPr>
                      <a:r>
                        <a:rPr lang="en-US" sz="1200" dirty="0">
                          <a:solidFill>
                            <a:srgbClr val="1F2A30"/>
                          </a:solidFill>
                          <a:latin typeface="Calibri" pitchFamily="34" charset="0"/>
                          <a:ea typeface="Calibri" pitchFamily="34" charset="-122"/>
                          <a:cs typeface="Calibri" pitchFamily="34" charset="-120"/>
                        </a:rPr>
                        <a:t> tài liệu hướng dẫn khách</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1:21–1:33</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Role play với cô giáo AI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1:33–1:38</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Quiz buổi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1:38–1:41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Tổng kết</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1:41–1:55</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Trình chiếu sản phẩm, góp ý chéo</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1:55–2:00</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Giao bài tập, hỏi đáp</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7" name="Text 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NHẬN XÉT CHUNG ASM 1 · 10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Ba câu hỏi khi xem lại ASM 1</a:t>
            </a:r>
            <a:endParaRPr lang="en-US" sz="2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94560"/>
                <a:gridCol w="2926080"/>
                <a:gridCol w="310896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Câu hỏi</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Lỗi hay gặp</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Cách sửa</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Prompt đủ </a:t>
                      </a:r>
                      <a:pPr indent="0" marL="0">
                        <a:buNone/>
                      </a:pPr>
                      <a:r>
                        <a:rPr lang="en-US" sz="1400" b="1" dirty="0">
                          <a:solidFill>
                            <a:srgbClr val="1F2A30"/>
                          </a:solidFill>
                          <a:latin typeface="Calibri" pitchFamily="34" charset="0"/>
                          <a:ea typeface="Calibri" pitchFamily="34" charset="-122"/>
                          <a:cs typeface="Calibri" pitchFamily="34" charset="-120"/>
                        </a:rPr>
                        <a:t>V-B-N-Đ-G</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Thiếu </a:t>
                      </a:r>
                      <a:pPr indent="0" marL="0">
                        <a:buNone/>
                      </a:pPr>
                      <a:r>
                        <a:rPr lang="en-US" sz="1400" b="1" dirty="0">
                          <a:solidFill>
                            <a:srgbClr val="1F2A30"/>
                          </a:solidFill>
                          <a:latin typeface="Calibri" pitchFamily="34" charset="0"/>
                          <a:ea typeface="Calibri" pitchFamily="34" charset="-122"/>
                          <a:cs typeface="Calibri" pitchFamily="34" charset="-120"/>
                        </a:rPr>
                        <a:t>Định dạng</a:t>
                      </a:r>
                      <a:pPr indent="0" marL="0">
                        <a:buNone/>
                      </a:pPr>
                      <a:r>
                        <a:rPr lang="en-US" sz="1400" dirty="0">
                          <a:solidFill>
                            <a:srgbClr val="1F2A30"/>
                          </a:solidFill>
                          <a:latin typeface="Calibri" pitchFamily="34" charset="0"/>
                          <a:ea typeface="Calibri" pitchFamily="34" charset="-122"/>
                          <a:cs typeface="Calibri" pitchFamily="34" charset="-120"/>
                        </a:rPr>
                        <a:t> hoặc </a:t>
                      </a:r>
                      <a:pPr indent="0" marL="0">
                        <a:buNone/>
                      </a:pPr>
                      <a:r>
                        <a:rPr lang="en-US" sz="1400" b="1" dirty="0">
                          <a:solidFill>
                            <a:srgbClr val="1F2A30"/>
                          </a:solidFill>
                          <a:latin typeface="Calibri" pitchFamily="34" charset="0"/>
                          <a:ea typeface="Calibri" pitchFamily="34" charset="-122"/>
                          <a:cs typeface="Calibri" pitchFamily="34" charset="-120"/>
                        </a:rPr>
                        <a:t>Giọng điệu</a:t>
                      </a:r>
                      <a:pPr indent="0" marL="0">
                        <a:buNone/>
                      </a:pPr>
                      <a:r>
                        <a:rPr lang="en-US" sz="1400" dirty="0">
                          <a:solidFill>
                            <a:srgbClr val="1F2A30"/>
                          </a:solidFill>
                          <a:latin typeface="Calibri" pitchFamily="34" charset="0"/>
                          <a:ea typeface="Calibri" pitchFamily="34" charset="-122"/>
                          <a:cs typeface="Calibri" pitchFamily="34" charset="-120"/>
                        </a:rPr>
                        <a:t>, AI trả lời lan man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Ghi rõ "tối đa 5 dòng", "lịch sự, xưng em - anh/chị"</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Dán thẳng vào </a:t>
                      </a:r>
                      <a:pPr indent="0" marL="0">
                        <a:buNone/>
                      </a:pPr>
                      <a:r>
                        <a:rPr lang="en-US" sz="1400" b="1" dirty="0">
                          <a:solidFill>
                            <a:srgbClr val="1F2A30"/>
                          </a:solidFill>
                          <a:latin typeface="Calibri" pitchFamily="34" charset="0"/>
                          <a:ea typeface="Calibri" pitchFamily="34" charset="-122"/>
                          <a:cs typeface="Calibri" pitchFamily="34" charset="-120"/>
                        </a:rPr>
                        <a:t>CRM</a:t>
                      </a:r>
                      <a:pPr indent="0" marL="0">
                        <a:buNone/>
                      </a:pPr>
                      <a:r>
                        <a:rPr lang="en-US" sz="1400" dirty="0">
                          <a:solidFill>
                            <a:srgbClr val="1F2A30"/>
                          </a:solidFill>
                          <a:latin typeface="Calibri" pitchFamily="34" charset="0"/>
                          <a:ea typeface="Calibri" pitchFamily="34" charset="-122"/>
                          <a:cs typeface="Calibri" pitchFamily="34" charset="-120"/>
                        </a:rPr>
                        <a:t> được?</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Thiếu mục "Việc cần follow-up" hoặc không có hạn chót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Giữ mẫu 4 mục: Vấn đề, Nguyên nhân, Đã xử lý, Follow-up</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Đã </a:t>
                      </a:r>
                      <a:pPr indent="0" marL="0">
                        <a:buNone/>
                      </a:pPr>
                      <a:r>
                        <a:rPr lang="en-US" sz="1400" b="1" dirty="0">
                          <a:solidFill>
                            <a:srgbClr val="1F2A30"/>
                          </a:solidFill>
                          <a:latin typeface="Calibri" pitchFamily="34" charset="0"/>
                          <a:ea typeface="Calibri" pitchFamily="34" charset="-122"/>
                          <a:cs typeface="Calibri" pitchFamily="34" charset="-120"/>
                        </a:rPr>
                        <a:t>che dữ liệu</a:t>
                      </a:r>
                      <a:pPr indent="0" marL="0">
                        <a:buNone/>
                      </a:pPr>
                      <a:r>
                        <a:rPr lang="en-US" sz="1400" dirty="0">
                          <a:solidFill>
                            <a:srgbClr val="1F2A30"/>
                          </a:solidFill>
                          <a:latin typeface="Calibri" pitchFamily="34" charset="0"/>
                          <a:ea typeface="Calibri" pitchFamily="34" charset="-122"/>
                          <a:cs typeface="Calibri" pitchFamily="34" charset="-120"/>
                        </a:rPr>
                        <a:t> chưa?</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Sót SĐT, địa chỉ, 4 số cuối thẻ trong transcript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Rà lại bằng checklist </a:t>
                      </a:r>
                      <a:pPr indent="0" marL="0">
                        <a:buNone/>
                      </a:pPr>
                      <a:r>
                        <a:rPr lang="en-US" sz="1400" b="1" dirty="0">
                          <a:solidFill>
                            <a:srgbClr val="1F2A30"/>
                          </a:solidFill>
                          <a:latin typeface="Calibri" pitchFamily="34" charset="0"/>
                          <a:ea typeface="Calibri" pitchFamily="34" charset="-122"/>
                          <a:cs typeface="Calibri" pitchFamily="34" charset="-120"/>
                        </a:rPr>
                        <a:t>Che, Kiểm, Chịu trách nhiệm</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Bài mẫu: </a:t>
            </a:r>
            <a:pPr indent="0" marL="0">
              <a:buNone/>
            </a:pPr>
            <a:r>
              <a:rPr lang="en-US" sz="1250" b="1" i="1" dirty="0">
                <a:solidFill>
                  <a:srgbClr val="5B6B73"/>
                </a:solidFill>
                <a:latin typeface="Calibri" pitchFamily="34" charset="0"/>
                <a:ea typeface="Calibri" pitchFamily="34" charset="-122"/>
                <a:cs typeface="Calibri" pitchFamily="34" charset="-120"/>
              </a:rPr>
              <a:t>Giải pháp · ASM 1</a:t>
            </a:r>
            <a:pPr indent="0" marL="0">
              <a:buNone/>
            </a:pPr>
            <a:r>
              <a:rPr lang="en-US" sz="1250" i="1" dirty="0">
                <a:solidFill>
                  <a:srgbClr val="5B6B73"/>
                </a:solidFill>
                <a:latin typeface="Calibri" pitchFamily="34" charset="0"/>
                <a:ea typeface="Calibri" pitchFamily="34" charset="-122"/>
                <a:cs typeface="Calibri" pitchFamily="34" charset="-120"/>
              </a:rPr>
              <a:t>. Hôm nay làm việc với ảnh chụp màn hình, nơi dữ liệu cá nhân còn dễ lọt hơn văn bản.</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01</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1 · HÌNH ẢNH</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AI đọc ảnh chụp lỗi của khách</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Khách ít gõ chữ, gửi một tấm ảnh và chờ bạn hiểu. AI giúp đọc nhanh, bạn vẫn là người quyết định.</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AI ĐỌC ẢNH</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AI đọc ảnh làm được gì cho tổng đài?</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011680"/>
                <a:gridCol w="3108960"/>
                <a:gridCol w="310896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Ảnh khách gửi</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AI giúp được gì</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Bạn vẫn phải làm</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Màn hình báo lỗi app/web</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Đọc mã lỗi, bước đang kẹt, gợi ý nguyên nhân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Đối chiếu tài liệu lỗi nội bộ</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Hóa đơn, phiếu giao hàng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Trích số tiền, ngày, sản phẩm thành bảng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Kiểm lại từng con số với hệ thống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Sản phẩm lỗi, hộp móp</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Mô tả tình trạng để ghi vào ticket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Quyết định đổi trả theo chính sách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Tin nhắn chuyển khoản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Đọc nội dung, số tiền, thời gian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Xác minh trên hệ thống đối soát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Gemini, ChatGPT, Claude, Grok đều cho đính kèm ảnh. AI </a:t>
            </a:r>
            <a:pPr indent="0" marL="0">
              <a:buNone/>
            </a:pPr>
            <a:r>
              <a:rPr lang="en-US" sz="1250" b="1" i="1" dirty="0">
                <a:solidFill>
                  <a:srgbClr val="5B6B73"/>
                </a:solidFill>
                <a:latin typeface="Calibri" pitchFamily="34" charset="0"/>
                <a:ea typeface="Calibri" pitchFamily="34" charset="-122"/>
                <a:cs typeface="Calibri" pitchFamily="34" charset="-120"/>
              </a:rPr>
              <a:t>đọc nhanh và tóm tắt</a:t>
            </a:r>
            <a:pPr indent="0" marL="0">
              <a:buNone/>
            </a:pPr>
            <a:r>
              <a:rPr lang="en-US" sz="1250" i="1" dirty="0">
                <a:solidFill>
                  <a:srgbClr val="5B6B73"/>
                </a:solidFill>
                <a:latin typeface="Calibri" pitchFamily="34" charset="0"/>
                <a:ea typeface="Calibri" pitchFamily="34" charset="-122"/>
                <a:cs typeface="Calibri" pitchFamily="34" charset="-120"/>
              </a:rPr>
              <a:t>, còn </a:t>
            </a:r>
            <a:pPr indent="0" marL="0">
              <a:buNone/>
            </a:pPr>
            <a:r>
              <a:rPr lang="en-US" sz="1250" b="1" i="1" dirty="0">
                <a:solidFill>
                  <a:srgbClr val="5B6B73"/>
                </a:solidFill>
                <a:latin typeface="Calibri" pitchFamily="34" charset="0"/>
                <a:ea typeface="Calibri" pitchFamily="34" charset="-122"/>
                <a:cs typeface="Calibri" pitchFamily="34" charset="-120"/>
              </a:rPr>
              <a:t>kết luận và quyết định</a:t>
            </a:r>
            <a:pPr indent="0" marL="0">
              <a:buNone/>
            </a:pPr>
            <a:r>
              <a:rPr lang="en-US" sz="1250" i="1" dirty="0">
                <a:solidFill>
                  <a:srgbClr val="5B6B73"/>
                </a:solidFill>
                <a:latin typeface="Calibri" pitchFamily="34" charset="0"/>
                <a:ea typeface="Calibri" pitchFamily="34" charset="-122"/>
                <a:cs typeface="Calibri" pitchFamily="34" charset="-120"/>
              </a:rPr>
              <a:t> là của bạn.</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3F1"/>
        </a:solidFill>
      </p:bgPr>
    </p:bg>
    <p:spTree>
      <p:nvGrpSpPr>
        <p:cNvPr id="1" name=""/>
        <p:cNvGrpSpPr/>
        <p:nvPr/>
      </p:nvGrpSpPr>
      <p:grpSpPr>
        <a:xfrm>
          <a:off x="0" y="0"/>
          <a:ext cx="0" cy="0"/>
          <a:chOff x="0" y="0"/>
          <a:chExt cx="0" cy="0"/>
        </a:xfrm>
      </p:grpSpPr>
      <p:sp>
        <p:nvSpPr>
          <p:cNvPr id="2" name="Shape 0"/>
          <p:cNvSpPr/>
          <p:nvPr/>
        </p:nvSpPr>
        <p:spPr>
          <a:xfrm>
            <a:off x="548640" y="1097280"/>
            <a:ext cx="822960" cy="822960"/>
          </a:xfrm>
          <a:prstGeom prst="ellipse">
            <a:avLst/>
          </a:prstGeom>
          <a:solidFill>
            <a:srgbClr val="C0392B"/>
          </a:solidFill>
          <a:ln w="12700">
            <a:solidFill>
              <a:srgbClr val="C0392B"/>
            </a:solidFill>
            <a:prstDash val="solid"/>
          </a:ln>
        </p:spPr>
      </p:sp>
      <p:pic>
        <p:nvPicPr>
          <p:cNvPr id="3" name="Image 0" descr="preencoded.png">    </p:cNvPr>
          <p:cNvPicPr>
            <a:picLocks noChangeAspect="1"/>
          </p:cNvPicPr>
          <p:nvPr/>
        </p:nvPicPr>
        <p:blipFill>
          <a:blip r:embed="rId1"/>
          <a:stretch>
            <a:fillRect/>
          </a:stretch>
        </p:blipFill>
        <p:spPr>
          <a:xfrm>
            <a:off x="762610" y="1311250"/>
            <a:ext cx="395021" cy="395021"/>
          </a:xfrm>
          <a:prstGeom prst="rect">
            <a:avLst/>
          </a:prstGeom>
        </p:spPr>
      </p:pic>
      <p:sp>
        <p:nvSpPr>
          <p:cNvPr id="4" name="Text 1"/>
          <p:cNvSpPr txBox="1"/>
          <p:nvPr/>
        </p:nvSpPr>
        <p:spPr>
          <a:xfrm>
            <a:off x="1600200" y="1143000"/>
            <a:ext cx="6858000" cy="274320"/>
          </a:xfrm>
          <a:prstGeom prst="rect">
            <a:avLst/>
          </a:prstGeom>
          <a:noFill/>
          <a:ln/>
        </p:spPr>
        <p:txBody>
          <a:bodyPr wrap="square" lIns="0" tIns="0" rIns="0" bIns="0" rtlCol="0" anchor="t"/>
          <a:lstStyle/>
          <a:p>
            <a:pPr indent="0" marL="0">
              <a:buNone/>
            </a:pPr>
            <a:r>
              <a:rPr lang="en-US" sz="1100" b="1" spc="200" kern="0" dirty="0">
                <a:solidFill>
                  <a:srgbClr val="C0392B"/>
                </a:solidFill>
                <a:latin typeface="Calibri" pitchFamily="34" charset="0"/>
                <a:ea typeface="Calibri" pitchFamily="34" charset="-122"/>
                <a:cs typeface="Calibri" pitchFamily="34" charset="-120"/>
              </a:rPr>
              <a:t>BƯỚC BẮT BUỘC</a:t>
            </a:r>
            <a:endParaRPr lang="en-US" sz="1100" dirty="0"/>
          </a:p>
        </p:txBody>
      </p:sp>
      <p:sp>
        <p:nvSpPr>
          <p:cNvPr id="5" name="Text 2"/>
          <p:cNvSpPr txBox="1"/>
          <p:nvPr/>
        </p:nvSpPr>
        <p:spPr>
          <a:xfrm>
            <a:off x="1600200" y="1463040"/>
            <a:ext cx="6949440" cy="1280160"/>
          </a:xfrm>
          <a:prstGeom prst="rect">
            <a:avLst/>
          </a:prstGeom>
          <a:noFill/>
          <a:ln/>
        </p:spPr>
        <p:txBody>
          <a:bodyPr wrap="square" lIns="0" tIns="0" rIns="0" bIns="0" rtlCol="0" anchor="t">
            <a:normAutofit/>
          </a:bodyPr>
          <a:lstStyle/>
          <a:p>
            <a:pPr indent="0" marL="0">
              <a:buNone/>
            </a:pPr>
            <a:r>
              <a:rPr lang="en-US" sz="2800" b="1" dirty="0">
                <a:solidFill>
                  <a:srgbClr val="0B3B45"/>
                </a:solidFill>
                <a:latin typeface="Cambria" pitchFamily="34" charset="0"/>
                <a:ea typeface="Cambria" pitchFamily="34" charset="-122"/>
                <a:cs typeface="Cambria" pitchFamily="34" charset="-120"/>
              </a:rPr>
              <a:t>Che trước, hỏi sau</a:t>
            </a:r>
            <a:endParaRPr lang="en-US" sz="2800" dirty="0"/>
          </a:p>
        </p:txBody>
      </p:sp>
      <p:sp>
        <p:nvSpPr>
          <p:cNvPr id="6" name="Text 3"/>
          <p:cNvSpPr txBox="1"/>
          <p:nvPr/>
        </p:nvSpPr>
        <p:spPr>
          <a:xfrm>
            <a:off x="1600200" y="2606040"/>
            <a:ext cx="6858000" cy="1554480"/>
          </a:xfrm>
          <a:prstGeom prst="rect">
            <a:avLst/>
          </a:prstGeom>
          <a:noFill/>
          <a:ln/>
        </p:spPr>
        <p:txBody>
          <a:bodyPr wrap="square" lIns="0" tIns="0" rIns="0" bIns="0" rtlCol="0" anchor="t"/>
          <a:lstStyle/>
          <a:p>
            <a:pPr indent="0" marL="0">
              <a:buNone/>
            </a:pPr>
            <a:r>
              <a:rPr lang="en-US" sz="1600" dirty="0">
                <a:solidFill>
                  <a:srgbClr val="1F2A30"/>
                </a:solidFill>
                <a:latin typeface="Calibri" pitchFamily="34" charset="0"/>
                <a:ea typeface="Calibri" pitchFamily="34" charset="-122"/>
                <a:cs typeface="Calibri" pitchFamily="34" charset="-120"/>
              </a:rPr>
              <a:t>Che </a:t>
            </a:r>
            <a:pPr indent="0" marL="0">
              <a:buNone/>
            </a:pPr>
            <a:r>
              <a:rPr lang="en-US" sz="1600" b="1" dirty="0">
                <a:solidFill>
                  <a:srgbClr val="1F2A30"/>
                </a:solidFill>
                <a:latin typeface="Calibri" pitchFamily="34" charset="0"/>
                <a:ea typeface="Calibri" pitchFamily="34" charset="-122"/>
                <a:cs typeface="Calibri" pitchFamily="34" charset="-120"/>
              </a:rPr>
              <a:t>tên, SĐT, email, địa chỉ, số thẻ, CCCD, mã OTP, mã đơn, ảnh chân dung</a:t>
            </a:r>
            <a:pPr indent="0" marL="0">
              <a:buNone/>
            </a:pPr>
            <a:r>
              <a:rPr lang="en-US" sz="1600" dirty="0">
                <a:solidFill>
                  <a:srgbClr val="1F2A30"/>
                </a:solidFill>
                <a:latin typeface="Calibri" pitchFamily="34" charset="0"/>
                <a:ea typeface="Calibri" pitchFamily="34" charset="-122"/>
                <a:cs typeface="Calibri" pitchFamily="34" charset="-120"/>
              </a:rPr>
              <a:t> bằng </a:t>
            </a:r>
            <a:pPr indent="0" marL="0">
              <a:buNone/>
            </a:pPr>
            <a:r>
              <a:rPr lang="en-US" sz="1600" b="1" dirty="0">
                <a:solidFill>
                  <a:srgbClr val="1F2A30"/>
                </a:solidFill>
                <a:latin typeface="Calibri" pitchFamily="34" charset="0"/>
                <a:ea typeface="Calibri" pitchFamily="34" charset="-122"/>
                <a:cs typeface="Calibri" pitchFamily="34" charset="-120"/>
              </a:rPr>
              <a:t>khối màu đặc</a:t>
            </a:r>
            <a:pPr indent="0" marL="0">
              <a:buNone/>
            </a:pPr>
            <a:r>
              <a:rPr lang="en-US" sz="1600" dirty="0">
                <a:solidFill>
                  <a:srgbClr val="1F2A30"/>
                </a:solidFill>
                <a:latin typeface="Calibri" pitchFamily="34" charset="0"/>
                <a:ea typeface="Calibri" pitchFamily="34" charset="-122"/>
                <a:cs typeface="Calibri" pitchFamily="34" charset="-120"/>
              </a:rPr>
              <a:t> hoặc </a:t>
            </a:r>
            <a:pPr indent="0" marL="0">
              <a:buNone/>
            </a:pPr>
            <a:r>
              <a:rPr lang="en-US" sz="1600" b="1" dirty="0">
                <a:solidFill>
                  <a:srgbClr val="1F2A30"/>
                </a:solidFill>
                <a:latin typeface="Calibri" pitchFamily="34" charset="0"/>
                <a:ea typeface="Calibri" pitchFamily="34" charset="-122"/>
                <a:cs typeface="Calibri" pitchFamily="34" charset="-120"/>
              </a:rPr>
              <a:t>cắt ảnh</a:t>
            </a:r>
            <a:pPr indent="0" marL="0">
              <a:buNone/>
            </a:pPr>
            <a:r>
              <a:rPr lang="en-US" sz="1600" dirty="0">
                <a:solidFill>
                  <a:srgbClr val="1F2A30"/>
                </a:solidFill>
                <a:latin typeface="Calibri" pitchFamily="34" charset="0"/>
                <a:ea typeface="Calibri" pitchFamily="34" charset="-122"/>
                <a:cs typeface="Calibri" pitchFamily="34" charset="-120"/>
              </a:rPr>
              <a:t>. Không dùng highlight bán trong suốt. Phóng to kiểm tra lại rồi mới tải lên.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PROMPT MẪU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Đọc ảnh chụp lỗi</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Vai trò: Bạn là chuyên viên hỗ trợ kỹ thuật của một sàn thương mại điện tử.</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Bối cảnh: Khách gửi ảnh chụp màn hình app khi đang thanh toán. Thông tin cá</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nhân trong ảnh đã được che. Tôi là nhân viên CSKH, cần trả lời khách trong 2 phút.</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Nhiệm vụ: Đọc ảnh và cho tôi biết:</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1. Chữ/mã lỗi xuất hiện trong ảnh (chép nguyên văn).</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2. Khách đang ở bước nào của quy trình.</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3. 2-3 nguyên nhân có thể xảy ra, xếp từ khả năng cao đến thấp.</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4. Câu hỏi tôi nên hỏi thêm khách để xác định đúng nguyên nhân.</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Định dạng: Gạch đầu dòng, tối đa 10 dòng. Chỗ nào không đọc rõ hoặc không</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chắc chắn thì ghi "[KHÔNG CHẮC]", không được đoán.</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Giọng điệu: Ngắn gọn, chuyên nghiệp.</a:t>
            </a:r>
            <a:endParaRPr lang="en-US" sz="125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Với hóa đơn: yêu cầu AI trích bảng, </a:t>
            </a:r>
            <a:pPr indent="0" marL="0">
              <a:buNone/>
            </a:pPr>
            <a:r>
              <a:rPr lang="en-US" sz="1150" b="1" dirty="0">
                <a:solidFill>
                  <a:srgbClr val="1F2A30"/>
                </a:solidFill>
                <a:latin typeface="Calibri" pitchFamily="34" charset="0"/>
                <a:ea typeface="Calibri" pitchFamily="34" charset="-122"/>
                <a:cs typeface="Calibri" pitchFamily="34" charset="-120"/>
              </a:rPr>
              <a:t>tự cộng lại tổng</a:t>
            </a:r>
            <a:pPr indent="0" marL="0">
              <a:buNone/>
            </a:pPr>
            <a:r>
              <a:rPr lang="en-US" sz="1150" dirty="0">
                <a:solidFill>
                  <a:srgbClr val="1F2A30"/>
                </a:solidFill>
                <a:latin typeface="Calibri" pitchFamily="34" charset="0"/>
                <a:ea typeface="Calibri" pitchFamily="34" charset="-122"/>
                <a:cs typeface="Calibri" pitchFamily="34" charset="-120"/>
              </a:rPr>
              <a:t> và ghi "LỆCH" nếu khác; ô mờ ghi </a:t>
            </a:r>
            <a:pPr indent="0" marL="0">
              <a:buNone/>
            </a:pPr>
            <a:r>
              <a:rPr lang="en-US" sz="1150" b="1" dirty="0">
                <a:solidFill>
                  <a:srgbClr val="1F2A30"/>
                </a:solidFill>
                <a:latin typeface="Calibri" pitchFamily="34" charset="0"/>
                <a:ea typeface="Calibri" pitchFamily="34" charset="-122"/>
                <a:cs typeface="Calibri" pitchFamily="34" charset="-120"/>
              </a:rPr>
              <a:t>[MỜ]</a:t>
            </a:r>
            <a:pPr indent="0" marL="0">
              <a:buNone/>
            </a:pPr>
            <a:r>
              <a:rPr lang="en-US" sz="1150" dirty="0">
                <a:solidFill>
                  <a:srgbClr val="1F2A30"/>
                </a:solidFill>
                <a:latin typeface="Calibri" pitchFamily="34" charset="0"/>
                <a:ea typeface="Calibri" pitchFamily="34" charset="-122"/>
                <a:cs typeface="Calibri" pitchFamily="34" charset="-120"/>
              </a:rPr>
              <a:t>.</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GIỚI HẠN CẦN BIẾT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AI đọc ảnh vẫn có thể sai</a:t>
            </a:r>
            <a:endParaRPr lang="en-US" sz="2500" dirty="0"/>
          </a:p>
        </p:txBody>
      </p:sp>
      <p:sp>
        <p:nvSpPr>
          <p:cNvPr id="4" name="Shape 2"/>
          <p:cNvSpPr/>
          <p:nvPr/>
        </p:nvSpPr>
        <p:spPr>
          <a:xfrm>
            <a:off x="457200" y="1371600"/>
            <a:ext cx="4000500" cy="1485900"/>
          </a:xfrm>
          <a:prstGeom prst="roundRect">
            <a:avLst>
              <a:gd name="adj" fmla="val 6154"/>
            </a:avLst>
          </a:prstGeom>
          <a:solidFill>
            <a:srgbClr val="FBEAE8"/>
          </a:solidFill>
          <a:ln w="12700">
            <a:solidFill>
              <a:srgbClr val="FBEAE8"/>
            </a:solidFill>
            <a:prstDash val="solid"/>
          </a:ln>
        </p:spPr>
      </p:sp>
      <p:sp>
        <p:nvSpPr>
          <p:cNvPr id="5" name="Shape 3"/>
          <p:cNvSpPr/>
          <p:nvPr/>
        </p:nvSpPr>
        <p:spPr>
          <a:xfrm>
            <a:off x="640080" y="1554480"/>
            <a:ext cx="457200" cy="457200"/>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Đọc nhầm chữ, số</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Chữ nhỏ, ảnh mờ, chụp nghiêng, chữ viết tay. Số </a:t>
            </a:r>
            <a:pPr indent="0" marL="0">
              <a:buNone/>
            </a:pPr>
            <a:r>
              <a:rPr lang="en-US" sz="1300" b="1" dirty="0">
                <a:solidFill>
                  <a:srgbClr val="1F2A30"/>
                </a:solidFill>
                <a:latin typeface="Calibri" pitchFamily="34" charset="0"/>
                <a:ea typeface="Calibri" pitchFamily="34" charset="-122"/>
                <a:cs typeface="Calibri" pitchFamily="34" charset="-120"/>
              </a:rPr>
              <a:t>1 và 7, 0 và 8</a:t>
            </a:r>
            <a:pPr indent="0" marL="0">
              <a:buNone/>
            </a:pPr>
            <a:r>
              <a:rPr lang="en-US" sz="1300" dirty="0">
                <a:solidFill>
                  <a:srgbClr val="1F2A30"/>
                </a:solidFill>
                <a:latin typeface="Calibri" pitchFamily="34" charset="0"/>
                <a:ea typeface="Calibri" pitchFamily="34" charset="-122"/>
                <a:cs typeface="Calibri" pitchFamily="34" charset="-120"/>
              </a:rPr>
              <a:t> rất hay bị nhầm.</a:t>
            </a:r>
            <a:endParaRPr lang="en-US" sz="1300" dirty="0"/>
          </a:p>
        </p:txBody>
      </p:sp>
      <p:sp>
        <p:nvSpPr>
          <p:cNvPr id="9" name="Shape 6"/>
          <p:cNvSpPr/>
          <p:nvPr/>
        </p:nvSpPr>
        <p:spPr>
          <a:xfrm>
            <a:off x="4686300" y="1371600"/>
            <a:ext cx="4000500" cy="1485900"/>
          </a:xfrm>
          <a:prstGeom prst="roundRect">
            <a:avLst>
              <a:gd name="adj" fmla="val 6154"/>
            </a:avLst>
          </a:prstGeom>
          <a:solidFill>
            <a:srgbClr val="FBEAE8"/>
          </a:solidFill>
          <a:ln w="12700">
            <a:solidFill>
              <a:srgbClr val="FBEAE8"/>
            </a:solidFill>
            <a:prstDash val="solid"/>
          </a:ln>
        </p:spPr>
      </p:sp>
      <p:sp>
        <p:nvSpPr>
          <p:cNvPr id="10" name="Shape 7"/>
          <p:cNvSpPr/>
          <p:nvPr/>
        </p:nvSpPr>
        <p:spPr>
          <a:xfrm>
            <a:off x="4869180" y="1554480"/>
            <a:ext cx="457200" cy="457200"/>
          </a:xfrm>
          <a:prstGeom prst="ellipse">
            <a:avLst/>
          </a:prstGeom>
          <a:solidFill>
            <a:srgbClr val="C0392B"/>
          </a:solidFill>
          <a:ln w="12700">
            <a:solidFill>
              <a:srgbClr val="C0392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Không biết hệ thống nội bộ</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Mã "PAY-402" nghĩa gì ở ShopNhanh chỉ tài liệu nội bộ biết. Tra bằng </a:t>
            </a:r>
            <a:pPr indent="0" marL="0">
              <a:buNone/>
            </a:pPr>
            <a:r>
              <a:rPr lang="en-US" sz="1300" b="1" dirty="0">
                <a:solidFill>
                  <a:srgbClr val="1F2A30"/>
                </a:solidFill>
                <a:latin typeface="Calibri" pitchFamily="34" charset="0"/>
                <a:ea typeface="Calibri" pitchFamily="34" charset="-122"/>
                <a:cs typeface="Calibri" pitchFamily="34" charset="-120"/>
              </a:rPr>
              <a:t>trợ lý NotebookLM</a:t>
            </a:r>
            <a:pPr indent="0" marL="0">
              <a:buNone/>
            </a:pPr>
            <a:r>
              <a:rPr lang="en-US" sz="1300" dirty="0">
                <a:solidFill>
                  <a:srgbClr val="1F2A30"/>
                </a:solidFill>
                <a:latin typeface="Calibri" pitchFamily="34" charset="0"/>
                <a:ea typeface="Calibri" pitchFamily="34" charset="-122"/>
                <a:cs typeface="Calibri" pitchFamily="34" charset="-120"/>
              </a:rPr>
              <a:t> Buổi 2.</a:t>
            </a:r>
            <a:endParaRPr lang="en-US" sz="1300" dirty="0"/>
          </a:p>
        </p:txBody>
      </p:sp>
      <p:sp>
        <p:nvSpPr>
          <p:cNvPr id="14" name="Shape 10"/>
          <p:cNvSpPr/>
          <p:nvPr/>
        </p:nvSpPr>
        <p:spPr>
          <a:xfrm>
            <a:off x="457200" y="3086100"/>
            <a:ext cx="4000500" cy="1485900"/>
          </a:xfrm>
          <a:prstGeom prst="roundRect">
            <a:avLst>
              <a:gd name="adj" fmla="val 6154"/>
            </a:avLst>
          </a:prstGeom>
          <a:solidFill>
            <a:srgbClr val="FBEAE8"/>
          </a:solidFill>
          <a:ln w="12700">
            <a:solidFill>
              <a:srgbClr val="FBEAE8"/>
            </a:solidFill>
            <a:prstDash val="solid"/>
          </a:ln>
        </p:spPr>
      </p:sp>
      <p:sp>
        <p:nvSpPr>
          <p:cNvPr id="15" name="Shape 11"/>
          <p:cNvSpPr/>
          <p:nvPr/>
        </p:nvSpPr>
        <p:spPr>
          <a:xfrm>
            <a:off x="640080" y="3268980"/>
            <a:ext cx="457200" cy="457200"/>
          </a:xfrm>
          <a:prstGeom prst="ellipse">
            <a:avLst/>
          </a:prstGeom>
          <a:solidFill>
            <a:srgbClr val="C0392B"/>
          </a:solidFill>
          <a:ln w="12700">
            <a:solidFill>
              <a:srgbClr val="C0392B"/>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Không phân biệt ảnh giả</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Ảnh chuyển khoản, hóa đơn có thể bị chỉnh. </a:t>
            </a:r>
            <a:pPr indent="0" marL="0">
              <a:buNone/>
            </a:pPr>
            <a:r>
              <a:rPr lang="en-US" sz="1300" b="1" dirty="0">
                <a:solidFill>
                  <a:srgbClr val="1F2A30"/>
                </a:solidFill>
                <a:latin typeface="Calibri" pitchFamily="34" charset="0"/>
                <a:ea typeface="Calibri" pitchFamily="34" charset="-122"/>
                <a:cs typeface="Calibri" pitchFamily="34" charset="-120"/>
              </a:rPr>
              <a:t>Đối soát trên hệ thống</a:t>
            </a:r>
            <a:pPr indent="0" marL="0">
              <a:buNone/>
            </a:pPr>
            <a:r>
              <a:rPr lang="en-US" sz="1300" dirty="0">
                <a:solidFill>
                  <a:srgbClr val="1F2A30"/>
                </a:solidFill>
                <a:latin typeface="Calibri" pitchFamily="34" charset="0"/>
                <a:ea typeface="Calibri" pitchFamily="34" charset="-122"/>
                <a:cs typeface="Calibri" pitchFamily="34" charset="-120"/>
              </a:rPr>
              <a:t> trước khi hoàn tiền.</a:t>
            </a:r>
            <a:endParaRPr lang="en-US" sz="1300" dirty="0"/>
          </a:p>
        </p:txBody>
      </p:sp>
      <p:sp>
        <p:nvSpPr>
          <p:cNvPr id="19" name="Shape 14"/>
          <p:cNvSpPr/>
          <p:nvPr/>
        </p:nvSpPr>
        <p:spPr>
          <a:xfrm>
            <a:off x="4686300" y="3086100"/>
            <a:ext cx="4000500" cy="1485900"/>
          </a:xfrm>
          <a:prstGeom prst="roundRect">
            <a:avLst>
              <a:gd name="adj" fmla="val 6154"/>
            </a:avLst>
          </a:prstGeom>
          <a:solidFill>
            <a:srgbClr val="FBEAE8"/>
          </a:solidFill>
          <a:ln w="12700">
            <a:solidFill>
              <a:srgbClr val="FBEAE8"/>
            </a:solidFill>
            <a:prstDash val="solid"/>
          </a:ln>
        </p:spPr>
      </p:sp>
      <p:sp>
        <p:nvSpPr>
          <p:cNvPr id="20" name="Shape 15"/>
          <p:cNvSpPr/>
          <p:nvPr/>
        </p:nvSpPr>
        <p:spPr>
          <a:xfrm>
            <a:off x="4869180" y="3268980"/>
            <a:ext cx="457200" cy="457200"/>
          </a:xfrm>
          <a:prstGeom prst="ellipse">
            <a:avLst/>
          </a:prstGeom>
          <a:solidFill>
            <a:srgbClr val="C0392B"/>
          </a:solidFill>
          <a:ln w="12700">
            <a:solidFill>
              <a:srgbClr val="C0392B"/>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Chính sách dữ liệu khác nhau</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Lưu trữ và huấn luyện khác theo công cụ, theo gói. Kiểm tra </a:t>
            </a:r>
            <a:pPr indent="0" marL="0">
              <a:buNone/>
            </a:pPr>
            <a:r>
              <a:rPr lang="en-US" sz="1300" b="1" dirty="0">
                <a:solidFill>
                  <a:srgbClr val="1F2A30"/>
                </a:solidFill>
                <a:latin typeface="Calibri" pitchFamily="34" charset="0"/>
                <a:ea typeface="Calibri" pitchFamily="34" charset="-122"/>
                <a:cs typeface="Calibri" pitchFamily="34" charset="-120"/>
              </a:rPr>
              <a:t>cài đặt quyền riêng tư</a:t>
            </a:r>
            <a:pPr indent="0" marL="0">
              <a:buNone/>
            </a:pPr>
            <a:r>
              <a:rPr lang="en-US" sz="1300" dirty="0">
                <a:solidFill>
                  <a:srgbClr val="1F2A30"/>
                </a:solidFill>
                <a:latin typeface="Calibri" pitchFamily="34" charset="0"/>
                <a:ea typeface="Calibri" pitchFamily="34" charset="-122"/>
                <a:cs typeface="Calibri" pitchFamily="34" charset="-120"/>
              </a:rPr>
              <a:t> và quy định công ty.</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02</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1 · HÌNH ẢNH</a:t>
            </a:r>
            <a:endParaRPr lang="en-US" sz="1200" dirty="0"/>
          </a:p>
        </p:txBody>
      </p:sp>
      <p:sp>
        <p:nvSpPr>
          <p:cNvPr id="4" name="Text 2"/>
          <p:cNvSpPr txBox="1"/>
          <p:nvPr/>
        </p:nvSpPr>
        <p:spPr>
          <a:xfrm>
            <a:off x="548640" y="2468880"/>
            <a:ext cx="6583680" cy="105156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Infographic hướng dẫn với Canva AI</a:t>
            </a:r>
            <a:endParaRPr lang="en-US" sz="2600" dirty="0"/>
          </a:p>
        </p:txBody>
      </p:sp>
      <p:sp>
        <p:nvSpPr>
          <p:cNvPr id="5" name="Text 3"/>
          <p:cNvSpPr txBox="1"/>
          <p:nvPr/>
        </p:nvSpPr>
        <p:spPr>
          <a:xfrm>
            <a:off x="548640" y="361188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Trả lời một lần, dùng lại hàng trăm lần. Không cần biết thiết kế.</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CANVA AI</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Canva AI giúp được phần nào?</a:t>
            </a:r>
            <a:endParaRPr lang="en-US" sz="2500" dirty="0"/>
          </a:p>
        </p:txBody>
      </p:sp>
      <p:sp>
        <p:nvSpPr>
          <p:cNvPr id="4" name="Text 2"/>
          <p:cNvSpPr txBox="1"/>
          <p:nvPr/>
        </p:nvSpPr>
        <p:spPr>
          <a:xfrm>
            <a:off x="457200" y="1280160"/>
            <a:ext cx="8229600" cy="411480"/>
          </a:xfrm>
          <a:prstGeom prst="rect">
            <a:avLst/>
          </a:prstGeom>
          <a:noFill/>
          <a:ln/>
        </p:spPr>
        <p:txBody>
          <a:bodyPr wrap="square" lIns="0" tIns="0" rIns="0" bIns="0" rtlCol="0" anchor="ctr"/>
          <a:lstStyle/>
          <a:p>
            <a:pPr indent="0" marL="0">
              <a:buNone/>
            </a:pPr>
            <a:r>
              <a:rPr lang="en-US" sz="1300" dirty="0">
                <a:solidFill>
                  <a:srgbClr val="5B6B73"/>
                </a:solidFill>
                <a:latin typeface="Calibri" pitchFamily="34" charset="0"/>
                <a:ea typeface="Calibri" pitchFamily="34" charset="-122"/>
                <a:cs typeface="Calibri" pitchFamily="34" charset="-120"/>
              </a:rPr>
              <a:t>Khách đọc lướt trên điện thoại, hay lưu ảnh gửi người thân nhờ làm giúp, và cả nhóm dùng </a:t>
            </a:r>
            <a:pPr indent="0" marL="0">
              <a:buNone/>
            </a:pPr>
            <a:r>
              <a:rPr lang="en-US" sz="1300" b="1" dirty="0">
                <a:solidFill>
                  <a:srgbClr val="5B6B73"/>
                </a:solidFill>
                <a:latin typeface="Calibri" pitchFamily="34" charset="0"/>
                <a:ea typeface="Calibri" pitchFamily="34" charset="-122"/>
                <a:cs typeface="Calibri" pitchFamily="34" charset="-120"/>
              </a:rPr>
              <a:t>cùng một bản chuẩn</a:t>
            </a:r>
            <a:pPr indent="0" marL="0">
              <a:buNone/>
            </a:pPr>
            <a:r>
              <a:rPr lang="en-US" sz="1300" dirty="0">
                <a:solidFill>
                  <a:srgbClr val="5B6B73"/>
                </a:solidFill>
                <a:latin typeface="Calibri" pitchFamily="34" charset="0"/>
                <a:ea typeface="Calibri" pitchFamily="34" charset="-122"/>
                <a:cs typeface="Calibri" pitchFamily="34" charset="-120"/>
              </a:rPr>
              <a:t>.</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8229600" cy="914400"/>
        </p:xfrm>
        <a:graphic>
          <a:graphicData uri="http://schemas.openxmlformats.org/drawingml/2006/table">
            <a:tbl>
              <a:tblPr/>
              <a:tblGrid>
                <a:gridCol w="2926080"/>
                <a:gridCol w="53035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Tính năng</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Dùng trong CSKH</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Tạo thiết kế từ mô tả</a:t>
                      </a:r>
                      <a:pPr indent="0" marL="0">
                        <a:buNone/>
                      </a:pPr>
                      <a:r>
                        <a:rPr lang="en-US" sz="1400" dirty="0">
                          <a:solidFill>
                            <a:srgbClr val="1F2A30"/>
                          </a:solidFill>
                          <a:latin typeface="Calibri" pitchFamily="34" charset="0"/>
                          <a:ea typeface="Calibri" pitchFamily="34" charset="-122"/>
                          <a:cs typeface="Calibri" pitchFamily="34" charset="-120"/>
                        </a:rPr>
                        <a:t> (Canva AI / Magic Design)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Mô tả "infographic 5 bước đổi phương thức thanh toán", chọn mẫu gợi ý</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Viết nội dung bằng AI</a:t>
                      </a:r>
                      <a:pPr indent="0" marL="0">
                        <a:buNone/>
                      </a:pPr>
                      <a:r>
                        <a:rPr lang="en-US" sz="1400" dirty="0">
                          <a:solidFill>
                            <a:srgbClr val="1F2A30"/>
                          </a:solidFill>
                          <a:latin typeface="Calibri" pitchFamily="34" charset="0"/>
                          <a:ea typeface="Calibri" pitchFamily="34" charset="-122"/>
                          <a:cs typeface="Calibri" pitchFamily="34" charset="-120"/>
                        </a:rPr>
                        <a:t> (Magic Write)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Rút gọn đoạn hướng dẫn dài thành câu ngắn cho từng bước</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Kho mẫu Infographic</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Chọn mẫu "các bước", "quy trình" rồi thay chữ</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Chỉnh sửa ảnh bằng AI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Xóa phần thừa trên ảnh chụp, làm nổi bật nút cần bấm</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Tên và vị trí nút có thể đổi theo phiên bản; gói miễn phí giới hạn lượt dùng AI, kiểm tra trang chính thức.</a:t>
            </a:r>
            <a:endParaRPr lang="en-US" sz="1250" dirty="0"/>
          </a:p>
        </p:txBody>
      </p:sp>
      <p:sp>
        <p:nvSpPr>
          <p:cNvPr id="7" name="Text 4"/>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8" name="Text 5"/>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QUY TRÌNH</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4 bước làm infographic</a:t>
            </a:r>
            <a:endParaRPr lang="en-US" sz="2500" dirty="0"/>
          </a:p>
        </p:txBody>
      </p:sp>
      <p:sp>
        <p:nvSpPr>
          <p:cNvPr id="4" name="Shape 2"/>
          <p:cNvSpPr/>
          <p:nvPr/>
        </p:nvSpPr>
        <p:spPr>
          <a:xfrm>
            <a:off x="1485900" y="1783080"/>
            <a:ext cx="6172200" cy="0"/>
          </a:xfrm>
          <a:prstGeom prst="line">
            <a:avLst/>
          </a:prstGeom>
          <a:noFill/>
          <a:ln w="31750">
            <a:solidFill>
              <a:srgbClr val="D3EAE6"/>
            </a:solidFill>
            <a:prstDash val="solid"/>
          </a:ln>
        </p:spPr>
      </p:sp>
      <p:sp>
        <p:nvSpPr>
          <p:cNvPr id="5" name="Shape 3"/>
          <p:cNvSpPr/>
          <p:nvPr/>
        </p:nvSpPr>
        <p:spPr>
          <a:xfrm>
            <a:off x="1184148" y="1481328"/>
            <a:ext cx="603504" cy="603504"/>
          </a:xfrm>
          <a:prstGeom prst="ellipse">
            <a:avLst/>
          </a:prstGeom>
          <a:solidFill>
            <a:srgbClr val="0E7C7B"/>
          </a:solidFill>
          <a:ln w="25400">
            <a:solidFill>
              <a:srgbClr val="FFFFFF"/>
            </a:solidFill>
            <a:prstDash val="solid"/>
          </a:ln>
        </p:spPr>
      </p:sp>
      <p:sp>
        <p:nvSpPr>
          <p:cNvPr id="6" name="Text 4"/>
          <p:cNvSpPr txBox="1"/>
          <p:nvPr/>
        </p:nvSpPr>
        <p:spPr>
          <a:xfrm>
            <a:off x="11841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5303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Chốt nội dung</a:t>
            </a:r>
            <a:endParaRPr lang="en-US" sz="1450" dirty="0"/>
          </a:p>
        </p:txBody>
      </p:sp>
      <p:sp>
        <p:nvSpPr>
          <p:cNvPr id="8" name="Text 6"/>
          <p:cNvSpPr txBox="1"/>
          <p:nvPr/>
        </p:nvSpPr>
        <p:spPr>
          <a:xfrm>
            <a:off x="548640" y="2788920"/>
            <a:ext cx="18745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Dùng ChatGPT hoặc Gemini rút quy trình thành </a:t>
            </a:r>
            <a:pPr algn="ctr" indent="0" marL="0">
              <a:buNone/>
            </a:pPr>
            <a:r>
              <a:rPr lang="en-US" sz="1350" b="1" dirty="0">
                <a:solidFill>
                  <a:srgbClr val="1F2A30"/>
                </a:solidFill>
                <a:latin typeface="Calibri" pitchFamily="34" charset="0"/>
                <a:ea typeface="Calibri" pitchFamily="34" charset="-122"/>
                <a:cs typeface="Calibri" pitchFamily="34" charset="-120"/>
              </a:rPr>
              <a:t>đúng 5 bước</a:t>
            </a:r>
            <a:pPr algn="ctr" indent="0" marL="0">
              <a:buNone/>
            </a:pPr>
            <a:r>
              <a:rPr lang="en-US" sz="1350" dirty="0">
                <a:solidFill>
                  <a:srgbClr val="1F2A30"/>
                </a:solidFill>
                <a:latin typeface="Calibri" pitchFamily="34" charset="0"/>
                <a:ea typeface="Calibri" pitchFamily="34" charset="-122"/>
                <a:cs typeface="Calibri" pitchFamily="34" charset="-120"/>
              </a:rPr>
              <a:t>.</a:t>
            </a:r>
            <a:endParaRPr lang="en-US" sz="1350" dirty="0"/>
          </a:p>
        </p:txBody>
      </p:sp>
      <p:sp>
        <p:nvSpPr>
          <p:cNvPr id="9" name="Shape 7"/>
          <p:cNvSpPr/>
          <p:nvPr/>
        </p:nvSpPr>
        <p:spPr>
          <a:xfrm>
            <a:off x="3241548" y="1481328"/>
            <a:ext cx="603504" cy="603504"/>
          </a:xfrm>
          <a:prstGeom prst="ellipse">
            <a:avLst/>
          </a:prstGeom>
          <a:solidFill>
            <a:srgbClr val="0E7C7B"/>
          </a:solidFill>
          <a:ln w="25400">
            <a:solidFill>
              <a:srgbClr val="FFFFFF"/>
            </a:solidFill>
            <a:prstDash val="solid"/>
          </a:ln>
        </p:spPr>
      </p:sp>
      <p:sp>
        <p:nvSpPr>
          <p:cNvPr id="10" name="Text 8"/>
          <p:cNvSpPr txBox="1"/>
          <p:nvPr/>
        </p:nvSpPr>
        <p:spPr>
          <a:xfrm>
            <a:off x="32415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5877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Tạo thiết kế</a:t>
            </a:r>
            <a:endParaRPr lang="en-US" sz="1450" dirty="0"/>
          </a:p>
        </p:txBody>
      </p:sp>
      <p:sp>
        <p:nvSpPr>
          <p:cNvPr id="12" name="Text 10"/>
          <p:cNvSpPr txBox="1"/>
          <p:nvPr/>
        </p:nvSpPr>
        <p:spPr>
          <a:xfrm>
            <a:off x="2606040" y="2788920"/>
            <a:ext cx="18745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Khổ dọc cho điện thoại (ví dụ 1080 × 1920), mô tả cho Canva AI hoặc chọn mẫu.</a:t>
            </a:r>
            <a:endParaRPr lang="en-US" sz="1350" dirty="0"/>
          </a:p>
        </p:txBody>
      </p:sp>
      <p:sp>
        <p:nvSpPr>
          <p:cNvPr id="13" name="Shape 11"/>
          <p:cNvSpPr/>
          <p:nvPr/>
        </p:nvSpPr>
        <p:spPr>
          <a:xfrm>
            <a:off x="5298948" y="1481328"/>
            <a:ext cx="603504" cy="603504"/>
          </a:xfrm>
          <a:prstGeom prst="ellipse">
            <a:avLst/>
          </a:prstGeom>
          <a:solidFill>
            <a:srgbClr val="0E7C7B"/>
          </a:solidFill>
          <a:ln w="25400">
            <a:solidFill>
              <a:srgbClr val="FFFFFF"/>
            </a:solidFill>
            <a:prstDash val="solid"/>
          </a:ln>
        </p:spPr>
      </p:sp>
      <p:sp>
        <p:nvSpPr>
          <p:cNvPr id="14" name="Text 12"/>
          <p:cNvSpPr txBox="1"/>
          <p:nvPr/>
        </p:nvSpPr>
        <p:spPr>
          <a:xfrm>
            <a:off x="52989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46451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Dán nội dung</a:t>
            </a:r>
            <a:endParaRPr lang="en-US" sz="1450" dirty="0"/>
          </a:p>
        </p:txBody>
      </p:sp>
      <p:sp>
        <p:nvSpPr>
          <p:cNvPr id="16" name="Text 14"/>
          <p:cNvSpPr txBox="1"/>
          <p:nvPr/>
        </p:nvSpPr>
        <p:spPr>
          <a:xfrm>
            <a:off x="4663440" y="2788920"/>
            <a:ext cx="18745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Chèn ảnh </a:t>
            </a:r>
            <a:pPr algn="ctr" indent="0" marL="0">
              <a:buNone/>
            </a:pPr>
            <a:r>
              <a:rPr lang="en-US" sz="1350" b="1" dirty="0">
                <a:solidFill>
                  <a:srgbClr val="1F2A30"/>
                </a:solidFill>
                <a:latin typeface="Calibri" pitchFamily="34" charset="0"/>
                <a:ea typeface="Calibri" pitchFamily="34" charset="-122"/>
                <a:cs typeface="Calibri" pitchFamily="34" charset="-120"/>
              </a:rPr>
              <a:t>tài khoản test</a:t>
            </a:r>
            <a:pPr algn="ctr" indent="0" marL="0">
              <a:buNone/>
            </a:pPr>
            <a:r>
              <a:rPr lang="en-US" sz="1350" dirty="0">
                <a:solidFill>
                  <a:srgbClr val="1F2A30"/>
                </a:solidFill>
                <a:latin typeface="Calibri" pitchFamily="34" charset="0"/>
                <a:ea typeface="Calibri" pitchFamily="34" charset="-122"/>
                <a:cs typeface="Calibri" pitchFamily="34" charset="-120"/>
              </a:rPr>
              <a:t> hoặc ảnh đã che, khung đỏ quanh nút cần bấm.</a:t>
            </a:r>
            <a:endParaRPr lang="en-US" sz="1350" dirty="0"/>
          </a:p>
        </p:txBody>
      </p:sp>
      <p:sp>
        <p:nvSpPr>
          <p:cNvPr id="17" name="Shape 15"/>
          <p:cNvSpPr/>
          <p:nvPr/>
        </p:nvSpPr>
        <p:spPr>
          <a:xfrm>
            <a:off x="7356348" y="1481328"/>
            <a:ext cx="603504" cy="603504"/>
          </a:xfrm>
          <a:prstGeom prst="ellipse">
            <a:avLst/>
          </a:prstGeom>
          <a:solidFill>
            <a:srgbClr val="F2994A"/>
          </a:solidFill>
          <a:ln w="25400">
            <a:solidFill>
              <a:srgbClr val="FFFFFF"/>
            </a:solidFill>
            <a:prstDash val="solid"/>
          </a:ln>
        </p:spPr>
      </p:sp>
      <p:sp>
        <p:nvSpPr>
          <p:cNvPr id="18" name="Text 16"/>
          <p:cNvSpPr txBox="1"/>
          <p:nvPr/>
        </p:nvSpPr>
        <p:spPr>
          <a:xfrm>
            <a:off x="73563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67025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Kiểm tra, xuất</a:t>
            </a:r>
            <a:endParaRPr lang="en-US" sz="1450" dirty="0"/>
          </a:p>
        </p:txBody>
      </p:sp>
      <p:sp>
        <p:nvSpPr>
          <p:cNvPr id="20" name="Text 18"/>
          <p:cNvSpPr txBox="1"/>
          <p:nvPr/>
        </p:nvSpPr>
        <p:spPr>
          <a:xfrm>
            <a:off x="6720840" y="2788920"/>
            <a:ext cx="1874520" cy="1737360"/>
          </a:xfrm>
          <a:prstGeom prst="rect">
            <a:avLst/>
          </a:prstGeom>
          <a:noFill/>
          <a:ln/>
        </p:spPr>
        <p:txBody>
          <a:bodyPr wrap="square" lIns="0" tIns="0" rIns="0" bIns="0" rtlCol="0" anchor="t"/>
          <a:lstStyle/>
          <a:p>
            <a:pPr algn="ctr" indent="0" marL="0">
              <a:buNone/>
            </a:pPr>
            <a:r>
              <a:rPr lang="en-US" sz="1350" b="1" dirty="0">
                <a:solidFill>
                  <a:srgbClr val="1F2A30"/>
                </a:solidFill>
                <a:latin typeface="Calibri" pitchFamily="34" charset="0"/>
                <a:ea typeface="Calibri" pitchFamily="34" charset="-122"/>
                <a:cs typeface="Calibri" pitchFamily="34" charset="-120"/>
              </a:rPr>
              <a:t>PNG</a:t>
            </a:r>
            <a:pPr algn="ctr" indent="0" marL="0">
              <a:buNone/>
            </a:pPr>
            <a:r>
              <a:rPr lang="en-US" sz="1350" dirty="0">
                <a:solidFill>
                  <a:srgbClr val="1F2A30"/>
                </a:solidFill>
                <a:latin typeface="Calibri" pitchFamily="34" charset="0"/>
                <a:ea typeface="Calibri" pitchFamily="34" charset="-122"/>
                <a:cs typeface="Calibri" pitchFamily="34" charset="-120"/>
              </a:rPr>
              <a:t> để gửi chat, </a:t>
            </a:r>
            <a:pPr algn="ctr" indent="0" marL="0">
              <a:buNone/>
            </a:pPr>
            <a:r>
              <a:rPr lang="en-US" sz="1350" b="1" dirty="0">
                <a:solidFill>
                  <a:srgbClr val="1F2A30"/>
                </a:solidFill>
                <a:latin typeface="Calibri" pitchFamily="34" charset="0"/>
                <a:ea typeface="Calibri" pitchFamily="34" charset="-122"/>
                <a:cs typeface="Calibri" pitchFamily="34" charset="-120"/>
              </a:rPr>
              <a:t>PDF</a:t>
            </a:r>
            <a:pPr algn="ctr" indent="0" marL="0">
              <a:buNone/>
            </a:pPr>
            <a:r>
              <a:rPr lang="en-US" sz="1350" dirty="0">
                <a:solidFill>
                  <a:srgbClr val="1F2A30"/>
                </a:solidFill>
                <a:latin typeface="Calibri" pitchFamily="34" charset="0"/>
                <a:ea typeface="Calibri" pitchFamily="34" charset="-122"/>
                <a:cs typeface="Calibri" pitchFamily="34" charset="-120"/>
              </a:rPr>
              <a:t> để đính kèm email.</a:t>
            </a:r>
            <a:endParaRPr lang="en-US" sz="1350" dirty="0"/>
          </a:p>
        </p:txBody>
      </p:sp>
      <p:sp>
        <p:nvSpPr>
          <p:cNvPr id="21" name="Text 19"/>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Nội dung trước, làm đẹp sau: AI có thể thêm bước không tồn tại hoặc đặt sai tên nút.</a:t>
            </a:r>
            <a:endParaRPr lang="en-US" sz="1250" dirty="0"/>
          </a:p>
        </p:txBody>
      </p:sp>
      <p:sp>
        <p:nvSpPr>
          <p:cNvPr id="22" name="Text 20"/>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23" name="Text 21"/>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BƯỚC 1 · PROMPT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Rút gọn quy trình thành 5 bước</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Vai trò: Bạn là chuyên viên viết tài liệu hướng dẫn cho khách hàng phổ thông.</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Bối cảnh: Khách của sàn thương mại điện tử ShopNhanh hay gặp lỗi "Thanh toán</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thất bại" khi thẻ đã lưu hết hạn. Nhiều khách lớn tuổi, đọc trên điện thoại.</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Nhiệm vụ: Viết lại quy trình dưới đây thành đúng 5 bước cho một infographic.</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[DÁN QUY TRÌNH NỘI BỘ ĐÃ ẨN DANH]</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Định dạng: Mỗi bước gồm tiêu đề tối đa 6 chữ và 1 câu mô tả tối đa 15 chữ.</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Gợi ý 1 biểu tượng cho mỗi bước. Thêm 1 dòng tiêu đề chính và 1 dòng cuối</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"Cần hỗ trợ thêm?" kèm chỗ trống [KÊNH LIÊN HỆ].</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Giọng điệu: Thân thiện, dễ hiểu, không dùng thuật ngữ kỹ thuật.</a:t>
            </a:r>
            <a:endParaRPr lang="en-US" sz="125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Đối chiếu từng bước với </a:t>
            </a:r>
            <a:pPr indent="0" marL="0">
              <a:buNone/>
            </a:pPr>
            <a:r>
              <a:rPr lang="en-US" sz="1150" b="1" dirty="0">
                <a:solidFill>
                  <a:srgbClr val="1F2A30"/>
                </a:solidFill>
                <a:latin typeface="Calibri" pitchFamily="34" charset="0"/>
                <a:ea typeface="Calibri" pitchFamily="34" charset="-122"/>
                <a:cs typeface="Calibri" pitchFamily="34" charset="-120"/>
              </a:rPr>
              <a:t>app thật</a:t>
            </a:r>
            <a:pPr indent="0" marL="0">
              <a:buNone/>
            </a:pPr>
            <a:r>
              <a:rPr lang="en-US" sz="1150" dirty="0">
                <a:solidFill>
                  <a:srgbClr val="1F2A30"/>
                </a:solidFill>
                <a:latin typeface="Calibri" pitchFamily="34" charset="0"/>
                <a:ea typeface="Calibri" pitchFamily="34" charset="-122"/>
                <a:cs typeface="Calibri" pitchFamily="34" charset="-120"/>
              </a:rPr>
              <a:t> trước khi sang Canva.</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VÍ DỤ SO SÁNH</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Đẹp nhưng vô dụng, hay dùng được?</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Đẹp nhưng vô dụng</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1F2A30"/>
                </a:solidFill>
                <a:latin typeface="Calibri" pitchFamily="34" charset="0"/>
                <a:ea typeface="Calibri" pitchFamily="34" charset="-122"/>
                <a:cs typeface="Calibri" pitchFamily="34" charset="-120"/>
              </a:rPr>
              <a:t>12 bước</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chữ nhỏ, 4 màu nền.</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Ảnh minh họa chung chung, không phải giao diện app thật.</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Không logo, không kênh liên hệ.</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Dùng được</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1F2A30"/>
                </a:solidFill>
                <a:latin typeface="Calibri" pitchFamily="34" charset="0"/>
                <a:ea typeface="Calibri" pitchFamily="34" charset="-122"/>
                <a:cs typeface="Calibri" pitchFamily="34" charset="-120"/>
              </a:rPr>
              <a:t>5 bước</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đánh số to, mỗi bước 1 câu.</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Ảnh đúng màn hình app, </a:t>
            </a:r>
            <a:pPr indent="0" marL="0">
              <a:spcAft>
                <a:spcPts val="800"/>
              </a:spcAft>
              <a:buNone/>
            </a:pPr>
            <a:r>
              <a:rPr lang="en-US" sz="1400" b="1" dirty="0">
                <a:solidFill>
                  <a:srgbClr val="1F2A30"/>
                </a:solidFill>
                <a:latin typeface="Calibri" pitchFamily="34" charset="0"/>
                <a:ea typeface="Calibri" pitchFamily="34" charset="-122"/>
                <a:cs typeface="Calibri" pitchFamily="34" charset="-120"/>
              </a:rPr>
              <a:t>khung đỏ</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chỉ nút bấm.</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2 màu theo nhận diện công ty, dòng cuối ghi kênh hỗ trợ.</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Checklist: 5–7 bước, đúng </a:t>
            </a:r>
            <a:pPr indent="0" marL="0">
              <a:buNone/>
            </a:pPr>
            <a:r>
              <a:rPr lang="en-US" sz="1200" b="1" dirty="0">
                <a:solidFill>
                  <a:srgbClr val="1F2A30"/>
                </a:solidFill>
                <a:latin typeface="Calibri" pitchFamily="34" charset="0"/>
                <a:ea typeface="Calibri" pitchFamily="34" charset="-122"/>
                <a:cs typeface="Calibri" pitchFamily="34" charset="-120"/>
              </a:rPr>
              <a:t>phiên bản app hiện tại</a:t>
            </a:r>
            <a:pPr indent="0" marL="0">
              <a:buNone/>
            </a:pPr>
            <a:r>
              <a:rPr lang="en-US" sz="1200" dirty="0">
                <a:solidFill>
                  <a:srgbClr val="1F2A30"/>
                </a:solidFill>
                <a:latin typeface="Calibri" pitchFamily="34" charset="0"/>
                <a:ea typeface="Calibri" pitchFamily="34" charset="-122"/>
                <a:cs typeface="Calibri" pitchFamily="34" charset="-120"/>
              </a:rPr>
              <a:t>, không lộ dữ liệu cá nhân, đúng thương hiệu, nhờ đồng nghiệp </a:t>
            </a:r>
            <a:pPr indent="0" marL="0">
              <a:buNone/>
            </a:pPr>
            <a:r>
              <a:rPr lang="en-US" sz="1200" b="1" dirty="0">
                <a:solidFill>
                  <a:srgbClr val="1F2A30"/>
                </a:solidFill>
                <a:latin typeface="Calibri" pitchFamily="34" charset="0"/>
                <a:ea typeface="Calibri" pitchFamily="34" charset="-122"/>
                <a:cs typeface="Calibri" pitchFamily="34" charset="-120"/>
              </a:rPr>
              <a:t>làm thử theo</a:t>
            </a:r>
            <a:pP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 CÂU 1</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Ảnh lỗi thanh toán còn hiện </a:t>
            </a:r>
            <a:pPr indent="0" marL="0">
              <a:buNone/>
            </a:pPr>
            <a:r>
              <a:rPr lang="en-US" sz="2100" b="1" dirty="0">
                <a:solidFill>
                  <a:srgbClr val="0B3B45"/>
                </a:solidFill>
                <a:latin typeface="Cambria" pitchFamily="34" charset="0"/>
                <a:ea typeface="Cambria" pitchFamily="34" charset="-122"/>
                <a:cs typeface="Cambria" pitchFamily="34" charset="-120"/>
              </a:rPr>
              <a:t>tên và SĐT</a:t>
            </a:r>
            <a:pPr indent="0" marL="0">
              <a:buNone/>
            </a:pPr>
            <a:r>
              <a:rPr lang="en-US" sz="2100" b="1" dirty="0">
                <a:solidFill>
                  <a:srgbClr val="0B3B45"/>
                </a:solidFill>
                <a:latin typeface="Cambria" pitchFamily="34" charset="0"/>
                <a:ea typeface="Cambria" pitchFamily="34" charset="-122"/>
                <a:cs typeface="Cambria" pitchFamily="34" charset="-120"/>
              </a:rPr>
              <a:t> khách ở góc trên. Làm gì trước khi đưa vào Gemini?</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Tải lên luôn vì Gemini là công cụ uy tín</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Dùng bút highlight màu vàng tô lên tên và SĐT</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Che bằng khối màu đặc hoặc cắt bỏ, phóng to kiểm tra rồi mới tải lên</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Nhắn AI "đừng lưu thông tin cá nhân trong ảnh này"</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 CÂU 2</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AI đọc ảnh hóa đơn và báo tổng tiền là </a:t>
            </a:r>
            <a:pPr indent="0" marL="0">
              <a:buNone/>
            </a:pPr>
            <a:r>
              <a:rPr lang="en-US" sz="2100" b="1" dirty="0">
                <a:solidFill>
                  <a:srgbClr val="0B3B45"/>
                </a:solidFill>
                <a:latin typeface="Cambria" pitchFamily="34" charset="0"/>
                <a:ea typeface="Cambria" pitchFamily="34" charset="-122"/>
                <a:cs typeface="Cambria" pitchFamily="34" charset="-120"/>
              </a:rPr>
              <a:t>1.780.000đ</a:t>
            </a:r>
            <a:pPr indent="0" marL="0">
              <a:buNone/>
            </a:pPr>
            <a:r>
              <a:rPr lang="en-US" sz="2100" b="1" dirty="0">
                <a:solidFill>
                  <a:srgbClr val="0B3B45"/>
                </a:solidFill>
                <a:latin typeface="Cambria" pitchFamily="34" charset="0"/>
                <a:ea typeface="Cambria" pitchFamily="34" charset="-122"/>
                <a:cs typeface="Cambria" pitchFamily="34" charset="-120"/>
              </a:rPr>
              <a:t>. Bạn nên làm gì tiếp?</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Hoàn tiền cho khách theo đúng số đó</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Đối soát số tiền trên hệ thống trước khi xử lý</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Hỏi lại AI lần nữa, nếu ra cùng kết quả thì dùng</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Gửi ngay kết quả cho khách để xác nhận</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 CÂU 3</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Thứ tự làm infographic nào hợp lý nhất?</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Chọn mẫu Canva đẹp nhất, rồi nghĩ nội dung cho vừa khung</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Chốt 5 bước bằng trợ lý AI, đối chiếu app thật, rồi mới sang Canva</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Nhờ Canva AI tự viết cả nội dung lẫn thiết kế rồi gửi ngay</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Chụp nguyên đoạn hướng dẫn 9 dòng chữ và gửi dưới dạng ảnh</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03</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2 · VIDEO</a:t>
            </a:r>
            <a:endParaRPr lang="en-US" sz="1200" dirty="0"/>
          </a:p>
        </p:txBody>
      </p:sp>
      <p:sp>
        <p:nvSpPr>
          <p:cNvPr id="4" name="Text 2"/>
          <p:cNvSpPr txBox="1"/>
          <p:nvPr/>
        </p:nvSpPr>
        <p:spPr>
          <a:xfrm>
            <a:off x="548640" y="2468880"/>
            <a:ext cx="6583680" cy="105156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Video hướng dẫn có phụ đề tự động</a:t>
            </a:r>
            <a:endParaRPr lang="en-US" sz="2600" dirty="0"/>
          </a:p>
        </p:txBody>
      </p:sp>
      <p:sp>
        <p:nvSpPr>
          <p:cNvPr id="5" name="Text 3"/>
          <p:cNvSpPr txBox="1"/>
          <p:nvPr/>
        </p:nvSpPr>
        <p:spPr>
          <a:xfrm>
            <a:off x="548640" y="361188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Khi thao tác cần kéo, vuốt, chờ tải: video 60–90 giây cho khách thấy đúng tay bấm vào đâu.</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QUY TRÌNH 5 BƯỚC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Quay, cắt, phụ đề, xuất file</a:t>
            </a:r>
            <a:endParaRPr lang="en-US" sz="2500" dirty="0"/>
          </a:p>
        </p:txBody>
      </p:sp>
      <p:sp>
        <p:nvSpPr>
          <p:cNvPr id="4" name="Shape 2"/>
          <p:cNvSpPr/>
          <p:nvPr/>
        </p:nvSpPr>
        <p:spPr>
          <a:xfrm>
            <a:off x="1280160" y="1783080"/>
            <a:ext cx="6583680" cy="0"/>
          </a:xfrm>
          <a:prstGeom prst="line">
            <a:avLst/>
          </a:prstGeom>
          <a:noFill/>
          <a:ln w="31750">
            <a:solidFill>
              <a:srgbClr val="D3EAE6"/>
            </a:solidFill>
            <a:prstDash val="solid"/>
          </a:ln>
        </p:spPr>
      </p:sp>
      <p:sp>
        <p:nvSpPr>
          <p:cNvPr id="5" name="Shape 3"/>
          <p:cNvSpPr/>
          <p:nvPr/>
        </p:nvSpPr>
        <p:spPr>
          <a:xfrm>
            <a:off x="978408" y="1481328"/>
            <a:ext cx="603504" cy="603504"/>
          </a:xfrm>
          <a:prstGeom prst="ellipse">
            <a:avLst/>
          </a:prstGeom>
          <a:solidFill>
            <a:srgbClr val="0E7C7B"/>
          </a:solidFill>
          <a:ln w="25400">
            <a:solidFill>
              <a:srgbClr val="FFFFFF"/>
            </a:solidFill>
            <a:prstDash val="solid"/>
          </a:ln>
        </p:spPr>
      </p:sp>
      <p:sp>
        <p:nvSpPr>
          <p:cNvPr id="6" name="Text 4"/>
          <p:cNvSpPr txBox="1"/>
          <p:nvPr/>
        </p:nvSpPr>
        <p:spPr>
          <a:xfrm>
            <a:off x="97840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53035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Kịch bản</a:t>
            </a:r>
            <a:endParaRPr lang="en-US" sz="1300" dirty="0"/>
          </a:p>
        </p:txBody>
      </p:sp>
      <p:sp>
        <p:nvSpPr>
          <p:cNvPr id="8" name="Text 6"/>
          <p:cNvSpPr txBox="1"/>
          <p:nvPr/>
        </p:nvSpPr>
        <p:spPr>
          <a:xfrm>
            <a:off x="54864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AI viết lời thoại 75 giây, bảng Thời gian, Thao tác, Lời thoại; </a:t>
            </a:r>
            <a:pPr algn="ctr" indent="0" marL="0">
              <a:buNone/>
            </a:pPr>
            <a:r>
              <a:rPr lang="en-US" sz="1200" b="1" dirty="0">
                <a:solidFill>
                  <a:srgbClr val="1F2A30"/>
                </a:solidFill>
                <a:latin typeface="Calibri" pitchFamily="34" charset="0"/>
                <a:ea typeface="Calibri" pitchFamily="34" charset="-122"/>
                <a:cs typeface="Calibri" pitchFamily="34" charset="-120"/>
              </a:rPr>
              <a:t>≤180 từ</a:t>
            </a:r>
            <a:pPr algn="ctr" indent="0" marL="0">
              <a:buNone/>
            </a:pPr>
            <a:r>
              <a:rPr lang="en-US" sz="1200" dirty="0">
                <a:solidFill>
                  <a:srgbClr val="1F2A30"/>
                </a:solidFill>
                <a:latin typeface="Calibri" pitchFamily="34" charset="0"/>
                <a:ea typeface="Calibri" pitchFamily="34" charset="-122"/>
                <a:cs typeface="Calibri" pitchFamily="34" charset="-120"/>
              </a:rPr>
              <a:t>, câu dưới 15 chữ.</a:t>
            </a:r>
            <a:endParaRPr lang="en-US" sz="1200" dirty="0"/>
          </a:p>
        </p:txBody>
      </p:sp>
      <p:sp>
        <p:nvSpPr>
          <p:cNvPr id="9" name="Shape 7"/>
          <p:cNvSpPr/>
          <p:nvPr/>
        </p:nvSpPr>
        <p:spPr>
          <a:xfrm>
            <a:off x="2624328" y="1481328"/>
            <a:ext cx="603504" cy="603504"/>
          </a:xfrm>
          <a:prstGeom prst="ellipse">
            <a:avLst/>
          </a:prstGeom>
          <a:solidFill>
            <a:srgbClr val="0E7C7B"/>
          </a:solidFill>
          <a:ln w="25400">
            <a:solidFill>
              <a:srgbClr val="FFFFFF"/>
            </a:solidFill>
            <a:prstDash val="solid"/>
          </a:ln>
        </p:spPr>
      </p:sp>
      <p:sp>
        <p:nvSpPr>
          <p:cNvPr id="10" name="Text 8"/>
          <p:cNvSpPr txBox="1"/>
          <p:nvPr/>
        </p:nvSpPr>
        <p:spPr>
          <a:xfrm>
            <a:off x="262432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17627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Quay sạch</a:t>
            </a:r>
            <a:endParaRPr lang="en-US" sz="1300" dirty="0"/>
          </a:p>
        </p:txBody>
      </p:sp>
      <p:sp>
        <p:nvSpPr>
          <p:cNvPr id="12" name="Text 10"/>
          <p:cNvSpPr txBox="1"/>
          <p:nvPr/>
        </p:nvSpPr>
        <p:spPr>
          <a:xfrm>
            <a:off x="2194560" y="2788920"/>
            <a:ext cx="1463040" cy="1737360"/>
          </a:xfrm>
          <a:prstGeom prst="rect">
            <a:avLst/>
          </a:prstGeom>
          <a:noFill/>
          <a:ln/>
        </p:spPr>
        <p:txBody>
          <a:bodyPr wrap="square" lIns="0" tIns="0" rIns="0" bIns="0" rtlCol="0" anchor="t"/>
          <a:lstStyle/>
          <a:p>
            <a:pPr algn="ctr" indent="0" marL="0">
              <a:buNone/>
            </a:pPr>
            <a:r>
              <a:rPr lang="en-US" sz="1200" b="1" dirty="0">
                <a:solidFill>
                  <a:srgbClr val="1F2A30"/>
                </a:solidFill>
                <a:latin typeface="Calibri" pitchFamily="34" charset="0"/>
                <a:ea typeface="Calibri" pitchFamily="34" charset="-122"/>
                <a:cs typeface="Calibri" pitchFamily="34" charset="-120"/>
              </a:rPr>
              <a:t>Tài khoản test</a:t>
            </a:r>
            <a:pPr algn="ctr" indent="0" marL="0">
              <a:buNone/>
            </a:pPr>
            <a:r>
              <a:rPr lang="en-US" sz="1200" dirty="0">
                <a:solidFill>
                  <a:srgbClr val="1F2A30"/>
                </a:solidFill>
                <a:latin typeface="Calibri" pitchFamily="34" charset="0"/>
                <a:ea typeface="Calibri" pitchFamily="34" charset="-122"/>
                <a:cs typeface="Calibri" pitchFamily="34" charset="-120"/>
              </a:rPr>
              <a:t>, bật </a:t>
            </a:r>
            <a:pPr algn="ctr" indent="0" marL="0">
              <a:buNone/>
            </a:pPr>
            <a:r>
              <a:rPr lang="en-US" sz="1200" b="1" dirty="0">
                <a:solidFill>
                  <a:srgbClr val="1F2A30"/>
                </a:solidFill>
                <a:latin typeface="Calibri" pitchFamily="34" charset="0"/>
                <a:ea typeface="Calibri" pitchFamily="34" charset="-122"/>
                <a:cs typeface="Calibri" pitchFamily="34" charset="-120"/>
              </a:rPr>
              <a:t>Không làm phiền</a:t>
            </a:r>
            <a:pPr algn="ctr" indent="0" marL="0">
              <a:buNone/>
            </a:pPr>
            <a:r>
              <a:rPr lang="en-US" sz="1200" dirty="0">
                <a:solidFill>
                  <a:srgbClr val="1F2A30"/>
                </a:solidFill>
                <a:latin typeface="Calibri" pitchFamily="34" charset="0"/>
                <a:ea typeface="Calibri" pitchFamily="34" charset="-122"/>
                <a:cs typeface="Calibri" pitchFamily="34" charset="-120"/>
              </a:rPr>
              <a:t>, đóng tab CRM, chat. Thao tác chậm.</a:t>
            </a:r>
            <a:endParaRPr lang="en-US" sz="1200" dirty="0"/>
          </a:p>
        </p:txBody>
      </p:sp>
      <p:sp>
        <p:nvSpPr>
          <p:cNvPr id="13" name="Shape 11"/>
          <p:cNvSpPr/>
          <p:nvPr/>
        </p:nvSpPr>
        <p:spPr>
          <a:xfrm>
            <a:off x="4270248" y="1481328"/>
            <a:ext cx="603504" cy="603504"/>
          </a:xfrm>
          <a:prstGeom prst="ellipse">
            <a:avLst/>
          </a:prstGeom>
          <a:solidFill>
            <a:srgbClr val="0E7C7B"/>
          </a:solidFill>
          <a:ln w="25400">
            <a:solidFill>
              <a:srgbClr val="FFFFFF"/>
            </a:solidFill>
            <a:prstDash val="solid"/>
          </a:ln>
        </p:spPr>
      </p:sp>
      <p:sp>
        <p:nvSpPr>
          <p:cNvPr id="14" name="Text 12"/>
          <p:cNvSpPr txBox="1"/>
          <p:nvPr/>
        </p:nvSpPr>
        <p:spPr>
          <a:xfrm>
            <a:off x="42702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382219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Cắt ghép</a:t>
            </a:r>
            <a:endParaRPr lang="en-US" sz="1300" dirty="0"/>
          </a:p>
        </p:txBody>
      </p:sp>
      <p:sp>
        <p:nvSpPr>
          <p:cNvPr id="16" name="Text 14"/>
          <p:cNvSpPr txBox="1"/>
          <p:nvPr/>
        </p:nvSpPr>
        <p:spPr>
          <a:xfrm>
            <a:off x="384048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CapCut: cắt đoạn thừa, thu lời thoại hoặc chèn chữ, thêm khung chỉ nút.</a:t>
            </a:r>
            <a:endParaRPr lang="en-US" sz="1200" dirty="0"/>
          </a:p>
        </p:txBody>
      </p:sp>
      <p:sp>
        <p:nvSpPr>
          <p:cNvPr id="17" name="Shape 15"/>
          <p:cNvSpPr/>
          <p:nvPr/>
        </p:nvSpPr>
        <p:spPr>
          <a:xfrm>
            <a:off x="5916168" y="1481328"/>
            <a:ext cx="603504" cy="603504"/>
          </a:xfrm>
          <a:prstGeom prst="ellipse">
            <a:avLst/>
          </a:prstGeom>
          <a:solidFill>
            <a:srgbClr val="0E7C7B"/>
          </a:solidFill>
          <a:ln w="25400">
            <a:solidFill>
              <a:srgbClr val="FFFFFF"/>
            </a:solidFill>
            <a:prstDash val="solid"/>
          </a:ln>
        </p:spPr>
      </p:sp>
      <p:sp>
        <p:nvSpPr>
          <p:cNvPr id="18" name="Text 16"/>
          <p:cNvSpPr txBox="1"/>
          <p:nvPr/>
        </p:nvSpPr>
        <p:spPr>
          <a:xfrm>
            <a:off x="591616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546811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Phụ đề</a:t>
            </a:r>
            <a:endParaRPr lang="en-US" sz="1300" dirty="0"/>
          </a:p>
        </p:txBody>
      </p:sp>
      <p:sp>
        <p:nvSpPr>
          <p:cNvPr id="20" name="Text 18"/>
          <p:cNvSpPr txBox="1"/>
          <p:nvPr/>
        </p:nvSpPr>
        <p:spPr>
          <a:xfrm>
            <a:off x="5486400" y="2788920"/>
            <a:ext cx="1463040" cy="1737360"/>
          </a:xfrm>
          <a:prstGeom prst="rect">
            <a:avLst/>
          </a:prstGeom>
          <a:noFill/>
          <a:ln/>
        </p:spPr>
        <p:txBody>
          <a:bodyPr wrap="square" lIns="0" tIns="0" rIns="0" bIns="0" rtlCol="0" anchor="t"/>
          <a:lstStyle/>
          <a:p>
            <a:pPr algn="ctr" indent="0" marL="0">
              <a:buNone/>
            </a:pPr>
            <a:r>
              <a:rPr lang="en-US" sz="1200" b="1" dirty="0">
                <a:solidFill>
                  <a:srgbClr val="1F2A30"/>
                </a:solidFill>
                <a:latin typeface="Calibri" pitchFamily="34" charset="0"/>
                <a:ea typeface="Calibri" pitchFamily="34" charset="-122"/>
                <a:cs typeface="Calibri" pitchFamily="34" charset="-120"/>
              </a:rPr>
              <a:t>Phụ đề tự động</a:t>
            </a:r>
            <a:pPr algn="ctr" indent="0" marL="0">
              <a:buNone/>
            </a:pPr>
            <a:r>
              <a:rPr lang="en-US" sz="1200" dirty="0">
                <a:solidFill>
                  <a:srgbClr val="1F2A30"/>
                </a:solidFill>
                <a:latin typeface="Calibri" pitchFamily="34" charset="0"/>
                <a:ea typeface="Calibri" pitchFamily="34" charset="-122"/>
                <a:cs typeface="Calibri" pitchFamily="34" charset="-120"/>
              </a:rPr>
              <a:t>, chọn Tiếng Việt, rồi </a:t>
            </a:r>
            <a:pPr algn="ctr" indent="0" marL="0">
              <a:buNone/>
            </a:pPr>
            <a:r>
              <a:rPr lang="en-US" sz="1200" b="1" dirty="0">
                <a:solidFill>
                  <a:srgbClr val="1F2A30"/>
                </a:solidFill>
                <a:latin typeface="Calibri" pitchFamily="34" charset="0"/>
                <a:ea typeface="Calibri" pitchFamily="34" charset="-122"/>
                <a:cs typeface="Calibri" pitchFamily="34" charset="-120"/>
              </a:rPr>
              <a:t>đọc lại và sửa từng dòng</a:t>
            </a:r>
            <a:pPr algn="ct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7562088" y="1481328"/>
            <a:ext cx="603504" cy="603504"/>
          </a:xfrm>
          <a:prstGeom prst="ellipse">
            <a:avLst/>
          </a:prstGeom>
          <a:solidFill>
            <a:srgbClr val="F2994A"/>
          </a:solidFill>
          <a:ln w="25400">
            <a:solidFill>
              <a:srgbClr val="FFFFFF"/>
            </a:solidFill>
            <a:prstDash val="solid"/>
          </a:ln>
        </p:spPr>
      </p:sp>
      <p:sp>
        <p:nvSpPr>
          <p:cNvPr id="22" name="Text 20"/>
          <p:cNvSpPr txBox="1"/>
          <p:nvPr/>
        </p:nvSpPr>
        <p:spPr>
          <a:xfrm>
            <a:off x="756208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txBox="1"/>
          <p:nvPr/>
        </p:nvSpPr>
        <p:spPr>
          <a:xfrm>
            <a:off x="711403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Xuất, gửi</a:t>
            </a:r>
            <a:endParaRPr lang="en-US" sz="1300" dirty="0"/>
          </a:p>
        </p:txBody>
      </p:sp>
      <p:sp>
        <p:nvSpPr>
          <p:cNvPr id="24" name="Text 22"/>
          <p:cNvSpPr txBox="1"/>
          <p:nvPr/>
        </p:nvSpPr>
        <p:spPr>
          <a:xfrm>
            <a:off x="713232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720p/1080p. Zalo gửi trực tiếp; email thì </a:t>
            </a:r>
            <a:pPr algn="ctr" indent="0" marL="0">
              <a:buNone/>
            </a:pPr>
            <a:r>
              <a:rPr lang="en-US" sz="1200" b="1" dirty="0">
                <a:solidFill>
                  <a:srgbClr val="1F2A30"/>
                </a:solidFill>
                <a:latin typeface="Calibri" pitchFamily="34" charset="0"/>
                <a:ea typeface="Calibri" pitchFamily="34" charset="-122"/>
                <a:cs typeface="Calibri" pitchFamily="34" charset="-120"/>
              </a:rPr>
              <a:t>gửi link</a:t>
            </a:r>
            <a:pPr algn="ctr" indent="0" marL="0">
              <a:buNone/>
            </a:pPr>
            <a:r>
              <a:rPr lang="en-US" sz="1200" dirty="0">
                <a:solidFill>
                  <a:srgbClr val="1F2A30"/>
                </a:solidFill>
                <a:latin typeface="Calibri" pitchFamily="34" charset="0"/>
                <a:ea typeface="Calibri" pitchFamily="34" charset="-122"/>
                <a:cs typeface="Calibri" pitchFamily="34" charset="-120"/>
              </a:rPr>
              <a:t> Drive hoặc YouTube Unlisted.</a:t>
            </a:r>
            <a:endParaRPr lang="en-US" sz="1200" dirty="0"/>
          </a:p>
        </p:txBody>
      </p:sp>
      <p:sp>
        <p:nvSpPr>
          <p:cNvPr id="25" name="Text 2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26" name="Text 2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VÍ DỤ SO SÁNH</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Video gửi khách: nên và không nên</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Không nên</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Video </a:t>
            </a:r>
            <a:pPr indent="0" marL="0">
              <a:spcAft>
                <a:spcPts val="800"/>
              </a:spcAft>
              <a:buNone/>
            </a:pPr>
            <a:r>
              <a:rPr lang="en-US" sz="1400" b="1" dirty="0">
                <a:solidFill>
                  <a:srgbClr val="1F2A30"/>
                </a:solidFill>
                <a:latin typeface="Calibri" pitchFamily="34" charset="0"/>
                <a:ea typeface="Calibri" pitchFamily="34" charset="-122"/>
                <a:cs typeface="Calibri" pitchFamily="34" charset="-120"/>
              </a:rPr>
              <a:t>4 phút</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quay bằng tài khoản thật.</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Thông báo Zalo có </a:t>
            </a:r>
            <a:pPr indent="0" marL="0">
              <a:spcAft>
                <a:spcPts val="800"/>
              </a:spcAft>
              <a:buNone/>
            </a:pPr>
            <a:r>
              <a:rPr lang="en-US" sz="1400" b="1" dirty="0">
                <a:solidFill>
                  <a:srgbClr val="1F2A30"/>
                </a:solidFill>
                <a:latin typeface="Calibri" pitchFamily="34" charset="0"/>
                <a:ea typeface="Calibri" pitchFamily="34" charset="-122"/>
                <a:cs typeface="Calibri" pitchFamily="34" charset="-120"/>
              </a:rPr>
              <a:t>tên khách</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bật lên ở giây 52.</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Không phụ đề, gửi file </a:t>
            </a:r>
            <a:pPr indent="0" marL="0">
              <a:spcAft>
                <a:spcPts val="800"/>
              </a:spcAft>
              <a:buNone/>
            </a:pPr>
            <a:r>
              <a:rPr lang="en-US" sz="1400" b="1" dirty="0">
                <a:solidFill>
                  <a:srgbClr val="1F2A30"/>
                </a:solidFill>
                <a:latin typeface="Calibri" pitchFamily="34" charset="0"/>
                <a:ea typeface="Calibri" pitchFamily="34" charset="-122"/>
                <a:cs typeface="Calibri" pitchFamily="34" charset="-120"/>
              </a:rPr>
              <a:t>180MB</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qua email.</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Nên</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Video </a:t>
            </a:r>
            <a:pPr indent="0" marL="0">
              <a:spcAft>
                <a:spcPts val="800"/>
              </a:spcAft>
              <a:buNone/>
            </a:pPr>
            <a:r>
              <a:rPr lang="en-US" sz="1400" b="1" dirty="0">
                <a:solidFill>
                  <a:srgbClr val="1F2A30"/>
                </a:solidFill>
                <a:latin typeface="Calibri" pitchFamily="34" charset="0"/>
                <a:ea typeface="Calibri" pitchFamily="34" charset="-122"/>
                <a:cs typeface="Calibri" pitchFamily="34" charset="-120"/>
              </a:rPr>
              <a:t>75 giây</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tài khoản test, bật Không làm phiền.</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Phụ đề tiếng Việt </a:t>
            </a:r>
            <a:pPr indent="0" marL="0">
              <a:spcAft>
                <a:spcPts val="800"/>
              </a:spcAft>
              <a:buNone/>
            </a:pPr>
            <a:r>
              <a:rPr lang="en-US" sz="1400" b="1" dirty="0">
                <a:solidFill>
                  <a:srgbClr val="1F2A30"/>
                </a:solidFill>
                <a:latin typeface="Calibri" pitchFamily="34" charset="0"/>
                <a:ea typeface="Calibri" pitchFamily="34" charset="-122"/>
                <a:cs typeface="Calibri" pitchFamily="34" charset="-120"/>
              </a:rPr>
              <a:t>đã soát lỗi</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khung đỏ chỉ nút bấm.</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Gửi </a:t>
            </a:r>
            <a:pPr indent="0" marL="0">
              <a:spcAft>
                <a:spcPts val="800"/>
              </a:spcAft>
              <a:buNone/>
            </a:pPr>
            <a:r>
              <a:rPr lang="en-US" sz="1400" b="1" dirty="0">
                <a:solidFill>
                  <a:srgbClr val="1F2A30"/>
                </a:solidFill>
                <a:latin typeface="Calibri" pitchFamily="34" charset="0"/>
                <a:ea typeface="Calibri" pitchFamily="34" charset="-122"/>
                <a:cs typeface="Calibri" pitchFamily="34" charset="-120"/>
              </a:rPr>
              <a:t>link Drive</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kèm 1 câu dặn ngắn.</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Đặt tên file có phiên bản: </a:t>
            </a:r>
            <a:pPr indent="0" marL="0">
              <a:buNone/>
            </a:pPr>
            <a:r>
              <a:rPr lang="en-US" sz="1200" b="1" dirty="0">
                <a:solidFill>
                  <a:srgbClr val="1F2A30"/>
                </a:solidFill>
                <a:latin typeface="Calibri" pitchFamily="34" charset="0"/>
                <a:ea typeface="Calibri" pitchFamily="34" charset="-122"/>
                <a:cs typeface="Calibri" pitchFamily="34" charset="-120"/>
              </a:rPr>
              <a:t>HD_huy-don-cho-xac-nhan_v1_2026-09.mp4</a:t>
            </a:r>
            <a:pPr indent="0" marL="0">
              <a:buNone/>
            </a:pPr>
            <a:r>
              <a:rPr lang="en-US" sz="1200" dirty="0">
                <a:solidFill>
                  <a:srgbClr val="1F2A30"/>
                </a:solidFill>
                <a:latin typeface="Calibri" pitchFamily="34" charset="0"/>
                <a:ea typeface="Calibri" pitchFamily="34" charset="-122"/>
                <a:cs typeface="Calibri" pitchFamily="34" charset="-120"/>
              </a:rPr>
              <a:t> để cập nhật khi app đổi giao diện.</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04</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3 · SO SÁNH</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Đặt 4 trợ lý AI lên bàn cân</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Không có "công cụ tốt nhất". Bạn mang về phương pháp: cùng ticket, cùng prompt, cùng tiêu chí.</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BỘ TIÊU CHÍ</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5 tiêu chí so sánh, chấm 1–5</a:t>
            </a:r>
            <a:endParaRPr lang="en-US" sz="2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371600"/>
                <a:gridCol w="3749040"/>
                <a:gridCol w="310896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Tiêu chí</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Câu hỏi khi chấm</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Cách chấm</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Chính xác</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Đúng chính sách đã cho? Có bịa cam kết, số ngày, số tiền?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5 = không bịa; 1 = bịa thông tin quan trọng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Giọng điệu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Đồng cảm, lịch sự, đúng xưng hô, đúng độ dài?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5 = gửi được ngay; 1 = viết lại gần hết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Tốc độ</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Bao lâu từ lúc gửi đến khi có câu trả lời hoàn chỉnh?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Bấm giờ, so sánh tương đối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Bảo mật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Có tùy chọn không dùng để huấn luyện? Công ty cho phép?</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5 = công ty phê duyệt; 1 = không rõ</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Chi phí</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Gói miễn phí đủ cho một ca? Gói trả phí bao nhiêu?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5 = miễn phí đủ dùng; 1 = phải trả phí</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Chấm bảo mật để biết công cụ nào </a:t>
            </a:r>
            <a:pPr indent="0" marL="0">
              <a:buNone/>
            </a:pPr>
            <a:r>
              <a:rPr lang="en-US" sz="1250" b="1" i="1" dirty="0">
                <a:solidFill>
                  <a:srgbClr val="5B6B73"/>
                </a:solidFill>
                <a:latin typeface="Calibri" pitchFamily="34" charset="0"/>
                <a:ea typeface="Calibri" pitchFamily="34" charset="-122"/>
                <a:cs typeface="Calibri" pitchFamily="34" charset="-120"/>
              </a:rPr>
              <a:t>được phép</a:t>
            </a:r>
            <a:pPr indent="0" marL="0">
              <a:buNone/>
            </a:pPr>
            <a:r>
              <a:rPr lang="en-US" sz="1250" i="1" dirty="0">
                <a:solidFill>
                  <a:srgbClr val="5B6B73"/>
                </a:solidFill>
                <a:latin typeface="Calibri" pitchFamily="34" charset="0"/>
                <a:ea typeface="Calibri" pitchFamily="34" charset="-122"/>
                <a:cs typeface="Calibri" pitchFamily="34" charset="-120"/>
              </a:rPr>
              <a:t> dùng, không phải để "lách": tài khoản cá nhân vẫn phải </a:t>
            </a:r>
            <a:pPr indent="0" marL="0">
              <a:buNone/>
            </a:pPr>
            <a:r>
              <a:rPr lang="en-US" sz="1250" b="1" i="1" dirty="0">
                <a:solidFill>
                  <a:srgbClr val="5B6B73"/>
                </a:solidFill>
                <a:latin typeface="Calibri" pitchFamily="34" charset="0"/>
                <a:ea typeface="Calibri" pitchFamily="34" charset="-122"/>
                <a:cs typeface="Calibri" pitchFamily="34" charset="-120"/>
              </a:rPr>
              <a:t>che dữ liệu</a:t>
            </a:r>
            <a:pPr indent="0" marL="0">
              <a:buNone/>
            </a:pPr>
            <a:r>
              <a:rPr lang="en-US" sz="1250" i="1" dirty="0">
                <a:solidFill>
                  <a:srgbClr val="5B6B73"/>
                </a:solidFill>
                <a:latin typeface="Calibri" pitchFamily="34" charset="0"/>
                <a:ea typeface="Calibri" pitchFamily="34" charset="-122"/>
                <a:cs typeface="Calibri" pitchFamily="34" charset="-120"/>
              </a:rPr>
              <a:t>.</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TICKET MẪU DÙNG CHUNG · ĐÃ ẨN DANH</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Khách chờ quà sinh nhật cho con</a:t>
            </a:r>
            <a:endParaRPr lang="en-US" sz="2500" dirty="0"/>
          </a:p>
        </p:txBody>
      </p:sp>
      <p:sp>
        <p:nvSpPr>
          <p:cNvPr id="4" name="Shape 2"/>
          <p:cNvSpPr/>
          <p:nvPr/>
        </p:nvSpPr>
        <p:spPr>
          <a:xfrm>
            <a:off x="457200" y="1280160"/>
            <a:ext cx="8229600" cy="3310128"/>
          </a:xfrm>
          <a:prstGeom prst="roundRect">
            <a:avLst>
              <a:gd name="adj" fmla="val 2210"/>
            </a:avLst>
          </a:prstGeom>
          <a:solidFill>
            <a:srgbClr val="17262C"/>
          </a:solidFill>
          <a:ln w="12700">
            <a:solidFill>
              <a:srgbClr val="17262C"/>
            </a:solidFill>
            <a:prstDash val="solid"/>
          </a:ln>
        </p:spPr>
      </p:sp>
      <p:sp>
        <p:nvSpPr>
          <p:cNvPr id="5" name="Text 3"/>
          <p:cNvSpPr txBox="1"/>
          <p:nvPr/>
        </p:nvSpPr>
        <p:spPr>
          <a:xfrm>
            <a:off x="685800" y="1417320"/>
            <a:ext cx="7772400" cy="3035808"/>
          </a:xfrm>
          <a:prstGeom prst="rect">
            <a:avLst/>
          </a:prstGeom>
          <a:noFill/>
          <a:ln/>
        </p:spPr>
        <p:txBody>
          <a:bodyPr wrap="square" lIns="0" tIns="0" rIns="0" bIns="0" rtlCol="0" anchor="t"/>
          <a:lstStyle/>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Kênh: Fanpage ShopNhanh | Thời gian: 21:47</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Khách [TÊN KH]: "Đơn [MÃ ĐƠN] đặt từ thứ 2, hẹn thứ 5 giao mà giờ tối thứ 7</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vẫn chưa thấy đâu. Mình gọi hotline 3 lần không ai nghe. Mình đặt để làm quà</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sinh nhật con mai rồi. Không giao kịp thì hủy luôn, hoàn tiền cho mình, làm</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ăn kiểu gì vậy?"</a:t>
            </a:r>
            <a:endParaRPr lang="en-US" sz="1250" dirty="0"/>
          </a:p>
          <a:p>
            <a:pPr indent="0" marL="0">
              <a:lnSpc>
                <a:spcPct val="105000"/>
              </a:lnSpc>
              <a:buNone/>
            </a:pP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Thông tin nội bộ:</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 Đơn đang ở kho trung chuyển, dự kiến giao trưa Chủ nhật.</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 Chính sách: giao trễ trên 48 giờ được tặng voucher 30.000đ.</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 Hủy đơn đang vận chuyển: hoàn tiền trong 3-5 ngày làm việc sau khi kho</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  nhận lại hàng.</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 Nhân viên chat KHÔNG được hứa giờ giao chính xác.</a:t>
            </a:r>
            <a:endParaRPr lang="en-US" sz="1250" dirty="0"/>
          </a:p>
        </p:txBody>
      </p:sp>
      <p:sp>
        <p:nvSpPr>
          <p:cNvPr id="6" name="Text 4"/>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7" name="Text 5"/>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PROMPT DÙNG CHUNG CHO CẢ 4 CÔNG CỤ</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Dán nguyên văn, không sửa giữa chừng</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Vai trò: Bạn là nhân viên CSKH của sàn thương mại điện tử ShopNhanh.</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Bối cảnh: [DÁN TICKET MẪU Ở TRÊN]</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Nhiệm vụ: Viết tin nhắn trả lời khách trên fanpage. Chỉ dùng thông tin nội bộ</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đã cho, không tự thêm cam kết nào khác. Đưa khách 2 lựa chọn: chờ nhận hàng</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hoặc hủy đơn, nêu rõ quyền lợi của từng lựa chọn.</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Định dạng: Tối đa 120 chữ, không dùng gạch đầu dòng.</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Giọng điệu: Đồng cảm, chân thành, xưng "em", gọi khách là "anh/chị".</a:t>
            </a:r>
            <a:endParaRPr lang="en-US" sz="125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Mỗi công cụ </a:t>
            </a:r>
            <a:pPr indent="0" marL="0">
              <a:buNone/>
            </a:pPr>
            <a:r>
              <a:rPr lang="en-US" sz="1150" b="1" dirty="0">
                <a:solidFill>
                  <a:srgbClr val="1F2A30"/>
                </a:solidFill>
                <a:latin typeface="Calibri" pitchFamily="34" charset="0"/>
                <a:ea typeface="Calibri" pitchFamily="34" charset="-122"/>
                <a:cs typeface="Calibri" pitchFamily="34" charset="-120"/>
              </a:rPr>
              <a:t>một cuộc trò chuyện mới</a:t>
            </a:r>
            <a:pPr indent="0" marL="0">
              <a:buNone/>
            </a:pPr>
            <a:r>
              <a:rPr lang="en-US" sz="1150" dirty="0">
                <a:solidFill>
                  <a:srgbClr val="1F2A30"/>
                </a:solidFill>
                <a:latin typeface="Calibri" pitchFamily="34" charset="0"/>
                <a:ea typeface="Calibri" pitchFamily="34" charset="-122"/>
                <a:cs typeface="Calibri" pitchFamily="34" charset="-120"/>
              </a:rPr>
              <a:t>. Sửa prompt giữa chừng thì phép so sánh không còn công bằng.</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CHẤM TIÊU CHÍ CHÍNH XÁC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Lỗi chính xác nằm ở con số và cam kết</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Bịa và hứa quá mức</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"Em cam kết đơn sẽ giao </a:t>
            </a:r>
            <a:pPr indent="0" marL="0">
              <a:buNone/>
            </a:pPr>
            <a:r>
              <a:rPr lang="en-US" sz="1400" b="1" dirty="0">
                <a:solidFill>
                  <a:srgbClr val="1F2A30"/>
                </a:solidFill>
                <a:latin typeface="Calibri" pitchFamily="34" charset="0"/>
                <a:ea typeface="Calibri" pitchFamily="34" charset="-122"/>
                <a:cs typeface="Calibri" pitchFamily="34" charset="-120"/>
              </a:rPr>
              <a:t>trước 10h sáng mai</a:t>
            </a:r>
            <a:pPr indent="0" marL="0">
              <a:buNone/>
            </a:pPr>
            <a:r>
              <a:rPr lang="en-US" sz="1400" dirty="0">
                <a:solidFill>
                  <a:srgbClr val="1F2A30"/>
                </a:solidFill>
                <a:latin typeface="Calibri" pitchFamily="34" charset="0"/>
                <a:ea typeface="Calibri" pitchFamily="34" charset="-122"/>
                <a:cs typeface="Calibri" pitchFamily="34" charset="-120"/>
              </a:rPr>
              <a:t> và tặng anh/chị </a:t>
            </a:r>
            <a:pPr indent="0" marL="0">
              <a:buNone/>
            </a:pPr>
            <a:r>
              <a:rPr lang="en-US" sz="1400" b="1" dirty="0">
                <a:solidFill>
                  <a:srgbClr val="1F2A30"/>
                </a:solidFill>
                <a:latin typeface="Calibri" pitchFamily="34" charset="0"/>
                <a:ea typeface="Calibri" pitchFamily="34" charset="-122"/>
                <a:cs typeface="Calibri" pitchFamily="34" charset="-120"/>
              </a:rPr>
              <a:t>voucher 50.000đ</a:t>
            </a:r>
            <a:pPr indent="0" marL="0">
              <a:buNone/>
            </a:pPr>
            <a:r>
              <a:rPr lang="en-US" sz="1400" dirty="0">
                <a:solidFill>
                  <a:srgbClr val="1F2A30"/>
                </a:solidFill>
                <a:latin typeface="Calibri" pitchFamily="34" charset="0"/>
                <a:ea typeface="Calibri" pitchFamily="34" charset="-122"/>
                <a:cs typeface="Calibri" pitchFamily="34" charset="-120"/>
              </a:rPr>
              <a:t> ạ."</a:t>
            </a:r>
            <a:endParaRPr lang="en-US" sz="1400" dirty="0"/>
          </a:p>
          <a:p>
            <a:pPr indent="0" marL="0">
              <a:buNone/>
            </a:pP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Sai hai chỗ: hứa giờ giao chính xác (bị cấm) và bịa mức voucher.</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Đúng thông tin đã cho</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"Dạ đơn của anh/chị đang ở kho trung chuyển, dự kiến giao trong </a:t>
            </a:r>
            <a:pPr indent="0" marL="0">
              <a:buNone/>
            </a:pPr>
            <a:r>
              <a:rPr lang="en-US" sz="1400" b="1" dirty="0">
                <a:solidFill>
                  <a:srgbClr val="1F2A30"/>
                </a:solidFill>
                <a:latin typeface="Calibri" pitchFamily="34" charset="0"/>
                <a:ea typeface="Calibri" pitchFamily="34" charset="-122"/>
                <a:cs typeface="Calibri" pitchFamily="34" charset="-120"/>
              </a:rPr>
              <a:t>trưa Chủ nhật</a:t>
            </a:r>
            <a:pPr indent="0" marL="0">
              <a:buNone/>
            </a:pPr>
            <a:r>
              <a:rPr lang="en-US" sz="1400" dirty="0">
                <a:solidFill>
                  <a:srgbClr val="1F2A30"/>
                </a:solidFill>
                <a:latin typeface="Calibri" pitchFamily="34" charset="0"/>
                <a:ea typeface="Calibri" pitchFamily="34" charset="-122"/>
                <a:cs typeface="Calibri" pitchFamily="34" charset="-120"/>
              </a:rPr>
              <a:t> ạ. Vì đơn đã trễ hẹn, em gửi anh/chị </a:t>
            </a:r>
            <a:pPr indent="0" marL="0">
              <a:buNone/>
            </a:pPr>
            <a:r>
              <a:rPr lang="en-US" sz="1400" b="1" dirty="0">
                <a:solidFill>
                  <a:srgbClr val="1F2A30"/>
                </a:solidFill>
                <a:latin typeface="Calibri" pitchFamily="34" charset="0"/>
                <a:ea typeface="Calibri" pitchFamily="34" charset="-122"/>
                <a:cs typeface="Calibri" pitchFamily="34" charset="-120"/>
              </a:rPr>
              <a:t>voucher 30.000đ</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a:p>
            <a:pPr indent="0" marL="0">
              <a:buNone/>
            </a:pP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Đúng thông tin, không hứa quá mức.</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Đọc chậm </a:t>
            </a:r>
            <a:pPr indent="0" marL="0">
              <a:buNone/>
            </a:pPr>
            <a:r>
              <a:rPr lang="en-US" sz="1200" b="1" dirty="0">
                <a:solidFill>
                  <a:srgbClr val="1F2A30"/>
                </a:solidFill>
                <a:latin typeface="Calibri" pitchFamily="34" charset="0"/>
                <a:ea typeface="Calibri" pitchFamily="34" charset="-122"/>
                <a:cs typeface="Calibri" pitchFamily="34" charset="-120"/>
              </a:rPr>
              <a:t>từng câu có số</a:t>
            </a:r>
            <a:pPr indent="0" marL="0">
              <a:buNone/>
            </a:pPr>
            <a:r>
              <a:rPr lang="en-US" sz="1200" dirty="0">
                <a:solidFill>
                  <a:srgbClr val="1F2A30"/>
                </a:solidFill>
                <a:latin typeface="Calibri" pitchFamily="34" charset="0"/>
                <a:ea typeface="Calibri" pitchFamily="34" charset="-122"/>
                <a:cs typeface="Calibri" pitchFamily="34" charset="-120"/>
              </a:rPr>
              <a:t> trong câu trả lời của cả 4 công cụ.</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BẢNG TỰ CHẤM</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Chấm 4 trợ lý trên cùng ticket</a:t>
            </a:r>
            <a:endParaRPr lang="en-US" sz="2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377440"/>
                <a:gridCol w="1463040"/>
                <a:gridCol w="1463040"/>
                <a:gridCol w="1463040"/>
                <a:gridCol w="1463040"/>
              </a:tblGrid>
              <a:tr h="398417">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Tiêu chí</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ChatGPT</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Gemini</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Claude</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Grok</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Chính xác (1–5)</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Giọng điệu (1–5)</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Tốc độ (giây)</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Bảo mật (1–5)</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Chi phí (1–5)</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b="1" dirty="0">
                          <a:solidFill>
                            <a:srgbClr val="1F2A30"/>
                          </a:solidFill>
                          <a:latin typeface="Calibri" pitchFamily="34" charset="0"/>
                          <a:ea typeface="Calibri" pitchFamily="34" charset="-122"/>
                          <a:cs typeface="Calibri" pitchFamily="34" charset="-120"/>
                        </a:rPr>
                        <a:t>Tổng</a:t>
                      </a:r>
                      <a:pPr indent="0" marL="0">
                        <a:buNone/>
                      </a:pPr>
                      <a:r>
                        <a:rPr lang="en-US" sz="1250" dirty="0">
                          <a:solidFill>
                            <a:srgbClr val="1F2A30"/>
                          </a:solidFill>
                          <a:latin typeface="Calibri" pitchFamily="34" charset="0"/>
                          <a:ea typeface="Calibri" pitchFamily="34" charset="-122"/>
                          <a:cs typeface="Calibri" pitchFamily="34" charset="-120"/>
                        </a:rPr>
                        <a:t> (không tính tốc độ)</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Ghi thêm </a:t>
            </a:r>
            <a:pPr indent="0" marL="0">
              <a:buNone/>
            </a:pPr>
            <a:r>
              <a:rPr lang="en-US" sz="1250" b="1" i="1" dirty="0">
                <a:solidFill>
                  <a:srgbClr val="5B6B73"/>
                </a:solidFill>
                <a:latin typeface="Calibri" pitchFamily="34" charset="0"/>
                <a:ea typeface="Calibri" pitchFamily="34" charset="-122"/>
                <a:cs typeface="Calibri" pitchFamily="34" charset="-120"/>
              </a:rPr>
              <a:t>lỗi cụ thể</a:t>
            </a:r>
            <a:pPr indent="0" marL="0">
              <a:buNone/>
            </a:pPr>
            <a:r>
              <a:rPr lang="en-US" sz="1250" i="1" dirty="0">
                <a:solidFill>
                  <a:srgbClr val="5B6B73"/>
                </a:solidFill>
                <a:latin typeface="Calibri" pitchFamily="34" charset="0"/>
                <a:ea typeface="Calibri" pitchFamily="34" charset="-122"/>
                <a:cs typeface="Calibri" pitchFamily="34" charset="-120"/>
              </a:rPr>
              <a:t> và kết luận "dùng công cụ nào cho </a:t>
            </a:r>
            <a:pPr indent="0" marL="0">
              <a:buNone/>
            </a:pPr>
            <a:r>
              <a:rPr lang="en-US" sz="1250" b="1" i="1" dirty="0">
                <a:solidFill>
                  <a:srgbClr val="5B6B73"/>
                </a:solidFill>
                <a:latin typeface="Calibri" pitchFamily="34" charset="0"/>
                <a:ea typeface="Calibri" pitchFamily="34" charset="-122"/>
                <a:cs typeface="Calibri" pitchFamily="34" charset="-120"/>
              </a:rPr>
              <a:t>việc nào</a:t>
            </a:r>
            <a:pPr indent="0" marL="0">
              <a:buNone/>
            </a:pPr>
            <a:r>
              <a:rPr lang="en-US" sz="1250" i="1" dirty="0">
                <a:solidFill>
                  <a:srgbClr val="5B6B73"/>
                </a:solidFill>
                <a:latin typeface="Calibri" pitchFamily="34" charset="0"/>
                <a:ea typeface="Calibri" pitchFamily="34" charset="-122"/>
                <a:cs typeface="Calibri" pitchFamily="34" charset="-120"/>
              </a:rPr>
              <a:t>", lưu vào Thư viện prompt.</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BÀI LAB · 35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Lab · Tài liệu hướng dẫn khách</a:t>
            </a:r>
            <a:endParaRPr lang="en-US" sz="2500" dirty="0"/>
          </a:p>
        </p:txBody>
      </p:sp>
      <p:sp>
        <p:nvSpPr>
          <p:cNvPr id="4" name="Shape 2"/>
          <p:cNvSpPr/>
          <p:nvPr/>
        </p:nvSpPr>
        <p:spPr>
          <a:xfrm>
            <a:off x="457200" y="1371600"/>
            <a:ext cx="2743200" cy="3200400"/>
          </a:xfrm>
          <a:prstGeom prst="roundRect">
            <a:avLst>
              <a:gd name="adj" fmla="val 3333"/>
            </a:avLst>
          </a:prstGeom>
          <a:solidFill>
            <a:srgbClr val="0B3B45"/>
          </a:solidFill>
          <a:ln w="12700">
            <a:solidFill>
              <a:srgbClr val="0B3B45"/>
            </a:solidFill>
            <a:prstDash val="solid"/>
          </a:ln>
        </p:spPr>
      </p:sp>
      <p:sp>
        <p:nvSpPr>
          <p:cNvPr id="5" name="Shape 3"/>
          <p:cNvSpPr/>
          <p:nvPr/>
        </p:nvSpPr>
        <p:spPr>
          <a:xfrm>
            <a:off x="685800" y="1572768"/>
            <a:ext cx="530352" cy="530352"/>
          </a:xfrm>
          <a:prstGeom prst="ellipse">
            <a:avLst/>
          </a:prstGeom>
          <a:solidFill>
            <a:srgbClr val="F2994A"/>
          </a:solidFill>
          <a:ln w="12700">
            <a:solidFill>
              <a:srgbClr val="F2994A"/>
            </a:solidFill>
            <a:prstDash val="solid"/>
          </a:ln>
        </p:spPr>
      </p:sp>
      <p:pic>
        <p:nvPicPr>
          <p:cNvPr id="6" name="Image 0" descr="preencoded.png">    </p:cNvPr>
          <p:cNvPicPr>
            <a:picLocks noChangeAspect="1"/>
          </p:cNvPicPr>
          <p:nvPr/>
        </p:nvPicPr>
        <p:blipFill>
          <a:blip r:embed="rId1"/>
          <a:stretch>
            <a:fillRect/>
          </a:stretch>
        </p:blipFill>
        <p:spPr>
          <a:xfrm>
            <a:off x="823692" y="1710660"/>
            <a:ext cx="254569" cy="254569"/>
          </a:xfrm>
          <a:prstGeom prst="rect">
            <a:avLst/>
          </a:prstGeom>
        </p:spPr>
      </p:pic>
      <p:sp>
        <p:nvSpPr>
          <p:cNvPr id="7" name="Text 4"/>
          <p:cNvSpPr txBox="1"/>
          <p:nvPr/>
        </p:nvSpPr>
        <p:spPr>
          <a:xfrm>
            <a:off x="685800" y="2240280"/>
            <a:ext cx="228600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MỤC TIÊU</a:t>
            </a:r>
            <a:endParaRPr lang="en-US" sz="1050" dirty="0"/>
          </a:p>
        </p:txBody>
      </p:sp>
      <p:sp>
        <p:nvSpPr>
          <p:cNvPr id="8" name="Text 5"/>
          <p:cNvSpPr txBox="1"/>
          <p:nvPr/>
        </p:nvSpPr>
        <p:spPr>
          <a:xfrm>
            <a:off x="685800" y="2542032"/>
            <a:ext cx="233172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Làm 1 tài liệu hướng dẫn cho lỗi phổ biến nhất: </a:t>
            </a:r>
            <a:pPr indent="0" marL="0">
              <a:buNone/>
            </a:pPr>
            <a:r>
              <a:rPr lang="en-US" sz="1350" b="1" dirty="0">
                <a:solidFill>
                  <a:srgbClr val="FFFFFF"/>
                </a:solidFill>
                <a:latin typeface="Calibri" pitchFamily="34" charset="0"/>
                <a:ea typeface="Calibri" pitchFamily="34" charset="-122"/>
                <a:cs typeface="Calibri" pitchFamily="34" charset="-120"/>
              </a:rPr>
              <a:t>infographic</a:t>
            </a:r>
            <a:pPr indent="0" marL="0">
              <a:buNone/>
            </a:pPr>
            <a:r>
              <a:rPr lang="en-US" sz="1350" dirty="0">
                <a:solidFill>
                  <a:srgbClr val="FFFFFF"/>
                </a:solidFill>
                <a:latin typeface="Calibri" pitchFamily="34" charset="0"/>
                <a:ea typeface="Calibri" pitchFamily="34" charset="-122"/>
                <a:cs typeface="Calibri" pitchFamily="34" charset="-120"/>
              </a:rPr>
              <a:t> (Canva AI) hoặc </a:t>
            </a:r>
            <a:pPr indent="0" marL="0">
              <a:buNone/>
            </a:pPr>
            <a:r>
              <a:rPr lang="en-US" sz="1350" b="1" dirty="0">
                <a:solidFill>
                  <a:srgbClr val="FFFFFF"/>
                </a:solidFill>
                <a:latin typeface="Calibri" pitchFamily="34" charset="0"/>
                <a:ea typeface="Calibri" pitchFamily="34" charset="-122"/>
                <a:cs typeface="Calibri" pitchFamily="34" charset="-120"/>
              </a:rPr>
              <a:t>video 60–90 giây có phụ đề</a:t>
            </a:r>
            <a:pPr indent="0" marL="0">
              <a:buNone/>
            </a:pPr>
            <a:r>
              <a:rPr lang="en-US" sz="1350" dirty="0">
                <a:solidFill>
                  <a:srgbClr val="FFFFFF"/>
                </a:solidFill>
                <a:latin typeface="Calibri" pitchFamily="34" charset="0"/>
                <a:ea typeface="Calibri" pitchFamily="34" charset="-122"/>
                <a:cs typeface="Calibri" pitchFamily="34" charset="-120"/>
              </a:rPr>
              <a:t> (CapCut).</a:t>
            </a:r>
            <a:endParaRPr lang="en-US" sz="1350" dirty="0"/>
          </a:p>
        </p:txBody>
      </p:sp>
      <p:sp>
        <p:nvSpPr>
          <p:cNvPr id="9" name="Text 6"/>
          <p:cNvSpPr txBox="1"/>
          <p:nvPr/>
        </p:nvSpPr>
        <p:spPr>
          <a:xfrm>
            <a:off x="685800" y="3749040"/>
            <a:ext cx="2286000" cy="256032"/>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SẢN PHẨM</a:t>
            </a:r>
            <a:endParaRPr lang="en-US" sz="1050" dirty="0"/>
          </a:p>
        </p:txBody>
      </p:sp>
      <p:sp>
        <p:nvSpPr>
          <p:cNvPr id="10" name="Text 7"/>
          <p:cNvSpPr txBox="1"/>
          <p:nvPr/>
        </p:nvSpPr>
        <p:spPr>
          <a:xfrm>
            <a:off x="685800" y="4005072"/>
            <a:ext cx="2331720" cy="502920"/>
          </a:xfrm>
          <a:prstGeom prst="rect">
            <a:avLst/>
          </a:prstGeom>
          <a:noFill/>
          <a:ln/>
        </p:spPr>
        <p:txBody>
          <a:bodyPr wrap="square" lIns="0" tIns="0" rIns="0" bIns="0" rtlCol="0" anchor="t"/>
          <a:lstStyle/>
          <a:p>
            <a:pPr indent="0" marL="0">
              <a:buNone/>
            </a:pPr>
            <a:r>
              <a:rPr lang="en-US" sz="1150" b="1" dirty="0">
                <a:solidFill>
                  <a:srgbClr val="BFE3DD"/>
                </a:solidFill>
                <a:latin typeface="Calibri" pitchFamily="34" charset="0"/>
                <a:ea typeface="Calibri" pitchFamily="34" charset="-122"/>
                <a:cs typeface="Calibri" pitchFamily="34" charset="-120"/>
              </a:rPr>
              <a:t>Thành phần (4)</a:t>
            </a:r>
            <a:pPr indent="0" marL="0">
              <a:buNone/>
            </a:pPr>
            <a:r>
              <a:rPr lang="en-US" sz="1150" dirty="0">
                <a:solidFill>
                  <a:srgbClr val="BFE3DD"/>
                </a:solidFill>
                <a:latin typeface="Calibri" pitchFamily="34" charset="0"/>
                <a:ea typeface="Calibri" pitchFamily="34" charset="-122"/>
                <a:cs typeface="Calibri" pitchFamily="34" charset="-120"/>
              </a:rPr>
              <a:t> của Bộ công cụ AI ca trực</a:t>
            </a:r>
            <a:endParaRPr lang="en-US" sz="1150" dirty="0"/>
          </a:p>
        </p:txBody>
      </p:sp>
      <p:sp>
        <p:nvSpPr>
          <p:cNvPr id="11" name="Shape 8"/>
          <p:cNvSpPr/>
          <p:nvPr/>
        </p:nvSpPr>
        <p:spPr>
          <a:xfrm>
            <a:off x="3520440" y="1464564"/>
            <a:ext cx="347472" cy="347472"/>
          </a:xfrm>
          <a:prstGeom prst="ellipse">
            <a:avLst/>
          </a:prstGeom>
          <a:solidFill>
            <a:srgbClr val="0E7C7B"/>
          </a:solidFill>
          <a:ln w="12700">
            <a:solidFill>
              <a:srgbClr val="0E7C7B"/>
            </a:solidFill>
            <a:prstDash val="solid"/>
          </a:ln>
        </p:spPr>
      </p:sp>
      <p:sp>
        <p:nvSpPr>
          <p:cNvPr id="12" name="Text 9"/>
          <p:cNvSpPr txBox="1"/>
          <p:nvPr/>
        </p:nvSpPr>
        <p:spPr>
          <a:xfrm>
            <a:off x="3520440" y="1464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4023360" y="13716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A (3′):</a:t>
            </a:r>
            <a:pPr indent="0" marL="0">
              <a:buNone/>
            </a:pPr>
            <a:r>
              <a:rPr lang="en-US" sz="1400" dirty="0">
                <a:solidFill>
                  <a:srgbClr val="1F2A30"/>
                </a:solidFill>
                <a:latin typeface="Calibri" pitchFamily="34" charset="0"/>
                <a:ea typeface="Calibri" pitchFamily="34" charset="-122"/>
                <a:cs typeface="Calibri" pitchFamily="34" charset="-120"/>
              </a:rPr>
              <a:t> chọn lỗi phổ biến nhất ở bộ phận bạn.</a:t>
            </a:r>
            <a:endParaRPr lang="en-US" sz="1400" dirty="0"/>
          </a:p>
        </p:txBody>
      </p:sp>
      <p:sp>
        <p:nvSpPr>
          <p:cNvPr id="14" name="Shape 11"/>
          <p:cNvSpPr/>
          <p:nvPr/>
        </p:nvSpPr>
        <p:spPr>
          <a:xfrm>
            <a:off x="3520440" y="1997964"/>
            <a:ext cx="347472" cy="347472"/>
          </a:xfrm>
          <a:prstGeom prst="ellipse">
            <a:avLst/>
          </a:prstGeom>
          <a:solidFill>
            <a:srgbClr val="0E7C7B"/>
          </a:solidFill>
          <a:ln w="12700">
            <a:solidFill>
              <a:srgbClr val="0E7C7B"/>
            </a:solidFill>
            <a:prstDash val="solid"/>
          </a:ln>
        </p:spPr>
      </p:sp>
      <p:sp>
        <p:nvSpPr>
          <p:cNvPr id="15" name="Text 12"/>
          <p:cNvSpPr txBox="1"/>
          <p:nvPr/>
        </p:nvSpPr>
        <p:spPr>
          <a:xfrm>
            <a:off x="3520440" y="19979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4023360" y="19050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B (7′):</a:t>
            </a:r>
            <a:pPr indent="0" marL="0">
              <a:buNone/>
            </a:pPr>
            <a:r>
              <a:rPr lang="en-US" sz="1400" dirty="0">
                <a:solidFill>
                  <a:srgbClr val="1F2A30"/>
                </a:solidFill>
                <a:latin typeface="Calibri" pitchFamily="34" charset="0"/>
                <a:ea typeface="Calibri" pitchFamily="34" charset="-122"/>
                <a:cs typeface="Calibri" pitchFamily="34" charset="-120"/>
              </a:rPr>
              <a:t> che ảnh lỗi, nhờ Gemini/ChatGPT đọc, đối chiếu nội bộ.</a:t>
            </a:r>
            <a:endParaRPr lang="en-US" sz="1400" dirty="0"/>
          </a:p>
        </p:txBody>
      </p:sp>
      <p:sp>
        <p:nvSpPr>
          <p:cNvPr id="17" name="Shape 14"/>
          <p:cNvSpPr/>
          <p:nvPr/>
        </p:nvSpPr>
        <p:spPr>
          <a:xfrm>
            <a:off x="3520440" y="2531364"/>
            <a:ext cx="347472" cy="347472"/>
          </a:xfrm>
          <a:prstGeom prst="ellipse">
            <a:avLst/>
          </a:prstGeom>
          <a:solidFill>
            <a:srgbClr val="0E7C7B"/>
          </a:solidFill>
          <a:ln w="12700">
            <a:solidFill>
              <a:srgbClr val="0E7C7B"/>
            </a:solidFill>
            <a:prstDash val="solid"/>
          </a:ln>
        </p:spPr>
      </p:sp>
      <p:sp>
        <p:nvSpPr>
          <p:cNvPr id="18" name="Text 15"/>
          <p:cNvSpPr txBox="1"/>
          <p:nvPr/>
        </p:nvSpPr>
        <p:spPr>
          <a:xfrm>
            <a:off x="3520440" y="25313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4023360" y="24384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C (7′):</a:t>
            </a:r>
            <a:pPr indent="0" marL="0">
              <a:buNone/>
            </a:pPr>
            <a:r>
              <a:rPr lang="en-US" sz="1400" dirty="0">
                <a:solidFill>
                  <a:srgbClr val="1F2A30"/>
                </a:solidFill>
                <a:latin typeface="Calibri" pitchFamily="34" charset="0"/>
                <a:ea typeface="Calibri" pitchFamily="34" charset="-122"/>
                <a:cs typeface="Calibri" pitchFamily="34" charset="-120"/>
              </a:rPr>
              <a:t> AI viết 5 bước hoặc kịch bản 75 giây; xóa bước AI bịa.</a:t>
            </a:r>
            <a:endParaRPr lang="en-US" sz="1400" dirty="0"/>
          </a:p>
        </p:txBody>
      </p:sp>
      <p:sp>
        <p:nvSpPr>
          <p:cNvPr id="20" name="Shape 17"/>
          <p:cNvSpPr/>
          <p:nvPr/>
        </p:nvSpPr>
        <p:spPr>
          <a:xfrm>
            <a:off x="3520440" y="3064764"/>
            <a:ext cx="347472" cy="347472"/>
          </a:xfrm>
          <a:prstGeom prst="ellipse">
            <a:avLst/>
          </a:prstGeom>
          <a:solidFill>
            <a:srgbClr val="0E7C7B"/>
          </a:solidFill>
          <a:ln w="12700">
            <a:solidFill>
              <a:srgbClr val="0E7C7B"/>
            </a:solidFill>
            <a:prstDash val="solid"/>
          </a:ln>
        </p:spPr>
      </p:sp>
      <p:sp>
        <p:nvSpPr>
          <p:cNvPr id="21" name="Text 18"/>
          <p:cNvSpPr txBox="1"/>
          <p:nvPr/>
        </p:nvSpPr>
        <p:spPr>
          <a:xfrm>
            <a:off x="3520440" y="30647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4023360" y="29718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D (15′):</a:t>
            </a:r>
            <a:pPr indent="0" marL="0">
              <a:buNone/>
            </a:pPr>
            <a:r>
              <a:rPr lang="en-US" sz="1400" dirty="0">
                <a:solidFill>
                  <a:srgbClr val="1F2A30"/>
                </a:solidFill>
                <a:latin typeface="Calibri" pitchFamily="34" charset="0"/>
                <a:ea typeface="Calibri" pitchFamily="34" charset="-122"/>
                <a:cs typeface="Calibri" pitchFamily="34" charset="-120"/>
              </a:rPr>
              <a:t> dựng infographic trên Canva </a:t>
            </a:r>
            <a:pPr indent="0" marL="0">
              <a:buNone/>
            </a:pPr>
            <a:r>
              <a:rPr lang="en-US" sz="1400" b="1" dirty="0">
                <a:solidFill>
                  <a:srgbClr val="1F2A30"/>
                </a:solidFill>
                <a:latin typeface="Calibri" pitchFamily="34" charset="0"/>
                <a:ea typeface="Calibri" pitchFamily="34" charset="-122"/>
                <a:cs typeface="Calibri" pitchFamily="34" charset="-120"/>
              </a:rPr>
              <a:t>hoặc</a:t>
            </a:r>
            <a:pPr indent="0" marL="0">
              <a:buNone/>
            </a:pPr>
            <a:r>
              <a:rPr lang="en-US" sz="1400" dirty="0">
                <a:solidFill>
                  <a:srgbClr val="1F2A30"/>
                </a:solidFill>
                <a:latin typeface="Calibri" pitchFamily="34" charset="0"/>
                <a:ea typeface="Calibri" pitchFamily="34" charset="-122"/>
                <a:cs typeface="Calibri" pitchFamily="34" charset="-120"/>
              </a:rPr>
              <a:t> video trên CapCut.</a:t>
            </a:r>
            <a:endParaRPr lang="en-US" sz="1400" dirty="0"/>
          </a:p>
        </p:txBody>
      </p:sp>
      <p:sp>
        <p:nvSpPr>
          <p:cNvPr id="23" name="Shape 20"/>
          <p:cNvSpPr/>
          <p:nvPr/>
        </p:nvSpPr>
        <p:spPr>
          <a:xfrm>
            <a:off x="3520440" y="3598164"/>
            <a:ext cx="347472" cy="347472"/>
          </a:xfrm>
          <a:prstGeom prst="ellipse">
            <a:avLst/>
          </a:prstGeom>
          <a:solidFill>
            <a:srgbClr val="0E7C7B"/>
          </a:solidFill>
          <a:ln w="12700">
            <a:solidFill>
              <a:srgbClr val="0E7C7B"/>
            </a:solidFill>
            <a:prstDash val="solid"/>
          </a:ln>
        </p:spPr>
      </p:sp>
      <p:sp>
        <p:nvSpPr>
          <p:cNvPr id="24" name="Text 21"/>
          <p:cNvSpPr txBox="1"/>
          <p:nvPr/>
        </p:nvSpPr>
        <p:spPr>
          <a:xfrm>
            <a:off x="3520440" y="35981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4023360" y="35052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E (3′):</a:t>
            </a:r>
            <a:pPr indent="0" marL="0">
              <a:buNone/>
            </a:pPr>
            <a:r>
              <a:rPr lang="en-US" sz="1400" dirty="0">
                <a:solidFill>
                  <a:srgbClr val="1F2A30"/>
                </a:solidFill>
                <a:latin typeface="Calibri" pitchFamily="34" charset="0"/>
                <a:ea typeface="Calibri" pitchFamily="34" charset="-122"/>
                <a:cs typeface="Calibri" pitchFamily="34" charset="-120"/>
              </a:rPr>
              <a:t> nhờ bạn ngồi cạnh làm thử theo, không giải thích gì.</a:t>
            </a:r>
            <a:endParaRPr lang="en-US" sz="1400" dirty="0"/>
          </a:p>
        </p:txBody>
      </p:sp>
      <p:sp>
        <p:nvSpPr>
          <p:cNvPr id="26" name="Shape 23"/>
          <p:cNvSpPr/>
          <p:nvPr/>
        </p:nvSpPr>
        <p:spPr>
          <a:xfrm>
            <a:off x="3520440" y="4131564"/>
            <a:ext cx="347472" cy="347472"/>
          </a:xfrm>
          <a:prstGeom prst="ellipse">
            <a:avLst/>
          </a:prstGeom>
          <a:solidFill>
            <a:srgbClr val="0E7C7B"/>
          </a:solidFill>
          <a:ln w="12700">
            <a:solidFill>
              <a:srgbClr val="0E7C7B"/>
            </a:solidFill>
            <a:prstDash val="solid"/>
          </a:ln>
        </p:spPr>
      </p:sp>
      <p:sp>
        <p:nvSpPr>
          <p:cNvPr id="27" name="Text 24"/>
          <p:cNvSpPr txBox="1"/>
          <p:nvPr/>
        </p:nvSpPr>
        <p:spPr>
          <a:xfrm>
            <a:off x="3520440" y="4131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txBox="1"/>
          <p:nvPr/>
        </p:nvSpPr>
        <p:spPr>
          <a:xfrm>
            <a:off x="4023360" y="4038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Lưu file có phiên bản và tin nhắn gửi kèm vào bộ công cụ.</a:t>
            </a:r>
            <a:endParaRPr lang="en-US" sz="1400" dirty="0"/>
          </a:p>
        </p:txBody>
      </p:sp>
      <p:sp>
        <p:nvSpPr>
          <p:cNvPr id="29" name="Text 2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30" name="Text 2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LAB · TIÊU CHÍ HOÀN THÀNH</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Sản phẩm đạt khi...</a:t>
            </a:r>
            <a:endParaRPr lang="en-US" sz="2500" dirty="0"/>
          </a:p>
        </p:txBody>
      </p:sp>
      <p:sp>
        <p:nvSpPr>
          <p:cNvPr id="4" name="Shape 2"/>
          <p:cNvSpPr/>
          <p:nvPr/>
        </p:nvSpPr>
        <p:spPr>
          <a:xfrm>
            <a:off x="457200" y="1371600"/>
            <a:ext cx="4000500" cy="1485900"/>
          </a:xfrm>
          <a:prstGeom prst="roundRect">
            <a:avLst>
              <a:gd name="adj" fmla="val 6154"/>
            </a:avLst>
          </a:prstGeom>
          <a:solidFill>
            <a:srgbClr val="E8F3F1"/>
          </a:solidFill>
          <a:ln w="12700">
            <a:solidFill>
              <a:srgbClr val="E8F3F1"/>
            </a:solidFill>
            <a:prstDash val="solid"/>
          </a:ln>
        </p:spPr>
      </p:sp>
      <p:sp>
        <p:nvSpPr>
          <p:cNvPr id="5" name="Shape 3"/>
          <p:cNvSpPr/>
          <p:nvPr/>
        </p:nvSpPr>
        <p:spPr>
          <a:xfrm>
            <a:off x="640080" y="1554480"/>
            <a:ext cx="457200" cy="45720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Không lộ dữ liệu</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Ảnh đưa vào AI đã che và phóng to kiểm tra; sản phẩm cuối </a:t>
            </a:r>
            <a:pPr indent="0" marL="0">
              <a:buNone/>
            </a:pPr>
            <a:r>
              <a:rPr lang="en-US" sz="1300" b="1" dirty="0">
                <a:solidFill>
                  <a:srgbClr val="1F2A30"/>
                </a:solidFill>
                <a:latin typeface="Calibri" pitchFamily="34" charset="0"/>
                <a:ea typeface="Calibri" pitchFamily="34" charset="-122"/>
                <a:cs typeface="Calibri" pitchFamily="34" charset="-120"/>
              </a:rPr>
              <a:t>không có thông tin cá nhân</a:t>
            </a:r>
            <a:pPr indent="0" marL="0">
              <a:buNone/>
            </a:pPr>
            <a:r>
              <a:rPr lang="en-US" sz="1300" dirty="0">
                <a:solidFill>
                  <a:srgbClr val="1F2A30"/>
                </a:solidFill>
                <a:latin typeface="Calibri" pitchFamily="34" charset="0"/>
                <a:ea typeface="Calibri" pitchFamily="34" charset="-122"/>
                <a:cs typeface="Calibri" pitchFamily="34" charset="-120"/>
              </a:rPr>
              <a:t> nào.</a:t>
            </a:r>
            <a:endParaRPr lang="en-US" sz="1300" dirty="0"/>
          </a:p>
        </p:txBody>
      </p:sp>
      <p:sp>
        <p:nvSpPr>
          <p:cNvPr id="9" name="Shape 6"/>
          <p:cNvSpPr/>
          <p:nvPr/>
        </p:nvSpPr>
        <p:spPr>
          <a:xfrm>
            <a:off x="4686300" y="1371600"/>
            <a:ext cx="4000500" cy="1485900"/>
          </a:xfrm>
          <a:prstGeom prst="roundRect">
            <a:avLst>
              <a:gd name="adj" fmla="val 6154"/>
            </a:avLst>
          </a:prstGeom>
          <a:solidFill>
            <a:srgbClr val="E8F3F1"/>
          </a:solidFill>
          <a:ln w="12700">
            <a:solidFill>
              <a:srgbClr val="E8F3F1"/>
            </a:solidFill>
            <a:prstDash val="solid"/>
          </a:ln>
        </p:spPr>
      </p:sp>
      <p:sp>
        <p:nvSpPr>
          <p:cNvPr id="10" name="Shape 7"/>
          <p:cNvSpPr/>
          <p:nvPr/>
        </p:nvSpPr>
        <p:spPr>
          <a:xfrm>
            <a:off x="4869180" y="1554480"/>
            <a:ext cx="457200" cy="45720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Đúng quy trình gốc</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Ghi được 1 điểm AI đọc ảnh đúng, 1 điểm sai. Nội dung </a:t>
            </a:r>
            <a:pPr indent="0" marL="0">
              <a:buNone/>
            </a:pPr>
            <a:r>
              <a:rPr lang="en-US" sz="1300" b="1" dirty="0">
                <a:solidFill>
                  <a:srgbClr val="1F2A30"/>
                </a:solidFill>
                <a:latin typeface="Calibri" pitchFamily="34" charset="0"/>
                <a:ea typeface="Calibri" pitchFamily="34" charset="-122"/>
                <a:cs typeface="Calibri" pitchFamily="34" charset="-120"/>
              </a:rPr>
              <a:t>khớp quy trình</a:t>
            </a:r>
            <a:pPr indent="0" marL="0">
              <a:buNone/>
            </a:pPr>
            <a:r>
              <a:rPr lang="en-US" sz="1300" dirty="0">
                <a:solidFill>
                  <a:srgbClr val="1F2A30"/>
                </a:solidFill>
                <a:latin typeface="Calibri" pitchFamily="34" charset="0"/>
                <a:ea typeface="Calibri" pitchFamily="34" charset="-122"/>
                <a:cs typeface="Calibri" pitchFamily="34" charset="-120"/>
              </a:rPr>
              <a:t>, không bước bịa.</a:t>
            </a:r>
            <a:endParaRPr lang="en-US" sz="1300" dirty="0"/>
          </a:p>
        </p:txBody>
      </p:sp>
      <p:sp>
        <p:nvSpPr>
          <p:cNvPr id="14" name="Shape 10"/>
          <p:cNvSpPr/>
          <p:nvPr/>
        </p:nvSpPr>
        <p:spPr>
          <a:xfrm>
            <a:off x="457200" y="3086100"/>
            <a:ext cx="4000500" cy="1485900"/>
          </a:xfrm>
          <a:prstGeom prst="roundRect">
            <a:avLst>
              <a:gd name="adj" fmla="val 6154"/>
            </a:avLst>
          </a:prstGeom>
          <a:solidFill>
            <a:srgbClr val="E8F3F1"/>
          </a:solidFill>
          <a:ln w="12700">
            <a:solidFill>
              <a:srgbClr val="E8F3F1"/>
            </a:solidFill>
            <a:prstDash val="solid"/>
          </a:ln>
        </p:spPr>
      </p:sp>
      <p:sp>
        <p:nvSpPr>
          <p:cNvPr id="15" name="Shape 11"/>
          <p:cNvSpPr/>
          <p:nvPr/>
        </p:nvSpPr>
        <p:spPr>
          <a:xfrm>
            <a:off x="640080" y="3268980"/>
            <a:ext cx="457200" cy="457200"/>
          </a:xfrm>
          <a:prstGeom prst="ellipse">
            <a:avLst/>
          </a:prstGeom>
          <a:solidFill>
            <a:srgbClr val="0E7C7B"/>
          </a:solidFill>
          <a:ln w="12700">
            <a:solidFill>
              <a:srgbClr val="0E7C7B"/>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Đúng định dạng</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Infographic </a:t>
            </a:r>
            <a:pPr indent="0" marL="0">
              <a:buNone/>
            </a:pPr>
            <a:r>
              <a:rPr lang="en-US" sz="1300" b="1" dirty="0">
                <a:solidFill>
                  <a:srgbClr val="1F2A30"/>
                </a:solidFill>
                <a:latin typeface="Calibri" pitchFamily="34" charset="0"/>
                <a:ea typeface="Calibri" pitchFamily="34" charset="-122"/>
                <a:cs typeface="Calibri" pitchFamily="34" charset="-120"/>
              </a:rPr>
              <a:t>≤7 bước</a:t>
            </a:r>
            <a:pPr indent="0" marL="0">
              <a:buNone/>
            </a:pPr>
            <a:r>
              <a:rPr lang="en-US" sz="1300" dirty="0">
                <a:solidFill>
                  <a:srgbClr val="1F2A30"/>
                </a:solidFill>
                <a:latin typeface="Calibri" pitchFamily="34" charset="0"/>
                <a:ea typeface="Calibri" pitchFamily="34" charset="-122"/>
                <a:cs typeface="Calibri" pitchFamily="34" charset="-120"/>
              </a:rPr>
              <a:t>, đọc được trên điện thoại; hoặc video </a:t>
            </a:r>
            <a:pPr indent="0" marL="0">
              <a:buNone/>
            </a:pPr>
            <a:r>
              <a:rPr lang="en-US" sz="1300" b="1" dirty="0">
                <a:solidFill>
                  <a:srgbClr val="1F2A30"/>
                </a:solidFill>
                <a:latin typeface="Calibri" pitchFamily="34" charset="0"/>
                <a:ea typeface="Calibri" pitchFamily="34" charset="-122"/>
                <a:cs typeface="Calibri" pitchFamily="34" charset="-120"/>
              </a:rPr>
              <a:t>60–90 giây</a:t>
            </a:r>
            <a:pPr indent="0" marL="0">
              <a:buNone/>
            </a:pPr>
            <a:r>
              <a:rPr lang="en-US" sz="1300" dirty="0">
                <a:solidFill>
                  <a:srgbClr val="1F2A30"/>
                </a:solidFill>
                <a:latin typeface="Calibri" pitchFamily="34" charset="0"/>
                <a:ea typeface="Calibri" pitchFamily="34" charset="-122"/>
                <a:cs typeface="Calibri" pitchFamily="34" charset="-120"/>
              </a:rPr>
              <a:t>, phụ đề đã soát.</a:t>
            </a:r>
            <a:endParaRPr lang="en-US" sz="1300" dirty="0"/>
          </a:p>
        </p:txBody>
      </p:sp>
      <p:sp>
        <p:nvSpPr>
          <p:cNvPr id="19" name="Shape 14"/>
          <p:cNvSpPr/>
          <p:nvPr/>
        </p:nvSpPr>
        <p:spPr>
          <a:xfrm>
            <a:off x="4686300" y="3086100"/>
            <a:ext cx="4000500" cy="1485900"/>
          </a:xfrm>
          <a:prstGeom prst="roundRect">
            <a:avLst>
              <a:gd name="adj" fmla="val 6154"/>
            </a:avLst>
          </a:prstGeom>
          <a:solidFill>
            <a:srgbClr val="E8F3F1"/>
          </a:solidFill>
          <a:ln w="12700">
            <a:solidFill>
              <a:srgbClr val="E8F3F1"/>
            </a:solidFill>
            <a:prstDash val="solid"/>
          </a:ln>
        </p:spPr>
      </p:sp>
      <p:sp>
        <p:nvSpPr>
          <p:cNvPr id="20" name="Shape 15"/>
          <p:cNvSpPr/>
          <p:nvPr/>
        </p:nvSpPr>
        <p:spPr>
          <a:xfrm>
            <a:off x="4869180" y="3268980"/>
            <a:ext cx="457200" cy="457200"/>
          </a:xfrm>
          <a:prstGeom prst="ellipse">
            <a:avLst/>
          </a:prstGeom>
          <a:solidFill>
            <a:srgbClr val="F2994A"/>
          </a:solidFill>
          <a:ln w="12700">
            <a:solidFill>
              <a:srgbClr val="F2994A"/>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Người khác làm theo được</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Đồng nghiệp làm theo không cần hỏi thêm. File có phiên bản, kèm tin nhắn mẫu.</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ROLE PLAY VỚI CÔ GIÁO AI · 12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Luyện cùng "Cô Thảo"</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Bạn là "Cô Thảo", trưởng nhóm đào tạo CSKH đa kênh 10 năm kinh nghiệm, chuyên dạy</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nhân viên xử lý khách gửi hình ảnh. Hãy giữ vai này suốt cuộc trò chuyện.</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Tôi là nhân viên chat của ShopNhanh, đang học: (1) che thông tin cá nhân trên ảnh,</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(2) chẩn đoán lỗi từ ảnh khách gửi, (3) gửi infographic/video kèm tin nhắn phù hợp.</a:t>
            </a:r>
            <a:endParaRPr lang="en-US" sz="1000" dirty="0"/>
          </a:p>
          <a:p>
            <a:pPr indent="0" marL="0">
              <a:lnSpc>
                <a:spcPct val="105000"/>
              </a:lnSpc>
              <a:buNone/>
            </a:pP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Luyện 3 vòng, vòng sau khó hơn vòng trước:</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 Bạn đóng vai KHÁCH, MÔ TẢ BẰNG CHỮ một tấm ảnh khách gửi; mô tả có thể cố tình</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  chứa thông tin cá nhân để thử tôi.</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 Tôi trả lời: (a) che gì, (b) chẩn đoán lỗi và hỏi thêm gì, (c) tin nhắn gửi khách.</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 Bạn THOÁT VAI, chấm 1-5: Bảo mật, Chẩn đoán, Giọng điệu, Hướng dẫn rõ ràng.</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  Chỉ ra CỤ THỂ chỗ cần sửa, KHÔNG viết hộ câu trả lời mẫu.</a:t>
            </a:r>
            <a:endParaRPr lang="en-US" sz="1000" dirty="0"/>
          </a:p>
          <a:p>
            <a:pPr indent="0" marL="0">
              <a:lnSpc>
                <a:spcPct val="105000"/>
              </a:lnSpc>
              <a:buNone/>
            </a:pP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Sau vòng 3, tổng kết 3 điểm mạnh và 3 điểm tôi cần cải thiện nhất.</a:t>
            </a:r>
            <a:endParaRPr lang="en-US" sz="1000" dirty="0"/>
          </a:p>
          <a:p>
            <a:pPr indent="0" marL="0">
              <a:lnSpc>
                <a:spcPct val="105000"/>
              </a:lnSpc>
              <a:buNone/>
            </a:pPr>
            <a:r>
              <a:rPr lang="en-US" sz="1000" dirty="0">
                <a:solidFill>
                  <a:srgbClr val="E6F1EF"/>
                </a:solidFill>
                <a:latin typeface="Courier New" pitchFamily="34" charset="0"/>
                <a:ea typeface="Courier New" pitchFamily="34" charset="-122"/>
                <a:cs typeface="Courier New" pitchFamily="34" charset="-120"/>
              </a:rPr>
              <a:t>Giữ giọng khích lệ, ngắn gọn. Bắt đầu vòng 1 ngay.</a:t>
            </a:r>
            <a:endParaRPr lang="en-US" sz="100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Mục tiêu: </a:t>
            </a:r>
            <a:pPr indent="0" marL="0">
              <a:buNone/>
            </a:pPr>
            <a:r>
              <a:rPr lang="en-US" sz="1150" b="1" dirty="0">
                <a:solidFill>
                  <a:srgbClr val="1F2A30"/>
                </a:solidFill>
                <a:latin typeface="Calibri" pitchFamily="34" charset="0"/>
                <a:ea typeface="Calibri" pitchFamily="34" charset="-122"/>
                <a:cs typeface="Calibri" pitchFamily="34" charset="-120"/>
              </a:rPr>
              <a:t>Bảo mật 5/5</a:t>
            </a:r>
            <a:pPr indent="0" marL="0">
              <a:buNone/>
            </a:pPr>
            <a:r>
              <a:rPr lang="en-US" sz="1150" dirty="0">
                <a:solidFill>
                  <a:srgbClr val="1F2A30"/>
                </a:solidFill>
                <a:latin typeface="Calibri" pitchFamily="34" charset="0"/>
                <a:ea typeface="Calibri" pitchFamily="34" charset="-122"/>
                <a:cs typeface="Calibri" pitchFamily="34" charset="-120"/>
              </a:rPr>
              <a:t> cả 3 vòng, ít nhất một vòng đạt </a:t>
            </a:r>
            <a:pPr indent="0" marL="0">
              <a:buNone/>
            </a:pPr>
            <a:r>
              <a:rPr lang="en-US" sz="1150" b="1" dirty="0">
                <a:solidFill>
                  <a:srgbClr val="1F2A30"/>
                </a:solidFill>
                <a:latin typeface="Calibri" pitchFamily="34" charset="0"/>
                <a:ea typeface="Calibri" pitchFamily="34" charset="-122"/>
                <a:cs typeface="Calibri" pitchFamily="34" charset="-120"/>
              </a:rPr>
              <a:t>16/20</a:t>
            </a:r>
            <a:pPr indent="0" marL="0">
              <a:buNone/>
            </a:pPr>
            <a:r>
              <a:rPr lang="en-US" sz="1150" dirty="0">
                <a:solidFill>
                  <a:srgbClr val="1F2A30"/>
                </a:solidFill>
                <a:latin typeface="Calibri" pitchFamily="34" charset="0"/>
                <a:ea typeface="Calibri" pitchFamily="34" charset="-122"/>
                <a:cs typeface="Calibri" pitchFamily="34" charset="-120"/>
              </a:rPr>
              <a:t>. Prompt đầy đủ trong trang </a:t>
            </a:r>
            <a:pPr indent="0" marL="0">
              <a:buNone/>
            </a:pPr>
            <a:r>
              <a:rPr lang="en-US" sz="1150" b="1" dirty="0">
                <a:solidFill>
                  <a:srgbClr val="1F2A30"/>
                </a:solidFill>
                <a:latin typeface="Calibri" pitchFamily="34" charset="0"/>
                <a:ea typeface="Calibri" pitchFamily="34" charset="-122"/>
                <a:cs typeface="Calibri" pitchFamily="34" charset="-120"/>
              </a:rPr>
              <a:t>Role play</a:t>
            </a:r>
            <a:pPr indent="0" marL="0">
              <a:buNone/>
            </a:pPr>
            <a:r>
              <a:rPr lang="en-US" sz="1150" dirty="0">
                <a:solidFill>
                  <a:srgbClr val="1F2A30"/>
                </a:solidFill>
                <a:latin typeface="Calibri" pitchFamily="34" charset="0"/>
                <a:ea typeface="Calibri" pitchFamily="34" charset="-122"/>
                <a:cs typeface="Calibri" pitchFamily="34" charset="-120"/>
              </a:rPr>
              <a:t>.</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8F3F1"/>
        </a:solidFill>
      </p:bgPr>
    </p:bg>
    <p:spTree>
      <p:nvGrpSpPr>
        <p:cNvPr id="1" name=""/>
        <p:cNvGrpSpPr/>
        <p:nvPr/>
      </p:nvGrpSpPr>
      <p:grpSpPr>
        <a:xfrm>
          <a:off x="0" y="0"/>
          <a:ext cx="0" cy="0"/>
          <a:chOff x="0" y="0"/>
          <a:chExt cx="0" cy="0"/>
        </a:xfrm>
      </p:grpSpPr>
      <p:sp>
        <p:nvSpPr>
          <p:cNvPr id="2" name="Shape 0"/>
          <p:cNvSpPr/>
          <p:nvPr/>
        </p:nvSpPr>
        <p:spPr>
          <a:xfrm>
            <a:off x="548640" y="1097280"/>
            <a:ext cx="822960" cy="822960"/>
          </a:xfrm>
          <a:prstGeom prst="ellipse">
            <a:avLst/>
          </a:prstGeom>
          <a:solidFill>
            <a:srgbClr val="F2994A"/>
          </a:solidFill>
          <a:ln w="12700">
            <a:solidFill>
              <a:srgbClr val="F2994A"/>
            </a:solidFill>
            <a:prstDash val="solid"/>
          </a:ln>
        </p:spPr>
      </p:sp>
      <p:pic>
        <p:nvPicPr>
          <p:cNvPr id="3" name="Image 0" descr="preencoded.png">    </p:cNvPr>
          <p:cNvPicPr>
            <a:picLocks noChangeAspect="1"/>
          </p:cNvPicPr>
          <p:nvPr/>
        </p:nvPicPr>
        <p:blipFill>
          <a:blip r:embed="rId1"/>
          <a:stretch>
            <a:fillRect/>
          </a:stretch>
        </p:blipFill>
        <p:spPr>
          <a:xfrm>
            <a:off x="762610" y="1311250"/>
            <a:ext cx="395021" cy="395021"/>
          </a:xfrm>
          <a:prstGeom prst="rect">
            <a:avLst/>
          </a:prstGeom>
        </p:spPr>
      </p:pic>
      <p:sp>
        <p:nvSpPr>
          <p:cNvPr id="4" name="Text 1"/>
          <p:cNvSpPr txBox="1"/>
          <p:nvPr/>
        </p:nvSpPr>
        <p:spPr>
          <a:xfrm>
            <a:off x="1600200" y="1143000"/>
            <a:ext cx="6858000" cy="274320"/>
          </a:xfrm>
          <a:prstGeom prst="rect">
            <a:avLst/>
          </a:prstGeom>
          <a:noFill/>
          <a:ln/>
        </p:spPr>
        <p:txBody>
          <a:bodyPr wrap="square" lIns="0" tIns="0" rIns="0" bIns="0" rtlCol="0" anchor="t"/>
          <a:lstStyle/>
          <a:p>
            <a:pPr indent="0" marL="0">
              <a:buNone/>
            </a:pPr>
            <a:r>
              <a:rPr lang="en-US" sz="1100" b="1" spc="200" kern="0" dirty="0">
                <a:solidFill>
                  <a:srgbClr val="0E7C7B"/>
                </a:solidFill>
                <a:latin typeface="Calibri" pitchFamily="34" charset="0"/>
                <a:ea typeface="Calibri" pitchFamily="34" charset="-122"/>
                <a:cs typeface="Calibri" pitchFamily="34" charset="-120"/>
              </a:rPr>
              <a:t>QUIZ BUỔI · 5 PHÚT</a:t>
            </a:r>
            <a:endParaRPr lang="en-US" sz="1100" dirty="0"/>
          </a:p>
        </p:txBody>
      </p:sp>
      <p:sp>
        <p:nvSpPr>
          <p:cNvPr id="5" name="Text 2"/>
          <p:cNvSpPr txBox="1"/>
          <p:nvPr/>
        </p:nvSpPr>
        <p:spPr>
          <a:xfrm>
            <a:off x="1600200" y="1463040"/>
            <a:ext cx="6949440" cy="1280160"/>
          </a:xfrm>
          <a:prstGeom prst="rect">
            <a:avLst/>
          </a:prstGeom>
          <a:noFill/>
          <a:ln/>
        </p:spPr>
        <p:txBody>
          <a:bodyPr wrap="square" lIns="0" tIns="0" rIns="0" bIns="0" rtlCol="0" anchor="t">
            <a:normAutofit/>
          </a:bodyPr>
          <a:lstStyle/>
          <a:p>
            <a:pPr indent="0" marL="0">
              <a:buNone/>
            </a:pPr>
            <a:r>
              <a:rPr lang="en-US" sz="2800" b="1" dirty="0">
                <a:solidFill>
                  <a:srgbClr val="0B3B45"/>
                </a:solidFill>
                <a:latin typeface="Cambria" pitchFamily="34" charset="0"/>
                <a:ea typeface="Cambria" pitchFamily="34" charset="-122"/>
                <a:cs typeface="Cambria" pitchFamily="34" charset="-120"/>
              </a:rPr>
              <a:t>8 câu tự kiểm tra trong ebook</a:t>
            </a:r>
            <a:endParaRPr lang="en-US" sz="2800" dirty="0"/>
          </a:p>
        </p:txBody>
      </p:sp>
      <p:sp>
        <p:nvSpPr>
          <p:cNvPr id="6" name="Text 3"/>
          <p:cNvSpPr txBox="1"/>
          <p:nvPr/>
        </p:nvSpPr>
        <p:spPr>
          <a:xfrm>
            <a:off x="1600200" y="2606040"/>
            <a:ext cx="6858000" cy="1554480"/>
          </a:xfrm>
          <a:prstGeom prst="rect">
            <a:avLst/>
          </a:prstGeom>
          <a:noFill/>
          <a:ln/>
        </p:spPr>
        <p:txBody>
          <a:bodyPr wrap="square" lIns="0" tIns="0" rIns="0" bIns="0" rtlCol="0" anchor="t"/>
          <a:lstStyle/>
          <a:p>
            <a:pPr indent="0" marL="0">
              <a:buNone/>
            </a:pPr>
            <a:r>
              <a:rPr lang="en-US" sz="1600" dirty="0">
                <a:solidFill>
                  <a:srgbClr val="1F2A30"/>
                </a:solidFill>
                <a:latin typeface="Calibri" pitchFamily="34" charset="0"/>
                <a:ea typeface="Calibri" pitchFamily="34" charset="-122"/>
                <a:cs typeface="Calibri" pitchFamily="34" charset="-120"/>
              </a:rPr>
              <a:t>Che ảnh, prompt đọc ảnh, ảnh chuyển khoản, thứ tự làm infographic, quay màn hình an toàn, phụ đề tự động, so sánh công bằng. Đáp án ở mục </a:t>
            </a:r>
            <a:pPr indent="0" marL="0">
              <a:buNone/>
            </a:pPr>
            <a:r>
              <a:rPr lang="en-US" sz="1600" b="1" dirty="0">
                <a:solidFill>
                  <a:srgbClr val="1F2A30"/>
                </a:solidFill>
                <a:latin typeface="Calibri" pitchFamily="34" charset="0"/>
                <a:ea typeface="Calibri" pitchFamily="34" charset="-122"/>
                <a:cs typeface="Calibri" pitchFamily="34" charset="-120"/>
              </a:rPr>
              <a:t>Giải pháp · Quiz Buổi 3</a:t>
            </a:r>
            <a:pPr indent="0" marL="0">
              <a:buNone/>
            </a:pPr>
            <a:r>
              <a:rPr lang="en-US" sz="1600" dirty="0">
                <a:solidFill>
                  <a:srgbClr val="1F2A30"/>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TỔNG KẾT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Bạn đã học được gì</a:t>
            </a:r>
            <a:endParaRPr lang="en-US" sz="2500" dirty="0"/>
          </a:p>
        </p:txBody>
      </p:sp>
      <p:sp>
        <p:nvSpPr>
          <p:cNvPr id="4" name="Shape 2"/>
          <p:cNvSpPr/>
          <p:nvPr/>
        </p:nvSpPr>
        <p:spPr>
          <a:xfrm>
            <a:off x="457200" y="1490472"/>
            <a:ext cx="329184" cy="32918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542788" y="1576060"/>
            <a:ext cx="158008" cy="158008"/>
          </a:xfrm>
          <a:prstGeom prst="rect">
            <a:avLst/>
          </a:prstGeom>
        </p:spPr>
      </p:pic>
      <p:sp>
        <p:nvSpPr>
          <p:cNvPr id="6" name="Text 3"/>
          <p:cNvSpPr txBox="1"/>
          <p:nvPr/>
        </p:nvSpPr>
        <p:spPr>
          <a:xfrm>
            <a:off x="914400" y="1371600"/>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AI đọc ảnh</a:t>
            </a:r>
            <a:pPr indent="0" marL="0">
              <a:buNone/>
            </a:pPr>
            <a:r>
              <a:rPr lang="en-US" sz="1450" dirty="0">
                <a:solidFill>
                  <a:srgbClr val="1F2A30"/>
                </a:solidFill>
                <a:latin typeface="Calibri" pitchFamily="34" charset="0"/>
                <a:ea typeface="Calibri" pitchFamily="34" charset="-122"/>
                <a:cs typeface="Calibri" pitchFamily="34" charset="-120"/>
              </a:rPr>
              <a:t> giúp trích chữ, xác định bước kẹt, gợi ý nguyên nhân; đối soát vẫn là việc của bạn.</a:t>
            </a:r>
            <a:endParaRPr lang="en-US" sz="1450" dirty="0"/>
          </a:p>
        </p:txBody>
      </p:sp>
      <p:sp>
        <p:nvSpPr>
          <p:cNvPr id="7" name="Shape 4"/>
          <p:cNvSpPr/>
          <p:nvPr/>
        </p:nvSpPr>
        <p:spPr>
          <a:xfrm>
            <a:off x="457200" y="2057400"/>
            <a:ext cx="329184" cy="329184"/>
          </a:xfrm>
          <a:prstGeom prst="ellipse">
            <a:avLst/>
          </a:prstGeom>
          <a:solidFill>
            <a:srgbClr val="0E7C7B"/>
          </a:solidFill>
          <a:ln w="12700">
            <a:solidFill>
              <a:srgbClr val="0E7C7B"/>
            </a:solidFill>
            <a:prstDash val="solid"/>
          </a:ln>
        </p:spPr>
      </p:sp>
      <p:pic>
        <p:nvPicPr>
          <p:cNvPr id="8" name="Image 1" descr="preencoded.png">    </p:cNvPr>
          <p:cNvPicPr>
            <a:picLocks noChangeAspect="1"/>
          </p:cNvPicPr>
          <p:nvPr/>
        </p:nvPicPr>
        <p:blipFill>
          <a:blip r:embed="rId2"/>
          <a:stretch>
            <a:fillRect/>
          </a:stretch>
        </p:blipFill>
        <p:spPr>
          <a:xfrm>
            <a:off x="542788" y="2142988"/>
            <a:ext cx="158008" cy="158008"/>
          </a:xfrm>
          <a:prstGeom prst="rect">
            <a:avLst/>
          </a:prstGeom>
        </p:spPr>
      </p:pic>
      <p:sp>
        <p:nvSpPr>
          <p:cNvPr id="9" name="Text 5"/>
          <p:cNvSpPr txBox="1"/>
          <p:nvPr/>
        </p:nvSpPr>
        <p:spPr>
          <a:xfrm>
            <a:off x="914400" y="1938528"/>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Che trước, hỏi sau:</a:t>
            </a:r>
            <a:pPr indent="0" marL="0">
              <a:buNone/>
            </a:pPr>
            <a:r>
              <a:rPr lang="en-US" sz="1450" dirty="0">
                <a:solidFill>
                  <a:srgbClr val="1F2A30"/>
                </a:solidFill>
                <a:latin typeface="Calibri" pitchFamily="34" charset="0"/>
                <a:ea typeface="Calibri" pitchFamily="34" charset="-122"/>
                <a:cs typeface="Calibri" pitchFamily="34" charset="-120"/>
              </a:rPr>
              <a:t> khối màu đặc hoặc cắt ảnh, phóng to kiểm tra lại.</a:t>
            </a:r>
            <a:endParaRPr lang="en-US" sz="1450" dirty="0"/>
          </a:p>
        </p:txBody>
      </p:sp>
      <p:sp>
        <p:nvSpPr>
          <p:cNvPr id="10" name="Shape 6"/>
          <p:cNvSpPr/>
          <p:nvPr/>
        </p:nvSpPr>
        <p:spPr>
          <a:xfrm>
            <a:off x="457200" y="2624328"/>
            <a:ext cx="329184" cy="329184"/>
          </a:xfrm>
          <a:prstGeom prst="ellipse">
            <a:avLst/>
          </a:prstGeom>
          <a:solidFill>
            <a:srgbClr val="0E7C7B"/>
          </a:solidFill>
          <a:ln w="12700">
            <a:solidFill>
              <a:srgbClr val="0E7C7B"/>
            </a:solidFill>
            <a:prstDash val="solid"/>
          </a:ln>
        </p:spPr>
      </p:sp>
      <p:pic>
        <p:nvPicPr>
          <p:cNvPr id="11" name="Image 2" descr="preencoded.png">    </p:cNvPr>
          <p:cNvPicPr>
            <a:picLocks noChangeAspect="1"/>
          </p:cNvPicPr>
          <p:nvPr/>
        </p:nvPicPr>
        <p:blipFill>
          <a:blip r:embed="rId3"/>
          <a:stretch>
            <a:fillRect/>
          </a:stretch>
        </p:blipFill>
        <p:spPr>
          <a:xfrm>
            <a:off x="542788" y="2709916"/>
            <a:ext cx="158008" cy="158008"/>
          </a:xfrm>
          <a:prstGeom prst="rect">
            <a:avLst/>
          </a:prstGeom>
        </p:spPr>
      </p:pic>
      <p:sp>
        <p:nvSpPr>
          <p:cNvPr id="12" name="Text 7"/>
          <p:cNvSpPr txBox="1"/>
          <p:nvPr/>
        </p:nvSpPr>
        <p:spPr>
          <a:xfrm>
            <a:off x="914400" y="2505456"/>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Infographic:</a:t>
            </a:r>
            <a:pPr indent="0" marL="0">
              <a:buNone/>
            </a:pPr>
            <a:r>
              <a:rPr lang="en-US" sz="1450" dirty="0">
                <a:solidFill>
                  <a:srgbClr val="1F2A30"/>
                </a:solidFill>
                <a:latin typeface="Calibri" pitchFamily="34" charset="0"/>
                <a:ea typeface="Calibri" pitchFamily="34" charset="-122"/>
                <a:cs typeface="Calibri" pitchFamily="34" charset="-120"/>
              </a:rPr>
              <a:t> chốt 5 bước bằng AI, đối chiếu app thật, rồi mới làm đẹp trên Canva.</a:t>
            </a:r>
            <a:endParaRPr lang="en-US" sz="1450" dirty="0"/>
          </a:p>
        </p:txBody>
      </p:sp>
      <p:sp>
        <p:nvSpPr>
          <p:cNvPr id="13" name="Shape 8"/>
          <p:cNvSpPr/>
          <p:nvPr/>
        </p:nvSpPr>
        <p:spPr>
          <a:xfrm>
            <a:off x="457200" y="3191256"/>
            <a:ext cx="329184" cy="329184"/>
          </a:xfrm>
          <a:prstGeom prst="ellipse">
            <a:avLst/>
          </a:prstGeom>
          <a:solidFill>
            <a:srgbClr val="0E7C7B"/>
          </a:solidFill>
          <a:ln w="12700">
            <a:solidFill>
              <a:srgbClr val="0E7C7B"/>
            </a:solidFill>
            <a:prstDash val="solid"/>
          </a:ln>
        </p:spPr>
      </p:sp>
      <p:pic>
        <p:nvPicPr>
          <p:cNvPr id="14" name="Image 3" descr="preencoded.png">    </p:cNvPr>
          <p:cNvPicPr>
            <a:picLocks noChangeAspect="1"/>
          </p:cNvPicPr>
          <p:nvPr/>
        </p:nvPicPr>
        <p:blipFill>
          <a:blip r:embed="rId4"/>
          <a:stretch>
            <a:fillRect/>
          </a:stretch>
        </p:blipFill>
        <p:spPr>
          <a:xfrm>
            <a:off x="542788" y="3276844"/>
            <a:ext cx="158008" cy="158008"/>
          </a:xfrm>
          <a:prstGeom prst="rect">
            <a:avLst/>
          </a:prstGeom>
        </p:spPr>
      </p:pic>
      <p:sp>
        <p:nvSpPr>
          <p:cNvPr id="15" name="Text 9"/>
          <p:cNvSpPr txBox="1"/>
          <p:nvPr/>
        </p:nvSpPr>
        <p:spPr>
          <a:xfrm>
            <a:off x="914400" y="3072384"/>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Video:</a:t>
            </a:r>
            <a:pPr indent="0" marL="0">
              <a:buNone/>
            </a:pPr>
            <a:r>
              <a:rPr lang="en-US" sz="1450" dirty="0">
                <a:solidFill>
                  <a:srgbClr val="1F2A30"/>
                </a:solidFill>
                <a:latin typeface="Calibri" pitchFamily="34" charset="0"/>
                <a:ea typeface="Calibri" pitchFamily="34" charset="-122"/>
                <a:cs typeface="Calibri" pitchFamily="34" charset="-120"/>
              </a:rPr>
              <a:t> tài khoản test, Không làm phiền, phụ đề CapCut </a:t>
            </a:r>
            <a:pPr indent="0" marL="0">
              <a:buNone/>
            </a:pPr>
            <a:r>
              <a:rPr lang="en-US" sz="1450" b="1" dirty="0">
                <a:solidFill>
                  <a:srgbClr val="1F2A30"/>
                </a:solidFill>
                <a:latin typeface="Calibri" pitchFamily="34" charset="0"/>
                <a:ea typeface="Calibri" pitchFamily="34" charset="-122"/>
                <a:cs typeface="Calibri" pitchFamily="34" charset="-120"/>
              </a:rPr>
              <a:t>soát từng dòng</a:t>
            </a:r>
            <a:pPr indent="0" marL="0">
              <a:buNone/>
            </a:pPr>
            <a:r>
              <a:rPr lang="en-US" sz="1450" dirty="0">
                <a:solidFill>
                  <a:srgbClr val="1F2A30"/>
                </a:solidFill>
                <a:latin typeface="Calibri" pitchFamily="34" charset="0"/>
                <a:ea typeface="Calibri" pitchFamily="34" charset="-122"/>
                <a:cs typeface="Calibri" pitchFamily="34" charset="-120"/>
              </a:rPr>
              <a:t>, gửi link.</a:t>
            </a:r>
            <a:endParaRPr lang="en-US" sz="1450" dirty="0"/>
          </a:p>
        </p:txBody>
      </p:sp>
      <p:sp>
        <p:nvSpPr>
          <p:cNvPr id="16" name="Shape 10"/>
          <p:cNvSpPr/>
          <p:nvPr/>
        </p:nvSpPr>
        <p:spPr>
          <a:xfrm>
            <a:off x="457200" y="3758184"/>
            <a:ext cx="329184" cy="329184"/>
          </a:xfrm>
          <a:prstGeom prst="ellipse">
            <a:avLst/>
          </a:prstGeom>
          <a:solidFill>
            <a:srgbClr val="0E7C7B"/>
          </a:solidFill>
          <a:ln w="12700">
            <a:solidFill>
              <a:srgbClr val="0E7C7B"/>
            </a:solidFill>
            <a:prstDash val="solid"/>
          </a:ln>
        </p:spPr>
      </p:sp>
      <p:pic>
        <p:nvPicPr>
          <p:cNvPr id="17" name="Image 4" descr="preencoded.png">    </p:cNvPr>
          <p:cNvPicPr>
            <a:picLocks noChangeAspect="1"/>
          </p:cNvPicPr>
          <p:nvPr/>
        </p:nvPicPr>
        <p:blipFill>
          <a:blip r:embed="rId5"/>
          <a:stretch>
            <a:fillRect/>
          </a:stretch>
        </p:blipFill>
        <p:spPr>
          <a:xfrm>
            <a:off x="542788" y="3843772"/>
            <a:ext cx="158008" cy="158008"/>
          </a:xfrm>
          <a:prstGeom prst="rect">
            <a:avLst/>
          </a:prstGeom>
        </p:spPr>
      </p:pic>
      <p:sp>
        <p:nvSpPr>
          <p:cNvPr id="18" name="Text 11"/>
          <p:cNvSpPr txBox="1"/>
          <p:nvPr/>
        </p:nvSpPr>
        <p:spPr>
          <a:xfrm>
            <a:off x="914400" y="3639312"/>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So sánh 4 AI:</a:t>
            </a:r>
            <a:pPr indent="0" marL="0">
              <a:buNone/>
            </a:pPr>
            <a:r>
              <a:rPr lang="en-US" sz="1450" dirty="0">
                <a:solidFill>
                  <a:srgbClr val="1F2A30"/>
                </a:solidFill>
                <a:latin typeface="Calibri" pitchFamily="34" charset="0"/>
                <a:ea typeface="Calibri" pitchFamily="34" charset="-122"/>
                <a:cs typeface="Calibri" pitchFamily="34" charset="-120"/>
              </a:rPr>
              <a:t> cùng ticket, cùng prompt, cùng 5 tiêu chí. Không có công cụ tốt nhất cho mọi việc.</a:t>
            </a:r>
            <a:endParaRPr lang="en-US" sz="1450" dirty="0"/>
          </a:p>
        </p:txBody>
      </p:sp>
      <p:sp>
        <p:nvSpPr>
          <p:cNvPr id="19" name="Shape 12"/>
          <p:cNvSpPr/>
          <p:nvPr/>
        </p:nvSpPr>
        <p:spPr>
          <a:xfrm>
            <a:off x="5897880" y="1371600"/>
            <a:ext cx="2788920" cy="3154680"/>
          </a:xfrm>
          <a:prstGeom prst="roundRect">
            <a:avLst>
              <a:gd name="adj" fmla="val 3279"/>
            </a:avLst>
          </a:prstGeom>
          <a:solidFill>
            <a:srgbClr val="0B3B45"/>
          </a:solidFill>
          <a:ln w="12700">
            <a:solidFill>
              <a:srgbClr val="0B3B45"/>
            </a:solidFill>
            <a:prstDash val="solid"/>
          </a:ln>
        </p:spPr>
      </p:sp>
      <p:sp>
        <p:nvSpPr>
          <p:cNvPr id="20" name="Shape 13"/>
          <p:cNvSpPr/>
          <p:nvPr/>
        </p:nvSpPr>
        <p:spPr>
          <a:xfrm>
            <a:off x="6126480" y="1572768"/>
            <a:ext cx="502920" cy="502920"/>
          </a:xfrm>
          <a:prstGeom prst="ellipse">
            <a:avLst/>
          </a:prstGeom>
          <a:solidFill>
            <a:srgbClr val="F2994A"/>
          </a:solidFill>
          <a:ln w="12700">
            <a:solidFill>
              <a:srgbClr val="F2994A"/>
            </a:solidFill>
            <a:prstDash val="solid"/>
          </a:ln>
        </p:spPr>
      </p:sp>
      <p:pic>
        <p:nvPicPr>
          <p:cNvPr id="21" name="Image 5" descr="preencoded.png">    </p:cNvPr>
          <p:cNvPicPr>
            <a:picLocks noChangeAspect="1"/>
          </p:cNvPicPr>
          <p:nvPr/>
        </p:nvPicPr>
        <p:blipFill>
          <a:blip r:embed="rId6"/>
          <a:stretch>
            <a:fillRect/>
          </a:stretch>
        </p:blipFill>
        <p:spPr>
          <a:xfrm>
            <a:off x="6257239" y="1703527"/>
            <a:ext cx="241402" cy="241402"/>
          </a:xfrm>
          <a:prstGeom prst="rect">
            <a:avLst/>
          </a:prstGeom>
        </p:spPr>
      </p:pic>
      <p:sp>
        <p:nvSpPr>
          <p:cNvPr id="22" name="Text 14"/>
          <p:cNvSpPr txBox="1"/>
          <p:nvPr/>
        </p:nvSpPr>
        <p:spPr>
          <a:xfrm>
            <a:off x="6126480" y="2194560"/>
            <a:ext cx="237744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TIẾP THEO</a:t>
            </a:r>
            <a:endParaRPr lang="en-US" sz="1050" dirty="0"/>
          </a:p>
        </p:txBody>
      </p:sp>
      <p:sp>
        <p:nvSpPr>
          <p:cNvPr id="23" name="Text 15"/>
          <p:cNvSpPr txBox="1"/>
          <p:nvPr/>
        </p:nvSpPr>
        <p:spPr>
          <a:xfrm>
            <a:off x="6126480" y="2514600"/>
            <a:ext cx="2377440" cy="1874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Buổi 4:</a:t>
            </a:r>
            <a:pPr indent="0" marL="0">
              <a:buNone/>
            </a:pPr>
            <a:r>
              <a:rPr lang="en-US" sz="1400" dirty="0">
                <a:solidFill>
                  <a:srgbClr val="FFFFFF"/>
                </a:solidFill>
                <a:latin typeface="Calibri" pitchFamily="34" charset="0"/>
                <a:ea typeface="Calibri" pitchFamily="34" charset="-122"/>
                <a:cs typeface="Calibri" pitchFamily="34" charset="-120"/>
              </a:rPr>
              <a:t> phân loại ticket, phân tích cảm xúc, hỗ trợ QA cuộc gọi, roleplay khách khó; chốt đề cương sản phẩm cuối khóa.</a:t>
            </a:r>
            <a:endParaRPr lang="en-US" sz="1400" dirty="0"/>
          </a:p>
        </p:txBody>
      </p:sp>
      <p:sp>
        <p:nvSpPr>
          <p:cNvPr id="24" name="Text 1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25" name="Text 1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CHIA SẺ &amp; GÓP Ý CHÉO · 14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Trình chiếu sản phẩm Lab</a:t>
            </a:r>
            <a:endParaRPr lang="en-US" sz="2500" dirty="0"/>
          </a:p>
        </p:txBody>
      </p:sp>
      <p:sp>
        <p:nvSpPr>
          <p:cNvPr id="4" name="Shape 2"/>
          <p:cNvSpPr/>
          <p:nvPr/>
        </p:nvSpPr>
        <p:spPr>
          <a:xfrm>
            <a:off x="457200" y="1371600"/>
            <a:ext cx="2590800" cy="3200400"/>
          </a:xfrm>
          <a:prstGeom prst="roundRect">
            <a:avLst>
              <a:gd name="adj" fmla="val 3529"/>
            </a:avLst>
          </a:prstGeom>
          <a:solidFill>
            <a:srgbClr val="E8F3F1"/>
          </a:solidFill>
          <a:ln w="12700">
            <a:solidFill>
              <a:srgbClr val="E8F3F1"/>
            </a:solidFill>
            <a:prstDash val="solid"/>
          </a:ln>
        </p:spPr>
      </p:sp>
      <p:sp>
        <p:nvSpPr>
          <p:cNvPr id="5" name="Shape 3"/>
          <p:cNvSpPr/>
          <p:nvPr/>
        </p:nvSpPr>
        <p:spPr>
          <a:xfrm>
            <a:off x="658368" y="1572768"/>
            <a:ext cx="475488" cy="475488"/>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781995" y="1696395"/>
            <a:ext cx="228234" cy="228234"/>
          </a:xfrm>
          <a:prstGeom prst="rect">
            <a:avLst/>
          </a:prstGeom>
        </p:spPr>
      </p:pic>
      <p:sp>
        <p:nvSpPr>
          <p:cNvPr id="7" name="Text 4"/>
          <p:cNvSpPr txBox="1"/>
          <p:nvPr/>
        </p:nvSpPr>
        <p:spPr>
          <a:xfrm>
            <a:off x="658368" y="214884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1 phút mỗi người</a:t>
            </a:r>
            <a:endParaRPr lang="en-US" sz="1450" dirty="0"/>
          </a:p>
        </p:txBody>
      </p:sp>
      <p:sp>
        <p:nvSpPr>
          <p:cNvPr id="8" name="Text 5"/>
          <p:cNvSpPr txBox="1"/>
          <p:nvPr/>
        </p:nvSpPr>
        <p:spPr>
          <a:xfrm>
            <a:off x="658368" y="2587752"/>
            <a:ext cx="2188464" cy="18745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Trình chiếu tài liệu hướng dẫn. Lớp góp ý: </a:t>
            </a:r>
            <a:pPr indent="0" marL="0">
              <a:buNone/>
            </a:pPr>
            <a:r>
              <a:rPr lang="en-US" sz="1400" b="1" dirty="0">
                <a:solidFill>
                  <a:srgbClr val="1F2A30"/>
                </a:solidFill>
                <a:latin typeface="Calibri" pitchFamily="34" charset="0"/>
                <a:ea typeface="Calibri" pitchFamily="34" charset="-122"/>
                <a:cs typeface="Calibri" pitchFamily="34" charset="-120"/>
              </a:rPr>
              <a:t>làm theo được không</a:t>
            </a:r>
            <a:pPr indent="0" marL="0">
              <a:buNone/>
            </a:pPr>
            <a:r>
              <a:rPr lang="en-US" sz="1400" dirty="0">
                <a:solidFill>
                  <a:srgbClr val="1F2A30"/>
                </a:solidFill>
                <a:latin typeface="Calibri" pitchFamily="34" charset="0"/>
                <a:ea typeface="Calibri" pitchFamily="34" charset="-122"/>
                <a:cs typeface="Calibri" pitchFamily="34" charset="-120"/>
              </a:rPr>
              <a:t>, còn </a:t>
            </a:r>
            <a:pPr indent="0" marL="0">
              <a:buNone/>
            </a:pPr>
            <a:r>
              <a:rPr lang="en-US" sz="1400" b="1" dirty="0">
                <a:solidFill>
                  <a:srgbClr val="1F2A30"/>
                </a:solidFill>
                <a:latin typeface="Calibri" pitchFamily="34" charset="0"/>
                <a:ea typeface="Calibri" pitchFamily="34" charset="-122"/>
                <a:cs typeface="Calibri" pitchFamily="34" charset="-120"/>
              </a:rPr>
              <a:t>lộ dữ liệu</a:t>
            </a:r>
            <a:pPr indent="0" marL="0">
              <a:buNone/>
            </a:pPr>
            <a:r>
              <a:rPr lang="en-US" sz="1400" dirty="0">
                <a:solidFill>
                  <a:srgbClr val="1F2A30"/>
                </a:solidFill>
                <a:latin typeface="Calibri" pitchFamily="34" charset="0"/>
                <a:ea typeface="Calibri" pitchFamily="34" charset="-122"/>
                <a:cs typeface="Calibri" pitchFamily="34" charset="-120"/>
              </a:rPr>
              <a:t> không, nên sửa gì.</a:t>
            </a:r>
            <a:endParaRPr lang="en-US" sz="1400" dirty="0"/>
          </a:p>
        </p:txBody>
      </p:sp>
      <p:sp>
        <p:nvSpPr>
          <p:cNvPr id="9" name="Shape 6"/>
          <p:cNvSpPr/>
          <p:nvPr/>
        </p:nvSpPr>
        <p:spPr>
          <a:xfrm>
            <a:off x="3276600" y="1371600"/>
            <a:ext cx="2590800" cy="3200400"/>
          </a:xfrm>
          <a:prstGeom prst="roundRect">
            <a:avLst>
              <a:gd name="adj" fmla="val 3529"/>
            </a:avLst>
          </a:prstGeom>
          <a:solidFill>
            <a:srgbClr val="E8F3F1"/>
          </a:solidFill>
          <a:ln w="12700">
            <a:solidFill>
              <a:srgbClr val="E8F3F1"/>
            </a:solidFill>
            <a:prstDash val="solid"/>
          </a:ln>
        </p:spPr>
      </p:sp>
      <p:sp>
        <p:nvSpPr>
          <p:cNvPr id="10" name="Shape 7"/>
          <p:cNvSpPr/>
          <p:nvPr/>
        </p:nvSpPr>
        <p:spPr>
          <a:xfrm>
            <a:off x="3477768" y="1572768"/>
            <a:ext cx="475488" cy="475488"/>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3601395" y="1696395"/>
            <a:ext cx="228234" cy="228234"/>
          </a:xfrm>
          <a:prstGeom prst="rect">
            <a:avLst/>
          </a:prstGeom>
        </p:spPr>
      </p:pic>
      <p:sp>
        <p:nvSpPr>
          <p:cNvPr id="12" name="Text 8"/>
          <p:cNvSpPr txBox="1"/>
          <p:nvPr/>
        </p:nvSpPr>
        <p:spPr>
          <a:xfrm>
            <a:off x="3477768" y="214884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1 lỗi AI mắc</a:t>
            </a:r>
            <a:endParaRPr lang="en-US" sz="1450" dirty="0"/>
          </a:p>
        </p:txBody>
      </p:sp>
      <p:sp>
        <p:nvSpPr>
          <p:cNvPr id="13" name="Text 9"/>
          <p:cNvSpPr txBox="1"/>
          <p:nvPr/>
        </p:nvSpPr>
        <p:spPr>
          <a:xfrm>
            <a:off x="3477768" y="2587752"/>
            <a:ext cx="2188464" cy="18745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Chia sẻ một lỗi cụ thể AI mắc khi đọc ảnh hoặc khi trả lời ticket trong bài so sánh.</a:t>
            </a:r>
            <a:endParaRPr lang="en-US" sz="1400" dirty="0"/>
          </a:p>
        </p:txBody>
      </p:sp>
      <p:sp>
        <p:nvSpPr>
          <p:cNvPr id="14" name="Shape 10"/>
          <p:cNvSpPr/>
          <p:nvPr/>
        </p:nvSpPr>
        <p:spPr>
          <a:xfrm>
            <a:off x="6096000" y="1371600"/>
            <a:ext cx="2590800" cy="3200400"/>
          </a:xfrm>
          <a:prstGeom prst="roundRect">
            <a:avLst>
              <a:gd name="adj" fmla="val 3529"/>
            </a:avLst>
          </a:prstGeom>
          <a:solidFill>
            <a:srgbClr val="E8F3F1"/>
          </a:solidFill>
          <a:ln w="12700">
            <a:solidFill>
              <a:srgbClr val="E8F3F1"/>
            </a:solidFill>
            <a:prstDash val="solid"/>
          </a:ln>
        </p:spPr>
      </p:sp>
      <p:sp>
        <p:nvSpPr>
          <p:cNvPr id="15" name="Shape 11"/>
          <p:cNvSpPr/>
          <p:nvPr/>
        </p:nvSpPr>
        <p:spPr>
          <a:xfrm>
            <a:off x="6297168" y="1572768"/>
            <a:ext cx="475488" cy="475488"/>
          </a:xfrm>
          <a:prstGeom prst="ellipse">
            <a:avLst/>
          </a:prstGeom>
          <a:solidFill>
            <a:srgbClr val="0E7C7B"/>
          </a:solidFill>
          <a:ln w="12700">
            <a:solidFill>
              <a:srgbClr val="0E7C7B"/>
            </a:solidFill>
            <a:prstDash val="solid"/>
          </a:ln>
        </p:spPr>
      </p:sp>
      <p:pic>
        <p:nvPicPr>
          <p:cNvPr id="16" name="Image 2" descr="preencoded.png">    </p:cNvPr>
          <p:cNvPicPr>
            <a:picLocks noChangeAspect="1"/>
          </p:cNvPicPr>
          <p:nvPr/>
        </p:nvPicPr>
        <p:blipFill>
          <a:blip r:embed="rId3"/>
          <a:stretch>
            <a:fillRect/>
          </a:stretch>
        </p:blipFill>
        <p:spPr>
          <a:xfrm>
            <a:off x="6420795" y="1696395"/>
            <a:ext cx="228234" cy="228234"/>
          </a:xfrm>
          <a:prstGeom prst="rect">
            <a:avLst/>
          </a:prstGeom>
        </p:spPr>
      </p:pic>
      <p:sp>
        <p:nvSpPr>
          <p:cNvPr id="17" name="Text 12"/>
          <p:cNvSpPr txBox="1"/>
          <p:nvPr/>
        </p:nvSpPr>
        <p:spPr>
          <a:xfrm>
            <a:off x="6297168" y="214884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Bảng tự chấm</a:t>
            </a:r>
            <a:endParaRPr lang="en-US" sz="1450" dirty="0"/>
          </a:p>
        </p:txBody>
      </p:sp>
      <p:sp>
        <p:nvSpPr>
          <p:cNvPr id="18" name="Text 13"/>
          <p:cNvSpPr txBox="1"/>
          <p:nvPr/>
        </p:nvSpPr>
        <p:spPr>
          <a:xfrm>
            <a:off x="6297168" y="2587752"/>
            <a:ext cx="2188464" cy="18745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Dán </a:t>
            </a:r>
            <a:pPr indent="0" marL="0">
              <a:buNone/>
            </a:pPr>
            <a:r>
              <a:rPr lang="en-US" sz="1400" b="1" dirty="0">
                <a:solidFill>
                  <a:srgbClr val="1F2A30"/>
                </a:solidFill>
                <a:latin typeface="Calibri" pitchFamily="34" charset="0"/>
                <a:ea typeface="Calibri" pitchFamily="34" charset="-122"/>
                <a:cs typeface="Calibri" pitchFamily="34" charset="-120"/>
              </a:rPr>
              <a:t>bảng so sánh 4 trợ lý AI</a:t>
            </a:r>
            <a:pPr indent="0" marL="0">
              <a:buNone/>
            </a:pPr>
            <a:r>
              <a:rPr lang="en-US" sz="1400" dirty="0">
                <a:solidFill>
                  <a:srgbClr val="1F2A30"/>
                </a:solidFill>
                <a:latin typeface="Calibri" pitchFamily="34" charset="0"/>
                <a:ea typeface="Calibri" pitchFamily="34" charset="-122"/>
                <a:cs typeface="Calibri" pitchFamily="34" charset="-120"/>
              </a:rPr>
              <a:t> để cả lớp đối chiếu kết quả.</a:t>
            </a:r>
            <a:endParaRPr lang="en-US" sz="1400" dirty="0"/>
          </a:p>
        </p:txBody>
      </p:sp>
      <p:sp>
        <p:nvSpPr>
          <p:cNvPr id="19" name="Text 14"/>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20" name="Text 15"/>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BÀI TẬP VỀ NHÀ</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Vận dụng vào công việc thật</a:t>
            </a:r>
            <a:endParaRPr lang="en-US" sz="2500" dirty="0"/>
          </a:p>
        </p:txBody>
      </p:sp>
      <p:sp>
        <p:nvSpPr>
          <p:cNvPr id="4" name="Shape 2"/>
          <p:cNvSpPr/>
          <p:nvPr/>
        </p:nvSpPr>
        <p:spPr>
          <a:xfrm>
            <a:off x="457200" y="1371600"/>
            <a:ext cx="4000500" cy="1485900"/>
          </a:xfrm>
          <a:prstGeom prst="roundRect">
            <a:avLst>
              <a:gd name="adj" fmla="val 6154"/>
            </a:avLst>
          </a:prstGeom>
          <a:solidFill>
            <a:srgbClr val="E8F3F1"/>
          </a:solidFill>
          <a:ln w="12700">
            <a:solidFill>
              <a:srgbClr val="E8F3F1"/>
            </a:solidFill>
            <a:prstDash val="solid"/>
          </a:ln>
        </p:spPr>
      </p:sp>
      <p:sp>
        <p:nvSpPr>
          <p:cNvPr id="5" name="Shape 3"/>
          <p:cNvSpPr/>
          <p:nvPr/>
        </p:nvSpPr>
        <p:spPr>
          <a:xfrm>
            <a:off x="640080" y="1554480"/>
            <a:ext cx="457200" cy="45720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Bài 1 · 3 prompt đọc ảnh</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3 loại ảnh khách hay gửi. Đủ V-B-N-Đ-G, có </a:t>
            </a:r>
            <a:pPr indent="0" marL="0">
              <a:buNone/>
            </a:pPr>
            <a:r>
              <a:rPr lang="en-US" sz="1300" b="1" dirty="0">
                <a:solidFill>
                  <a:srgbClr val="1F2A30"/>
                </a:solidFill>
                <a:latin typeface="Calibri" pitchFamily="34" charset="0"/>
                <a:ea typeface="Calibri" pitchFamily="34" charset="-122"/>
                <a:cs typeface="Calibri" pitchFamily="34" charset="-120"/>
              </a:rPr>
              <a:t>[KHÔNG CHẮC]</a:t>
            </a:r>
            <a:pPr indent="0" marL="0">
              <a:buNone/>
            </a:pPr>
            <a:r>
              <a:rPr lang="en-US" sz="1300" dirty="0">
                <a:solidFill>
                  <a:srgbClr val="1F2A30"/>
                </a:solidFill>
                <a:latin typeface="Calibri" pitchFamily="34" charset="0"/>
                <a:ea typeface="Calibri" pitchFamily="34" charset="-122"/>
                <a:cs typeface="Calibri" pitchFamily="34" charset="-120"/>
              </a:rPr>
              <a:t>, có tự kiểm tra số liệu.</a:t>
            </a:r>
            <a:endParaRPr lang="en-US" sz="1300" dirty="0"/>
          </a:p>
        </p:txBody>
      </p:sp>
      <p:sp>
        <p:nvSpPr>
          <p:cNvPr id="9" name="Shape 6"/>
          <p:cNvSpPr/>
          <p:nvPr/>
        </p:nvSpPr>
        <p:spPr>
          <a:xfrm>
            <a:off x="4686300" y="1371600"/>
            <a:ext cx="4000500" cy="1485900"/>
          </a:xfrm>
          <a:prstGeom prst="roundRect">
            <a:avLst>
              <a:gd name="adj" fmla="val 6154"/>
            </a:avLst>
          </a:prstGeom>
          <a:solidFill>
            <a:srgbClr val="E8F3F1"/>
          </a:solidFill>
          <a:ln w="12700">
            <a:solidFill>
              <a:srgbClr val="E8F3F1"/>
            </a:solidFill>
            <a:prstDash val="solid"/>
          </a:ln>
        </p:spPr>
      </p:sp>
      <p:sp>
        <p:nvSpPr>
          <p:cNvPr id="10" name="Shape 7"/>
          <p:cNvSpPr/>
          <p:nvPr/>
        </p:nvSpPr>
        <p:spPr>
          <a:xfrm>
            <a:off x="4869180" y="1554480"/>
            <a:ext cx="457200" cy="45720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Bài 2 · Dạng thứ hai</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Làm infographic thì làm thêm video (hoặc ngược lại). Ước tính </a:t>
            </a:r>
            <a:pPr indent="0" marL="0">
              <a:buNone/>
            </a:pPr>
            <a:r>
              <a:rPr lang="en-US" sz="1300" b="1" dirty="0">
                <a:solidFill>
                  <a:srgbClr val="1F2A30"/>
                </a:solidFill>
                <a:latin typeface="Calibri" pitchFamily="34" charset="0"/>
                <a:ea typeface="Calibri" pitchFamily="34" charset="-122"/>
                <a:cs typeface="Calibri" pitchFamily="34" charset="-120"/>
              </a:rPr>
              <a:t>số phút tiết kiệm</a:t>
            </a:r>
            <a:pPr indent="0" marL="0">
              <a:buNone/>
            </a:pPr>
            <a:r>
              <a:rPr lang="en-US" sz="1300" dirty="0">
                <a:solidFill>
                  <a:srgbClr val="1F2A30"/>
                </a:solidFill>
                <a:latin typeface="Calibri" pitchFamily="34" charset="0"/>
                <a:ea typeface="Calibri" pitchFamily="34" charset="-122"/>
                <a:cs typeface="Calibri" pitchFamily="34" charset="-120"/>
              </a:rPr>
              <a:t> mỗi ca.</a:t>
            </a:r>
            <a:endParaRPr lang="en-US" sz="1300" dirty="0"/>
          </a:p>
        </p:txBody>
      </p:sp>
      <p:sp>
        <p:nvSpPr>
          <p:cNvPr id="14" name="Shape 10"/>
          <p:cNvSpPr/>
          <p:nvPr/>
        </p:nvSpPr>
        <p:spPr>
          <a:xfrm>
            <a:off x="457200" y="3086100"/>
            <a:ext cx="4000500" cy="1485900"/>
          </a:xfrm>
          <a:prstGeom prst="roundRect">
            <a:avLst>
              <a:gd name="adj" fmla="val 6154"/>
            </a:avLst>
          </a:prstGeom>
          <a:solidFill>
            <a:srgbClr val="E8F3F1"/>
          </a:solidFill>
          <a:ln w="12700">
            <a:solidFill>
              <a:srgbClr val="E8F3F1"/>
            </a:solidFill>
            <a:prstDash val="solid"/>
          </a:ln>
        </p:spPr>
      </p:sp>
      <p:sp>
        <p:nvSpPr>
          <p:cNvPr id="15" name="Shape 11"/>
          <p:cNvSpPr/>
          <p:nvPr/>
        </p:nvSpPr>
        <p:spPr>
          <a:xfrm>
            <a:off x="640080" y="3268980"/>
            <a:ext cx="457200" cy="457200"/>
          </a:xfrm>
          <a:prstGeom prst="ellipse">
            <a:avLst/>
          </a:prstGeom>
          <a:solidFill>
            <a:srgbClr val="0E7C7B"/>
          </a:solidFill>
          <a:ln w="12700">
            <a:solidFill>
              <a:srgbClr val="0E7C7B"/>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Bài 3 · Bảng so sánh</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Chạy </a:t>
            </a:r>
            <a:pPr indent="0" marL="0">
              <a:buNone/>
            </a:pPr>
            <a:r>
              <a:rPr lang="en-US" sz="1300" b="1" dirty="0">
                <a:solidFill>
                  <a:srgbClr val="1F2A30"/>
                </a:solidFill>
                <a:latin typeface="Calibri" pitchFamily="34" charset="0"/>
                <a:ea typeface="Calibri" pitchFamily="34" charset="-122"/>
                <a:cs typeface="Calibri" pitchFamily="34" charset="-120"/>
              </a:rPr>
              <a:t>1 ticket thật đã ẩn danh</a:t>
            </a:r>
            <a:pPr indent="0" marL="0">
              <a:buNone/>
            </a:pPr>
            <a:r>
              <a:rPr lang="en-US" sz="1300" dirty="0">
                <a:solidFill>
                  <a:srgbClr val="1F2A30"/>
                </a:solidFill>
                <a:latin typeface="Calibri" pitchFamily="34" charset="0"/>
                <a:ea typeface="Calibri" pitchFamily="34" charset="-122"/>
                <a:cs typeface="Calibri" pitchFamily="34" charset="-120"/>
              </a:rPr>
              <a:t> trên 4 (ít nhất 2) công cụ, mỗi điểm có lý do.</a:t>
            </a:r>
            <a:endParaRPr lang="en-US" sz="1300" dirty="0"/>
          </a:p>
        </p:txBody>
      </p:sp>
      <p:sp>
        <p:nvSpPr>
          <p:cNvPr id="19" name="Shape 14"/>
          <p:cNvSpPr/>
          <p:nvPr/>
        </p:nvSpPr>
        <p:spPr>
          <a:xfrm>
            <a:off x="4686300" y="3086100"/>
            <a:ext cx="4000500" cy="1485900"/>
          </a:xfrm>
          <a:prstGeom prst="roundRect">
            <a:avLst>
              <a:gd name="adj" fmla="val 6154"/>
            </a:avLst>
          </a:prstGeom>
          <a:solidFill>
            <a:srgbClr val="E8F3F1"/>
          </a:solidFill>
          <a:ln w="12700">
            <a:solidFill>
              <a:srgbClr val="E8F3F1"/>
            </a:solidFill>
            <a:prstDash val="solid"/>
          </a:ln>
        </p:spPr>
      </p:sp>
      <p:sp>
        <p:nvSpPr>
          <p:cNvPr id="20" name="Shape 15"/>
          <p:cNvSpPr/>
          <p:nvPr/>
        </p:nvSpPr>
        <p:spPr>
          <a:xfrm>
            <a:off x="4869180" y="3268980"/>
            <a:ext cx="457200" cy="457200"/>
          </a:xfrm>
          <a:prstGeom prst="ellipse">
            <a:avLst/>
          </a:prstGeom>
          <a:solidFill>
            <a:srgbClr val="F2994A"/>
          </a:solidFill>
          <a:ln w="12700">
            <a:solidFill>
              <a:srgbClr val="F2994A"/>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Bài 4 · Độ "lọt" dữ liệu</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Soi 5 ảnh chụp màn hình (không đưa vào AI), tìm thông tin ẩn. Thêm 2 dòng vào checklist.</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3</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1097280" y="2926080"/>
            <a:ext cx="3657600" cy="3657600"/>
          </a:xfrm>
          <a:prstGeom prst="ellipse">
            <a:avLst/>
          </a:prstGeom>
          <a:solidFill>
            <a:srgbClr val="0E7C7B">
              <a:alpha val="40000"/>
            </a:srgbClr>
          </a:solidFill>
          <a:ln w="12700">
            <a:solidFill>
              <a:srgbClr val="0E7C7B">
                <a:alpha val="0"/>
              </a:srgbClr>
            </a:solidFill>
            <a:prstDash val="solid"/>
          </a:ln>
        </p:spPr>
      </p:sp>
      <p:sp>
        <p:nvSpPr>
          <p:cNvPr id="3" name="Text 1"/>
          <p:cNvSpPr txBox="1"/>
          <p:nvPr/>
        </p:nvSpPr>
        <p:spPr>
          <a:xfrm>
            <a:off x="548640" y="82296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Cảm ơn bạn!</a:t>
            </a:r>
            <a:endParaRPr lang="en-US" sz="3600" dirty="0"/>
          </a:p>
        </p:txBody>
      </p:sp>
      <p:sp>
        <p:nvSpPr>
          <p:cNvPr id="4" name="Text 2"/>
          <p:cNvSpPr txBox="1"/>
          <p:nvPr/>
        </p:nvSpPr>
        <p:spPr>
          <a:xfrm>
            <a:off x="548640" y="1645920"/>
            <a:ext cx="8046720" cy="45720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Hẹn gặp lại ở Buổi 4 · GenAI trong vận hành tổng đài</a:t>
            </a:r>
            <a:endParaRPr lang="en-US" sz="1500" dirty="0"/>
          </a:p>
        </p:txBody>
      </p:sp>
      <p:sp>
        <p:nvSpPr>
          <p:cNvPr id="5" name="Text 3"/>
          <p:cNvSpPr txBox="1"/>
          <p:nvPr/>
        </p:nvSpPr>
        <p:spPr>
          <a:xfrm>
            <a:off x="3291840" y="2423160"/>
            <a:ext cx="5486400" cy="274320"/>
          </a:xfrm>
          <a:prstGeom prst="rect">
            <a:avLst/>
          </a:prstGeom>
          <a:noFill/>
          <a:ln/>
        </p:spPr>
        <p:txBody>
          <a:bodyPr wrap="square" lIns="0" tIns="0" rIns="0" bIns="0" rtlCol="0" anchor="t"/>
          <a:lstStyle/>
          <a:p>
            <a:pPr indent="0" marL="0">
              <a:buNone/>
            </a:pPr>
            <a:r>
              <a:rPr lang="en-US" sz="1100" b="1" spc="200" kern="0" dirty="0">
                <a:solidFill>
                  <a:srgbClr val="F2994A"/>
                </a:solidFill>
                <a:latin typeface="Calibri" pitchFamily="34" charset="0"/>
                <a:ea typeface="Calibri" pitchFamily="34" charset="-122"/>
                <a:cs typeface="Calibri" pitchFamily="34" charset="-120"/>
              </a:rPr>
              <a:t>VIỆC CẦN LÀM TRƯỚC BUỔI SAU</a:t>
            </a:r>
            <a:endParaRPr lang="en-US" sz="1100" dirty="0"/>
          </a:p>
        </p:txBody>
      </p:sp>
      <p:sp>
        <p:nvSpPr>
          <p:cNvPr id="6" name="Text 4"/>
          <p:cNvSpPr txBox="1"/>
          <p:nvPr/>
        </p:nvSpPr>
        <p:spPr>
          <a:xfrm>
            <a:off x="3291840" y="2743200"/>
            <a:ext cx="5394960" cy="182880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Hoàn thiện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1 tài liệu hướng dẫn khách</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Điền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bảng so sánh 4 trợ lý AI</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Làm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Quiz Buổi 3</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trong ebook</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Bổ sung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checklist bảo mật</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cho ảnh chụp màn hình</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3 · Hình ảnh, Video &amp; So sánh AI</dc:title>
  <dc:subject>PptxGenJS Presentation</dc:subject>
  <dc:creator>GenAI cho Call Center</dc:creator>
  <cp:lastModifiedBy>GenAI cho Call Center</cp:lastModifiedBy>
  <cp:revision>1</cp:revision>
  <dcterms:created xsi:type="dcterms:W3CDTF">2026-09-30T06:37:15Z</dcterms:created>
  <dcterms:modified xsi:type="dcterms:W3CDTF">2026-09-30T06:37:15Z</dcterms:modified>
</cp:coreProperties>
</file>